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notesSlides/notesSlide2.xml" ContentType="application/vnd.openxmlformats-officedocument.presentationml.notesSlide+xml"/>
  <Override PartName="/ppt/tags/tag2.xml" ContentType="application/vnd.openxmlformats-officedocument.presentationml.tags+xml"/>
  <Override PartName="/ppt/notesSlides/notesSlide3.xml" ContentType="application/vnd.openxmlformats-officedocument.presentationml.notesSlide+xml"/>
  <Override PartName="/ppt/tags/tag3.xml" ContentType="application/vnd.openxmlformats-officedocument.presentationml.tags+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tags/tag6.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7.xml" ContentType="application/vnd.openxmlformats-officedocument.presentationml.tags+xml"/>
  <Override PartName="/ppt/notesSlides/notesSlide10.xml" ContentType="application/vnd.openxmlformats-officedocument.presentationml.notesSlide+xml"/>
  <Override PartName="/ppt/tags/tag8.xml" ContentType="application/vnd.openxmlformats-officedocument.presentationml.tags+xml"/>
  <Override PartName="/ppt/notesSlides/notesSlide11.xml" ContentType="application/vnd.openxmlformats-officedocument.presentationml.notesSlide+xml"/>
  <Override PartName="/ppt/tags/tag9.xml" ContentType="application/vnd.openxmlformats-officedocument.presentationml.tags+xml"/>
  <Override PartName="/ppt/notesSlides/notesSlide12.xml" ContentType="application/vnd.openxmlformats-officedocument.presentationml.notesSlide+xml"/>
  <Override PartName="/ppt/tags/tag10.xml" ContentType="application/vnd.openxmlformats-officedocument.presentationml.tags+xml"/>
  <Override PartName="/ppt/notesSlides/notesSlide13.xml" ContentType="application/vnd.openxmlformats-officedocument.presentationml.notesSlide+xml"/>
  <Override PartName="/ppt/tags/tag11.xml" ContentType="application/vnd.openxmlformats-officedocument.presentationml.tags+xml"/>
  <Override PartName="/ppt/notesSlides/notesSlide14.xml" ContentType="application/vnd.openxmlformats-officedocument.presentationml.notesSlide+xml"/>
  <Override PartName="/ppt/tags/tag12.xml" ContentType="application/vnd.openxmlformats-officedocument.presentationml.tags+xml"/>
  <Override PartName="/ppt/notesSlides/notesSlide1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tags/tag13.xml" ContentType="application/vnd.openxmlformats-officedocument.presentationml.tags+xml"/>
  <Override PartName="/ppt/notesSlides/notesSlide16.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7.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ags/tag14.xml" ContentType="application/vnd.openxmlformats-officedocument.presentationml.tags+xml"/>
  <Override PartName="/ppt/notesSlides/notesSlide18.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tags/tag15.xml" ContentType="application/vnd.openxmlformats-officedocument.presentationml.tags+xml"/>
  <Override PartName="/ppt/notesSlides/notesSlide19.xml" ContentType="application/vnd.openxmlformats-officedocument.presentationml.notesSlide+xml"/>
  <Override PartName="/ppt/tags/tag16.xml" ContentType="application/vnd.openxmlformats-officedocument.presentationml.tags+xml"/>
  <Override PartName="/ppt/notesSlides/notesSlide20.xml" ContentType="application/vnd.openxmlformats-officedocument.presentationml.notesSlide+xml"/>
  <Override PartName="/ppt/tags/tag17.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tags/tag20.xml" ContentType="application/vnd.openxmlformats-officedocument.presentationml.tags+xml"/>
  <Override PartName="/ppt/notesSlides/notesSlide27.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tags/tag21.xml" ContentType="application/vnd.openxmlformats-officedocument.presentationml.tags+xml"/>
  <Override PartName="/ppt/notesSlides/notesSlide28.xml" ContentType="application/vnd.openxmlformats-officedocument.presentationml.notesSl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tags/tag22.xml" ContentType="application/vnd.openxmlformats-officedocument.presentationml.tags+xml"/>
  <Override PartName="/ppt/notesSlides/notesSlide29.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33"/>
  </p:notesMasterIdLst>
  <p:handoutMasterIdLst>
    <p:handoutMasterId r:id="rId34"/>
  </p:handoutMasterIdLst>
  <p:sldIdLst>
    <p:sldId id="256" r:id="rId2"/>
    <p:sldId id="384" r:id="rId3"/>
    <p:sldId id="393" r:id="rId4"/>
    <p:sldId id="378" r:id="rId5"/>
    <p:sldId id="349" r:id="rId6"/>
    <p:sldId id="350" r:id="rId7"/>
    <p:sldId id="302" r:id="rId8"/>
    <p:sldId id="392" r:id="rId9"/>
    <p:sldId id="381" r:id="rId10"/>
    <p:sldId id="351" r:id="rId11"/>
    <p:sldId id="304" r:id="rId12"/>
    <p:sldId id="382" r:id="rId13"/>
    <p:sldId id="356" r:id="rId14"/>
    <p:sldId id="383" r:id="rId15"/>
    <p:sldId id="394" r:id="rId16"/>
    <p:sldId id="360" r:id="rId17"/>
    <p:sldId id="374" r:id="rId18"/>
    <p:sldId id="368" r:id="rId19"/>
    <p:sldId id="385" r:id="rId20"/>
    <p:sldId id="373" r:id="rId21"/>
    <p:sldId id="377" r:id="rId22"/>
    <p:sldId id="375" r:id="rId23"/>
    <p:sldId id="297" r:id="rId24"/>
    <p:sldId id="386" r:id="rId25"/>
    <p:sldId id="389" r:id="rId26"/>
    <p:sldId id="348" r:id="rId27"/>
    <p:sldId id="391" r:id="rId28"/>
    <p:sldId id="303" r:id="rId29"/>
    <p:sldId id="358" r:id="rId30"/>
    <p:sldId id="365" r:id="rId31"/>
    <p:sldId id="395" r:id="rId32"/>
  </p:sldIdLst>
  <p:sldSz cx="12192000" cy="6858000"/>
  <p:notesSz cx="9309100" cy="705326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864" userDrawn="1">
          <p15:clr>
            <a:srgbClr val="A4A3A4"/>
          </p15:clr>
        </p15:guide>
        <p15:guide id="2" pos="336" userDrawn="1">
          <p15:clr>
            <a:srgbClr val="A4A3A4"/>
          </p15:clr>
        </p15:guide>
        <p15:guide id="3" pos="734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9EAC371-EC5C-A23B-9130-7BAEB6D46BF0}" name="Laghari Shams Ul Arfeen" initials="LSUA" userId="S::shamsularfeen@student.usm.my::a2993f6e-4201-4919-854f-fc33f1bbd9f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4C81"/>
    <a:srgbClr val="5E3F97"/>
    <a:srgbClr val="E6E6E6"/>
    <a:srgbClr val="613682"/>
    <a:srgbClr val="DFFFDF"/>
    <a:srgbClr val="7C6CC0"/>
    <a:srgbClr val="5E4BAF"/>
    <a:srgbClr val="9966FF"/>
    <a:srgbClr val="A361D5"/>
    <a:srgbClr val="9933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69338" autoAdjust="0"/>
  </p:normalViewPr>
  <p:slideViewPr>
    <p:cSldViewPr>
      <p:cViewPr varScale="1">
        <p:scale>
          <a:sx n="76" d="100"/>
          <a:sy n="76" d="100"/>
        </p:scale>
        <p:origin x="1860" y="90"/>
      </p:cViewPr>
      <p:guideLst>
        <p:guide orient="horz" pos="864"/>
        <p:guide pos="336"/>
        <p:guide pos="7344"/>
      </p:guideLst>
    </p:cSldViewPr>
  </p:slideViewPr>
  <p:notesTextViewPr>
    <p:cViewPr>
      <p:scale>
        <a:sx n="125" d="100"/>
        <a:sy n="125"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8/10/relationships/authors" Target="authors.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oleObject" Target="file:///C:\Users\Laghari\Google%20Drive\Research\Proposed%20Mechanism\results-analysis(secsgem-ptv4)\Analysis(modified)v5.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Laghari\Google%20Drive\Research\Proposed%20Mechanism\results-analysis(secsgem-ptv4)\Analysis(modified)v11.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Laghari\Google%20Drive\Research\Proposed%20Mechanism\results-analysis(secsgem-ptv4)\Analysis(modified)v4.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Laghari\Google%20Drive\Research\Proposed%20Mechanism\results-analysis(secsgem-ptv4)\Analysis(modified)v10.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Laghari\Google%20Drive\Research\Proposed%20Mechanism\results-analysis(secsgem-ptv4)\Analysis(modified)v10.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Laghari\Google%20Drive\Research\Proposed%20Mechanism\results-analysis(secsgem-ptv4)\Analysis(modified)v3.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Laghari\Google%20Drive\Research\Proposed%20Mechanism\results-analysis(secsgem-ptv4)\Analysis(modified)v5.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Laghari\Google%20Drive\Research\Proposed%20Mechanism\results-analysis(secsgem-ptv4)\Analysis(modified)v5.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Laghari\Google%20Drive\Research\Proposed%20Mechanism\results-analysis(secsgem-ptv4)\Analysis(modified)v10.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Laghari\Google%20Drive\Research\Proposed%20Mechanism\results-analysis(secsgem-ptv4)\Analysis(modified)v10.xlsx" TargetMode="External"/><Relationship Id="rId2" Type="http://schemas.microsoft.com/office/2011/relationships/chartColorStyle" Target="colors10.xml"/><Relationship Id="rId1" Type="http://schemas.microsoft.com/office/2011/relationships/chartStyle" Target="style10.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600" b="1" i="0" baseline="0" dirty="0">
                <a:effectLst/>
              </a:rPr>
              <a:t>Processing Time: SGSM(HMAC Variants)</a:t>
            </a:r>
            <a:endParaRPr lang="en-US" sz="1200" dirty="0">
              <a:effectLst/>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1419467802334141"/>
          <c:y val="4.0998881848676852E-2"/>
          <c:w val="0.85940426593441688"/>
          <c:h val="0.63230136672722081"/>
        </c:manualLayout>
      </c:layout>
      <c:lineChart>
        <c:grouping val="standard"/>
        <c:varyColors val="0"/>
        <c:ser>
          <c:idx val="0"/>
          <c:order val="0"/>
          <c:tx>
            <c:strRef>
              <c:f>'HOST-SEND'!$B$1</c:f>
              <c:strCache>
                <c:ptCount val="1"/>
                <c:pt idx="0">
                  <c:v>SGSM(SHA1)</c:v>
                </c:pt>
              </c:strCache>
            </c:strRef>
          </c:tx>
          <c:spPr>
            <a:ln w="28575" cap="rnd">
              <a:solidFill>
                <a:schemeClr val="accent1"/>
              </a:solidFill>
              <a:round/>
            </a:ln>
            <a:effectLst/>
          </c:spPr>
          <c:marker>
            <c:symbol val="triangle"/>
            <c:size val="9"/>
            <c:spPr>
              <a:solidFill>
                <a:schemeClr val="accent1"/>
              </a:solidFill>
              <a:ln w="9525">
                <a:solidFill>
                  <a:schemeClr val="accent1"/>
                </a:solidFill>
              </a:ln>
              <a:effectLst/>
            </c:spPr>
          </c:marker>
          <c:val>
            <c:numRef>
              <c:f>'HOST-SEND'!$B$2:$B$21</c:f>
              <c:numCache>
                <c:formatCode>0.0000</c:formatCode>
                <c:ptCount val="20"/>
                <c:pt idx="0">
                  <c:v>0.45466423034667897</c:v>
                </c:pt>
                <c:pt idx="1">
                  <c:v>0.45997734069824198</c:v>
                </c:pt>
                <c:pt idx="2">
                  <c:v>0.45228004455566401</c:v>
                </c:pt>
                <c:pt idx="3">
                  <c:v>0.46638145446777302</c:v>
                </c:pt>
                <c:pt idx="4">
                  <c:v>0.469207763671875</c:v>
                </c:pt>
                <c:pt idx="5">
                  <c:v>0.486509704589843</c:v>
                </c:pt>
                <c:pt idx="6">
                  <c:v>0.47945976257324202</c:v>
                </c:pt>
                <c:pt idx="7">
                  <c:v>0.48655799865722599</c:v>
                </c:pt>
                <c:pt idx="8">
                  <c:v>0.49948692321777299</c:v>
                </c:pt>
                <c:pt idx="9">
                  <c:v>0.50377845764160101</c:v>
                </c:pt>
                <c:pt idx="10">
                  <c:v>0.50091743469238204</c:v>
                </c:pt>
                <c:pt idx="11">
                  <c:v>0.49045976257324198</c:v>
                </c:pt>
                <c:pt idx="12">
                  <c:v>0.48303604125976496</c:v>
                </c:pt>
                <c:pt idx="13">
                  <c:v>0.49227249145507801</c:v>
                </c:pt>
                <c:pt idx="14">
                  <c:v>0.497307968139648</c:v>
                </c:pt>
                <c:pt idx="15">
                  <c:v>0.50883956909179595</c:v>
                </c:pt>
                <c:pt idx="16">
                  <c:v>0.51049491882324205</c:v>
                </c:pt>
                <c:pt idx="17">
                  <c:v>0.50529045104980397</c:v>
                </c:pt>
                <c:pt idx="18">
                  <c:v>0.50141067504881998</c:v>
                </c:pt>
                <c:pt idx="19">
                  <c:v>0.50377845764160101</c:v>
                </c:pt>
              </c:numCache>
            </c:numRef>
          </c:val>
          <c:smooth val="0"/>
          <c:extLst>
            <c:ext xmlns:c16="http://schemas.microsoft.com/office/drawing/2014/chart" uri="{C3380CC4-5D6E-409C-BE32-E72D297353CC}">
              <c16:uniqueId val="{00000000-A3B6-41F4-B1EC-56DBF7857168}"/>
            </c:ext>
          </c:extLst>
        </c:ser>
        <c:ser>
          <c:idx val="1"/>
          <c:order val="1"/>
          <c:tx>
            <c:strRef>
              <c:f>'HOST-SEND'!$C$1</c:f>
              <c:strCache>
                <c:ptCount val="1"/>
                <c:pt idx="0">
                  <c:v>SGSM(SHA256)</c:v>
                </c:pt>
              </c:strCache>
            </c:strRef>
          </c:tx>
          <c:spPr>
            <a:ln w="28575" cap="rnd">
              <a:solidFill>
                <a:schemeClr val="accent2"/>
              </a:solidFill>
              <a:round/>
            </a:ln>
            <a:effectLst/>
          </c:spPr>
          <c:marker>
            <c:symbol val="circle"/>
            <c:size val="9"/>
            <c:spPr>
              <a:solidFill>
                <a:schemeClr val="accent2"/>
              </a:solidFill>
              <a:ln w="9525">
                <a:solidFill>
                  <a:schemeClr val="accent2"/>
                </a:solidFill>
              </a:ln>
              <a:effectLst/>
            </c:spPr>
          </c:marker>
          <c:val>
            <c:numRef>
              <c:f>'HOST-SEND'!$C$2:$C$21</c:f>
              <c:numCache>
                <c:formatCode>0.0000</c:formatCode>
                <c:ptCount val="20"/>
                <c:pt idx="0">
                  <c:v>0.51951408386230402</c:v>
                </c:pt>
                <c:pt idx="1">
                  <c:v>0.52999679565429003</c:v>
                </c:pt>
                <c:pt idx="2">
                  <c:v>0.50986869812011704</c:v>
                </c:pt>
                <c:pt idx="3">
                  <c:v>0.50806999206542902</c:v>
                </c:pt>
                <c:pt idx="4">
                  <c:v>0.50044059753417902</c:v>
                </c:pt>
                <c:pt idx="5">
                  <c:v>0.51551528930664003</c:v>
                </c:pt>
                <c:pt idx="6">
                  <c:v>0.507354736328125</c:v>
                </c:pt>
                <c:pt idx="7">
                  <c:v>0.52151649475097595</c:v>
                </c:pt>
                <c:pt idx="8">
                  <c:v>0.51491622924804603</c:v>
                </c:pt>
                <c:pt idx="9">
                  <c:v>0.52690505981445301</c:v>
                </c:pt>
                <c:pt idx="10">
                  <c:v>0.52446655273437504</c:v>
                </c:pt>
                <c:pt idx="11">
                  <c:v>0.51229362487792895</c:v>
                </c:pt>
                <c:pt idx="12">
                  <c:v>0.525556030273437</c:v>
                </c:pt>
                <c:pt idx="13">
                  <c:v>0.51063827514648397</c:v>
                </c:pt>
                <c:pt idx="14">
                  <c:v>0.51650970458984302</c:v>
                </c:pt>
                <c:pt idx="15">
                  <c:v>0.52032440185546802</c:v>
                </c:pt>
                <c:pt idx="16">
                  <c:v>0.52779083251953096</c:v>
                </c:pt>
                <c:pt idx="17">
                  <c:v>0.53136711120605395</c:v>
                </c:pt>
                <c:pt idx="18">
                  <c:v>0.51450729370117099</c:v>
                </c:pt>
                <c:pt idx="19">
                  <c:v>0.51492980957031198</c:v>
                </c:pt>
              </c:numCache>
            </c:numRef>
          </c:val>
          <c:smooth val="0"/>
          <c:extLst>
            <c:ext xmlns:c16="http://schemas.microsoft.com/office/drawing/2014/chart" uri="{C3380CC4-5D6E-409C-BE32-E72D297353CC}">
              <c16:uniqueId val="{00000001-A3B6-41F4-B1EC-56DBF7857168}"/>
            </c:ext>
          </c:extLst>
        </c:ser>
        <c:ser>
          <c:idx val="2"/>
          <c:order val="2"/>
          <c:tx>
            <c:strRef>
              <c:f>'HOST-SEND'!$D$1</c:f>
              <c:strCache>
                <c:ptCount val="1"/>
                <c:pt idx="0">
                  <c:v>SGSM(SHA512)</c:v>
                </c:pt>
              </c:strCache>
            </c:strRef>
          </c:tx>
          <c:spPr>
            <a:ln w="28575" cap="rnd">
              <a:solidFill>
                <a:schemeClr val="accent3"/>
              </a:solidFill>
              <a:round/>
            </a:ln>
            <a:effectLst/>
          </c:spPr>
          <c:marker>
            <c:symbol val="diamond"/>
            <c:size val="9"/>
            <c:spPr>
              <a:solidFill>
                <a:schemeClr val="accent3"/>
              </a:solidFill>
              <a:ln w="9525">
                <a:solidFill>
                  <a:schemeClr val="accent3"/>
                </a:solidFill>
              </a:ln>
              <a:effectLst/>
            </c:spPr>
          </c:marker>
          <c:val>
            <c:numRef>
              <c:f>'HOST-SEND'!$D$2:$D$21</c:f>
              <c:numCache>
                <c:formatCode>0.0000</c:formatCode>
                <c:ptCount val="20"/>
                <c:pt idx="0">
                  <c:v>0.56563148498535099</c:v>
                </c:pt>
                <c:pt idx="1">
                  <c:v>0.55180320739746003</c:v>
                </c:pt>
                <c:pt idx="2">
                  <c:v>0.56859512329101503</c:v>
                </c:pt>
                <c:pt idx="3">
                  <c:v>0.54945976257324203</c:v>
                </c:pt>
                <c:pt idx="4">
                  <c:v>0.54569938659667905</c:v>
                </c:pt>
                <c:pt idx="5">
                  <c:v>0.57063827514648402</c:v>
                </c:pt>
                <c:pt idx="6">
                  <c:v>0.57291984558105402</c:v>
                </c:pt>
                <c:pt idx="7">
                  <c:v>0.55003166198730402</c:v>
                </c:pt>
                <c:pt idx="8">
                  <c:v>0.56520896911620999</c:v>
                </c:pt>
                <c:pt idx="9">
                  <c:v>0.55595138549804601</c:v>
                </c:pt>
                <c:pt idx="10">
                  <c:v>0.56624412536620994</c:v>
                </c:pt>
                <c:pt idx="11">
                  <c:v>0.54952766418457</c:v>
                </c:pt>
                <c:pt idx="12">
                  <c:v>0.54446655273437505</c:v>
                </c:pt>
                <c:pt idx="13">
                  <c:v>0.548294830322265</c:v>
                </c:pt>
                <c:pt idx="14">
                  <c:v>0.53422813415527304</c:v>
                </c:pt>
                <c:pt idx="15">
                  <c:v>0.54788589477538996</c:v>
                </c:pt>
                <c:pt idx="16">
                  <c:v>0.56576728820800704</c:v>
                </c:pt>
                <c:pt idx="17">
                  <c:v>0.54663948059082001</c:v>
                </c:pt>
                <c:pt idx="18">
                  <c:v>0.54189224243164003</c:v>
                </c:pt>
                <c:pt idx="19">
                  <c:v>0.53637390136718699</c:v>
                </c:pt>
              </c:numCache>
            </c:numRef>
          </c:val>
          <c:smooth val="0"/>
          <c:extLst>
            <c:ext xmlns:c16="http://schemas.microsoft.com/office/drawing/2014/chart" uri="{C3380CC4-5D6E-409C-BE32-E72D297353CC}">
              <c16:uniqueId val="{00000002-A3B6-41F4-B1EC-56DBF7857168}"/>
            </c:ext>
          </c:extLst>
        </c:ser>
        <c:ser>
          <c:idx val="3"/>
          <c:order val="3"/>
          <c:tx>
            <c:strRef>
              <c:f>'HOST-SEND'!$E$1</c:f>
              <c:strCache>
                <c:ptCount val="1"/>
                <c:pt idx="0">
                  <c:v>SGSM(SHA3-256)</c:v>
                </c:pt>
              </c:strCache>
            </c:strRef>
          </c:tx>
          <c:spPr>
            <a:ln w="28575" cap="rnd">
              <a:solidFill>
                <a:schemeClr val="accent4"/>
              </a:solidFill>
              <a:round/>
            </a:ln>
            <a:effectLst/>
          </c:spPr>
          <c:marker>
            <c:symbol val="x"/>
            <c:size val="9"/>
            <c:spPr>
              <a:noFill/>
              <a:ln w="9525">
                <a:solidFill>
                  <a:schemeClr val="accent4"/>
                </a:solidFill>
              </a:ln>
              <a:effectLst/>
            </c:spPr>
          </c:marker>
          <c:val>
            <c:numRef>
              <c:f>'HOST-SEND'!$E$2:$E$21</c:f>
              <c:numCache>
                <c:formatCode>0.0000</c:formatCode>
                <c:ptCount val="20"/>
                <c:pt idx="0">
                  <c:v>0.61896179199218704</c:v>
                </c:pt>
                <c:pt idx="1">
                  <c:v>0.62223930358886703</c:v>
                </c:pt>
                <c:pt idx="2">
                  <c:v>0.62050247192382801</c:v>
                </c:pt>
                <c:pt idx="3">
                  <c:v>0.61044059753417901</c:v>
                </c:pt>
                <c:pt idx="4">
                  <c:v>0.619302825927734</c:v>
                </c:pt>
                <c:pt idx="5">
                  <c:v>0.62894821166992099</c:v>
                </c:pt>
                <c:pt idx="6">
                  <c:v>0.62073936462402302</c:v>
                </c:pt>
                <c:pt idx="7">
                  <c:v>0.61225891113281194</c:v>
                </c:pt>
                <c:pt idx="8">
                  <c:v>0.61642066955566399</c:v>
                </c:pt>
                <c:pt idx="9">
                  <c:v>0.62379806518554604</c:v>
                </c:pt>
                <c:pt idx="10">
                  <c:v>0.625399093627929</c:v>
                </c:pt>
                <c:pt idx="11">
                  <c:v>0.61893463134765603</c:v>
                </c:pt>
                <c:pt idx="12">
                  <c:v>0.61281723022460899</c:v>
                </c:pt>
                <c:pt idx="13">
                  <c:v>0.61478645324707004</c:v>
                </c:pt>
                <c:pt idx="14">
                  <c:v>0.61334236145019505</c:v>
                </c:pt>
                <c:pt idx="15">
                  <c:v>0.60939788818359297</c:v>
                </c:pt>
                <c:pt idx="16">
                  <c:v>0.61908401489257803</c:v>
                </c:pt>
                <c:pt idx="17">
                  <c:v>0.60973892211914005</c:v>
                </c:pt>
                <c:pt idx="18">
                  <c:v>0.61809715270996002</c:v>
                </c:pt>
                <c:pt idx="19">
                  <c:v>0.619091567993164</c:v>
                </c:pt>
              </c:numCache>
            </c:numRef>
          </c:val>
          <c:smooth val="0"/>
          <c:extLst>
            <c:ext xmlns:c16="http://schemas.microsoft.com/office/drawing/2014/chart" uri="{C3380CC4-5D6E-409C-BE32-E72D297353CC}">
              <c16:uniqueId val="{00000003-A3B6-41F4-B1EC-56DBF7857168}"/>
            </c:ext>
          </c:extLst>
        </c:ser>
        <c:ser>
          <c:idx val="4"/>
          <c:order val="4"/>
          <c:tx>
            <c:strRef>
              <c:f>'HOST-SEND'!$F$1</c:f>
              <c:strCache>
                <c:ptCount val="1"/>
                <c:pt idx="0">
                  <c:v>SGSM(SHA3-512)</c:v>
                </c:pt>
              </c:strCache>
            </c:strRef>
          </c:tx>
          <c:spPr>
            <a:ln w="28575" cap="rnd">
              <a:solidFill>
                <a:schemeClr val="accent6">
                  <a:lumMod val="75000"/>
                </a:schemeClr>
              </a:solidFill>
              <a:round/>
            </a:ln>
            <a:effectLst/>
          </c:spPr>
          <c:marker>
            <c:symbol val="square"/>
            <c:size val="9"/>
            <c:spPr>
              <a:solidFill>
                <a:schemeClr val="accent6">
                  <a:lumMod val="75000"/>
                </a:schemeClr>
              </a:solidFill>
              <a:ln w="9525">
                <a:solidFill>
                  <a:schemeClr val="accent6">
                    <a:lumMod val="75000"/>
                  </a:schemeClr>
                </a:solidFill>
              </a:ln>
              <a:effectLst/>
            </c:spPr>
          </c:marker>
          <c:val>
            <c:numRef>
              <c:f>'HOST-SEND'!$F$2:$F$21</c:f>
              <c:numCache>
                <c:formatCode>0.0000</c:formatCode>
                <c:ptCount val="20"/>
                <c:pt idx="0">
                  <c:v>0.67019462585449197</c:v>
                </c:pt>
                <c:pt idx="1">
                  <c:v>0.66358833312988197</c:v>
                </c:pt>
                <c:pt idx="2">
                  <c:v>0.67530403137206996</c:v>
                </c:pt>
                <c:pt idx="3">
                  <c:v>0.68545341491699197</c:v>
                </c:pt>
                <c:pt idx="4">
                  <c:v>0.66240226745605402</c:v>
                </c:pt>
                <c:pt idx="5">
                  <c:v>0.66144859313964799</c:v>
                </c:pt>
                <c:pt idx="6">
                  <c:v>0.67884559631347596</c:v>
                </c:pt>
                <c:pt idx="7">
                  <c:v>0.66781044006347601</c:v>
                </c:pt>
                <c:pt idx="8">
                  <c:v>0.677482986450195</c:v>
                </c:pt>
                <c:pt idx="9">
                  <c:v>0.66523612976074198</c:v>
                </c:pt>
                <c:pt idx="10">
                  <c:v>0.67218345642089805</c:v>
                </c:pt>
                <c:pt idx="11">
                  <c:v>0.66548812866210905</c:v>
                </c:pt>
                <c:pt idx="12">
                  <c:v>0.67370903015136696</c:v>
                </c:pt>
                <c:pt idx="13">
                  <c:v>0.67771537780761704</c:v>
                </c:pt>
                <c:pt idx="14">
                  <c:v>0.67172019958495999</c:v>
                </c:pt>
                <c:pt idx="15">
                  <c:v>0.67629089355468697</c:v>
                </c:pt>
                <c:pt idx="16">
                  <c:v>0.67192543029785101</c:v>
                </c:pt>
                <c:pt idx="17">
                  <c:v>0.65088272094726496</c:v>
                </c:pt>
                <c:pt idx="18">
                  <c:v>0.67659721374511705</c:v>
                </c:pt>
                <c:pt idx="19">
                  <c:v>0.67625770568847599</c:v>
                </c:pt>
              </c:numCache>
            </c:numRef>
          </c:val>
          <c:smooth val="0"/>
          <c:extLst>
            <c:ext xmlns:c16="http://schemas.microsoft.com/office/drawing/2014/chart" uri="{C3380CC4-5D6E-409C-BE32-E72D297353CC}">
              <c16:uniqueId val="{00000004-A3B6-41F4-B1EC-56DBF7857168}"/>
            </c:ext>
          </c:extLst>
        </c:ser>
        <c:dLbls>
          <c:showLegendKey val="0"/>
          <c:showVal val="0"/>
          <c:showCatName val="0"/>
          <c:showSerName val="0"/>
          <c:showPercent val="0"/>
          <c:showBubbleSize val="0"/>
        </c:dLbls>
        <c:marker val="1"/>
        <c:smooth val="0"/>
        <c:axId val="1145566671"/>
        <c:axId val="1145561263"/>
      </c:lineChart>
      <c:catAx>
        <c:axId val="1145566671"/>
        <c:scaling>
          <c:orientation val="minMax"/>
        </c:scaling>
        <c:delete val="0"/>
        <c:axPos val="b"/>
        <c:title>
          <c:tx>
            <c:rich>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r>
                  <a:rPr lang="en-US" b="1"/>
                  <a:t>Experiment Run</a:t>
                </a:r>
              </a:p>
            </c:rich>
          </c:tx>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1145561263"/>
        <c:crosses val="autoZero"/>
        <c:auto val="1"/>
        <c:lblAlgn val="ctr"/>
        <c:lblOffset val="100"/>
        <c:noMultiLvlLbl val="0"/>
      </c:catAx>
      <c:valAx>
        <c:axId val="1145561263"/>
        <c:scaling>
          <c:orientation val="minMax"/>
          <c:max val="1"/>
          <c:min val="0.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r>
                  <a:rPr lang="en-US" b="1" dirty="0"/>
                  <a:t>Time in Milliseconds</a:t>
                </a:r>
              </a:p>
            </c:rich>
          </c:tx>
          <c:overlay val="0"/>
          <c:spPr>
            <a:noFill/>
            <a:ln>
              <a:noFill/>
            </a:ln>
            <a:effectLst/>
          </c:spPr>
          <c:txPr>
            <a:bodyPr rot="-54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title>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1145566671"/>
        <c:crosses val="autoZero"/>
        <c:crossBetween val="between"/>
      </c:valAx>
      <c:spPr>
        <a:noFill/>
        <a:ln>
          <a:noFill/>
        </a:ln>
        <a:effectLst/>
      </c:spPr>
    </c:plotArea>
    <c:legend>
      <c:legendPos val="b"/>
      <c:layout>
        <c:manualLayout>
          <c:xMode val="edge"/>
          <c:yMode val="edge"/>
          <c:x val="0.18520803824278956"/>
          <c:y val="0.83276554716374751"/>
          <c:w val="0.63438392653816389"/>
          <c:h val="0.12188297891335012"/>
        </c:manualLayout>
      </c:layout>
      <c:overlay val="0"/>
      <c:spPr>
        <a:noFill/>
        <a:ln>
          <a:noFill/>
        </a:ln>
        <a:effectLst/>
      </c:spPr>
      <c:txPr>
        <a:bodyPr rot="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solidFill>
      <a:schemeClr val="bg1"/>
    </a:solidFill>
    <a:ln w="9525" cap="flat" cmpd="sng" algn="ctr">
      <a:solidFill>
        <a:schemeClr val="tx1"/>
      </a:solid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800" b="1" i="0" baseline="0" dirty="0">
                <a:effectLst/>
              </a:rPr>
              <a:t>Processing Time: SGSM(HMAC Variants)</a:t>
            </a:r>
            <a:endParaRPr lang="en-US" dirty="0">
              <a:effectLst/>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'EQUIP-REC'!$B$1</c:f>
              <c:strCache>
                <c:ptCount val="1"/>
                <c:pt idx="0">
                  <c:v>SGSM(SHA1)</c:v>
                </c:pt>
              </c:strCache>
            </c:strRef>
          </c:tx>
          <c:spPr>
            <a:ln w="28575" cap="rnd">
              <a:solidFill>
                <a:schemeClr val="accent1"/>
              </a:solidFill>
              <a:round/>
            </a:ln>
            <a:effectLst/>
          </c:spPr>
          <c:marker>
            <c:symbol val="triangle"/>
            <c:size val="9"/>
            <c:spPr>
              <a:solidFill>
                <a:schemeClr val="accent1"/>
              </a:solidFill>
              <a:ln w="9525">
                <a:solidFill>
                  <a:schemeClr val="accent1"/>
                </a:solidFill>
              </a:ln>
              <a:effectLst/>
            </c:spPr>
          </c:marker>
          <c:val>
            <c:numRef>
              <c:f>'EQUIP-REC'!$B$2:$B$21</c:f>
              <c:numCache>
                <c:formatCode>0.0000</c:formatCode>
                <c:ptCount val="20"/>
                <c:pt idx="0">
                  <c:v>0.19713142395019501</c:v>
                </c:pt>
                <c:pt idx="1">
                  <c:v>0.19832351684570301</c:v>
                </c:pt>
                <c:pt idx="2">
                  <c:v>0.19764900207519498</c:v>
                </c:pt>
                <c:pt idx="3">
                  <c:v>0.19907951354980402</c:v>
                </c:pt>
                <c:pt idx="4">
                  <c:v>0.19478797912597598</c:v>
                </c:pt>
                <c:pt idx="5">
                  <c:v>0.19592695617675701</c:v>
                </c:pt>
                <c:pt idx="6">
                  <c:v>0.20170211791992101</c:v>
                </c:pt>
                <c:pt idx="7">
                  <c:v>0.20243095397949201</c:v>
                </c:pt>
                <c:pt idx="8">
                  <c:v>0.20122695617675701</c:v>
                </c:pt>
                <c:pt idx="9">
                  <c:v>0.20185467529296799</c:v>
                </c:pt>
                <c:pt idx="10">
                  <c:v>0.20243095397949201</c:v>
                </c:pt>
                <c:pt idx="11">
                  <c:v>0.205288026123046</c:v>
                </c:pt>
                <c:pt idx="12">
                  <c:v>0.20098686218261699</c:v>
                </c:pt>
                <c:pt idx="13">
                  <c:v>0.20078118896484301</c:v>
                </c:pt>
                <c:pt idx="14">
                  <c:v>0.204297561645507</c:v>
                </c:pt>
                <c:pt idx="15">
                  <c:v>0.19999244689941401</c:v>
                </c:pt>
                <c:pt idx="16">
                  <c:v>0.200271606445312</c:v>
                </c:pt>
                <c:pt idx="17">
                  <c:v>0.19501281738281201</c:v>
                </c:pt>
                <c:pt idx="18">
                  <c:v>0.199542770385742</c:v>
                </c:pt>
                <c:pt idx="19">
                  <c:v>0.19692695617675701</c:v>
                </c:pt>
              </c:numCache>
            </c:numRef>
          </c:val>
          <c:smooth val="0"/>
          <c:extLst>
            <c:ext xmlns:c16="http://schemas.microsoft.com/office/drawing/2014/chart" uri="{C3380CC4-5D6E-409C-BE32-E72D297353CC}">
              <c16:uniqueId val="{00000000-E35A-45A8-9B11-533A7478E915}"/>
            </c:ext>
          </c:extLst>
        </c:ser>
        <c:ser>
          <c:idx val="1"/>
          <c:order val="1"/>
          <c:tx>
            <c:strRef>
              <c:f>'EQUIP-REC'!$C$1</c:f>
              <c:strCache>
                <c:ptCount val="1"/>
                <c:pt idx="0">
                  <c:v>SGSM(SHA256)</c:v>
                </c:pt>
              </c:strCache>
            </c:strRef>
          </c:tx>
          <c:spPr>
            <a:ln w="28575" cap="rnd">
              <a:solidFill>
                <a:schemeClr val="accent2"/>
              </a:solidFill>
              <a:round/>
            </a:ln>
            <a:effectLst/>
          </c:spPr>
          <c:marker>
            <c:symbol val="diamond"/>
            <c:size val="9"/>
            <c:spPr>
              <a:solidFill>
                <a:schemeClr val="accent2"/>
              </a:solidFill>
              <a:ln w="9525">
                <a:solidFill>
                  <a:schemeClr val="accent2"/>
                </a:solidFill>
              </a:ln>
              <a:effectLst/>
            </c:spPr>
          </c:marker>
          <c:val>
            <c:numRef>
              <c:f>'EQUIP-REC'!$C$2:$C$21</c:f>
              <c:numCache>
                <c:formatCode>0.0000</c:formatCode>
                <c:ptCount val="20"/>
                <c:pt idx="0">
                  <c:v>0.21910667419433499</c:v>
                </c:pt>
                <c:pt idx="1">
                  <c:v>0.21866937255859301</c:v>
                </c:pt>
                <c:pt idx="2">
                  <c:v>0.220974487304687</c:v>
                </c:pt>
                <c:pt idx="3">
                  <c:v>0.21168853759765599</c:v>
                </c:pt>
                <c:pt idx="4">
                  <c:v>0.211940536499023</c:v>
                </c:pt>
                <c:pt idx="5">
                  <c:v>0.21241058349609299</c:v>
                </c:pt>
                <c:pt idx="6">
                  <c:v>0.22009532775878901</c:v>
                </c:pt>
                <c:pt idx="7">
                  <c:v>0.22122528076171799</c:v>
                </c:pt>
                <c:pt idx="8">
                  <c:v>0.21836425781249999</c:v>
                </c:pt>
                <c:pt idx="9">
                  <c:v>0.21526481628417901</c:v>
                </c:pt>
                <c:pt idx="10">
                  <c:v>0.21505355834960899</c:v>
                </c:pt>
                <c:pt idx="11">
                  <c:v>0.21973281860350999</c:v>
                </c:pt>
                <c:pt idx="12">
                  <c:v>0.211926956176757</c:v>
                </c:pt>
                <c:pt idx="13">
                  <c:v>0.212880630493164</c:v>
                </c:pt>
                <c:pt idx="14">
                  <c:v>0.211715698242187</c:v>
                </c:pt>
                <c:pt idx="15">
                  <c:v>0.21386146545410098</c:v>
                </c:pt>
                <c:pt idx="16">
                  <c:v>0.21383430480957</c:v>
                </c:pt>
                <c:pt idx="17">
                  <c:v>0.21145011901855401</c:v>
                </c:pt>
                <c:pt idx="18">
                  <c:v>0.21383430480957</c:v>
                </c:pt>
                <c:pt idx="19">
                  <c:v>0.21621849060058501</c:v>
                </c:pt>
              </c:numCache>
            </c:numRef>
          </c:val>
          <c:smooth val="0"/>
          <c:extLst>
            <c:ext xmlns:c16="http://schemas.microsoft.com/office/drawing/2014/chart" uri="{C3380CC4-5D6E-409C-BE32-E72D297353CC}">
              <c16:uniqueId val="{00000001-E35A-45A8-9B11-533A7478E915}"/>
            </c:ext>
          </c:extLst>
        </c:ser>
        <c:ser>
          <c:idx val="2"/>
          <c:order val="2"/>
          <c:tx>
            <c:strRef>
              <c:f>'EQUIP-REC'!$D$1</c:f>
              <c:strCache>
                <c:ptCount val="1"/>
                <c:pt idx="0">
                  <c:v>SGSM(SHA512)</c:v>
                </c:pt>
              </c:strCache>
            </c:strRef>
          </c:tx>
          <c:spPr>
            <a:ln w="28575" cap="rnd">
              <a:solidFill>
                <a:schemeClr val="accent3"/>
              </a:solidFill>
              <a:round/>
            </a:ln>
            <a:effectLst/>
          </c:spPr>
          <c:marker>
            <c:symbol val="circle"/>
            <c:size val="8"/>
            <c:spPr>
              <a:solidFill>
                <a:schemeClr val="accent3"/>
              </a:solidFill>
              <a:ln w="9525">
                <a:solidFill>
                  <a:schemeClr val="accent3"/>
                </a:solidFill>
              </a:ln>
              <a:effectLst/>
            </c:spPr>
          </c:marker>
          <c:val>
            <c:numRef>
              <c:f>'EQUIP-REC'!$D$2:$D$21</c:f>
              <c:numCache>
                <c:formatCode>0.0000</c:formatCode>
                <c:ptCount val="20"/>
                <c:pt idx="0">
                  <c:v>0.23933151245117101</c:v>
                </c:pt>
                <c:pt idx="1">
                  <c:v>0.238854675292968</c:v>
                </c:pt>
                <c:pt idx="2">
                  <c:v>0.242669372558593</c:v>
                </c:pt>
                <c:pt idx="3">
                  <c:v>0.23191337585449201</c:v>
                </c:pt>
                <c:pt idx="4">
                  <c:v>0.23146369934081998</c:v>
                </c:pt>
                <c:pt idx="5">
                  <c:v>0.23341178894042899</c:v>
                </c:pt>
                <c:pt idx="6">
                  <c:v>0.23551681518554601</c:v>
                </c:pt>
                <c:pt idx="7">
                  <c:v>0.23909309387206998</c:v>
                </c:pt>
                <c:pt idx="8">
                  <c:v>0.242629837036132</c:v>
                </c:pt>
                <c:pt idx="9">
                  <c:v>0.23289421081542902</c:v>
                </c:pt>
                <c:pt idx="10">
                  <c:v>0.24411346435546799</c:v>
                </c:pt>
                <c:pt idx="11">
                  <c:v>0.23788742065429599</c:v>
                </c:pt>
                <c:pt idx="12">
                  <c:v>0.242669372558593</c:v>
                </c:pt>
                <c:pt idx="13">
                  <c:v>0.2313642578125</c:v>
                </c:pt>
                <c:pt idx="14">
                  <c:v>0.237172164916992</c:v>
                </c:pt>
                <c:pt idx="15">
                  <c:v>0.23454956054687501</c:v>
                </c:pt>
                <c:pt idx="16">
                  <c:v>0.23146369934081998</c:v>
                </c:pt>
                <c:pt idx="17">
                  <c:v>0.23599365234375</c:v>
                </c:pt>
                <c:pt idx="18">
                  <c:v>0.23623207092285098</c:v>
                </c:pt>
                <c:pt idx="19">
                  <c:v>0.242682952880859</c:v>
                </c:pt>
              </c:numCache>
            </c:numRef>
          </c:val>
          <c:smooth val="0"/>
          <c:extLst>
            <c:ext xmlns:c16="http://schemas.microsoft.com/office/drawing/2014/chart" uri="{C3380CC4-5D6E-409C-BE32-E72D297353CC}">
              <c16:uniqueId val="{00000002-E35A-45A8-9B11-533A7478E915}"/>
            </c:ext>
          </c:extLst>
        </c:ser>
        <c:ser>
          <c:idx val="3"/>
          <c:order val="3"/>
          <c:tx>
            <c:strRef>
              <c:f>'EQUIP-REC'!$E$1</c:f>
              <c:strCache>
                <c:ptCount val="1"/>
                <c:pt idx="0">
                  <c:v>SGSM(SHA3-256)</c:v>
                </c:pt>
              </c:strCache>
            </c:strRef>
          </c:tx>
          <c:spPr>
            <a:ln w="28575" cap="rnd">
              <a:solidFill>
                <a:schemeClr val="accent4"/>
              </a:solidFill>
              <a:round/>
            </a:ln>
            <a:effectLst/>
          </c:spPr>
          <c:marker>
            <c:symbol val="x"/>
            <c:size val="9"/>
            <c:spPr>
              <a:noFill/>
              <a:ln w="9525">
                <a:solidFill>
                  <a:schemeClr val="accent4"/>
                </a:solidFill>
              </a:ln>
              <a:effectLst/>
            </c:spPr>
          </c:marker>
          <c:val>
            <c:numRef>
              <c:f>'EQUIP-REC'!$E$2:$E$21</c:f>
              <c:numCache>
                <c:formatCode>0.0000</c:formatCode>
                <c:ptCount val="20"/>
                <c:pt idx="0">
                  <c:v>0.22196769714355402</c:v>
                </c:pt>
                <c:pt idx="1">
                  <c:v>0.22547727966308501</c:v>
                </c:pt>
                <c:pt idx="2">
                  <c:v>0.22597328186035101</c:v>
                </c:pt>
                <c:pt idx="3">
                  <c:v>0.212894210815429</c:v>
                </c:pt>
                <c:pt idx="4">
                  <c:v>0.21529197692870999</c:v>
                </c:pt>
                <c:pt idx="5">
                  <c:v>0.22339820861816401</c:v>
                </c:pt>
                <c:pt idx="6">
                  <c:v>0.22172927856445299</c:v>
                </c:pt>
                <c:pt idx="7">
                  <c:v>0.22203318786621001</c:v>
                </c:pt>
                <c:pt idx="8">
                  <c:v>0.22408630371093699</c:v>
                </c:pt>
                <c:pt idx="9">
                  <c:v>0.226020812988281</c:v>
                </c:pt>
                <c:pt idx="10">
                  <c:v>0.2288818359375</c:v>
                </c:pt>
                <c:pt idx="11">
                  <c:v>0.22289421081542901</c:v>
                </c:pt>
                <c:pt idx="12">
                  <c:v>0.21886825561523399</c:v>
                </c:pt>
                <c:pt idx="13">
                  <c:v>0.218841094970703</c:v>
                </c:pt>
                <c:pt idx="14">
                  <c:v>0.21337104797363199</c:v>
                </c:pt>
                <c:pt idx="15">
                  <c:v>0.21386146545410098</c:v>
                </c:pt>
                <c:pt idx="16">
                  <c:v>0.210748443603515</c:v>
                </c:pt>
                <c:pt idx="17">
                  <c:v>0.219556350708007</c:v>
                </c:pt>
                <c:pt idx="18">
                  <c:v>0.21622528076171799</c:v>
                </c:pt>
                <c:pt idx="19">
                  <c:v>0.22268295288085899</c:v>
                </c:pt>
              </c:numCache>
            </c:numRef>
          </c:val>
          <c:smooth val="0"/>
          <c:extLst>
            <c:ext xmlns:c16="http://schemas.microsoft.com/office/drawing/2014/chart" uri="{C3380CC4-5D6E-409C-BE32-E72D297353CC}">
              <c16:uniqueId val="{00000003-E35A-45A8-9B11-533A7478E915}"/>
            </c:ext>
          </c:extLst>
        </c:ser>
        <c:ser>
          <c:idx val="4"/>
          <c:order val="4"/>
          <c:tx>
            <c:strRef>
              <c:f>'EQUIP-REC'!$F$1</c:f>
              <c:strCache>
                <c:ptCount val="1"/>
                <c:pt idx="0">
                  <c:v>SGSM(SHA3-512)</c:v>
                </c:pt>
              </c:strCache>
            </c:strRef>
          </c:tx>
          <c:spPr>
            <a:ln w="28575" cap="rnd">
              <a:solidFill>
                <a:schemeClr val="accent6">
                  <a:lumMod val="75000"/>
                </a:schemeClr>
              </a:solidFill>
              <a:round/>
            </a:ln>
            <a:effectLst/>
          </c:spPr>
          <c:marker>
            <c:symbol val="square"/>
            <c:size val="9"/>
            <c:spPr>
              <a:solidFill>
                <a:schemeClr val="accent6">
                  <a:lumMod val="75000"/>
                </a:schemeClr>
              </a:solidFill>
              <a:ln w="9525">
                <a:solidFill>
                  <a:schemeClr val="accent5"/>
                </a:solidFill>
              </a:ln>
              <a:effectLst/>
            </c:spPr>
          </c:marker>
          <c:val>
            <c:numRef>
              <c:f>'EQUIP-REC'!$F$2:$F$21</c:f>
              <c:numCache>
                <c:formatCode>0.0000</c:formatCode>
                <c:ptCount val="20"/>
                <c:pt idx="0">
                  <c:v>0.24938583374023399</c:v>
                </c:pt>
                <c:pt idx="1">
                  <c:v>0.24628639221191401</c:v>
                </c:pt>
                <c:pt idx="2">
                  <c:v>0.247649002075195</c:v>
                </c:pt>
                <c:pt idx="3">
                  <c:v>0.26224247741699203</c:v>
                </c:pt>
                <c:pt idx="4">
                  <c:v>0.26185467529296802</c:v>
                </c:pt>
                <c:pt idx="5">
                  <c:v>0.25933950805664002</c:v>
                </c:pt>
                <c:pt idx="6">
                  <c:v>0.260046768188476</c:v>
                </c:pt>
                <c:pt idx="7">
                  <c:v>0.26290779113769502</c:v>
                </c:pt>
                <c:pt idx="8">
                  <c:v>0.26301643371582001</c:v>
                </c:pt>
                <c:pt idx="9">
                  <c:v>0.26627281188964802</c:v>
                </c:pt>
                <c:pt idx="10">
                  <c:v>0.25963104248046798</c:v>
                </c:pt>
                <c:pt idx="11">
                  <c:v>0.25839141845703101</c:v>
                </c:pt>
                <c:pt idx="12">
                  <c:v>0.26589103698730399</c:v>
                </c:pt>
                <c:pt idx="13">
                  <c:v>0.26933151245117098</c:v>
                </c:pt>
                <c:pt idx="14">
                  <c:v>0.26503997802734303</c:v>
                </c:pt>
                <c:pt idx="15">
                  <c:v>0.26638024902343699</c:v>
                </c:pt>
                <c:pt idx="16">
                  <c:v>0.26934509277343699</c:v>
                </c:pt>
                <c:pt idx="17">
                  <c:v>0.26754638671874997</c:v>
                </c:pt>
                <c:pt idx="18">
                  <c:v>0.26405476379394499</c:v>
                </c:pt>
                <c:pt idx="19">
                  <c:v>0.26694732666015603</c:v>
                </c:pt>
              </c:numCache>
            </c:numRef>
          </c:val>
          <c:smooth val="0"/>
          <c:extLst>
            <c:ext xmlns:c16="http://schemas.microsoft.com/office/drawing/2014/chart" uri="{C3380CC4-5D6E-409C-BE32-E72D297353CC}">
              <c16:uniqueId val="{00000004-E35A-45A8-9B11-533A7478E915}"/>
            </c:ext>
          </c:extLst>
        </c:ser>
        <c:dLbls>
          <c:showLegendKey val="0"/>
          <c:showVal val="0"/>
          <c:showCatName val="0"/>
          <c:showSerName val="0"/>
          <c:showPercent val="0"/>
          <c:showBubbleSize val="0"/>
        </c:dLbls>
        <c:marker val="1"/>
        <c:smooth val="0"/>
        <c:axId val="2122365551"/>
        <c:axId val="2122381359"/>
      </c:lineChart>
      <c:catAx>
        <c:axId val="2122365551"/>
        <c:scaling>
          <c:orientation val="minMax"/>
        </c:scaling>
        <c:delete val="0"/>
        <c:axPos val="b"/>
        <c:title>
          <c:tx>
            <c:rich>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r>
                  <a:rPr lang="en-US" b="1"/>
                  <a:t>Experiment Run</a:t>
                </a:r>
              </a:p>
            </c:rich>
          </c:tx>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2122381359"/>
        <c:crosses val="autoZero"/>
        <c:auto val="1"/>
        <c:lblAlgn val="ctr"/>
        <c:lblOffset val="100"/>
        <c:noMultiLvlLbl val="0"/>
      </c:catAx>
      <c:valAx>
        <c:axId val="2122381359"/>
        <c:scaling>
          <c:orientation val="minMax"/>
          <c:max val="0.4"/>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r>
                  <a:rPr lang="en-US" b="1"/>
                  <a:t>Time in (Milliseconds)</a:t>
                </a:r>
              </a:p>
            </c:rich>
          </c:tx>
          <c:overlay val="0"/>
          <c:spPr>
            <a:noFill/>
            <a:ln>
              <a:noFill/>
            </a:ln>
            <a:effectLst/>
          </c:spPr>
          <c:txPr>
            <a:bodyPr rot="-54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title>
        <c:numFmt formatCode="0.00" sourceLinked="0"/>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212236555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solidFill>
        <a:schemeClr val="tx1"/>
      </a:solid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r>
              <a:rPr lang="en-US" sz="1600" b="1" dirty="0"/>
              <a:t>Processing Time:</a:t>
            </a:r>
            <a:r>
              <a:rPr lang="en-US" sz="1600" b="1" baseline="0" dirty="0"/>
              <a:t> SGSM(SHA256)</a:t>
            </a:r>
            <a:endParaRPr lang="en-US" sz="1600" b="1" dirty="0"/>
          </a:p>
        </c:rich>
      </c:tx>
      <c:overlay val="0"/>
      <c:spPr>
        <a:noFill/>
        <a:ln>
          <a:noFill/>
        </a:ln>
        <a:effectLst/>
      </c:spPr>
      <c:txPr>
        <a:bodyPr rot="0" spcFirstLastPara="1" vertOverflow="ellipsis" vert="horz" wrap="square" anchor="ctr" anchorCtr="1"/>
        <a:lstStyle/>
        <a:p>
          <a:pPr>
            <a:defRPr sz="16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'Compare(PT)'!$B$58</c:f>
              <c:strCache>
                <c:ptCount val="1"/>
                <c:pt idx="0">
                  <c:v>STANDARD</c:v>
                </c:pt>
              </c:strCache>
            </c:strRef>
          </c:tx>
          <c:spPr>
            <a:ln w="28575" cap="rnd">
              <a:solidFill>
                <a:schemeClr val="accent1"/>
              </a:solidFill>
              <a:round/>
            </a:ln>
            <a:effectLst/>
          </c:spPr>
          <c:marker>
            <c:symbol val="circle"/>
            <c:size val="9"/>
            <c:spPr>
              <a:solidFill>
                <a:schemeClr val="accent1"/>
              </a:solidFill>
              <a:ln w="9525">
                <a:solidFill>
                  <a:schemeClr val="accent1"/>
                </a:solidFill>
              </a:ln>
              <a:effectLst/>
            </c:spPr>
          </c:marker>
          <c:val>
            <c:numRef>
              <c:f>'Compare(PT)'!$B$59:$B$78</c:f>
              <c:numCache>
                <c:formatCode>0.000</c:formatCode>
                <c:ptCount val="20"/>
                <c:pt idx="0">
                  <c:v>0.23521589245598495</c:v>
                </c:pt>
                <c:pt idx="1">
                  <c:v>0.25750546311894401</c:v>
                </c:pt>
                <c:pt idx="2">
                  <c:v>0.22206043774094442</c:v>
                </c:pt>
                <c:pt idx="3">
                  <c:v>0.23044208011765754</c:v>
                </c:pt>
                <c:pt idx="4">
                  <c:v>0.24166469067268048</c:v>
                </c:pt>
                <c:pt idx="5">
                  <c:v>0.22048179519749433</c:v>
                </c:pt>
                <c:pt idx="6">
                  <c:v>0.25962744126046955</c:v>
                </c:pt>
                <c:pt idx="7">
                  <c:v>0.24890755690785904</c:v>
                </c:pt>
                <c:pt idx="8">
                  <c:v>0.25191123430326601</c:v>
                </c:pt>
                <c:pt idx="9">
                  <c:v>0.23217468250673878</c:v>
                </c:pt>
                <c:pt idx="10">
                  <c:v>0.21144208474931592</c:v>
                </c:pt>
                <c:pt idx="11">
                  <c:v>0.23977304210522299</c:v>
                </c:pt>
                <c:pt idx="12">
                  <c:v>0.21809386491991833</c:v>
                </c:pt>
                <c:pt idx="13">
                  <c:v>0.21093787377988826</c:v>
                </c:pt>
                <c:pt idx="14">
                  <c:v>0.25716523296558957</c:v>
                </c:pt>
                <c:pt idx="15">
                  <c:v>0.22712107419536609</c:v>
                </c:pt>
                <c:pt idx="16">
                  <c:v>0.24183165467407386</c:v>
                </c:pt>
                <c:pt idx="17">
                  <c:v>0.21960954271841315</c:v>
                </c:pt>
                <c:pt idx="18">
                  <c:v>0.20421299617078792</c:v>
                </c:pt>
                <c:pt idx="19">
                  <c:v>0.20918033035556249</c:v>
                </c:pt>
              </c:numCache>
            </c:numRef>
          </c:val>
          <c:smooth val="0"/>
          <c:extLst>
            <c:ext xmlns:c16="http://schemas.microsoft.com/office/drawing/2014/chart" uri="{C3380CC4-5D6E-409C-BE32-E72D297353CC}">
              <c16:uniqueId val="{00000000-B608-46CE-825A-2674E63D39EC}"/>
            </c:ext>
          </c:extLst>
        </c:ser>
        <c:ser>
          <c:idx val="1"/>
          <c:order val="1"/>
          <c:tx>
            <c:strRef>
              <c:f>'Compare(PT)'!$C$58</c:f>
              <c:strCache>
                <c:ptCount val="1"/>
                <c:pt idx="0">
                  <c:v>SecuredSECS/GEM</c:v>
                </c:pt>
              </c:strCache>
            </c:strRef>
          </c:tx>
          <c:spPr>
            <a:ln w="28575" cap="rnd">
              <a:solidFill>
                <a:schemeClr val="accent2"/>
              </a:solidFill>
              <a:round/>
            </a:ln>
            <a:effectLst/>
          </c:spPr>
          <c:marker>
            <c:symbol val="x"/>
            <c:size val="9"/>
            <c:spPr>
              <a:noFill/>
              <a:ln w="9525">
                <a:solidFill>
                  <a:schemeClr val="accent2"/>
                </a:solidFill>
              </a:ln>
              <a:effectLst/>
            </c:spPr>
          </c:marker>
          <c:val>
            <c:numRef>
              <c:f>'Compare(PT)'!$C$59:$C$78</c:f>
              <c:numCache>
                <c:formatCode>0.000</c:formatCode>
                <c:ptCount val="20"/>
                <c:pt idx="0">
                  <c:v>0.59566515204144566</c:v>
                </c:pt>
                <c:pt idx="1">
                  <c:v>0.61822175677154945</c:v>
                </c:pt>
                <c:pt idx="2">
                  <c:v>0.60788380492290672</c:v>
                </c:pt>
                <c:pt idx="3">
                  <c:v>0.62531986617017277</c:v>
                </c:pt>
                <c:pt idx="4">
                  <c:v>0.61831309810349977</c:v>
                </c:pt>
                <c:pt idx="5">
                  <c:v>0.63727217013642856</c:v>
                </c:pt>
                <c:pt idx="6">
                  <c:v>0.60146841375238302</c:v>
                </c:pt>
                <c:pt idx="7">
                  <c:v>0.59040248951328222</c:v>
                </c:pt>
                <c:pt idx="8">
                  <c:v>0.61969124305989154</c:v>
                </c:pt>
                <c:pt idx="9">
                  <c:v>0.63356172142822864</c:v>
                </c:pt>
                <c:pt idx="10">
                  <c:v>0.64925068274247855</c:v>
                </c:pt>
                <c:pt idx="11">
                  <c:v>0.62406442769146364</c:v>
                </c:pt>
                <c:pt idx="12">
                  <c:v>0.605670841800934</c:v>
                </c:pt>
                <c:pt idx="13">
                  <c:v>0.62980294957751237</c:v>
                </c:pt>
                <c:pt idx="14">
                  <c:v>0.60406794762229021</c:v>
                </c:pt>
                <c:pt idx="15">
                  <c:v>0.6458593508823921</c:v>
                </c:pt>
                <c:pt idx="16">
                  <c:v>0.60647858545028543</c:v>
                </c:pt>
                <c:pt idx="17">
                  <c:v>0.59233157289375482</c:v>
                </c:pt>
                <c:pt idx="18">
                  <c:v>0.62913663674791809</c:v>
                </c:pt>
                <c:pt idx="19">
                  <c:v>0.59946184864480345</c:v>
                </c:pt>
              </c:numCache>
            </c:numRef>
          </c:val>
          <c:smooth val="0"/>
          <c:extLst>
            <c:ext xmlns:c16="http://schemas.microsoft.com/office/drawing/2014/chart" uri="{C3380CC4-5D6E-409C-BE32-E72D297353CC}">
              <c16:uniqueId val="{00000001-B608-46CE-825A-2674E63D39EC}"/>
            </c:ext>
          </c:extLst>
        </c:ser>
        <c:ser>
          <c:idx val="3"/>
          <c:order val="3"/>
          <c:tx>
            <c:strRef>
              <c:f>'Compare(PT)'!$E$58</c:f>
              <c:strCache>
                <c:ptCount val="1"/>
                <c:pt idx="0">
                  <c:v>SGSM(SHA256)</c:v>
                </c:pt>
              </c:strCache>
            </c:strRef>
          </c:tx>
          <c:spPr>
            <a:ln w="28575" cap="rnd">
              <a:solidFill>
                <a:schemeClr val="accent4"/>
              </a:solidFill>
              <a:round/>
            </a:ln>
            <a:effectLst/>
          </c:spPr>
          <c:marker>
            <c:symbol val="diamond"/>
            <c:size val="9"/>
            <c:spPr>
              <a:solidFill>
                <a:schemeClr val="accent4"/>
              </a:solidFill>
              <a:ln w="9525">
                <a:solidFill>
                  <a:schemeClr val="accent4"/>
                </a:solidFill>
              </a:ln>
              <a:effectLst/>
            </c:spPr>
          </c:marker>
          <c:val>
            <c:numRef>
              <c:f>'Compare(PT)'!$E$59:$E$78</c:f>
              <c:numCache>
                <c:formatCode>0.000</c:formatCode>
                <c:ptCount val="20"/>
                <c:pt idx="0">
                  <c:v>0.51951408386230402</c:v>
                </c:pt>
                <c:pt idx="1">
                  <c:v>0.52999679565429003</c:v>
                </c:pt>
                <c:pt idx="2">
                  <c:v>0.50986869812011704</c:v>
                </c:pt>
                <c:pt idx="3">
                  <c:v>0.50806999206542902</c:v>
                </c:pt>
                <c:pt idx="4">
                  <c:v>0.50044059753417902</c:v>
                </c:pt>
                <c:pt idx="5">
                  <c:v>0.51551528930664003</c:v>
                </c:pt>
                <c:pt idx="6">
                  <c:v>0.507354736328125</c:v>
                </c:pt>
                <c:pt idx="7">
                  <c:v>0.52151649475097595</c:v>
                </c:pt>
                <c:pt idx="8">
                  <c:v>0.51491622924804603</c:v>
                </c:pt>
                <c:pt idx="9">
                  <c:v>0.52690505981445301</c:v>
                </c:pt>
                <c:pt idx="10">
                  <c:v>0.52446655273437504</c:v>
                </c:pt>
                <c:pt idx="11">
                  <c:v>0.51229362487792895</c:v>
                </c:pt>
                <c:pt idx="12">
                  <c:v>0.525556030273437</c:v>
                </c:pt>
                <c:pt idx="13">
                  <c:v>0.51063827514648397</c:v>
                </c:pt>
                <c:pt idx="14">
                  <c:v>0.51650970458984302</c:v>
                </c:pt>
                <c:pt idx="15">
                  <c:v>0.52032440185546802</c:v>
                </c:pt>
                <c:pt idx="16">
                  <c:v>0.52779083251953096</c:v>
                </c:pt>
                <c:pt idx="17">
                  <c:v>0.53136711120605395</c:v>
                </c:pt>
                <c:pt idx="18">
                  <c:v>0.51450729370117099</c:v>
                </c:pt>
                <c:pt idx="19">
                  <c:v>0.51492980957031198</c:v>
                </c:pt>
              </c:numCache>
            </c:numRef>
          </c:val>
          <c:smooth val="0"/>
          <c:extLst>
            <c:ext xmlns:c16="http://schemas.microsoft.com/office/drawing/2014/chart" uri="{C3380CC4-5D6E-409C-BE32-E72D297353CC}">
              <c16:uniqueId val="{00000002-B608-46CE-825A-2674E63D39EC}"/>
            </c:ext>
          </c:extLst>
        </c:ser>
        <c:dLbls>
          <c:showLegendKey val="0"/>
          <c:showVal val="0"/>
          <c:showCatName val="0"/>
          <c:showSerName val="0"/>
          <c:showPercent val="0"/>
          <c:showBubbleSize val="0"/>
        </c:dLbls>
        <c:marker val="1"/>
        <c:smooth val="0"/>
        <c:axId val="1320956303"/>
        <c:axId val="1320954639"/>
      </c:lineChart>
      <c:lineChart>
        <c:grouping val="standard"/>
        <c:varyColors val="0"/>
        <c:ser>
          <c:idx val="2"/>
          <c:order val="2"/>
          <c:tx>
            <c:strRef>
              <c:f>'Compare(PT)'!$D$58</c:f>
              <c:strCache>
                <c:ptCount val="1"/>
                <c:pt idx="0">
                  <c:v>SECS/GEMsec</c:v>
                </c:pt>
              </c:strCache>
            </c:strRef>
          </c:tx>
          <c:spPr>
            <a:ln w="28575" cap="rnd">
              <a:solidFill>
                <a:schemeClr val="accent6">
                  <a:lumMod val="75000"/>
                </a:schemeClr>
              </a:solidFill>
              <a:round/>
            </a:ln>
            <a:effectLst/>
          </c:spPr>
          <c:marker>
            <c:symbol val="square"/>
            <c:size val="9"/>
            <c:spPr>
              <a:solidFill>
                <a:schemeClr val="accent6">
                  <a:lumMod val="75000"/>
                </a:schemeClr>
              </a:solidFill>
              <a:ln w="9525">
                <a:solidFill>
                  <a:schemeClr val="accent6">
                    <a:lumMod val="75000"/>
                  </a:schemeClr>
                </a:solidFill>
              </a:ln>
              <a:effectLst/>
            </c:spPr>
          </c:marker>
          <c:val>
            <c:numRef>
              <c:f>'Compare(PT)'!$D$59:$D$78</c:f>
              <c:numCache>
                <c:formatCode>0.000</c:formatCode>
                <c:ptCount val="20"/>
                <c:pt idx="0">
                  <c:v>19.0451145172119</c:v>
                </c:pt>
                <c:pt idx="1">
                  <c:v>18.9557075500488</c:v>
                </c:pt>
                <c:pt idx="2">
                  <c:v>18.9557075500488</c:v>
                </c:pt>
                <c:pt idx="3">
                  <c:v>19.290208816528299</c:v>
                </c:pt>
                <c:pt idx="4">
                  <c:v>18.959283828735298</c:v>
                </c:pt>
                <c:pt idx="5">
                  <c:v>18.962621688842699</c:v>
                </c:pt>
                <c:pt idx="6">
                  <c:v>19.6542045593261</c:v>
                </c:pt>
                <c:pt idx="7">
                  <c:v>18.958806991577099</c:v>
                </c:pt>
                <c:pt idx="8">
                  <c:v>19.366336822509702</c:v>
                </c:pt>
                <c:pt idx="9">
                  <c:v>19.959449768066399</c:v>
                </c:pt>
                <c:pt idx="10">
                  <c:v>19.990444183349599</c:v>
                </c:pt>
                <c:pt idx="11">
                  <c:v>18.993139266967699</c:v>
                </c:pt>
                <c:pt idx="12">
                  <c:v>19.0096626281738</c:v>
                </c:pt>
                <c:pt idx="13">
                  <c:v>19.758734512329099</c:v>
                </c:pt>
                <c:pt idx="14">
                  <c:v>19.107891082763601</c:v>
                </c:pt>
                <c:pt idx="15">
                  <c:v>19.000530242919901</c:v>
                </c:pt>
                <c:pt idx="16">
                  <c:v>19.103765487670898</c:v>
                </c:pt>
                <c:pt idx="17">
                  <c:v>19.280433654785099</c:v>
                </c:pt>
                <c:pt idx="18">
                  <c:v>19.0134773254394</c:v>
                </c:pt>
                <c:pt idx="19">
                  <c:v>19.7093486785888</c:v>
                </c:pt>
              </c:numCache>
            </c:numRef>
          </c:val>
          <c:smooth val="0"/>
          <c:extLst>
            <c:ext xmlns:c16="http://schemas.microsoft.com/office/drawing/2014/chart" uri="{C3380CC4-5D6E-409C-BE32-E72D297353CC}">
              <c16:uniqueId val="{00000003-B608-46CE-825A-2674E63D39EC}"/>
            </c:ext>
          </c:extLst>
        </c:ser>
        <c:dLbls>
          <c:showLegendKey val="0"/>
          <c:showVal val="0"/>
          <c:showCatName val="0"/>
          <c:showSerName val="0"/>
          <c:showPercent val="0"/>
          <c:showBubbleSize val="0"/>
        </c:dLbls>
        <c:marker val="1"/>
        <c:smooth val="0"/>
        <c:axId val="433457327"/>
        <c:axId val="433451087"/>
      </c:lineChart>
      <c:catAx>
        <c:axId val="1320956303"/>
        <c:scaling>
          <c:orientation val="minMax"/>
        </c:scaling>
        <c:delete val="0"/>
        <c:axPos val="b"/>
        <c:title>
          <c:tx>
            <c:rich>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r>
                  <a:rPr lang="en-US" b="1"/>
                  <a:t>Experiment Run</a:t>
                </a:r>
              </a:p>
            </c:rich>
          </c:tx>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1320954639"/>
        <c:crosses val="autoZero"/>
        <c:auto val="1"/>
        <c:lblAlgn val="ctr"/>
        <c:lblOffset val="100"/>
        <c:noMultiLvlLbl val="0"/>
      </c:catAx>
      <c:valAx>
        <c:axId val="1320954639"/>
        <c:scaling>
          <c:orientation val="minMax"/>
          <c:max val="1.5"/>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Time in Milliseconds</a:t>
                </a:r>
              </a:p>
            </c:rich>
          </c:tx>
          <c:layout>
            <c:manualLayout>
              <c:xMode val="edge"/>
              <c:yMode val="edge"/>
              <c:x val="2.5118105593489041E-2"/>
              <c:y val="0.49966882816118574"/>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lt;=0.7]0.0;;;" sourceLinked="0"/>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1320956303"/>
        <c:crosses val="autoZero"/>
        <c:crossBetween val="between"/>
        <c:majorUnit val="0.1"/>
      </c:valAx>
      <c:valAx>
        <c:axId val="433451087"/>
        <c:scaling>
          <c:orientation val="minMax"/>
          <c:max val="24"/>
          <c:min val="0"/>
        </c:scaling>
        <c:delete val="0"/>
        <c:axPos val="r"/>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b="0" dirty="0"/>
                  <a:t>Time in Milliseconds</a:t>
                </a:r>
              </a:p>
            </c:rich>
          </c:tx>
          <c:layout>
            <c:manualLayout>
              <c:xMode val="edge"/>
              <c:yMode val="edge"/>
              <c:x val="0.94587964476735709"/>
              <c:y val="8.8078328444238588E-2"/>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t;=16]00;;;" sourceLinked="0"/>
        <c:majorTickMark val="out"/>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433457327"/>
        <c:crosses val="max"/>
        <c:crossBetween val="between"/>
        <c:majorUnit val="2"/>
      </c:valAx>
      <c:catAx>
        <c:axId val="433457327"/>
        <c:scaling>
          <c:orientation val="minMax"/>
        </c:scaling>
        <c:delete val="1"/>
        <c:axPos val="b"/>
        <c:majorTickMark val="out"/>
        <c:minorTickMark val="none"/>
        <c:tickLblPos val="nextTo"/>
        <c:crossAx val="433451087"/>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solidFill>
      <a:schemeClr val="bg1"/>
    </a:solidFill>
    <a:ln w="9525" cap="flat" cmpd="sng" algn="ctr">
      <a:solidFill>
        <a:schemeClr val="tx1"/>
      </a:solidFill>
      <a:round/>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prstClr val="black">
                    <a:lumMod val="65000"/>
                    <a:lumOff val="35000"/>
                  </a:prstClr>
                </a:solidFill>
                <a:latin typeface="+mn-lt"/>
                <a:ea typeface="+mn-ea"/>
                <a:cs typeface="+mn-cs"/>
              </a:defRPr>
            </a:pPr>
            <a:r>
              <a:rPr lang="en-US" sz="1600" b="1" i="0" baseline="0" dirty="0">
                <a:effectLst/>
              </a:rPr>
              <a:t>Processing Time: SGSM(SHA256)</a:t>
            </a:r>
            <a:endParaRPr lang="en-US" sz="1200" dirty="0">
              <a:effectLst/>
            </a:endParaRP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prstClr val="black">
                  <a:lumMod val="65000"/>
                  <a:lumOff val="35000"/>
                </a:prstClr>
              </a:solidFill>
              <a:latin typeface="+mn-lt"/>
              <a:ea typeface="+mn-ea"/>
              <a:cs typeface="+mn-cs"/>
            </a:defRPr>
          </a:pPr>
          <a:endParaRPr lang="en-US"/>
        </a:p>
      </c:txPr>
    </c:title>
    <c:autoTitleDeleted val="0"/>
    <c:plotArea>
      <c:layout/>
      <c:lineChart>
        <c:grouping val="standard"/>
        <c:varyColors val="0"/>
        <c:ser>
          <c:idx val="0"/>
          <c:order val="0"/>
          <c:tx>
            <c:strRef>
              <c:f>'Compare(PT)'!$B$86</c:f>
              <c:strCache>
                <c:ptCount val="1"/>
                <c:pt idx="0">
                  <c:v>STANDARD</c:v>
                </c:pt>
              </c:strCache>
            </c:strRef>
          </c:tx>
          <c:spPr>
            <a:ln w="28575" cap="rnd">
              <a:solidFill>
                <a:schemeClr val="accent1"/>
              </a:solidFill>
              <a:round/>
            </a:ln>
            <a:effectLst/>
          </c:spPr>
          <c:marker>
            <c:symbol val="circle"/>
            <c:size val="9"/>
            <c:spPr>
              <a:solidFill>
                <a:schemeClr val="accent1"/>
              </a:solidFill>
              <a:ln w="9525">
                <a:solidFill>
                  <a:schemeClr val="accent1"/>
                </a:solidFill>
              </a:ln>
              <a:effectLst/>
            </c:spPr>
          </c:marker>
          <c:val>
            <c:numRef>
              <c:f>'Compare(PT)'!$B$87:$B$106</c:f>
              <c:numCache>
                <c:formatCode>0.000</c:formatCode>
                <c:ptCount val="20"/>
                <c:pt idx="0">
                  <c:v>4.298406808617683E-2</c:v>
                </c:pt>
                <c:pt idx="1">
                  <c:v>4.2095709220911215E-2</c:v>
                </c:pt>
                <c:pt idx="2">
                  <c:v>5.3996968492333486E-2</c:v>
                </c:pt>
                <c:pt idx="3">
                  <c:v>5.5804682803556216E-2</c:v>
                </c:pt>
                <c:pt idx="4">
                  <c:v>5.4849131994718525E-2</c:v>
                </c:pt>
                <c:pt idx="5">
                  <c:v>6.1610066607800662E-2</c:v>
                </c:pt>
                <c:pt idx="6">
                  <c:v>5.5687444512377504E-2</c:v>
                </c:pt>
                <c:pt idx="7">
                  <c:v>7.3242262463158792E-2</c:v>
                </c:pt>
                <c:pt idx="8">
                  <c:v>5.6888983557649486E-2</c:v>
                </c:pt>
                <c:pt idx="9">
                  <c:v>7.4195185363275518E-2</c:v>
                </c:pt>
                <c:pt idx="10">
                  <c:v>3.3299999406873115E-2</c:v>
                </c:pt>
                <c:pt idx="11">
                  <c:v>7.1867861885806184E-2</c:v>
                </c:pt>
                <c:pt idx="12">
                  <c:v>2.2052345838780907E-2</c:v>
                </c:pt>
                <c:pt idx="13">
                  <c:v>4.1328381212644483E-2</c:v>
                </c:pt>
                <c:pt idx="14">
                  <c:v>4.8005706974431739E-2</c:v>
                </c:pt>
                <c:pt idx="15">
                  <c:v>6.1221368254792519E-2</c:v>
                </c:pt>
                <c:pt idx="16">
                  <c:v>5.3370748196424622E-2</c:v>
                </c:pt>
                <c:pt idx="17">
                  <c:v>2.608227401631813E-2</c:v>
                </c:pt>
                <c:pt idx="18">
                  <c:v>2.449205943903221E-2</c:v>
                </c:pt>
                <c:pt idx="19">
                  <c:v>4.5036399129597671E-2</c:v>
                </c:pt>
              </c:numCache>
            </c:numRef>
          </c:val>
          <c:smooth val="0"/>
          <c:extLst>
            <c:ext xmlns:c16="http://schemas.microsoft.com/office/drawing/2014/chart" uri="{C3380CC4-5D6E-409C-BE32-E72D297353CC}">
              <c16:uniqueId val="{00000000-E193-4E1B-8B43-D64353D3D992}"/>
            </c:ext>
          </c:extLst>
        </c:ser>
        <c:ser>
          <c:idx val="1"/>
          <c:order val="1"/>
          <c:tx>
            <c:strRef>
              <c:f>'Compare(PT)'!$C$86</c:f>
              <c:strCache>
                <c:ptCount val="1"/>
                <c:pt idx="0">
                  <c:v>SecuredSECS/GEM</c:v>
                </c:pt>
              </c:strCache>
            </c:strRef>
          </c:tx>
          <c:spPr>
            <a:ln w="28575" cap="rnd">
              <a:solidFill>
                <a:schemeClr val="accent2"/>
              </a:solidFill>
              <a:round/>
            </a:ln>
            <a:effectLst/>
          </c:spPr>
          <c:marker>
            <c:symbol val="x"/>
            <c:size val="9"/>
            <c:spPr>
              <a:noFill/>
              <a:ln w="9525">
                <a:solidFill>
                  <a:schemeClr val="accent2"/>
                </a:solidFill>
              </a:ln>
              <a:effectLst/>
            </c:spPr>
          </c:marker>
          <c:val>
            <c:numRef>
              <c:f>'Compare(PT)'!$C$87:$C$106</c:f>
              <c:numCache>
                <c:formatCode>0.000</c:formatCode>
                <c:ptCount val="20"/>
                <c:pt idx="0">
                  <c:v>0.29859103832629985</c:v>
                </c:pt>
                <c:pt idx="1">
                  <c:v>0.29090923485433651</c:v>
                </c:pt>
                <c:pt idx="2">
                  <c:v>0.32460610336362106</c:v>
                </c:pt>
                <c:pt idx="3">
                  <c:v>0.3245793763964363</c:v>
                </c:pt>
                <c:pt idx="4">
                  <c:v>0.31160475482300087</c:v>
                </c:pt>
                <c:pt idx="5">
                  <c:v>0.31243652589110804</c:v>
                </c:pt>
                <c:pt idx="6">
                  <c:v>0.3292844537821733</c:v>
                </c:pt>
                <c:pt idx="7">
                  <c:v>0.29975765004912824</c:v>
                </c:pt>
                <c:pt idx="8">
                  <c:v>0.32654728443192194</c:v>
                </c:pt>
                <c:pt idx="9">
                  <c:v>0.31252884405584458</c:v>
                </c:pt>
                <c:pt idx="10">
                  <c:v>0.31281217239038728</c:v>
                </c:pt>
                <c:pt idx="11">
                  <c:v>0.34553025107797197</c:v>
                </c:pt>
                <c:pt idx="12">
                  <c:v>0.32006462483261344</c:v>
                </c:pt>
                <c:pt idx="13">
                  <c:v>0.3468144737141573</c:v>
                </c:pt>
                <c:pt idx="14">
                  <c:v>0.315110602611823</c:v>
                </c:pt>
                <c:pt idx="15">
                  <c:v>0.32510702561538518</c:v>
                </c:pt>
                <c:pt idx="16">
                  <c:v>0.32912637955016677</c:v>
                </c:pt>
                <c:pt idx="17">
                  <c:v>0.2933813371670394</c:v>
                </c:pt>
                <c:pt idx="18">
                  <c:v>0.29119558169385307</c:v>
                </c:pt>
                <c:pt idx="19">
                  <c:v>0.2932846611962906</c:v>
                </c:pt>
              </c:numCache>
            </c:numRef>
          </c:val>
          <c:smooth val="0"/>
          <c:extLst>
            <c:ext xmlns:c16="http://schemas.microsoft.com/office/drawing/2014/chart" uri="{C3380CC4-5D6E-409C-BE32-E72D297353CC}">
              <c16:uniqueId val="{00000001-E193-4E1B-8B43-D64353D3D992}"/>
            </c:ext>
          </c:extLst>
        </c:ser>
        <c:ser>
          <c:idx val="3"/>
          <c:order val="3"/>
          <c:tx>
            <c:strRef>
              <c:f>'Compare(PT)'!$E$86</c:f>
              <c:strCache>
                <c:ptCount val="1"/>
                <c:pt idx="0">
                  <c:v>SGSM(SHA256)</c:v>
                </c:pt>
              </c:strCache>
            </c:strRef>
          </c:tx>
          <c:spPr>
            <a:ln w="28575" cap="rnd">
              <a:solidFill>
                <a:schemeClr val="accent4"/>
              </a:solidFill>
              <a:round/>
            </a:ln>
            <a:effectLst/>
          </c:spPr>
          <c:marker>
            <c:symbol val="diamond"/>
            <c:size val="9"/>
            <c:spPr>
              <a:solidFill>
                <a:schemeClr val="accent4"/>
              </a:solidFill>
              <a:ln w="9525">
                <a:solidFill>
                  <a:schemeClr val="accent4"/>
                </a:solidFill>
              </a:ln>
              <a:effectLst/>
            </c:spPr>
          </c:marker>
          <c:val>
            <c:numRef>
              <c:f>'Compare(PT)'!$E$87:$E$106</c:f>
              <c:numCache>
                <c:formatCode>0.000</c:formatCode>
                <c:ptCount val="20"/>
                <c:pt idx="0">
                  <c:v>0.21910667419433499</c:v>
                </c:pt>
                <c:pt idx="1">
                  <c:v>0.212669372558593</c:v>
                </c:pt>
                <c:pt idx="2">
                  <c:v>0.226974487304687</c:v>
                </c:pt>
                <c:pt idx="3">
                  <c:v>0.191688537597656</c:v>
                </c:pt>
                <c:pt idx="4">
                  <c:v>0.20194053649902299</c:v>
                </c:pt>
                <c:pt idx="5">
                  <c:v>0.197410583496093</c:v>
                </c:pt>
                <c:pt idx="6">
                  <c:v>0.19669532775878901</c:v>
                </c:pt>
                <c:pt idx="7">
                  <c:v>0.201225280761718</c:v>
                </c:pt>
                <c:pt idx="8">
                  <c:v>0.1983642578125</c:v>
                </c:pt>
                <c:pt idx="9">
                  <c:v>0.19526481628417902</c:v>
                </c:pt>
                <c:pt idx="10">
                  <c:v>0.21505355834960899</c:v>
                </c:pt>
                <c:pt idx="11">
                  <c:v>0.19097328186035098</c:v>
                </c:pt>
                <c:pt idx="12">
                  <c:v>0.19192695617675701</c:v>
                </c:pt>
                <c:pt idx="13">
                  <c:v>0.19288063049316401</c:v>
                </c:pt>
                <c:pt idx="14">
                  <c:v>0.211715698242187</c:v>
                </c:pt>
                <c:pt idx="15">
                  <c:v>0.21386146545410098</c:v>
                </c:pt>
                <c:pt idx="16">
                  <c:v>0.19383430480956998</c:v>
                </c:pt>
                <c:pt idx="17">
                  <c:v>0.19145011901855402</c:v>
                </c:pt>
                <c:pt idx="18">
                  <c:v>0.19383430480956998</c:v>
                </c:pt>
                <c:pt idx="19">
                  <c:v>0.19621849060058499</c:v>
                </c:pt>
              </c:numCache>
            </c:numRef>
          </c:val>
          <c:smooth val="0"/>
          <c:extLst>
            <c:ext xmlns:c16="http://schemas.microsoft.com/office/drawing/2014/chart" uri="{C3380CC4-5D6E-409C-BE32-E72D297353CC}">
              <c16:uniqueId val="{00000002-E193-4E1B-8B43-D64353D3D992}"/>
            </c:ext>
          </c:extLst>
        </c:ser>
        <c:dLbls>
          <c:showLegendKey val="0"/>
          <c:showVal val="0"/>
          <c:showCatName val="0"/>
          <c:showSerName val="0"/>
          <c:showPercent val="0"/>
          <c:showBubbleSize val="0"/>
        </c:dLbls>
        <c:marker val="1"/>
        <c:smooth val="0"/>
        <c:axId val="1280153455"/>
        <c:axId val="1280153871"/>
      </c:lineChart>
      <c:lineChart>
        <c:grouping val="standard"/>
        <c:varyColors val="0"/>
        <c:ser>
          <c:idx val="2"/>
          <c:order val="2"/>
          <c:tx>
            <c:strRef>
              <c:f>'Compare(PT)'!$D$86</c:f>
              <c:strCache>
                <c:ptCount val="1"/>
                <c:pt idx="0">
                  <c:v>SECS/GEMsec</c:v>
                </c:pt>
              </c:strCache>
            </c:strRef>
          </c:tx>
          <c:spPr>
            <a:ln w="28575" cap="rnd">
              <a:solidFill>
                <a:schemeClr val="accent6">
                  <a:lumMod val="75000"/>
                </a:schemeClr>
              </a:solidFill>
              <a:round/>
            </a:ln>
            <a:effectLst/>
          </c:spPr>
          <c:marker>
            <c:symbol val="square"/>
            <c:size val="9"/>
            <c:spPr>
              <a:solidFill>
                <a:schemeClr val="accent6">
                  <a:lumMod val="75000"/>
                </a:schemeClr>
              </a:solidFill>
              <a:ln w="9525">
                <a:solidFill>
                  <a:schemeClr val="accent6">
                    <a:lumMod val="75000"/>
                  </a:schemeClr>
                </a:solidFill>
              </a:ln>
              <a:effectLst/>
            </c:spPr>
          </c:marker>
          <c:val>
            <c:numRef>
              <c:f>'Compare(PT)'!$D$87:$D$106</c:f>
              <c:numCache>
                <c:formatCode>0.000</c:formatCode>
                <c:ptCount val="20"/>
                <c:pt idx="0">
                  <c:v>20.3514099121093</c:v>
                </c:pt>
                <c:pt idx="1">
                  <c:v>20.313262939453097</c:v>
                </c:pt>
                <c:pt idx="2">
                  <c:v>20.425319671630795</c:v>
                </c:pt>
                <c:pt idx="3">
                  <c:v>19.936561584472599</c:v>
                </c:pt>
                <c:pt idx="4">
                  <c:v>19.946098327636701</c:v>
                </c:pt>
                <c:pt idx="5">
                  <c:v>20.902458190917898</c:v>
                </c:pt>
                <c:pt idx="6">
                  <c:v>20.202865600585902</c:v>
                </c:pt>
                <c:pt idx="7">
                  <c:v>19.953250885009702</c:v>
                </c:pt>
                <c:pt idx="8">
                  <c:v>20.9072265625</c:v>
                </c:pt>
                <c:pt idx="9">
                  <c:v>20.264854431152301</c:v>
                </c:pt>
                <c:pt idx="10">
                  <c:v>20.8237800598144</c:v>
                </c:pt>
                <c:pt idx="11">
                  <c:v>19.8936462402343</c:v>
                </c:pt>
                <c:pt idx="12">
                  <c:v>21.153854370117099</c:v>
                </c:pt>
                <c:pt idx="13">
                  <c:v>20.0979614257812</c:v>
                </c:pt>
                <c:pt idx="14">
                  <c:v>20.899349212646399</c:v>
                </c:pt>
                <c:pt idx="15">
                  <c:v>19.9627876281738</c:v>
                </c:pt>
                <c:pt idx="16">
                  <c:v>19.993782043456999</c:v>
                </c:pt>
                <c:pt idx="17">
                  <c:v>19.946098327636701</c:v>
                </c:pt>
                <c:pt idx="18">
                  <c:v>20.821395874023398</c:v>
                </c:pt>
                <c:pt idx="19">
                  <c:v>20.916763305664002</c:v>
                </c:pt>
              </c:numCache>
            </c:numRef>
          </c:val>
          <c:smooth val="0"/>
          <c:extLst>
            <c:ext xmlns:c16="http://schemas.microsoft.com/office/drawing/2014/chart" uri="{C3380CC4-5D6E-409C-BE32-E72D297353CC}">
              <c16:uniqueId val="{00000003-E193-4E1B-8B43-D64353D3D992}"/>
            </c:ext>
          </c:extLst>
        </c:ser>
        <c:dLbls>
          <c:showLegendKey val="0"/>
          <c:showVal val="0"/>
          <c:showCatName val="0"/>
          <c:showSerName val="0"/>
          <c:showPercent val="0"/>
          <c:showBubbleSize val="0"/>
        </c:dLbls>
        <c:marker val="1"/>
        <c:smooth val="0"/>
        <c:axId val="1397964383"/>
        <c:axId val="1397961887"/>
      </c:lineChart>
      <c:catAx>
        <c:axId val="1280153455"/>
        <c:scaling>
          <c:orientation val="minMax"/>
        </c:scaling>
        <c:delete val="0"/>
        <c:axPos val="b"/>
        <c:title>
          <c:tx>
            <c:rich>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r>
                  <a:rPr lang="en-US" b="1"/>
                  <a:t>Experiment Run</a:t>
                </a:r>
              </a:p>
            </c:rich>
          </c:tx>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1280153871"/>
        <c:crosses val="autoZero"/>
        <c:auto val="1"/>
        <c:lblAlgn val="ctr"/>
        <c:lblOffset val="100"/>
        <c:noMultiLvlLbl val="0"/>
      </c:catAx>
      <c:valAx>
        <c:axId val="1280153871"/>
        <c:scaling>
          <c:orientation val="minMax"/>
          <c:max val="1.2"/>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Time in Milliseconds</a:t>
                </a:r>
              </a:p>
            </c:rich>
          </c:tx>
          <c:layout>
            <c:manualLayout>
              <c:xMode val="edge"/>
              <c:yMode val="edge"/>
              <c:x val="2.2774242539435947E-2"/>
              <c:y val="0.49686120117338273"/>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lt;=0.5]0.0;;;" sourceLinked="0"/>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1280153455"/>
        <c:crosses val="autoZero"/>
        <c:crossBetween val="between"/>
        <c:majorUnit val="0.1"/>
      </c:valAx>
      <c:valAx>
        <c:axId val="1397961887"/>
        <c:scaling>
          <c:orientation val="minMax"/>
          <c:max val="25.5"/>
          <c:min val="0"/>
        </c:scaling>
        <c:delete val="0"/>
        <c:axPos val="r"/>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Time in (milliseconds)</a:t>
                </a:r>
              </a:p>
            </c:rich>
          </c:tx>
          <c:layout>
            <c:manualLayout>
              <c:xMode val="edge"/>
              <c:yMode val="edge"/>
              <c:x val="0.94574514956851974"/>
              <c:y val="0.10446400082342648"/>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t;=16]0.0;;;" sourceLinked="0"/>
        <c:majorTickMark val="out"/>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1397964383"/>
        <c:crosses val="max"/>
        <c:crossBetween val="between"/>
        <c:majorUnit val="2"/>
      </c:valAx>
      <c:catAx>
        <c:axId val="1397964383"/>
        <c:scaling>
          <c:orientation val="minMax"/>
        </c:scaling>
        <c:delete val="1"/>
        <c:axPos val="b"/>
        <c:majorTickMark val="out"/>
        <c:minorTickMark val="none"/>
        <c:tickLblPos val="nextTo"/>
        <c:crossAx val="1397961887"/>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solidFill>
      <a:schemeClr val="bg1"/>
    </a:solidFill>
    <a:ln w="9525" cap="flat" cmpd="sng" algn="ctr">
      <a:solidFill>
        <a:srgbClr val="5E3F97"/>
      </a:solidFill>
      <a:round/>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ControlOverhead4!$M$6</c:f>
              <c:strCache>
                <c:ptCount val="1"/>
                <c:pt idx="0">
                  <c:v>Send</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ControlOverhead4!$L$7:$L$9</c:f>
              <c:strCache>
                <c:ptCount val="3"/>
                <c:pt idx="0">
                  <c:v>SECS/GEMsec</c:v>
                </c:pt>
                <c:pt idx="1">
                  <c:v>Secured SECS/GEM</c:v>
                </c:pt>
                <c:pt idx="2">
                  <c:v>SGSM(SHA256)</c:v>
                </c:pt>
              </c:strCache>
            </c:strRef>
          </c:cat>
          <c:val>
            <c:numRef>
              <c:f>ControlOverhead4!$M$7:$M$9</c:f>
              <c:numCache>
                <c:formatCode>General</c:formatCode>
                <c:ptCount val="3"/>
                <c:pt idx="0" formatCode="0.00">
                  <c:v>19.053743457794152</c:v>
                </c:pt>
                <c:pt idx="1">
                  <c:v>0.42</c:v>
                </c:pt>
                <c:pt idx="2">
                  <c:v>0.31</c:v>
                </c:pt>
              </c:numCache>
            </c:numRef>
          </c:val>
          <c:extLst>
            <c:ext xmlns:c16="http://schemas.microsoft.com/office/drawing/2014/chart" uri="{C3380CC4-5D6E-409C-BE32-E72D297353CC}">
              <c16:uniqueId val="{00000000-23E1-48E5-82D3-61728965D293}"/>
            </c:ext>
          </c:extLst>
        </c:ser>
        <c:ser>
          <c:idx val="1"/>
          <c:order val="1"/>
          <c:tx>
            <c:strRef>
              <c:f>ControlOverhead4!$N$6</c:f>
              <c:strCache>
                <c:ptCount val="1"/>
                <c:pt idx="0">
                  <c:v>Receive</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ControlOverhead4!$L$7:$L$9</c:f>
              <c:strCache>
                <c:ptCount val="3"/>
                <c:pt idx="0">
                  <c:v>SECS/GEMsec</c:v>
                </c:pt>
                <c:pt idx="1">
                  <c:v>Secured SECS/GEM</c:v>
                </c:pt>
                <c:pt idx="2">
                  <c:v>SGSM(SHA256)</c:v>
                </c:pt>
              </c:strCache>
            </c:strRef>
          </c:cat>
          <c:val>
            <c:numRef>
              <c:f>ControlOverhead4!$N$7:$N$9</c:f>
              <c:numCache>
                <c:formatCode>General</c:formatCode>
                <c:ptCount val="3"/>
                <c:pt idx="0" formatCode="0.00">
                  <c:v>20.355636329650828</c:v>
                </c:pt>
                <c:pt idx="1">
                  <c:v>0.29000000000000004</c:v>
                </c:pt>
                <c:pt idx="2">
                  <c:v>0.17</c:v>
                </c:pt>
              </c:numCache>
            </c:numRef>
          </c:val>
          <c:extLst>
            <c:ext xmlns:c16="http://schemas.microsoft.com/office/drawing/2014/chart" uri="{C3380CC4-5D6E-409C-BE32-E72D297353CC}">
              <c16:uniqueId val="{00000001-23E1-48E5-82D3-61728965D293}"/>
            </c:ext>
          </c:extLst>
        </c:ser>
        <c:dLbls>
          <c:dLblPos val="outEnd"/>
          <c:showLegendKey val="0"/>
          <c:showVal val="1"/>
          <c:showCatName val="0"/>
          <c:showSerName val="0"/>
          <c:showPercent val="0"/>
          <c:showBubbleSize val="0"/>
        </c:dLbls>
        <c:gapWidth val="219"/>
        <c:overlap val="-27"/>
        <c:axId val="2097987583"/>
        <c:axId val="2097992991"/>
      </c:barChart>
      <c:catAx>
        <c:axId val="2097987583"/>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2097992991"/>
        <c:crosses val="autoZero"/>
        <c:auto val="1"/>
        <c:lblAlgn val="ctr"/>
        <c:lblOffset val="100"/>
        <c:noMultiLvlLbl val="0"/>
      </c:catAx>
      <c:valAx>
        <c:axId val="2097992991"/>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Processing Time</a:t>
                </a:r>
                <a:r>
                  <a:rPr lang="en-US" baseline="0" dirty="0"/>
                  <a:t> Overhead in Milliseconds</a:t>
                </a:r>
                <a:endParaRPr lang="en-US" dirty="0"/>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 sourceLinked="0"/>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2097987583"/>
        <c:crosses val="autoZero"/>
        <c:crossBetween val="between"/>
        <c:majorUnit val="2"/>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solidFill>
        <a:schemeClr val="tx1"/>
      </a:solidFill>
      <a:round/>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Sheet2!$L$17</c:f>
              <c:strCache>
                <c:ptCount val="1"/>
                <c:pt idx="0">
                  <c:v>SGSM</c:v>
                </c:pt>
              </c:strCache>
            </c:strRef>
          </c:tx>
          <c:spPr>
            <a:ln w="28575" cap="rnd">
              <a:solidFill>
                <a:schemeClr val="accent1"/>
              </a:solidFill>
              <a:round/>
            </a:ln>
            <a:effectLst/>
          </c:spPr>
          <c:marker>
            <c:symbol val="x"/>
            <c:size val="9"/>
            <c:spPr>
              <a:noFill/>
              <a:ln w="9525">
                <a:solidFill>
                  <a:schemeClr val="accent1"/>
                </a:solidFill>
              </a:ln>
              <a:effectLst/>
            </c:spPr>
          </c:marker>
          <c:cat>
            <c:numRef>
              <c:f>Sheet2!$K$18:$K$28</c:f>
              <c:numCache>
                <c:formatCode>General</c:formatCode>
                <c:ptCount val="11"/>
                <c:pt idx="0">
                  <c:v>0</c:v>
                </c:pt>
                <c:pt idx="1">
                  <c:v>100</c:v>
                </c:pt>
                <c:pt idx="2">
                  <c:v>200</c:v>
                </c:pt>
                <c:pt idx="3">
                  <c:v>300</c:v>
                </c:pt>
                <c:pt idx="4">
                  <c:v>400</c:v>
                </c:pt>
                <c:pt idx="5">
                  <c:v>500</c:v>
                </c:pt>
                <c:pt idx="6">
                  <c:v>600</c:v>
                </c:pt>
                <c:pt idx="7">
                  <c:v>700</c:v>
                </c:pt>
                <c:pt idx="8">
                  <c:v>800</c:v>
                </c:pt>
                <c:pt idx="9">
                  <c:v>900</c:v>
                </c:pt>
                <c:pt idx="10">
                  <c:v>1000</c:v>
                </c:pt>
              </c:numCache>
            </c:numRef>
          </c:cat>
          <c:val>
            <c:numRef>
              <c:f>Sheet2!$L$18:$L$28</c:f>
              <c:numCache>
                <c:formatCode>0%</c:formatCode>
                <c:ptCount val="11"/>
                <c:pt idx="0">
                  <c:v>0.85106382978723405</c:v>
                </c:pt>
                <c:pt idx="1">
                  <c:v>0.41237113402061853</c:v>
                </c:pt>
                <c:pt idx="2">
                  <c:v>0.27210884353741499</c:v>
                </c:pt>
                <c:pt idx="3">
                  <c:v>0.20304568527918782</c:v>
                </c:pt>
                <c:pt idx="4">
                  <c:v>0.16194331983805668</c:v>
                </c:pt>
                <c:pt idx="5">
                  <c:v>0.13468013468013468</c:v>
                </c:pt>
                <c:pt idx="6">
                  <c:v>0.11527377521613832</c:v>
                </c:pt>
                <c:pt idx="7">
                  <c:v>0.10075566750629723</c:v>
                </c:pt>
                <c:pt idx="8">
                  <c:v>8.9485458612975396E-2</c:v>
                </c:pt>
                <c:pt idx="9">
                  <c:v>8.0482897384305835E-2</c:v>
                </c:pt>
                <c:pt idx="10">
                  <c:v>7.3126142595978064E-2</c:v>
                </c:pt>
              </c:numCache>
            </c:numRef>
          </c:val>
          <c:smooth val="0"/>
          <c:extLst>
            <c:ext xmlns:c16="http://schemas.microsoft.com/office/drawing/2014/chart" uri="{C3380CC4-5D6E-409C-BE32-E72D297353CC}">
              <c16:uniqueId val="{00000000-BE1D-475A-BD2B-C56E3B63FD7C}"/>
            </c:ext>
          </c:extLst>
        </c:ser>
        <c:ser>
          <c:idx val="1"/>
          <c:order val="1"/>
          <c:tx>
            <c:strRef>
              <c:f>Sheet2!$M$17</c:f>
              <c:strCache>
                <c:ptCount val="1"/>
                <c:pt idx="0">
                  <c:v>SECS/GEMsec</c:v>
                </c:pt>
              </c:strCache>
            </c:strRef>
          </c:tx>
          <c:spPr>
            <a:ln w="28575" cap="rnd">
              <a:solidFill>
                <a:schemeClr val="accent2"/>
              </a:solidFill>
              <a:round/>
            </a:ln>
            <a:effectLst/>
          </c:spPr>
          <c:marker>
            <c:symbol val="square"/>
            <c:size val="9"/>
            <c:spPr>
              <a:solidFill>
                <a:schemeClr val="accent2"/>
              </a:solidFill>
              <a:ln w="9525">
                <a:solidFill>
                  <a:schemeClr val="accent2"/>
                </a:solidFill>
              </a:ln>
              <a:effectLst/>
            </c:spPr>
          </c:marker>
          <c:cat>
            <c:numRef>
              <c:f>Sheet2!$K$18:$K$28</c:f>
              <c:numCache>
                <c:formatCode>General</c:formatCode>
                <c:ptCount val="11"/>
                <c:pt idx="0">
                  <c:v>0</c:v>
                </c:pt>
                <c:pt idx="1">
                  <c:v>100</c:v>
                </c:pt>
                <c:pt idx="2">
                  <c:v>200</c:v>
                </c:pt>
                <c:pt idx="3">
                  <c:v>300</c:v>
                </c:pt>
                <c:pt idx="4">
                  <c:v>400</c:v>
                </c:pt>
                <c:pt idx="5">
                  <c:v>500</c:v>
                </c:pt>
                <c:pt idx="6">
                  <c:v>600</c:v>
                </c:pt>
                <c:pt idx="7">
                  <c:v>700</c:v>
                </c:pt>
                <c:pt idx="8">
                  <c:v>800</c:v>
                </c:pt>
                <c:pt idx="9">
                  <c:v>900</c:v>
                </c:pt>
                <c:pt idx="10">
                  <c:v>1000</c:v>
                </c:pt>
              </c:numCache>
            </c:numRef>
          </c:cat>
          <c:val>
            <c:numRef>
              <c:f>Sheet2!$M$18:$M$28</c:f>
              <c:numCache>
                <c:formatCode>0%</c:formatCode>
                <c:ptCount val="11"/>
                <c:pt idx="0">
                  <c:v>0.97338403041825095</c:v>
                </c:pt>
                <c:pt idx="1">
                  <c:v>0.8178913738019169</c:v>
                </c:pt>
                <c:pt idx="2">
                  <c:v>0.70523415977961434</c:v>
                </c:pt>
                <c:pt idx="3">
                  <c:v>0.61985472154963683</c:v>
                </c:pt>
                <c:pt idx="4">
                  <c:v>0.55291576673866094</c:v>
                </c:pt>
                <c:pt idx="5">
                  <c:v>0.49902534113060426</c:v>
                </c:pt>
                <c:pt idx="6">
                  <c:v>0.45470692717584371</c:v>
                </c:pt>
                <c:pt idx="7">
                  <c:v>0.41761827079934749</c:v>
                </c:pt>
                <c:pt idx="8">
                  <c:v>0.38612368024132732</c:v>
                </c:pt>
                <c:pt idx="9">
                  <c:v>0.35904628330995791</c:v>
                </c:pt>
                <c:pt idx="10">
                  <c:v>0.33551769331585846</c:v>
                </c:pt>
              </c:numCache>
            </c:numRef>
          </c:val>
          <c:smooth val="0"/>
          <c:extLst>
            <c:ext xmlns:c16="http://schemas.microsoft.com/office/drawing/2014/chart" uri="{C3380CC4-5D6E-409C-BE32-E72D297353CC}">
              <c16:uniqueId val="{00000001-BE1D-475A-BD2B-C56E3B63FD7C}"/>
            </c:ext>
          </c:extLst>
        </c:ser>
        <c:ser>
          <c:idx val="2"/>
          <c:order val="2"/>
          <c:tx>
            <c:strRef>
              <c:f>Sheet2!$N$17</c:f>
              <c:strCache>
                <c:ptCount val="1"/>
                <c:pt idx="0">
                  <c:v>Secured SECS/GEM</c:v>
                </c:pt>
              </c:strCache>
            </c:strRef>
          </c:tx>
          <c:spPr>
            <a:ln w="28575" cap="rnd">
              <a:solidFill>
                <a:schemeClr val="accent3"/>
              </a:solidFill>
              <a:round/>
            </a:ln>
            <a:effectLst/>
          </c:spPr>
          <c:marker>
            <c:symbol val="diamond"/>
            <c:size val="9"/>
            <c:spPr>
              <a:solidFill>
                <a:schemeClr val="accent3"/>
              </a:solidFill>
              <a:ln w="9525">
                <a:solidFill>
                  <a:schemeClr val="accent3"/>
                </a:solidFill>
              </a:ln>
              <a:effectLst/>
            </c:spPr>
          </c:marker>
          <c:cat>
            <c:numRef>
              <c:f>Sheet2!$K$18:$K$28</c:f>
              <c:numCache>
                <c:formatCode>General</c:formatCode>
                <c:ptCount val="11"/>
                <c:pt idx="0">
                  <c:v>0</c:v>
                </c:pt>
                <c:pt idx="1">
                  <c:v>100</c:v>
                </c:pt>
                <c:pt idx="2">
                  <c:v>200</c:v>
                </c:pt>
                <c:pt idx="3">
                  <c:v>300</c:v>
                </c:pt>
                <c:pt idx="4">
                  <c:v>400</c:v>
                </c:pt>
                <c:pt idx="5">
                  <c:v>500</c:v>
                </c:pt>
                <c:pt idx="6">
                  <c:v>600</c:v>
                </c:pt>
                <c:pt idx="7">
                  <c:v>700</c:v>
                </c:pt>
                <c:pt idx="8">
                  <c:v>800</c:v>
                </c:pt>
                <c:pt idx="9">
                  <c:v>900</c:v>
                </c:pt>
                <c:pt idx="10">
                  <c:v>1000</c:v>
                </c:pt>
              </c:numCache>
            </c:numRef>
          </c:cat>
          <c:val>
            <c:numRef>
              <c:f>Sheet2!$N$18:$N$28</c:f>
              <c:numCache>
                <c:formatCode>0%</c:formatCode>
                <c:ptCount val="11"/>
                <c:pt idx="0">
                  <c:v>0.69565217391304346</c:v>
                </c:pt>
                <c:pt idx="1">
                  <c:v>0.21917808219178081</c:v>
                </c:pt>
                <c:pt idx="2">
                  <c:v>0.13008130081300814</c:v>
                </c:pt>
                <c:pt idx="3">
                  <c:v>9.2485549132947972E-2</c:v>
                </c:pt>
                <c:pt idx="4">
                  <c:v>7.1748878923766815E-2</c:v>
                </c:pt>
                <c:pt idx="5">
                  <c:v>5.8608058608058608E-2</c:v>
                </c:pt>
                <c:pt idx="6">
                  <c:v>4.9535603715170282E-2</c:v>
                </c:pt>
                <c:pt idx="7">
                  <c:v>4.2895442359249331E-2</c:v>
                </c:pt>
                <c:pt idx="8">
                  <c:v>3.7825059101654845E-2</c:v>
                </c:pt>
                <c:pt idx="9">
                  <c:v>3.382663847780127E-2</c:v>
                </c:pt>
                <c:pt idx="10">
                  <c:v>3.0592734225621414E-2</c:v>
                </c:pt>
              </c:numCache>
            </c:numRef>
          </c:val>
          <c:smooth val="0"/>
          <c:extLst>
            <c:ext xmlns:c16="http://schemas.microsoft.com/office/drawing/2014/chart" uri="{C3380CC4-5D6E-409C-BE32-E72D297353CC}">
              <c16:uniqueId val="{00000002-BE1D-475A-BD2B-C56E3B63FD7C}"/>
            </c:ext>
          </c:extLst>
        </c:ser>
        <c:dLbls>
          <c:showLegendKey val="0"/>
          <c:showVal val="0"/>
          <c:showCatName val="0"/>
          <c:showSerName val="0"/>
          <c:showPercent val="0"/>
          <c:showBubbleSize val="0"/>
        </c:dLbls>
        <c:marker val="1"/>
        <c:smooth val="0"/>
        <c:axId val="1003810463"/>
        <c:axId val="1003812959"/>
      </c:lineChart>
      <c:catAx>
        <c:axId val="1003810463"/>
        <c:scaling>
          <c:orientation val="minMax"/>
        </c:scaling>
        <c:delete val="0"/>
        <c:axPos val="b"/>
        <c:title>
          <c:tx>
            <c:rich>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r>
                  <a:rPr lang="en-US" b="1"/>
                  <a:t>Payload size (in bytes)</a:t>
                </a:r>
              </a:p>
            </c:rich>
          </c:tx>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1003812959"/>
        <c:crosses val="autoZero"/>
        <c:auto val="1"/>
        <c:lblAlgn val="ctr"/>
        <c:lblOffset val="100"/>
        <c:noMultiLvlLbl val="0"/>
      </c:catAx>
      <c:valAx>
        <c:axId val="1003812959"/>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r>
                  <a:rPr lang="en-US" b="1"/>
                  <a:t>Control Overhead</a:t>
                </a:r>
              </a:p>
            </c:rich>
          </c:tx>
          <c:overlay val="0"/>
          <c:spPr>
            <a:noFill/>
            <a:ln>
              <a:noFill/>
            </a:ln>
            <a:effectLst/>
          </c:spPr>
          <c:txPr>
            <a:bodyPr rot="-54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1003810463"/>
        <c:crosses val="autoZero"/>
        <c:crossBetween val="between"/>
        <c:majorUnit val="0.1"/>
      </c:valAx>
      <c:spPr>
        <a:noFill/>
        <a:ln>
          <a:noFill/>
        </a:ln>
        <a:effectLst/>
      </c:spPr>
    </c:plotArea>
    <c:legend>
      <c:legendPos val="b"/>
      <c:overlay val="0"/>
      <c:spPr>
        <a:noFill/>
        <a:ln>
          <a:solidFill>
            <a:schemeClr val="tx1"/>
          </a:solidFill>
        </a:ln>
        <a:effectLst/>
      </c:spPr>
      <c:txPr>
        <a:bodyPr rot="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solidFill>
      <a:schemeClr val="bg1"/>
    </a:solidFill>
    <a:ln w="9525" cap="flat" cmpd="sng" algn="ctr">
      <a:solidFill>
        <a:schemeClr val="tx1"/>
      </a:solidFill>
      <a:round/>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600" b="1" i="0" baseline="0" dirty="0">
                <a:effectLst/>
              </a:rPr>
              <a:t>Processing Time: SGSM(HMAC Variants)</a:t>
            </a:r>
            <a:endParaRPr lang="en-US" sz="1200" dirty="0">
              <a:effectLst/>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1419467802334141"/>
          <c:y val="4.0998881848676852E-2"/>
          <c:w val="0.85940426593441688"/>
          <c:h val="0.63230136672722081"/>
        </c:manualLayout>
      </c:layout>
      <c:lineChart>
        <c:grouping val="standard"/>
        <c:varyColors val="0"/>
        <c:ser>
          <c:idx val="0"/>
          <c:order val="0"/>
          <c:tx>
            <c:strRef>
              <c:f>'HOST-SEND'!$B$1</c:f>
              <c:strCache>
                <c:ptCount val="1"/>
                <c:pt idx="0">
                  <c:v>SGSM(SHA1)</c:v>
                </c:pt>
              </c:strCache>
            </c:strRef>
          </c:tx>
          <c:spPr>
            <a:ln w="28575" cap="rnd">
              <a:solidFill>
                <a:schemeClr val="accent1"/>
              </a:solidFill>
              <a:round/>
            </a:ln>
            <a:effectLst/>
          </c:spPr>
          <c:marker>
            <c:symbol val="triangle"/>
            <c:size val="9"/>
            <c:spPr>
              <a:solidFill>
                <a:schemeClr val="accent1"/>
              </a:solidFill>
              <a:ln w="9525">
                <a:solidFill>
                  <a:schemeClr val="accent1"/>
                </a:solidFill>
              </a:ln>
              <a:effectLst/>
            </c:spPr>
          </c:marker>
          <c:val>
            <c:numRef>
              <c:f>'HOST-SEND'!$B$2:$B$21</c:f>
              <c:numCache>
                <c:formatCode>0.0000</c:formatCode>
                <c:ptCount val="20"/>
                <c:pt idx="0">
                  <c:v>0.45466423034667897</c:v>
                </c:pt>
                <c:pt idx="1">
                  <c:v>0.45997734069824198</c:v>
                </c:pt>
                <c:pt idx="2">
                  <c:v>0.45228004455566401</c:v>
                </c:pt>
                <c:pt idx="3">
                  <c:v>0.46638145446777302</c:v>
                </c:pt>
                <c:pt idx="4">
                  <c:v>0.469207763671875</c:v>
                </c:pt>
                <c:pt idx="5">
                  <c:v>0.486509704589843</c:v>
                </c:pt>
                <c:pt idx="6">
                  <c:v>0.47945976257324202</c:v>
                </c:pt>
                <c:pt idx="7">
                  <c:v>0.48655799865722599</c:v>
                </c:pt>
                <c:pt idx="8">
                  <c:v>0.49948692321777299</c:v>
                </c:pt>
                <c:pt idx="9">
                  <c:v>0.50377845764160101</c:v>
                </c:pt>
                <c:pt idx="10">
                  <c:v>0.50091743469238204</c:v>
                </c:pt>
                <c:pt idx="11">
                  <c:v>0.49045976257324198</c:v>
                </c:pt>
                <c:pt idx="12">
                  <c:v>0.48303604125976496</c:v>
                </c:pt>
                <c:pt idx="13">
                  <c:v>0.49227249145507801</c:v>
                </c:pt>
                <c:pt idx="14">
                  <c:v>0.497307968139648</c:v>
                </c:pt>
                <c:pt idx="15">
                  <c:v>0.50883956909179595</c:v>
                </c:pt>
                <c:pt idx="16">
                  <c:v>0.51049491882324205</c:v>
                </c:pt>
                <c:pt idx="17">
                  <c:v>0.50529045104980397</c:v>
                </c:pt>
                <c:pt idx="18">
                  <c:v>0.50141067504881998</c:v>
                </c:pt>
                <c:pt idx="19">
                  <c:v>0.50377845764160101</c:v>
                </c:pt>
              </c:numCache>
            </c:numRef>
          </c:val>
          <c:smooth val="0"/>
          <c:extLst>
            <c:ext xmlns:c16="http://schemas.microsoft.com/office/drawing/2014/chart" uri="{C3380CC4-5D6E-409C-BE32-E72D297353CC}">
              <c16:uniqueId val="{00000000-A3B6-41F4-B1EC-56DBF7857168}"/>
            </c:ext>
          </c:extLst>
        </c:ser>
        <c:ser>
          <c:idx val="1"/>
          <c:order val="1"/>
          <c:tx>
            <c:strRef>
              <c:f>'HOST-SEND'!$C$1</c:f>
              <c:strCache>
                <c:ptCount val="1"/>
                <c:pt idx="0">
                  <c:v>SGSM(SHA256)</c:v>
                </c:pt>
              </c:strCache>
            </c:strRef>
          </c:tx>
          <c:spPr>
            <a:ln w="28575" cap="rnd">
              <a:solidFill>
                <a:schemeClr val="accent2"/>
              </a:solidFill>
              <a:round/>
            </a:ln>
            <a:effectLst/>
          </c:spPr>
          <c:marker>
            <c:symbol val="circle"/>
            <c:size val="9"/>
            <c:spPr>
              <a:solidFill>
                <a:schemeClr val="accent2"/>
              </a:solidFill>
              <a:ln w="9525">
                <a:solidFill>
                  <a:schemeClr val="accent2"/>
                </a:solidFill>
              </a:ln>
              <a:effectLst/>
            </c:spPr>
          </c:marker>
          <c:val>
            <c:numRef>
              <c:f>'HOST-SEND'!$C$2:$C$21</c:f>
              <c:numCache>
                <c:formatCode>0.0000</c:formatCode>
                <c:ptCount val="20"/>
                <c:pt idx="0">
                  <c:v>0.51951408386230402</c:v>
                </c:pt>
                <c:pt idx="1">
                  <c:v>0.52999679565429003</c:v>
                </c:pt>
                <c:pt idx="2">
                  <c:v>0.50986869812011704</c:v>
                </c:pt>
                <c:pt idx="3">
                  <c:v>0.50806999206542902</c:v>
                </c:pt>
                <c:pt idx="4">
                  <c:v>0.50044059753417902</c:v>
                </c:pt>
                <c:pt idx="5">
                  <c:v>0.51551528930664003</c:v>
                </c:pt>
                <c:pt idx="6">
                  <c:v>0.507354736328125</c:v>
                </c:pt>
                <c:pt idx="7">
                  <c:v>0.52151649475097595</c:v>
                </c:pt>
                <c:pt idx="8">
                  <c:v>0.51491622924804603</c:v>
                </c:pt>
                <c:pt idx="9">
                  <c:v>0.52690505981445301</c:v>
                </c:pt>
                <c:pt idx="10">
                  <c:v>0.52446655273437504</c:v>
                </c:pt>
                <c:pt idx="11">
                  <c:v>0.51229362487792895</c:v>
                </c:pt>
                <c:pt idx="12">
                  <c:v>0.525556030273437</c:v>
                </c:pt>
                <c:pt idx="13">
                  <c:v>0.51063827514648397</c:v>
                </c:pt>
                <c:pt idx="14">
                  <c:v>0.51650970458984302</c:v>
                </c:pt>
                <c:pt idx="15">
                  <c:v>0.52032440185546802</c:v>
                </c:pt>
                <c:pt idx="16">
                  <c:v>0.52779083251953096</c:v>
                </c:pt>
                <c:pt idx="17">
                  <c:v>0.53136711120605395</c:v>
                </c:pt>
                <c:pt idx="18">
                  <c:v>0.51450729370117099</c:v>
                </c:pt>
                <c:pt idx="19">
                  <c:v>0.51492980957031198</c:v>
                </c:pt>
              </c:numCache>
            </c:numRef>
          </c:val>
          <c:smooth val="0"/>
          <c:extLst>
            <c:ext xmlns:c16="http://schemas.microsoft.com/office/drawing/2014/chart" uri="{C3380CC4-5D6E-409C-BE32-E72D297353CC}">
              <c16:uniqueId val="{00000001-A3B6-41F4-B1EC-56DBF7857168}"/>
            </c:ext>
          </c:extLst>
        </c:ser>
        <c:ser>
          <c:idx val="2"/>
          <c:order val="2"/>
          <c:tx>
            <c:strRef>
              <c:f>'HOST-SEND'!$D$1</c:f>
              <c:strCache>
                <c:ptCount val="1"/>
                <c:pt idx="0">
                  <c:v>SGSM(SHA512)</c:v>
                </c:pt>
              </c:strCache>
            </c:strRef>
          </c:tx>
          <c:spPr>
            <a:ln w="28575" cap="rnd">
              <a:solidFill>
                <a:schemeClr val="accent3"/>
              </a:solidFill>
              <a:round/>
            </a:ln>
            <a:effectLst/>
          </c:spPr>
          <c:marker>
            <c:symbol val="diamond"/>
            <c:size val="9"/>
            <c:spPr>
              <a:solidFill>
                <a:schemeClr val="accent3"/>
              </a:solidFill>
              <a:ln w="9525">
                <a:solidFill>
                  <a:schemeClr val="accent3"/>
                </a:solidFill>
              </a:ln>
              <a:effectLst/>
            </c:spPr>
          </c:marker>
          <c:val>
            <c:numRef>
              <c:f>'HOST-SEND'!$D$2:$D$21</c:f>
              <c:numCache>
                <c:formatCode>0.0000</c:formatCode>
                <c:ptCount val="20"/>
                <c:pt idx="0">
                  <c:v>0.56563148498535099</c:v>
                </c:pt>
                <c:pt idx="1">
                  <c:v>0.55180320739746003</c:v>
                </c:pt>
                <c:pt idx="2">
                  <c:v>0.56859512329101503</c:v>
                </c:pt>
                <c:pt idx="3">
                  <c:v>0.54945976257324203</c:v>
                </c:pt>
                <c:pt idx="4">
                  <c:v>0.54569938659667905</c:v>
                </c:pt>
                <c:pt idx="5">
                  <c:v>0.57063827514648402</c:v>
                </c:pt>
                <c:pt idx="6">
                  <c:v>0.57291984558105402</c:v>
                </c:pt>
                <c:pt idx="7">
                  <c:v>0.55003166198730402</c:v>
                </c:pt>
                <c:pt idx="8">
                  <c:v>0.56520896911620999</c:v>
                </c:pt>
                <c:pt idx="9">
                  <c:v>0.55595138549804601</c:v>
                </c:pt>
                <c:pt idx="10">
                  <c:v>0.56624412536620994</c:v>
                </c:pt>
                <c:pt idx="11">
                  <c:v>0.54952766418457</c:v>
                </c:pt>
                <c:pt idx="12">
                  <c:v>0.54446655273437505</c:v>
                </c:pt>
                <c:pt idx="13">
                  <c:v>0.548294830322265</c:v>
                </c:pt>
                <c:pt idx="14">
                  <c:v>0.53422813415527304</c:v>
                </c:pt>
                <c:pt idx="15">
                  <c:v>0.54788589477538996</c:v>
                </c:pt>
                <c:pt idx="16">
                  <c:v>0.56576728820800704</c:v>
                </c:pt>
                <c:pt idx="17">
                  <c:v>0.54663948059082001</c:v>
                </c:pt>
                <c:pt idx="18">
                  <c:v>0.54189224243164003</c:v>
                </c:pt>
                <c:pt idx="19">
                  <c:v>0.53637390136718699</c:v>
                </c:pt>
              </c:numCache>
            </c:numRef>
          </c:val>
          <c:smooth val="0"/>
          <c:extLst>
            <c:ext xmlns:c16="http://schemas.microsoft.com/office/drawing/2014/chart" uri="{C3380CC4-5D6E-409C-BE32-E72D297353CC}">
              <c16:uniqueId val="{00000002-A3B6-41F4-B1EC-56DBF7857168}"/>
            </c:ext>
          </c:extLst>
        </c:ser>
        <c:ser>
          <c:idx val="3"/>
          <c:order val="3"/>
          <c:tx>
            <c:strRef>
              <c:f>'HOST-SEND'!$E$1</c:f>
              <c:strCache>
                <c:ptCount val="1"/>
                <c:pt idx="0">
                  <c:v>SGSM(SHA3-256)</c:v>
                </c:pt>
              </c:strCache>
            </c:strRef>
          </c:tx>
          <c:spPr>
            <a:ln w="28575" cap="rnd">
              <a:solidFill>
                <a:schemeClr val="accent4"/>
              </a:solidFill>
              <a:round/>
            </a:ln>
            <a:effectLst/>
          </c:spPr>
          <c:marker>
            <c:symbol val="x"/>
            <c:size val="9"/>
            <c:spPr>
              <a:noFill/>
              <a:ln w="9525">
                <a:solidFill>
                  <a:schemeClr val="accent4"/>
                </a:solidFill>
              </a:ln>
              <a:effectLst/>
            </c:spPr>
          </c:marker>
          <c:val>
            <c:numRef>
              <c:f>'HOST-SEND'!$E$2:$E$21</c:f>
              <c:numCache>
                <c:formatCode>0.0000</c:formatCode>
                <c:ptCount val="20"/>
                <c:pt idx="0">
                  <c:v>0.61896179199218704</c:v>
                </c:pt>
                <c:pt idx="1">
                  <c:v>0.62223930358886703</c:v>
                </c:pt>
                <c:pt idx="2">
                  <c:v>0.62050247192382801</c:v>
                </c:pt>
                <c:pt idx="3">
                  <c:v>0.61044059753417901</c:v>
                </c:pt>
                <c:pt idx="4">
                  <c:v>0.619302825927734</c:v>
                </c:pt>
                <c:pt idx="5">
                  <c:v>0.62894821166992099</c:v>
                </c:pt>
                <c:pt idx="6">
                  <c:v>0.62073936462402302</c:v>
                </c:pt>
                <c:pt idx="7">
                  <c:v>0.61225891113281194</c:v>
                </c:pt>
                <c:pt idx="8">
                  <c:v>0.61642066955566399</c:v>
                </c:pt>
                <c:pt idx="9">
                  <c:v>0.62379806518554604</c:v>
                </c:pt>
                <c:pt idx="10">
                  <c:v>0.625399093627929</c:v>
                </c:pt>
                <c:pt idx="11">
                  <c:v>0.61893463134765603</c:v>
                </c:pt>
                <c:pt idx="12">
                  <c:v>0.61281723022460899</c:v>
                </c:pt>
                <c:pt idx="13">
                  <c:v>0.61478645324707004</c:v>
                </c:pt>
                <c:pt idx="14">
                  <c:v>0.61334236145019505</c:v>
                </c:pt>
                <c:pt idx="15">
                  <c:v>0.60939788818359297</c:v>
                </c:pt>
                <c:pt idx="16">
                  <c:v>0.61908401489257803</c:v>
                </c:pt>
                <c:pt idx="17">
                  <c:v>0.60973892211914005</c:v>
                </c:pt>
                <c:pt idx="18">
                  <c:v>0.61809715270996002</c:v>
                </c:pt>
                <c:pt idx="19">
                  <c:v>0.619091567993164</c:v>
                </c:pt>
              </c:numCache>
            </c:numRef>
          </c:val>
          <c:smooth val="0"/>
          <c:extLst>
            <c:ext xmlns:c16="http://schemas.microsoft.com/office/drawing/2014/chart" uri="{C3380CC4-5D6E-409C-BE32-E72D297353CC}">
              <c16:uniqueId val="{00000003-A3B6-41F4-B1EC-56DBF7857168}"/>
            </c:ext>
          </c:extLst>
        </c:ser>
        <c:ser>
          <c:idx val="4"/>
          <c:order val="4"/>
          <c:tx>
            <c:strRef>
              <c:f>'HOST-SEND'!$F$1</c:f>
              <c:strCache>
                <c:ptCount val="1"/>
                <c:pt idx="0">
                  <c:v>SGSM(SHA3-512)</c:v>
                </c:pt>
              </c:strCache>
            </c:strRef>
          </c:tx>
          <c:spPr>
            <a:ln w="28575" cap="rnd">
              <a:solidFill>
                <a:schemeClr val="accent6">
                  <a:lumMod val="75000"/>
                </a:schemeClr>
              </a:solidFill>
              <a:round/>
            </a:ln>
            <a:effectLst/>
          </c:spPr>
          <c:marker>
            <c:symbol val="square"/>
            <c:size val="9"/>
            <c:spPr>
              <a:solidFill>
                <a:schemeClr val="accent6">
                  <a:lumMod val="75000"/>
                </a:schemeClr>
              </a:solidFill>
              <a:ln w="9525">
                <a:solidFill>
                  <a:schemeClr val="accent6">
                    <a:lumMod val="75000"/>
                  </a:schemeClr>
                </a:solidFill>
              </a:ln>
              <a:effectLst/>
            </c:spPr>
          </c:marker>
          <c:val>
            <c:numRef>
              <c:f>'HOST-SEND'!$F$2:$F$21</c:f>
              <c:numCache>
                <c:formatCode>0.0000</c:formatCode>
                <c:ptCount val="20"/>
                <c:pt idx="0">
                  <c:v>0.67019462585449197</c:v>
                </c:pt>
                <c:pt idx="1">
                  <c:v>0.66358833312988197</c:v>
                </c:pt>
                <c:pt idx="2">
                  <c:v>0.67530403137206996</c:v>
                </c:pt>
                <c:pt idx="3">
                  <c:v>0.68545341491699197</c:v>
                </c:pt>
                <c:pt idx="4">
                  <c:v>0.66240226745605402</c:v>
                </c:pt>
                <c:pt idx="5">
                  <c:v>0.66144859313964799</c:v>
                </c:pt>
                <c:pt idx="6">
                  <c:v>0.67884559631347596</c:v>
                </c:pt>
                <c:pt idx="7">
                  <c:v>0.66781044006347601</c:v>
                </c:pt>
                <c:pt idx="8">
                  <c:v>0.677482986450195</c:v>
                </c:pt>
                <c:pt idx="9">
                  <c:v>0.66523612976074198</c:v>
                </c:pt>
                <c:pt idx="10">
                  <c:v>0.67218345642089805</c:v>
                </c:pt>
                <c:pt idx="11">
                  <c:v>0.66548812866210905</c:v>
                </c:pt>
                <c:pt idx="12">
                  <c:v>0.67370903015136696</c:v>
                </c:pt>
                <c:pt idx="13">
                  <c:v>0.67771537780761704</c:v>
                </c:pt>
                <c:pt idx="14">
                  <c:v>0.67172019958495999</c:v>
                </c:pt>
                <c:pt idx="15">
                  <c:v>0.67629089355468697</c:v>
                </c:pt>
                <c:pt idx="16">
                  <c:v>0.67192543029785101</c:v>
                </c:pt>
                <c:pt idx="17">
                  <c:v>0.65088272094726496</c:v>
                </c:pt>
                <c:pt idx="18">
                  <c:v>0.67659721374511705</c:v>
                </c:pt>
                <c:pt idx="19">
                  <c:v>0.67625770568847599</c:v>
                </c:pt>
              </c:numCache>
            </c:numRef>
          </c:val>
          <c:smooth val="0"/>
          <c:extLst>
            <c:ext xmlns:c16="http://schemas.microsoft.com/office/drawing/2014/chart" uri="{C3380CC4-5D6E-409C-BE32-E72D297353CC}">
              <c16:uniqueId val="{00000004-A3B6-41F4-B1EC-56DBF7857168}"/>
            </c:ext>
          </c:extLst>
        </c:ser>
        <c:dLbls>
          <c:showLegendKey val="0"/>
          <c:showVal val="0"/>
          <c:showCatName val="0"/>
          <c:showSerName val="0"/>
          <c:showPercent val="0"/>
          <c:showBubbleSize val="0"/>
        </c:dLbls>
        <c:marker val="1"/>
        <c:smooth val="0"/>
        <c:axId val="1145566671"/>
        <c:axId val="1145561263"/>
      </c:lineChart>
      <c:catAx>
        <c:axId val="1145566671"/>
        <c:scaling>
          <c:orientation val="minMax"/>
        </c:scaling>
        <c:delete val="0"/>
        <c:axPos val="b"/>
        <c:title>
          <c:tx>
            <c:rich>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r>
                  <a:rPr lang="en-US" b="1"/>
                  <a:t>Experiment Run</a:t>
                </a:r>
              </a:p>
            </c:rich>
          </c:tx>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1145561263"/>
        <c:crosses val="autoZero"/>
        <c:auto val="1"/>
        <c:lblAlgn val="ctr"/>
        <c:lblOffset val="100"/>
        <c:noMultiLvlLbl val="0"/>
      </c:catAx>
      <c:valAx>
        <c:axId val="1145561263"/>
        <c:scaling>
          <c:orientation val="minMax"/>
          <c:max val="1"/>
          <c:min val="0.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r>
                  <a:rPr lang="en-US" b="1" dirty="0"/>
                  <a:t>Time in Milliseconds</a:t>
                </a:r>
              </a:p>
            </c:rich>
          </c:tx>
          <c:overlay val="0"/>
          <c:spPr>
            <a:noFill/>
            <a:ln>
              <a:noFill/>
            </a:ln>
            <a:effectLst/>
          </c:spPr>
          <c:txPr>
            <a:bodyPr rot="-54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title>
        <c:numFmt formatCode="0.0" sourceLinked="0"/>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1145566671"/>
        <c:crosses val="autoZero"/>
        <c:crossBetween val="between"/>
      </c:valAx>
      <c:spPr>
        <a:noFill/>
        <a:ln>
          <a:noFill/>
        </a:ln>
        <a:effectLst/>
      </c:spPr>
    </c:plotArea>
    <c:legend>
      <c:legendPos val="b"/>
      <c:layout>
        <c:manualLayout>
          <c:xMode val="edge"/>
          <c:yMode val="edge"/>
          <c:x val="0.18520803824278956"/>
          <c:y val="0.83276554716374751"/>
          <c:w val="0.63438392653816389"/>
          <c:h val="0.12188297891335012"/>
        </c:manualLayout>
      </c:layout>
      <c:overlay val="0"/>
      <c:spPr>
        <a:noFill/>
        <a:ln>
          <a:noFill/>
        </a:ln>
        <a:effectLst/>
      </c:spPr>
      <c:txPr>
        <a:bodyPr rot="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solidFill>
      <a:schemeClr val="bg1"/>
    </a:solidFill>
    <a:ln w="9525" cap="flat" cmpd="sng" algn="ctr">
      <a:solidFill>
        <a:schemeClr val="tx1"/>
      </a:solidFill>
      <a:round/>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600" b="1" i="0" baseline="0" dirty="0">
                <a:effectLst/>
              </a:rPr>
              <a:t>Processing Time: SGSM(HMAC Variants)</a:t>
            </a:r>
            <a:endParaRPr lang="en-US" sz="1200" dirty="0">
              <a:effectLst/>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'EQUIP-REC'!$B$1</c:f>
              <c:strCache>
                <c:ptCount val="1"/>
                <c:pt idx="0">
                  <c:v>SGSM(SHA1)</c:v>
                </c:pt>
              </c:strCache>
            </c:strRef>
          </c:tx>
          <c:spPr>
            <a:ln w="28575" cap="rnd">
              <a:solidFill>
                <a:schemeClr val="accent1"/>
              </a:solidFill>
              <a:round/>
            </a:ln>
            <a:effectLst/>
          </c:spPr>
          <c:marker>
            <c:symbol val="triangle"/>
            <c:size val="9"/>
            <c:spPr>
              <a:solidFill>
                <a:schemeClr val="accent1"/>
              </a:solidFill>
              <a:ln w="9525">
                <a:solidFill>
                  <a:schemeClr val="accent1"/>
                </a:solidFill>
              </a:ln>
              <a:effectLst/>
            </c:spPr>
          </c:marker>
          <c:val>
            <c:numRef>
              <c:f>'EQUIP-REC'!$B$2:$B$21</c:f>
              <c:numCache>
                <c:formatCode>0.0000</c:formatCode>
                <c:ptCount val="20"/>
                <c:pt idx="0">
                  <c:v>0.19713142395019501</c:v>
                </c:pt>
                <c:pt idx="1">
                  <c:v>0.19832351684570301</c:v>
                </c:pt>
                <c:pt idx="2">
                  <c:v>0.19764900207519498</c:v>
                </c:pt>
                <c:pt idx="3">
                  <c:v>0.19907951354980402</c:v>
                </c:pt>
                <c:pt idx="4">
                  <c:v>0.19478797912597598</c:v>
                </c:pt>
                <c:pt idx="5">
                  <c:v>0.19592695617675701</c:v>
                </c:pt>
                <c:pt idx="6">
                  <c:v>0.20170211791992101</c:v>
                </c:pt>
                <c:pt idx="7">
                  <c:v>0.20243095397949201</c:v>
                </c:pt>
                <c:pt idx="8">
                  <c:v>0.20122695617675701</c:v>
                </c:pt>
                <c:pt idx="9">
                  <c:v>0.20185467529296799</c:v>
                </c:pt>
                <c:pt idx="10">
                  <c:v>0.20243095397949201</c:v>
                </c:pt>
                <c:pt idx="11">
                  <c:v>0.205288026123046</c:v>
                </c:pt>
                <c:pt idx="12">
                  <c:v>0.20098686218261699</c:v>
                </c:pt>
                <c:pt idx="13">
                  <c:v>0.20078118896484301</c:v>
                </c:pt>
                <c:pt idx="14">
                  <c:v>0.204297561645507</c:v>
                </c:pt>
                <c:pt idx="15">
                  <c:v>0.19999244689941401</c:v>
                </c:pt>
                <c:pt idx="16">
                  <c:v>0.200271606445312</c:v>
                </c:pt>
                <c:pt idx="17">
                  <c:v>0.19501281738281201</c:v>
                </c:pt>
                <c:pt idx="18">
                  <c:v>0.199542770385742</c:v>
                </c:pt>
                <c:pt idx="19">
                  <c:v>0.19692695617675701</c:v>
                </c:pt>
              </c:numCache>
            </c:numRef>
          </c:val>
          <c:smooth val="0"/>
          <c:extLst>
            <c:ext xmlns:c16="http://schemas.microsoft.com/office/drawing/2014/chart" uri="{C3380CC4-5D6E-409C-BE32-E72D297353CC}">
              <c16:uniqueId val="{00000000-5B04-42BB-BDF5-E1ADEBBE090C}"/>
            </c:ext>
          </c:extLst>
        </c:ser>
        <c:ser>
          <c:idx val="1"/>
          <c:order val="1"/>
          <c:tx>
            <c:strRef>
              <c:f>'EQUIP-REC'!$C$1</c:f>
              <c:strCache>
                <c:ptCount val="1"/>
                <c:pt idx="0">
                  <c:v>SGSM(SHA256)</c:v>
                </c:pt>
              </c:strCache>
            </c:strRef>
          </c:tx>
          <c:spPr>
            <a:ln w="28575" cap="rnd">
              <a:solidFill>
                <a:schemeClr val="accent2"/>
              </a:solidFill>
              <a:round/>
            </a:ln>
            <a:effectLst/>
          </c:spPr>
          <c:marker>
            <c:symbol val="diamond"/>
            <c:size val="9"/>
            <c:spPr>
              <a:solidFill>
                <a:schemeClr val="accent2"/>
              </a:solidFill>
              <a:ln w="9525">
                <a:solidFill>
                  <a:schemeClr val="accent2"/>
                </a:solidFill>
              </a:ln>
              <a:effectLst/>
            </c:spPr>
          </c:marker>
          <c:val>
            <c:numRef>
              <c:f>'EQUIP-REC'!$C$2:$C$21</c:f>
              <c:numCache>
                <c:formatCode>0.0000</c:formatCode>
                <c:ptCount val="20"/>
                <c:pt idx="0">
                  <c:v>0.21910667419433499</c:v>
                </c:pt>
                <c:pt idx="1">
                  <c:v>0.21866937255859301</c:v>
                </c:pt>
                <c:pt idx="2">
                  <c:v>0.220974487304687</c:v>
                </c:pt>
                <c:pt idx="3">
                  <c:v>0.21168853759765599</c:v>
                </c:pt>
                <c:pt idx="4">
                  <c:v>0.211940536499023</c:v>
                </c:pt>
                <c:pt idx="5">
                  <c:v>0.21241058349609299</c:v>
                </c:pt>
                <c:pt idx="6">
                  <c:v>0.22009532775878901</c:v>
                </c:pt>
                <c:pt idx="7">
                  <c:v>0.22122528076171799</c:v>
                </c:pt>
                <c:pt idx="8">
                  <c:v>0.21836425781249999</c:v>
                </c:pt>
                <c:pt idx="9">
                  <c:v>0.21526481628417901</c:v>
                </c:pt>
                <c:pt idx="10">
                  <c:v>0.21505355834960899</c:v>
                </c:pt>
                <c:pt idx="11">
                  <c:v>0.21973281860350999</c:v>
                </c:pt>
                <c:pt idx="12">
                  <c:v>0.211926956176757</c:v>
                </c:pt>
                <c:pt idx="13">
                  <c:v>0.212880630493164</c:v>
                </c:pt>
                <c:pt idx="14">
                  <c:v>0.211715698242187</c:v>
                </c:pt>
                <c:pt idx="15">
                  <c:v>0.21386146545410098</c:v>
                </c:pt>
                <c:pt idx="16">
                  <c:v>0.21383430480957</c:v>
                </c:pt>
                <c:pt idx="17">
                  <c:v>0.21145011901855401</c:v>
                </c:pt>
                <c:pt idx="18">
                  <c:v>0.21383430480957</c:v>
                </c:pt>
                <c:pt idx="19">
                  <c:v>0.21621849060058501</c:v>
                </c:pt>
              </c:numCache>
            </c:numRef>
          </c:val>
          <c:smooth val="0"/>
          <c:extLst>
            <c:ext xmlns:c16="http://schemas.microsoft.com/office/drawing/2014/chart" uri="{C3380CC4-5D6E-409C-BE32-E72D297353CC}">
              <c16:uniqueId val="{00000001-5B04-42BB-BDF5-E1ADEBBE090C}"/>
            </c:ext>
          </c:extLst>
        </c:ser>
        <c:ser>
          <c:idx val="2"/>
          <c:order val="2"/>
          <c:tx>
            <c:strRef>
              <c:f>'EQUIP-REC'!$D$1</c:f>
              <c:strCache>
                <c:ptCount val="1"/>
                <c:pt idx="0">
                  <c:v>SGSM(SHA512)</c:v>
                </c:pt>
              </c:strCache>
            </c:strRef>
          </c:tx>
          <c:spPr>
            <a:ln w="28575" cap="rnd">
              <a:solidFill>
                <a:schemeClr val="accent3"/>
              </a:solidFill>
              <a:round/>
            </a:ln>
            <a:effectLst/>
          </c:spPr>
          <c:marker>
            <c:symbol val="circle"/>
            <c:size val="8"/>
            <c:spPr>
              <a:solidFill>
                <a:schemeClr val="accent3"/>
              </a:solidFill>
              <a:ln w="9525">
                <a:solidFill>
                  <a:schemeClr val="accent3"/>
                </a:solidFill>
              </a:ln>
              <a:effectLst/>
            </c:spPr>
          </c:marker>
          <c:val>
            <c:numRef>
              <c:f>'EQUIP-REC'!$D$2:$D$21</c:f>
              <c:numCache>
                <c:formatCode>0.0000</c:formatCode>
                <c:ptCount val="20"/>
                <c:pt idx="0">
                  <c:v>0.21333151245117099</c:v>
                </c:pt>
                <c:pt idx="1">
                  <c:v>0.21585467529296801</c:v>
                </c:pt>
                <c:pt idx="2">
                  <c:v>0.21866937255859301</c:v>
                </c:pt>
                <c:pt idx="3">
                  <c:v>0.221913375854492</c:v>
                </c:pt>
                <c:pt idx="4">
                  <c:v>0.22146369934082</c:v>
                </c:pt>
                <c:pt idx="5">
                  <c:v>0.22341178894042901</c:v>
                </c:pt>
                <c:pt idx="6">
                  <c:v>0.225516815185546</c:v>
                </c:pt>
                <c:pt idx="7">
                  <c:v>0.22309309387206999</c:v>
                </c:pt>
                <c:pt idx="8">
                  <c:v>0.21862983703613201</c:v>
                </c:pt>
                <c:pt idx="9">
                  <c:v>0.22289421081542901</c:v>
                </c:pt>
                <c:pt idx="10">
                  <c:v>0.224113464355468</c:v>
                </c:pt>
                <c:pt idx="11">
                  <c:v>0.22488742065429601</c:v>
                </c:pt>
                <c:pt idx="12">
                  <c:v>0.212969372558593</c:v>
                </c:pt>
                <c:pt idx="13">
                  <c:v>0.22236425781249999</c:v>
                </c:pt>
                <c:pt idx="14">
                  <c:v>0.21717216491699201</c:v>
                </c:pt>
                <c:pt idx="15">
                  <c:v>0.21454956054687499</c:v>
                </c:pt>
                <c:pt idx="16">
                  <c:v>0.21146369934081999</c:v>
                </c:pt>
                <c:pt idx="17">
                  <c:v>0.21599365234375001</c:v>
                </c:pt>
                <c:pt idx="18">
                  <c:v>0.21623207092285099</c:v>
                </c:pt>
                <c:pt idx="19">
                  <c:v>0.22268295288085899</c:v>
                </c:pt>
              </c:numCache>
            </c:numRef>
          </c:val>
          <c:smooth val="0"/>
          <c:extLst>
            <c:ext xmlns:c16="http://schemas.microsoft.com/office/drawing/2014/chart" uri="{C3380CC4-5D6E-409C-BE32-E72D297353CC}">
              <c16:uniqueId val="{00000002-5B04-42BB-BDF5-E1ADEBBE090C}"/>
            </c:ext>
          </c:extLst>
        </c:ser>
        <c:ser>
          <c:idx val="3"/>
          <c:order val="3"/>
          <c:tx>
            <c:strRef>
              <c:f>'EQUIP-REC'!$E$1</c:f>
              <c:strCache>
                <c:ptCount val="1"/>
                <c:pt idx="0">
                  <c:v>SGSM(SHA3-256)</c:v>
                </c:pt>
              </c:strCache>
            </c:strRef>
          </c:tx>
          <c:spPr>
            <a:ln w="28575" cap="rnd">
              <a:solidFill>
                <a:schemeClr val="accent4"/>
              </a:solidFill>
              <a:round/>
            </a:ln>
            <a:effectLst/>
          </c:spPr>
          <c:marker>
            <c:symbol val="x"/>
            <c:size val="9"/>
            <c:spPr>
              <a:noFill/>
              <a:ln w="9525">
                <a:solidFill>
                  <a:schemeClr val="accent4"/>
                </a:solidFill>
              </a:ln>
              <a:effectLst/>
            </c:spPr>
          </c:marker>
          <c:val>
            <c:numRef>
              <c:f>'EQUIP-REC'!$E$2:$E$21</c:f>
              <c:numCache>
                <c:formatCode>0.0000</c:formatCode>
                <c:ptCount val="20"/>
                <c:pt idx="0">
                  <c:v>0.22196769714355402</c:v>
                </c:pt>
                <c:pt idx="1">
                  <c:v>0.22547727966308501</c:v>
                </c:pt>
                <c:pt idx="2">
                  <c:v>0.22597328186035101</c:v>
                </c:pt>
                <c:pt idx="3">
                  <c:v>0.212894210815429</c:v>
                </c:pt>
                <c:pt idx="4">
                  <c:v>0.21529197692870999</c:v>
                </c:pt>
                <c:pt idx="5">
                  <c:v>0.22339820861816401</c:v>
                </c:pt>
                <c:pt idx="6">
                  <c:v>0.22172927856445299</c:v>
                </c:pt>
                <c:pt idx="7">
                  <c:v>0.22203318786621001</c:v>
                </c:pt>
                <c:pt idx="8">
                  <c:v>0.22408630371093699</c:v>
                </c:pt>
                <c:pt idx="9">
                  <c:v>0.226020812988281</c:v>
                </c:pt>
                <c:pt idx="10">
                  <c:v>0.2288818359375</c:v>
                </c:pt>
                <c:pt idx="11">
                  <c:v>0.22289421081542901</c:v>
                </c:pt>
                <c:pt idx="12">
                  <c:v>0.21886825561523399</c:v>
                </c:pt>
                <c:pt idx="13">
                  <c:v>0.218841094970703</c:v>
                </c:pt>
                <c:pt idx="14">
                  <c:v>0.21337104797363199</c:v>
                </c:pt>
                <c:pt idx="15">
                  <c:v>0.21386146545410098</c:v>
                </c:pt>
                <c:pt idx="16">
                  <c:v>0.210748443603515</c:v>
                </c:pt>
                <c:pt idx="17">
                  <c:v>0.219556350708007</c:v>
                </c:pt>
                <c:pt idx="18">
                  <c:v>0.21622528076171799</c:v>
                </c:pt>
                <c:pt idx="19">
                  <c:v>0.22268295288085899</c:v>
                </c:pt>
              </c:numCache>
            </c:numRef>
          </c:val>
          <c:smooth val="0"/>
          <c:extLst>
            <c:ext xmlns:c16="http://schemas.microsoft.com/office/drawing/2014/chart" uri="{C3380CC4-5D6E-409C-BE32-E72D297353CC}">
              <c16:uniqueId val="{00000003-5B04-42BB-BDF5-E1ADEBBE090C}"/>
            </c:ext>
          </c:extLst>
        </c:ser>
        <c:ser>
          <c:idx val="4"/>
          <c:order val="4"/>
          <c:tx>
            <c:strRef>
              <c:f>'EQUIP-REC'!$F$1</c:f>
              <c:strCache>
                <c:ptCount val="1"/>
                <c:pt idx="0">
                  <c:v>SGSM(SHA3-512)</c:v>
                </c:pt>
              </c:strCache>
            </c:strRef>
          </c:tx>
          <c:spPr>
            <a:ln w="28575" cap="rnd">
              <a:solidFill>
                <a:schemeClr val="accent6">
                  <a:lumMod val="75000"/>
                </a:schemeClr>
              </a:solidFill>
              <a:round/>
            </a:ln>
            <a:effectLst/>
          </c:spPr>
          <c:marker>
            <c:symbol val="square"/>
            <c:size val="9"/>
            <c:spPr>
              <a:solidFill>
                <a:schemeClr val="accent6">
                  <a:lumMod val="75000"/>
                </a:schemeClr>
              </a:solidFill>
              <a:ln w="9525">
                <a:solidFill>
                  <a:schemeClr val="accent6">
                    <a:lumMod val="75000"/>
                  </a:schemeClr>
                </a:solidFill>
              </a:ln>
              <a:effectLst/>
            </c:spPr>
          </c:marker>
          <c:val>
            <c:numRef>
              <c:f>'EQUIP-REC'!$F$2:$F$21</c:f>
              <c:numCache>
                <c:formatCode>0.0000</c:formatCode>
                <c:ptCount val="20"/>
                <c:pt idx="0">
                  <c:v>0.24938583374023399</c:v>
                </c:pt>
                <c:pt idx="1">
                  <c:v>0.24628639221191401</c:v>
                </c:pt>
                <c:pt idx="2">
                  <c:v>0.247649002075195</c:v>
                </c:pt>
                <c:pt idx="3">
                  <c:v>0.26224247741699203</c:v>
                </c:pt>
                <c:pt idx="4">
                  <c:v>0.26185467529296802</c:v>
                </c:pt>
                <c:pt idx="5">
                  <c:v>0.25933950805664002</c:v>
                </c:pt>
                <c:pt idx="6">
                  <c:v>0.260046768188476</c:v>
                </c:pt>
                <c:pt idx="7">
                  <c:v>0.26290779113769502</c:v>
                </c:pt>
                <c:pt idx="8">
                  <c:v>0.26301643371582001</c:v>
                </c:pt>
                <c:pt idx="9">
                  <c:v>0.26627281188964802</c:v>
                </c:pt>
                <c:pt idx="10">
                  <c:v>0.25963104248046798</c:v>
                </c:pt>
                <c:pt idx="11">
                  <c:v>0.25839141845703101</c:v>
                </c:pt>
                <c:pt idx="12">
                  <c:v>0.26589103698730399</c:v>
                </c:pt>
                <c:pt idx="13">
                  <c:v>0.26933151245117098</c:v>
                </c:pt>
                <c:pt idx="14">
                  <c:v>0.26503997802734303</c:v>
                </c:pt>
                <c:pt idx="15">
                  <c:v>0.26638024902343699</c:v>
                </c:pt>
                <c:pt idx="16">
                  <c:v>0.26934509277343699</c:v>
                </c:pt>
                <c:pt idx="17">
                  <c:v>0.26754638671874997</c:v>
                </c:pt>
                <c:pt idx="18">
                  <c:v>0.26405476379394499</c:v>
                </c:pt>
                <c:pt idx="19">
                  <c:v>0.26694732666015603</c:v>
                </c:pt>
              </c:numCache>
            </c:numRef>
          </c:val>
          <c:smooth val="0"/>
          <c:extLst>
            <c:ext xmlns:c16="http://schemas.microsoft.com/office/drawing/2014/chart" uri="{C3380CC4-5D6E-409C-BE32-E72D297353CC}">
              <c16:uniqueId val="{00000004-5B04-42BB-BDF5-E1ADEBBE090C}"/>
            </c:ext>
          </c:extLst>
        </c:ser>
        <c:dLbls>
          <c:showLegendKey val="0"/>
          <c:showVal val="0"/>
          <c:showCatName val="0"/>
          <c:showSerName val="0"/>
          <c:showPercent val="0"/>
          <c:showBubbleSize val="0"/>
        </c:dLbls>
        <c:marker val="1"/>
        <c:smooth val="0"/>
        <c:axId val="2122365551"/>
        <c:axId val="2122381359"/>
      </c:lineChart>
      <c:catAx>
        <c:axId val="2122365551"/>
        <c:scaling>
          <c:orientation val="minMax"/>
        </c:scaling>
        <c:delete val="0"/>
        <c:axPos val="b"/>
        <c:title>
          <c:tx>
            <c:rich>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r>
                  <a:rPr lang="en-US" b="1"/>
                  <a:t>Experiment Run</a:t>
                </a:r>
              </a:p>
            </c:rich>
          </c:tx>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2122381359"/>
        <c:crosses val="autoZero"/>
        <c:auto val="1"/>
        <c:lblAlgn val="ctr"/>
        <c:lblOffset val="100"/>
        <c:noMultiLvlLbl val="0"/>
      </c:catAx>
      <c:valAx>
        <c:axId val="2122381359"/>
        <c:scaling>
          <c:orientation val="minMax"/>
          <c:max val="0.4"/>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r>
                  <a:rPr lang="en-US" b="1" dirty="0"/>
                  <a:t>Time in Milliseconds</a:t>
                </a:r>
              </a:p>
            </c:rich>
          </c:tx>
          <c:overlay val="0"/>
          <c:spPr>
            <a:noFill/>
            <a:ln>
              <a:noFill/>
            </a:ln>
            <a:effectLst/>
          </c:spPr>
          <c:txPr>
            <a:bodyPr rot="-540000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title>
        <c:numFmt formatCode="0.00" sourceLinked="0"/>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2122365551"/>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solidFill>
      <a:schemeClr val="bg1"/>
    </a:solidFill>
    <a:ln w="9525" cap="flat" cmpd="sng" algn="ctr">
      <a:solidFill>
        <a:schemeClr val="tx1"/>
      </a:solidFill>
      <a:round/>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prstClr val="black">
                    <a:lumMod val="65000"/>
                    <a:lumOff val="35000"/>
                  </a:prstClr>
                </a:solidFill>
                <a:latin typeface="+mn-lt"/>
                <a:ea typeface="+mn-ea"/>
                <a:cs typeface="+mn-cs"/>
              </a:defRPr>
            </a:pPr>
            <a:r>
              <a:rPr lang="en-US" sz="1600" b="1" i="0" baseline="0" dirty="0">
                <a:effectLst/>
              </a:rPr>
              <a:t>Processing Time: SGSM(SHA256)</a:t>
            </a:r>
            <a:endParaRPr lang="en-US" sz="1200" dirty="0">
              <a:effectLst/>
            </a:endParaRP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prstClr val="black">
                  <a:lumMod val="65000"/>
                  <a:lumOff val="35000"/>
                </a:prstClr>
              </a:solidFill>
              <a:latin typeface="+mn-lt"/>
              <a:ea typeface="+mn-ea"/>
              <a:cs typeface="+mn-cs"/>
            </a:defRPr>
          </a:pPr>
          <a:endParaRPr lang="en-US"/>
        </a:p>
      </c:txPr>
    </c:title>
    <c:autoTitleDeleted val="0"/>
    <c:plotArea>
      <c:layout/>
      <c:lineChart>
        <c:grouping val="standard"/>
        <c:varyColors val="0"/>
        <c:ser>
          <c:idx val="0"/>
          <c:order val="0"/>
          <c:tx>
            <c:strRef>
              <c:f>'Compare(PT)'!$B$86</c:f>
              <c:strCache>
                <c:ptCount val="1"/>
                <c:pt idx="0">
                  <c:v>STANDARD</c:v>
                </c:pt>
              </c:strCache>
            </c:strRef>
          </c:tx>
          <c:spPr>
            <a:ln w="28575" cap="rnd">
              <a:solidFill>
                <a:schemeClr val="accent1"/>
              </a:solidFill>
              <a:round/>
            </a:ln>
            <a:effectLst/>
          </c:spPr>
          <c:marker>
            <c:symbol val="circle"/>
            <c:size val="9"/>
            <c:spPr>
              <a:solidFill>
                <a:schemeClr val="accent1"/>
              </a:solidFill>
              <a:ln w="9525">
                <a:solidFill>
                  <a:schemeClr val="accent1"/>
                </a:solidFill>
              </a:ln>
              <a:effectLst/>
            </c:spPr>
          </c:marker>
          <c:val>
            <c:numRef>
              <c:f>'Compare(PT)'!$B$87:$B$106</c:f>
              <c:numCache>
                <c:formatCode>0.000</c:formatCode>
                <c:ptCount val="20"/>
                <c:pt idx="0">
                  <c:v>4.298406808617683E-2</c:v>
                </c:pt>
                <c:pt idx="1">
                  <c:v>4.2095709220911215E-2</c:v>
                </c:pt>
                <c:pt idx="2">
                  <c:v>5.3996968492333486E-2</c:v>
                </c:pt>
                <c:pt idx="3">
                  <c:v>5.5804682803556216E-2</c:v>
                </c:pt>
                <c:pt idx="4">
                  <c:v>5.4849131994718525E-2</c:v>
                </c:pt>
                <c:pt idx="5">
                  <c:v>6.1610066607800662E-2</c:v>
                </c:pt>
                <c:pt idx="6">
                  <c:v>5.5687444512377504E-2</c:v>
                </c:pt>
                <c:pt idx="7">
                  <c:v>7.3242262463158792E-2</c:v>
                </c:pt>
                <c:pt idx="8">
                  <c:v>5.6888983557649486E-2</c:v>
                </c:pt>
                <c:pt idx="9">
                  <c:v>7.4195185363275518E-2</c:v>
                </c:pt>
                <c:pt idx="10">
                  <c:v>3.3299999406873115E-2</c:v>
                </c:pt>
                <c:pt idx="11">
                  <c:v>7.1867861885806184E-2</c:v>
                </c:pt>
                <c:pt idx="12">
                  <c:v>2.2052345838780907E-2</c:v>
                </c:pt>
                <c:pt idx="13">
                  <c:v>4.1328381212644483E-2</c:v>
                </c:pt>
                <c:pt idx="14">
                  <c:v>4.8005706974431739E-2</c:v>
                </c:pt>
                <c:pt idx="15">
                  <c:v>6.1221368254792519E-2</c:v>
                </c:pt>
                <c:pt idx="16">
                  <c:v>5.3370748196424622E-2</c:v>
                </c:pt>
                <c:pt idx="17">
                  <c:v>2.608227401631813E-2</c:v>
                </c:pt>
                <c:pt idx="18">
                  <c:v>2.449205943903221E-2</c:v>
                </c:pt>
                <c:pt idx="19">
                  <c:v>4.5036399129597671E-2</c:v>
                </c:pt>
              </c:numCache>
            </c:numRef>
          </c:val>
          <c:smooth val="0"/>
          <c:extLst>
            <c:ext xmlns:c16="http://schemas.microsoft.com/office/drawing/2014/chart" uri="{C3380CC4-5D6E-409C-BE32-E72D297353CC}">
              <c16:uniqueId val="{00000000-F5A7-4BE5-AEE9-642440DAEB12}"/>
            </c:ext>
          </c:extLst>
        </c:ser>
        <c:ser>
          <c:idx val="1"/>
          <c:order val="1"/>
          <c:tx>
            <c:strRef>
              <c:f>'Compare(PT)'!$C$86</c:f>
              <c:strCache>
                <c:ptCount val="1"/>
                <c:pt idx="0">
                  <c:v>SecuredSECS/GEM</c:v>
                </c:pt>
              </c:strCache>
            </c:strRef>
          </c:tx>
          <c:spPr>
            <a:ln w="28575" cap="rnd">
              <a:solidFill>
                <a:schemeClr val="accent2"/>
              </a:solidFill>
              <a:round/>
            </a:ln>
            <a:effectLst/>
          </c:spPr>
          <c:marker>
            <c:symbol val="x"/>
            <c:size val="9"/>
            <c:spPr>
              <a:noFill/>
              <a:ln w="9525">
                <a:solidFill>
                  <a:schemeClr val="accent2"/>
                </a:solidFill>
              </a:ln>
              <a:effectLst/>
            </c:spPr>
          </c:marker>
          <c:val>
            <c:numRef>
              <c:f>'Compare(PT)'!$C$87:$C$106</c:f>
              <c:numCache>
                <c:formatCode>0.000</c:formatCode>
                <c:ptCount val="20"/>
                <c:pt idx="0">
                  <c:v>0.29859103832629985</c:v>
                </c:pt>
                <c:pt idx="1">
                  <c:v>0.29090923485433651</c:v>
                </c:pt>
                <c:pt idx="2">
                  <c:v>0.32460610336362106</c:v>
                </c:pt>
                <c:pt idx="3">
                  <c:v>0.3245793763964363</c:v>
                </c:pt>
                <c:pt idx="4">
                  <c:v>0.31160475482300087</c:v>
                </c:pt>
                <c:pt idx="5">
                  <c:v>0.31243652589110804</c:v>
                </c:pt>
                <c:pt idx="6">
                  <c:v>0.3292844537821733</c:v>
                </c:pt>
                <c:pt idx="7">
                  <c:v>0.29975765004912824</c:v>
                </c:pt>
                <c:pt idx="8">
                  <c:v>0.32654728443192194</c:v>
                </c:pt>
                <c:pt idx="9">
                  <c:v>0.31252884405584458</c:v>
                </c:pt>
                <c:pt idx="10">
                  <c:v>0.31281217239038728</c:v>
                </c:pt>
                <c:pt idx="11">
                  <c:v>0.34553025107797197</c:v>
                </c:pt>
                <c:pt idx="12">
                  <c:v>0.32006462483261344</c:v>
                </c:pt>
                <c:pt idx="13">
                  <c:v>0.3468144737141573</c:v>
                </c:pt>
                <c:pt idx="14">
                  <c:v>0.315110602611823</c:v>
                </c:pt>
                <c:pt idx="15">
                  <c:v>0.32510702561538518</c:v>
                </c:pt>
                <c:pt idx="16">
                  <c:v>0.32912637955016677</c:v>
                </c:pt>
                <c:pt idx="17">
                  <c:v>0.2933813371670394</c:v>
                </c:pt>
                <c:pt idx="18">
                  <c:v>0.29119558169385307</c:v>
                </c:pt>
                <c:pt idx="19">
                  <c:v>0.2932846611962906</c:v>
                </c:pt>
              </c:numCache>
            </c:numRef>
          </c:val>
          <c:smooth val="0"/>
          <c:extLst>
            <c:ext xmlns:c16="http://schemas.microsoft.com/office/drawing/2014/chart" uri="{C3380CC4-5D6E-409C-BE32-E72D297353CC}">
              <c16:uniqueId val="{00000001-F5A7-4BE5-AEE9-642440DAEB12}"/>
            </c:ext>
          </c:extLst>
        </c:ser>
        <c:ser>
          <c:idx val="3"/>
          <c:order val="3"/>
          <c:tx>
            <c:strRef>
              <c:f>'Compare(PT)'!$E$86</c:f>
              <c:strCache>
                <c:ptCount val="1"/>
                <c:pt idx="0">
                  <c:v>SGSM(SHA256)</c:v>
                </c:pt>
              </c:strCache>
            </c:strRef>
          </c:tx>
          <c:spPr>
            <a:ln w="28575" cap="rnd">
              <a:solidFill>
                <a:schemeClr val="accent4"/>
              </a:solidFill>
              <a:round/>
            </a:ln>
            <a:effectLst/>
          </c:spPr>
          <c:marker>
            <c:symbol val="diamond"/>
            <c:size val="9"/>
            <c:spPr>
              <a:solidFill>
                <a:schemeClr val="accent4"/>
              </a:solidFill>
              <a:ln w="9525">
                <a:solidFill>
                  <a:schemeClr val="accent4"/>
                </a:solidFill>
              </a:ln>
              <a:effectLst/>
            </c:spPr>
          </c:marker>
          <c:val>
            <c:numRef>
              <c:f>'Compare(PT)'!$E$87:$E$106</c:f>
              <c:numCache>
                <c:formatCode>0.000</c:formatCode>
                <c:ptCount val="20"/>
                <c:pt idx="0">
                  <c:v>0.21910667419433499</c:v>
                </c:pt>
                <c:pt idx="1">
                  <c:v>0.212669372558593</c:v>
                </c:pt>
                <c:pt idx="2">
                  <c:v>0.226974487304687</c:v>
                </c:pt>
                <c:pt idx="3">
                  <c:v>0.191688537597656</c:v>
                </c:pt>
                <c:pt idx="4">
                  <c:v>0.20194053649902299</c:v>
                </c:pt>
                <c:pt idx="5">
                  <c:v>0.197410583496093</c:v>
                </c:pt>
                <c:pt idx="6">
                  <c:v>0.19669532775878901</c:v>
                </c:pt>
                <c:pt idx="7">
                  <c:v>0.201225280761718</c:v>
                </c:pt>
                <c:pt idx="8">
                  <c:v>0.1983642578125</c:v>
                </c:pt>
                <c:pt idx="9">
                  <c:v>0.19526481628417902</c:v>
                </c:pt>
                <c:pt idx="10">
                  <c:v>0.21505355834960899</c:v>
                </c:pt>
                <c:pt idx="11">
                  <c:v>0.19097328186035098</c:v>
                </c:pt>
                <c:pt idx="12">
                  <c:v>0.19192695617675701</c:v>
                </c:pt>
                <c:pt idx="13">
                  <c:v>0.19288063049316401</c:v>
                </c:pt>
                <c:pt idx="14">
                  <c:v>0.211715698242187</c:v>
                </c:pt>
                <c:pt idx="15">
                  <c:v>0.21386146545410098</c:v>
                </c:pt>
                <c:pt idx="16">
                  <c:v>0.19383430480956998</c:v>
                </c:pt>
                <c:pt idx="17">
                  <c:v>0.19145011901855402</c:v>
                </c:pt>
                <c:pt idx="18">
                  <c:v>0.19383430480956998</c:v>
                </c:pt>
                <c:pt idx="19">
                  <c:v>0.19621849060058499</c:v>
                </c:pt>
              </c:numCache>
            </c:numRef>
          </c:val>
          <c:smooth val="0"/>
          <c:extLst>
            <c:ext xmlns:c16="http://schemas.microsoft.com/office/drawing/2014/chart" uri="{C3380CC4-5D6E-409C-BE32-E72D297353CC}">
              <c16:uniqueId val="{00000002-F5A7-4BE5-AEE9-642440DAEB12}"/>
            </c:ext>
          </c:extLst>
        </c:ser>
        <c:dLbls>
          <c:showLegendKey val="0"/>
          <c:showVal val="0"/>
          <c:showCatName val="0"/>
          <c:showSerName val="0"/>
          <c:showPercent val="0"/>
          <c:showBubbleSize val="0"/>
        </c:dLbls>
        <c:marker val="1"/>
        <c:smooth val="0"/>
        <c:axId val="1280153455"/>
        <c:axId val="1280153871"/>
      </c:lineChart>
      <c:lineChart>
        <c:grouping val="standard"/>
        <c:varyColors val="0"/>
        <c:ser>
          <c:idx val="2"/>
          <c:order val="2"/>
          <c:tx>
            <c:strRef>
              <c:f>'Compare(PT)'!$D$86</c:f>
              <c:strCache>
                <c:ptCount val="1"/>
                <c:pt idx="0">
                  <c:v>SECS/GEMsec</c:v>
                </c:pt>
              </c:strCache>
            </c:strRef>
          </c:tx>
          <c:spPr>
            <a:ln w="28575" cap="rnd">
              <a:solidFill>
                <a:schemeClr val="accent6">
                  <a:lumMod val="75000"/>
                </a:schemeClr>
              </a:solidFill>
              <a:round/>
            </a:ln>
            <a:effectLst/>
          </c:spPr>
          <c:marker>
            <c:symbol val="square"/>
            <c:size val="9"/>
            <c:spPr>
              <a:solidFill>
                <a:schemeClr val="accent6">
                  <a:lumMod val="75000"/>
                </a:schemeClr>
              </a:solidFill>
              <a:ln w="9525">
                <a:solidFill>
                  <a:schemeClr val="accent6">
                    <a:lumMod val="75000"/>
                  </a:schemeClr>
                </a:solidFill>
              </a:ln>
              <a:effectLst/>
            </c:spPr>
          </c:marker>
          <c:val>
            <c:numRef>
              <c:f>'Compare(PT)'!$D$87:$D$106</c:f>
              <c:numCache>
                <c:formatCode>0.000</c:formatCode>
                <c:ptCount val="20"/>
                <c:pt idx="0">
                  <c:v>20.3514099121093</c:v>
                </c:pt>
                <c:pt idx="1">
                  <c:v>20.313262939453097</c:v>
                </c:pt>
                <c:pt idx="2">
                  <c:v>20.425319671630795</c:v>
                </c:pt>
                <c:pt idx="3">
                  <c:v>19.936561584472599</c:v>
                </c:pt>
                <c:pt idx="4">
                  <c:v>19.946098327636701</c:v>
                </c:pt>
                <c:pt idx="5">
                  <c:v>20.902458190917898</c:v>
                </c:pt>
                <c:pt idx="6">
                  <c:v>20.202865600585902</c:v>
                </c:pt>
                <c:pt idx="7">
                  <c:v>19.953250885009702</c:v>
                </c:pt>
                <c:pt idx="8">
                  <c:v>20.9072265625</c:v>
                </c:pt>
                <c:pt idx="9">
                  <c:v>20.264854431152301</c:v>
                </c:pt>
                <c:pt idx="10">
                  <c:v>20.8237800598144</c:v>
                </c:pt>
                <c:pt idx="11">
                  <c:v>19.8936462402343</c:v>
                </c:pt>
                <c:pt idx="12">
                  <c:v>21.153854370117099</c:v>
                </c:pt>
                <c:pt idx="13">
                  <c:v>20.0979614257812</c:v>
                </c:pt>
                <c:pt idx="14">
                  <c:v>20.899349212646399</c:v>
                </c:pt>
                <c:pt idx="15">
                  <c:v>19.9627876281738</c:v>
                </c:pt>
                <c:pt idx="16">
                  <c:v>19.993782043456999</c:v>
                </c:pt>
                <c:pt idx="17">
                  <c:v>19.946098327636701</c:v>
                </c:pt>
                <c:pt idx="18">
                  <c:v>20.821395874023398</c:v>
                </c:pt>
                <c:pt idx="19">
                  <c:v>20.916763305664002</c:v>
                </c:pt>
              </c:numCache>
            </c:numRef>
          </c:val>
          <c:smooth val="0"/>
          <c:extLst>
            <c:ext xmlns:c16="http://schemas.microsoft.com/office/drawing/2014/chart" uri="{C3380CC4-5D6E-409C-BE32-E72D297353CC}">
              <c16:uniqueId val="{00000003-F5A7-4BE5-AEE9-642440DAEB12}"/>
            </c:ext>
          </c:extLst>
        </c:ser>
        <c:dLbls>
          <c:showLegendKey val="0"/>
          <c:showVal val="0"/>
          <c:showCatName val="0"/>
          <c:showSerName val="0"/>
          <c:showPercent val="0"/>
          <c:showBubbleSize val="0"/>
        </c:dLbls>
        <c:marker val="1"/>
        <c:smooth val="0"/>
        <c:axId val="1397964383"/>
        <c:axId val="1397961887"/>
      </c:lineChart>
      <c:catAx>
        <c:axId val="1280153455"/>
        <c:scaling>
          <c:orientation val="minMax"/>
        </c:scaling>
        <c:delete val="0"/>
        <c:axPos val="b"/>
        <c:title>
          <c:tx>
            <c:rich>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r>
                  <a:rPr lang="en-US" b="1"/>
                  <a:t>Experiment Run</a:t>
                </a:r>
              </a:p>
            </c:rich>
          </c:tx>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1280153871"/>
        <c:crosses val="autoZero"/>
        <c:auto val="1"/>
        <c:lblAlgn val="ctr"/>
        <c:lblOffset val="100"/>
        <c:noMultiLvlLbl val="0"/>
      </c:catAx>
      <c:valAx>
        <c:axId val="1280153871"/>
        <c:scaling>
          <c:orientation val="minMax"/>
          <c:max val="1.2"/>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Time in Milliseconds</a:t>
                </a:r>
              </a:p>
            </c:rich>
          </c:tx>
          <c:layout>
            <c:manualLayout>
              <c:xMode val="edge"/>
              <c:yMode val="edge"/>
              <c:x val="2.2774242539435947E-2"/>
              <c:y val="0.49686120117338273"/>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lt;=0.5]0.0;;;" sourceLinked="0"/>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1280153455"/>
        <c:crosses val="autoZero"/>
        <c:crossBetween val="between"/>
        <c:majorUnit val="0.1"/>
      </c:valAx>
      <c:valAx>
        <c:axId val="1397961887"/>
        <c:scaling>
          <c:orientation val="minMax"/>
          <c:max val="25.5"/>
          <c:min val="0"/>
        </c:scaling>
        <c:delete val="0"/>
        <c:axPos val="r"/>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Time in (milliseconds)</a:t>
                </a:r>
              </a:p>
            </c:rich>
          </c:tx>
          <c:layout>
            <c:manualLayout>
              <c:xMode val="edge"/>
              <c:yMode val="edge"/>
              <c:x val="0.94574514956851974"/>
              <c:y val="0.10446400082342648"/>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t;=16]0.0;;;" sourceLinked="0"/>
        <c:majorTickMark val="out"/>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1397964383"/>
        <c:crosses val="max"/>
        <c:crossBetween val="between"/>
        <c:majorUnit val="2"/>
      </c:valAx>
      <c:catAx>
        <c:axId val="1397964383"/>
        <c:scaling>
          <c:orientation val="minMax"/>
        </c:scaling>
        <c:delete val="1"/>
        <c:axPos val="b"/>
        <c:majorTickMark val="out"/>
        <c:minorTickMark val="none"/>
        <c:tickLblPos val="nextTo"/>
        <c:crossAx val="1397961887"/>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solidFill>
      <a:schemeClr val="bg1"/>
    </a:solidFill>
    <a:ln w="9525" cap="flat" cmpd="sng" algn="ctr">
      <a:solidFill>
        <a:srgbClr val="5E3F97"/>
      </a:solidFill>
      <a:round/>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600" b="1" i="0" baseline="0" dirty="0">
                <a:effectLst/>
              </a:rPr>
              <a:t>Processing Time: SGSM(SHA512)</a:t>
            </a:r>
            <a:endParaRPr lang="en-US" sz="1200" dirty="0">
              <a:effectLst/>
            </a:endParaRP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strRef>
              <c:f>'Compare(PT)'!$B$141</c:f>
              <c:strCache>
                <c:ptCount val="1"/>
                <c:pt idx="0">
                  <c:v>STANDARD</c:v>
                </c:pt>
              </c:strCache>
            </c:strRef>
          </c:tx>
          <c:spPr>
            <a:ln w="28575" cap="rnd">
              <a:solidFill>
                <a:schemeClr val="accent1"/>
              </a:solidFill>
              <a:round/>
            </a:ln>
            <a:effectLst/>
          </c:spPr>
          <c:marker>
            <c:symbol val="circle"/>
            <c:size val="9"/>
            <c:spPr>
              <a:solidFill>
                <a:schemeClr val="accent1"/>
              </a:solidFill>
              <a:ln w="9525">
                <a:solidFill>
                  <a:schemeClr val="accent1"/>
                </a:solidFill>
              </a:ln>
              <a:effectLst/>
            </c:spPr>
          </c:marker>
          <c:val>
            <c:numRef>
              <c:f>'Compare(PT)'!$B$142:$B$161</c:f>
              <c:numCache>
                <c:formatCode>0.000</c:formatCode>
                <c:ptCount val="20"/>
                <c:pt idx="0">
                  <c:v>4.298406808617683E-2</c:v>
                </c:pt>
                <c:pt idx="1">
                  <c:v>4.2095709220911215E-2</c:v>
                </c:pt>
                <c:pt idx="2">
                  <c:v>5.3996968492333486E-2</c:v>
                </c:pt>
                <c:pt idx="3">
                  <c:v>5.5804682803556216E-2</c:v>
                </c:pt>
                <c:pt idx="4">
                  <c:v>5.4849131994718525E-2</c:v>
                </c:pt>
                <c:pt idx="5">
                  <c:v>6.1610066607800662E-2</c:v>
                </c:pt>
                <c:pt idx="6">
                  <c:v>5.5687444512377504E-2</c:v>
                </c:pt>
                <c:pt idx="7">
                  <c:v>7.3242262463158792E-2</c:v>
                </c:pt>
                <c:pt idx="8">
                  <c:v>5.6888983557649486E-2</c:v>
                </c:pt>
                <c:pt idx="9">
                  <c:v>7.4195185363275518E-2</c:v>
                </c:pt>
                <c:pt idx="10">
                  <c:v>3.3299999406873115E-2</c:v>
                </c:pt>
                <c:pt idx="11">
                  <c:v>7.1867861885806184E-2</c:v>
                </c:pt>
                <c:pt idx="12">
                  <c:v>2.2052345838780907E-2</c:v>
                </c:pt>
                <c:pt idx="13">
                  <c:v>4.1328381212644483E-2</c:v>
                </c:pt>
                <c:pt idx="14">
                  <c:v>4.8005706974431739E-2</c:v>
                </c:pt>
                <c:pt idx="15">
                  <c:v>6.1221368254792519E-2</c:v>
                </c:pt>
                <c:pt idx="16">
                  <c:v>5.3370748196424622E-2</c:v>
                </c:pt>
                <c:pt idx="17">
                  <c:v>2.608227401631813E-2</c:v>
                </c:pt>
                <c:pt idx="18">
                  <c:v>2.449205943903221E-2</c:v>
                </c:pt>
                <c:pt idx="19">
                  <c:v>4.5036399129597671E-2</c:v>
                </c:pt>
              </c:numCache>
            </c:numRef>
          </c:val>
          <c:smooth val="0"/>
          <c:extLst>
            <c:ext xmlns:c16="http://schemas.microsoft.com/office/drawing/2014/chart" uri="{C3380CC4-5D6E-409C-BE32-E72D297353CC}">
              <c16:uniqueId val="{00000000-F901-4254-8AE3-35CC0CFF9DFF}"/>
            </c:ext>
          </c:extLst>
        </c:ser>
        <c:ser>
          <c:idx val="1"/>
          <c:order val="1"/>
          <c:tx>
            <c:strRef>
              <c:f>'Compare(PT)'!$C$141</c:f>
              <c:strCache>
                <c:ptCount val="1"/>
                <c:pt idx="0">
                  <c:v>SecuredSECS/GEM</c:v>
                </c:pt>
              </c:strCache>
            </c:strRef>
          </c:tx>
          <c:spPr>
            <a:ln w="28575" cap="rnd">
              <a:solidFill>
                <a:schemeClr val="accent2"/>
              </a:solidFill>
              <a:round/>
            </a:ln>
            <a:effectLst/>
          </c:spPr>
          <c:marker>
            <c:symbol val="x"/>
            <c:size val="9"/>
            <c:spPr>
              <a:noFill/>
              <a:ln w="9525">
                <a:solidFill>
                  <a:schemeClr val="accent2"/>
                </a:solidFill>
              </a:ln>
              <a:effectLst/>
            </c:spPr>
          </c:marker>
          <c:val>
            <c:numRef>
              <c:f>'Compare(PT)'!$C$142:$C$161</c:f>
              <c:numCache>
                <c:formatCode>0.000</c:formatCode>
                <c:ptCount val="20"/>
                <c:pt idx="0">
                  <c:v>0.29859103832629985</c:v>
                </c:pt>
                <c:pt idx="1">
                  <c:v>0.29090923485433651</c:v>
                </c:pt>
                <c:pt idx="2">
                  <c:v>0.32460610336362106</c:v>
                </c:pt>
                <c:pt idx="3">
                  <c:v>0.3245793763964363</c:v>
                </c:pt>
                <c:pt idx="4">
                  <c:v>0.31160475482300087</c:v>
                </c:pt>
                <c:pt idx="5">
                  <c:v>0.31243652589110804</c:v>
                </c:pt>
                <c:pt idx="6">
                  <c:v>0.3292844537821733</c:v>
                </c:pt>
                <c:pt idx="7">
                  <c:v>0.29975765004912824</c:v>
                </c:pt>
                <c:pt idx="8">
                  <c:v>0.32654728443192194</c:v>
                </c:pt>
                <c:pt idx="9">
                  <c:v>0.31252884405584458</c:v>
                </c:pt>
                <c:pt idx="10">
                  <c:v>0.31281217239038728</c:v>
                </c:pt>
                <c:pt idx="11">
                  <c:v>0.34553025107797197</c:v>
                </c:pt>
                <c:pt idx="12">
                  <c:v>0.32006462483261344</c:v>
                </c:pt>
                <c:pt idx="13">
                  <c:v>0.3468144737141573</c:v>
                </c:pt>
                <c:pt idx="14">
                  <c:v>0.315110602611823</c:v>
                </c:pt>
                <c:pt idx="15">
                  <c:v>0.32510702561538518</c:v>
                </c:pt>
                <c:pt idx="16">
                  <c:v>0.32912637955016677</c:v>
                </c:pt>
                <c:pt idx="17">
                  <c:v>0.2933813371670394</c:v>
                </c:pt>
                <c:pt idx="18">
                  <c:v>0.29119558169385307</c:v>
                </c:pt>
                <c:pt idx="19">
                  <c:v>0.2932846611962906</c:v>
                </c:pt>
              </c:numCache>
            </c:numRef>
          </c:val>
          <c:smooth val="0"/>
          <c:extLst>
            <c:ext xmlns:c16="http://schemas.microsoft.com/office/drawing/2014/chart" uri="{C3380CC4-5D6E-409C-BE32-E72D297353CC}">
              <c16:uniqueId val="{00000001-F901-4254-8AE3-35CC0CFF9DFF}"/>
            </c:ext>
          </c:extLst>
        </c:ser>
        <c:ser>
          <c:idx val="3"/>
          <c:order val="3"/>
          <c:tx>
            <c:strRef>
              <c:f>'Compare(PT)'!$E$141</c:f>
              <c:strCache>
                <c:ptCount val="1"/>
                <c:pt idx="0">
                  <c:v>SGSM(SHA512)</c:v>
                </c:pt>
              </c:strCache>
            </c:strRef>
          </c:tx>
          <c:spPr>
            <a:ln w="28575" cap="rnd">
              <a:solidFill>
                <a:schemeClr val="accent4"/>
              </a:solidFill>
              <a:round/>
            </a:ln>
            <a:effectLst/>
          </c:spPr>
          <c:marker>
            <c:symbol val="diamond"/>
            <c:size val="9"/>
            <c:spPr>
              <a:solidFill>
                <a:schemeClr val="accent4"/>
              </a:solidFill>
              <a:ln w="9525">
                <a:solidFill>
                  <a:schemeClr val="accent4"/>
                </a:solidFill>
              </a:ln>
              <a:effectLst/>
            </c:spPr>
          </c:marker>
          <c:val>
            <c:numRef>
              <c:f>'Compare(PT)'!$E$142:$E$161</c:f>
              <c:numCache>
                <c:formatCode>0.000</c:formatCode>
                <c:ptCount val="20"/>
                <c:pt idx="0">
                  <c:v>0.20933151245117101</c:v>
                </c:pt>
                <c:pt idx="1">
                  <c:v>0.208854675292968</c:v>
                </c:pt>
                <c:pt idx="2">
                  <c:v>0.212669372558593</c:v>
                </c:pt>
                <c:pt idx="3">
                  <c:v>0.18191337585449199</c:v>
                </c:pt>
                <c:pt idx="4">
                  <c:v>0.20146369934081998</c:v>
                </c:pt>
                <c:pt idx="5">
                  <c:v>0.23341178894042902</c:v>
                </c:pt>
                <c:pt idx="6">
                  <c:v>0.20551681518554601</c:v>
                </c:pt>
                <c:pt idx="7">
                  <c:v>0.20909309387206998</c:v>
                </c:pt>
                <c:pt idx="8">
                  <c:v>0.21862983703613201</c:v>
                </c:pt>
                <c:pt idx="9">
                  <c:v>0.20289421081542902</c:v>
                </c:pt>
                <c:pt idx="10">
                  <c:v>0.224113464355468</c:v>
                </c:pt>
                <c:pt idx="11">
                  <c:v>0.19788742065429601</c:v>
                </c:pt>
                <c:pt idx="12">
                  <c:v>0.212669372558593</c:v>
                </c:pt>
                <c:pt idx="13">
                  <c:v>0.1983642578125</c:v>
                </c:pt>
                <c:pt idx="14">
                  <c:v>0.19717216491699199</c:v>
                </c:pt>
                <c:pt idx="15">
                  <c:v>0.194549560546875</c:v>
                </c:pt>
                <c:pt idx="16">
                  <c:v>0.20146369934081998</c:v>
                </c:pt>
                <c:pt idx="17">
                  <c:v>0.20599365234375</c:v>
                </c:pt>
                <c:pt idx="18">
                  <c:v>0.20623207092285098</c:v>
                </c:pt>
                <c:pt idx="19">
                  <c:v>0.22268295288085899</c:v>
                </c:pt>
              </c:numCache>
            </c:numRef>
          </c:val>
          <c:smooth val="0"/>
          <c:extLst>
            <c:ext xmlns:c16="http://schemas.microsoft.com/office/drawing/2014/chart" uri="{C3380CC4-5D6E-409C-BE32-E72D297353CC}">
              <c16:uniqueId val="{00000002-F901-4254-8AE3-35CC0CFF9DFF}"/>
            </c:ext>
          </c:extLst>
        </c:ser>
        <c:dLbls>
          <c:showLegendKey val="0"/>
          <c:showVal val="0"/>
          <c:showCatName val="0"/>
          <c:showSerName val="0"/>
          <c:showPercent val="0"/>
          <c:showBubbleSize val="0"/>
        </c:dLbls>
        <c:marker val="1"/>
        <c:smooth val="0"/>
        <c:axId val="1233400719"/>
        <c:axId val="1233398639"/>
      </c:lineChart>
      <c:lineChart>
        <c:grouping val="standard"/>
        <c:varyColors val="0"/>
        <c:ser>
          <c:idx val="2"/>
          <c:order val="2"/>
          <c:tx>
            <c:strRef>
              <c:f>'Compare(PT)'!$D$141</c:f>
              <c:strCache>
                <c:ptCount val="1"/>
                <c:pt idx="0">
                  <c:v>SECS/GEMsec</c:v>
                </c:pt>
              </c:strCache>
            </c:strRef>
          </c:tx>
          <c:spPr>
            <a:ln w="28575" cap="rnd">
              <a:solidFill>
                <a:schemeClr val="accent6">
                  <a:lumMod val="75000"/>
                </a:schemeClr>
              </a:solidFill>
              <a:round/>
            </a:ln>
            <a:effectLst/>
          </c:spPr>
          <c:marker>
            <c:symbol val="square"/>
            <c:size val="9"/>
            <c:spPr>
              <a:solidFill>
                <a:schemeClr val="accent6">
                  <a:lumMod val="75000"/>
                </a:schemeClr>
              </a:solidFill>
              <a:ln w="9525">
                <a:solidFill>
                  <a:schemeClr val="accent6">
                    <a:lumMod val="75000"/>
                  </a:schemeClr>
                </a:solidFill>
              </a:ln>
              <a:effectLst/>
            </c:spPr>
          </c:marker>
          <c:val>
            <c:numRef>
              <c:f>'Compare(PT)'!$D$142:$D$161</c:f>
              <c:numCache>
                <c:formatCode>0.000</c:formatCode>
                <c:ptCount val="20"/>
                <c:pt idx="0">
                  <c:v>20.3514099121093</c:v>
                </c:pt>
                <c:pt idx="1">
                  <c:v>20.313262939453097</c:v>
                </c:pt>
                <c:pt idx="2">
                  <c:v>20.425319671630795</c:v>
                </c:pt>
                <c:pt idx="3">
                  <c:v>19.936561584472599</c:v>
                </c:pt>
                <c:pt idx="4">
                  <c:v>19.946098327636701</c:v>
                </c:pt>
                <c:pt idx="5">
                  <c:v>20.902458190917898</c:v>
                </c:pt>
                <c:pt idx="6">
                  <c:v>20.202865600585902</c:v>
                </c:pt>
                <c:pt idx="7">
                  <c:v>19.953250885009702</c:v>
                </c:pt>
                <c:pt idx="8">
                  <c:v>20.9072265625</c:v>
                </c:pt>
                <c:pt idx="9">
                  <c:v>20.264854431152301</c:v>
                </c:pt>
                <c:pt idx="10">
                  <c:v>20.8237800598144</c:v>
                </c:pt>
                <c:pt idx="11">
                  <c:v>19.8936462402343</c:v>
                </c:pt>
                <c:pt idx="12">
                  <c:v>21.153854370117099</c:v>
                </c:pt>
                <c:pt idx="13">
                  <c:v>20.0979614257812</c:v>
                </c:pt>
                <c:pt idx="14">
                  <c:v>20.899349212646399</c:v>
                </c:pt>
                <c:pt idx="15">
                  <c:v>19.9627876281738</c:v>
                </c:pt>
                <c:pt idx="16">
                  <c:v>19.993782043456999</c:v>
                </c:pt>
                <c:pt idx="17">
                  <c:v>19.946098327636701</c:v>
                </c:pt>
                <c:pt idx="18">
                  <c:v>20.821395874023398</c:v>
                </c:pt>
                <c:pt idx="19">
                  <c:v>20.916763305664002</c:v>
                </c:pt>
              </c:numCache>
            </c:numRef>
          </c:val>
          <c:smooth val="0"/>
          <c:extLst>
            <c:ext xmlns:c16="http://schemas.microsoft.com/office/drawing/2014/chart" uri="{C3380CC4-5D6E-409C-BE32-E72D297353CC}">
              <c16:uniqueId val="{00000003-F901-4254-8AE3-35CC0CFF9DFF}"/>
            </c:ext>
          </c:extLst>
        </c:ser>
        <c:dLbls>
          <c:showLegendKey val="0"/>
          <c:showVal val="0"/>
          <c:showCatName val="0"/>
          <c:showSerName val="0"/>
          <c:showPercent val="0"/>
          <c:showBubbleSize val="0"/>
        </c:dLbls>
        <c:marker val="1"/>
        <c:smooth val="0"/>
        <c:axId val="1137368127"/>
        <c:axId val="1137358143"/>
      </c:lineChart>
      <c:catAx>
        <c:axId val="1233400719"/>
        <c:scaling>
          <c:orientation val="minMax"/>
        </c:scaling>
        <c:delete val="0"/>
        <c:axPos val="b"/>
        <c:title>
          <c:tx>
            <c:rich>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r>
                  <a:rPr lang="en-US" b="1"/>
                  <a:t>Experiment Run</a:t>
                </a:r>
              </a:p>
            </c:rich>
          </c:tx>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1233398639"/>
        <c:crosses val="autoZero"/>
        <c:auto val="1"/>
        <c:lblAlgn val="ctr"/>
        <c:lblOffset val="100"/>
        <c:noMultiLvlLbl val="0"/>
      </c:catAx>
      <c:valAx>
        <c:axId val="1233398639"/>
        <c:scaling>
          <c:orientation val="minMax"/>
          <c:max val="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Time</a:t>
                </a:r>
                <a:r>
                  <a:rPr lang="en-US" baseline="0" dirty="0"/>
                  <a:t> in Milliseconds</a:t>
                </a:r>
                <a:endParaRPr lang="en-US" dirty="0"/>
              </a:p>
            </c:rich>
          </c:tx>
          <c:layout>
            <c:manualLayout>
              <c:xMode val="edge"/>
              <c:yMode val="edge"/>
              <c:x val="2.6455029388932016E-2"/>
              <c:y val="0.49298157583243268"/>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lt;=0.45]0.0;;;" sourceLinked="0"/>
        <c:majorTickMark val="none"/>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1233400719"/>
        <c:crosses val="autoZero"/>
        <c:crossBetween val="between"/>
      </c:valAx>
      <c:valAx>
        <c:axId val="1137358143"/>
        <c:scaling>
          <c:orientation val="minMax"/>
          <c:max val="25.5"/>
          <c:min val="0"/>
        </c:scaling>
        <c:delete val="0"/>
        <c:axPos val="r"/>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Time in Milliseconds</a:t>
                </a:r>
              </a:p>
            </c:rich>
          </c:tx>
          <c:layout>
            <c:manualLayout>
              <c:xMode val="edge"/>
              <c:yMode val="edge"/>
              <c:x val="0.9417085638788395"/>
              <c:y val="0.11951083320467294"/>
            </c:manualLayout>
          </c:layout>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t;=16]0.0;;;" sourceLinked="0"/>
        <c:majorTickMark val="out"/>
        <c:minorTickMark val="none"/>
        <c:tickLblPos val="nextTo"/>
        <c:spPr>
          <a:noFill/>
          <a:ln>
            <a:noFill/>
          </a:ln>
          <a:effectLst/>
        </c:spPr>
        <c:txPr>
          <a:bodyPr rot="-6000000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crossAx val="1137368127"/>
        <c:crosses val="max"/>
        <c:crossBetween val="between"/>
        <c:majorUnit val="2"/>
      </c:valAx>
      <c:catAx>
        <c:axId val="1137368127"/>
        <c:scaling>
          <c:orientation val="minMax"/>
        </c:scaling>
        <c:delete val="1"/>
        <c:axPos val="b"/>
        <c:majorTickMark val="out"/>
        <c:minorTickMark val="none"/>
        <c:tickLblPos val="nextTo"/>
        <c:crossAx val="1137358143"/>
        <c:crosses val="autoZero"/>
        <c:auto val="1"/>
        <c:lblAlgn val="ctr"/>
        <c:lblOffset val="100"/>
        <c:noMultiLvlLbl val="0"/>
      </c:catAx>
      <c:spPr>
        <a:noFill/>
        <a:ln>
          <a:noFill/>
        </a:ln>
        <a:effectLst/>
      </c:spPr>
    </c:plotArea>
    <c:legend>
      <c:legendPos val="b"/>
      <c:overlay val="0"/>
      <c:spPr>
        <a:noFill/>
        <a:ln>
          <a:noFill/>
        </a:ln>
        <a:effectLst/>
      </c:spPr>
      <c:txPr>
        <a:bodyPr rot="0" spcFirstLastPara="1" vertOverflow="ellipsis" vert="horz" wrap="square" anchor="ctr" anchorCtr="1"/>
        <a:lstStyle/>
        <a:p>
          <a:pPr>
            <a:defRPr sz="900" b="1"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solidFill>
      <a:schemeClr val="bg1"/>
    </a:solidFill>
    <a:ln w="9525" cap="flat" cmpd="sng" algn="ctr">
      <a:solidFill>
        <a:srgbClr val="5E3F97"/>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2"/>
            <a:ext cx="4033943" cy="352662"/>
          </a:xfrm>
          <a:prstGeom prst="rect">
            <a:avLst/>
          </a:prstGeom>
        </p:spPr>
        <p:txBody>
          <a:bodyPr vert="horz" lIns="90974" tIns="45487" rIns="90974" bIns="45487" rtlCol="0"/>
          <a:lstStyle>
            <a:lvl1pPr algn="l">
              <a:defRPr sz="1200"/>
            </a:lvl1pPr>
          </a:lstStyle>
          <a:p>
            <a:endParaRPr lang="en-US"/>
          </a:p>
        </p:txBody>
      </p:sp>
      <p:sp>
        <p:nvSpPr>
          <p:cNvPr id="3" name="Date Placeholder 2"/>
          <p:cNvSpPr>
            <a:spLocks noGrp="1"/>
          </p:cNvSpPr>
          <p:nvPr>
            <p:ph type="dt" sz="quarter" idx="1"/>
          </p:nvPr>
        </p:nvSpPr>
        <p:spPr>
          <a:xfrm>
            <a:off x="5273003" y="2"/>
            <a:ext cx="4033943" cy="352662"/>
          </a:xfrm>
          <a:prstGeom prst="rect">
            <a:avLst/>
          </a:prstGeom>
        </p:spPr>
        <p:txBody>
          <a:bodyPr vert="horz" lIns="90974" tIns="45487" rIns="90974" bIns="45487" rtlCol="0"/>
          <a:lstStyle>
            <a:lvl1pPr algn="r">
              <a:defRPr sz="1200"/>
            </a:lvl1pPr>
          </a:lstStyle>
          <a:p>
            <a:fld id="{E53EF8AC-F2AD-4B72-94C0-CBC8CC6447BC}" type="datetimeFigureOut">
              <a:rPr lang="en-US" smtClean="0"/>
              <a:pPr/>
              <a:t>9/28/2022</a:t>
            </a:fld>
            <a:endParaRPr lang="en-US"/>
          </a:p>
        </p:txBody>
      </p:sp>
      <p:sp>
        <p:nvSpPr>
          <p:cNvPr id="4" name="Footer Placeholder 3"/>
          <p:cNvSpPr>
            <a:spLocks noGrp="1"/>
          </p:cNvSpPr>
          <p:nvPr>
            <p:ph type="ftr" sz="quarter" idx="2"/>
          </p:nvPr>
        </p:nvSpPr>
        <p:spPr>
          <a:xfrm>
            <a:off x="2" y="6699379"/>
            <a:ext cx="4033943" cy="352662"/>
          </a:xfrm>
          <a:prstGeom prst="rect">
            <a:avLst/>
          </a:prstGeom>
        </p:spPr>
        <p:txBody>
          <a:bodyPr vert="horz" lIns="90974" tIns="45487" rIns="90974" bIns="45487" rtlCol="0" anchor="b"/>
          <a:lstStyle>
            <a:lvl1pPr algn="l">
              <a:defRPr sz="1200"/>
            </a:lvl1pPr>
          </a:lstStyle>
          <a:p>
            <a:r>
              <a:rPr lang="en-US"/>
              <a:t>10</a:t>
            </a:r>
          </a:p>
        </p:txBody>
      </p:sp>
      <p:sp>
        <p:nvSpPr>
          <p:cNvPr id="5" name="Slide Number Placeholder 4"/>
          <p:cNvSpPr>
            <a:spLocks noGrp="1"/>
          </p:cNvSpPr>
          <p:nvPr>
            <p:ph type="sldNum" sz="quarter" idx="3"/>
          </p:nvPr>
        </p:nvSpPr>
        <p:spPr>
          <a:xfrm>
            <a:off x="5273003" y="6699379"/>
            <a:ext cx="4033943" cy="352662"/>
          </a:xfrm>
          <a:prstGeom prst="rect">
            <a:avLst/>
          </a:prstGeom>
        </p:spPr>
        <p:txBody>
          <a:bodyPr vert="horz" lIns="90974" tIns="45487" rIns="90974" bIns="45487" rtlCol="0" anchor="b"/>
          <a:lstStyle>
            <a:lvl1pPr algn="r">
              <a:defRPr sz="1200"/>
            </a:lvl1pPr>
          </a:lstStyle>
          <a:p>
            <a:fld id="{F928F981-C432-4F2B-ACA0-2540CF819936}" type="slidenum">
              <a:rPr lang="en-US" smtClean="0"/>
              <a:pPr/>
              <a:t>‹#›</a:t>
            </a:fld>
            <a:endParaRPr lang="en-US"/>
          </a:p>
        </p:txBody>
      </p:sp>
    </p:spTree>
    <p:extLst>
      <p:ext uri="{BB962C8B-B14F-4D97-AF65-F5344CB8AC3E}">
        <p14:creationId xmlns:p14="http://schemas.microsoft.com/office/powerpoint/2010/main" val="275600306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2"/>
            <a:ext cx="4033943" cy="352662"/>
          </a:xfrm>
          <a:prstGeom prst="rect">
            <a:avLst/>
          </a:prstGeom>
        </p:spPr>
        <p:txBody>
          <a:bodyPr vert="horz" lIns="90974" tIns="45487" rIns="90974" bIns="45487" rtlCol="0"/>
          <a:lstStyle>
            <a:lvl1pPr algn="l">
              <a:defRPr sz="1200"/>
            </a:lvl1pPr>
          </a:lstStyle>
          <a:p>
            <a:endParaRPr lang="en-US"/>
          </a:p>
        </p:txBody>
      </p:sp>
      <p:sp>
        <p:nvSpPr>
          <p:cNvPr id="3" name="Date Placeholder 2"/>
          <p:cNvSpPr>
            <a:spLocks noGrp="1"/>
          </p:cNvSpPr>
          <p:nvPr>
            <p:ph type="dt" idx="1"/>
          </p:nvPr>
        </p:nvSpPr>
        <p:spPr>
          <a:xfrm>
            <a:off x="5273003" y="2"/>
            <a:ext cx="4033943" cy="352662"/>
          </a:xfrm>
          <a:prstGeom prst="rect">
            <a:avLst/>
          </a:prstGeom>
        </p:spPr>
        <p:txBody>
          <a:bodyPr vert="horz" lIns="90974" tIns="45487" rIns="90974" bIns="45487" rtlCol="0"/>
          <a:lstStyle>
            <a:lvl1pPr algn="r">
              <a:defRPr sz="1200"/>
            </a:lvl1pPr>
          </a:lstStyle>
          <a:p>
            <a:fld id="{5CE4FF3B-2B02-4040-937B-A7EF2F825A25}" type="datetimeFigureOut">
              <a:rPr lang="en-US" smtClean="0"/>
              <a:pPr/>
              <a:t>9/28/2022</a:t>
            </a:fld>
            <a:endParaRPr lang="en-US"/>
          </a:p>
        </p:txBody>
      </p:sp>
      <p:sp>
        <p:nvSpPr>
          <p:cNvPr id="4" name="Slide Image Placeholder 3"/>
          <p:cNvSpPr>
            <a:spLocks noGrp="1" noRot="1" noChangeAspect="1"/>
          </p:cNvSpPr>
          <p:nvPr>
            <p:ph type="sldImg" idx="2"/>
          </p:nvPr>
        </p:nvSpPr>
        <p:spPr>
          <a:xfrm>
            <a:off x="2303463" y="528638"/>
            <a:ext cx="4702175" cy="2644775"/>
          </a:xfrm>
          <a:prstGeom prst="rect">
            <a:avLst/>
          </a:prstGeom>
          <a:noFill/>
          <a:ln w="12700">
            <a:solidFill>
              <a:prstClr val="black"/>
            </a:solidFill>
          </a:ln>
        </p:spPr>
        <p:txBody>
          <a:bodyPr vert="horz" lIns="90974" tIns="45487" rIns="90974" bIns="45487" rtlCol="0" anchor="ctr"/>
          <a:lstStyle/>
          <a:p>
            <a:endParaRPr lang="en-US"/>
          </a:p>
        </p:txBody>
      </p:sp>
      <p:sp>
        <p:nvSpPr>
          <p:cNvPr id="5" name="Notes Placeholder 4"/>
          <p:cNvSpPr>
            <a:spLocks noGrp="1"/>
          </p:cNvSpPr>
          <p:nvPr>
            <p:ph type="body" sz="quarter" idx="3"/>
          </p:nvPr>
        </p:nvSpPr>
        <p:spPr>
          <a:xfrm>
            <a:off x="930911" y="3350300"/>
            <a:ext cx="7447279" cy="3173969"/>
          </a:xfrm>
          <a:prstGeom prst="rect">
            <a:avLst/>
          </a:prstGeom>
        </p:spPr>
        <p:txBody>
          <a:bodyPr vert="horz" lIns="90974" tIns="45487" rIns="90974" bIns="45487"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2" y="6699379"/>
            <a:ext cx="4033943" cy="352662"/>
          </a:xfrm>
          <a:prstGeom prst="rect">
            <a:avLst/>
          </a:prstGeom>
        </p:spPr>
        <p:txBody>
          <a:bodyPr vert="horz" lIns="90974" tIns="45487" rIns="90974" bIns="45487" rtlCol="0" anchor="b"/>
          <a:lstStyle>
            <a:lvl1pPr algn="l">
              <a:defRPr sz="1200"/>
            </a:lvl1pPr>
          </a:lstStyle>
          <a:p>
            <a:r>
              <a:rPr lang="en-US"/>
              <a:t>10</a:t>
            </a:r>
          </a:p>
        </p:txBody>
      </p:sp>
      <p:sp>
        <p:nvSpPr>
          <p:cNvPr id="7" name="Slide Number Placeholder 6"/>
          <p:cNvSpPr>
            <a:spLocks noGrp="1"/>
          </p:cNvSpPr>
          <p:nvPr>
            <p:ph type="sldNum" sz="quarter" idx="5"/>
          </p:nvPr>
        </p:nvSpPr>
        <p:spPr>
          <a:xfrm>
            <a:off x="5273003" y="6699379"/>
            <a:ext cx="4033943" cy="352662"/>
          </a:xfrm>
          <a:prstGeom prst="rect">
            <a:avLst/>
          </a:prstGeom>
        </p:spPr>
        <p:txBody>
          <a:bodyPr vert="horz" lIns="90974" tIns="45487" rIns="90974" bIns="45487" rtlCol="0" anchor="b"/>
          <a:lstStyle>
            <a:lvl1pPr algn="r">
              <a:defRPr sz="1200"/>
            </a:lvl1pPr>
          </a:lstStyle>
          <a:p>
            <a:fld id="{89C0A295-EDEF-4AFA-9CDA-A6B0418A7CB8}" type="slidenum">
              <a:rPr lang="en-US" smtClean="0"/>
              <a:pPr/>
              <a:t>‹#›</a:t>
            </a:fld>
            <a:endParaRPr lang="en-US"/>
          </a:p>
        </p:txBody>
      </p:sp>
    </p:spTree>
    <p:extLst>
      <p:ext uri="{BB962C8B-B14F-4D97-AF65-F5344CB8AC3E}">
        <p14:creationId xmlns:p14="http://schemas.microsoft.com/office/powerpoint/2010/main" val="3656834542"/>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03463" y="528638"/>
            <a:ext cx="4702175" cy="2644775"/>
          </a:xfrm>
        </p:spPr>
      </p:sp>
      <p:sp>
        <p:nvSpPr>
          <p:cNvPr id="3" name="Notes Placeholder 2"/>
          <p:cNvSpPr>
            <a:spLocks noGrp="1"/>
          </p:cNvSpPr>
          <p:nvPr>
            <p:ph type="body" idx="1"/>
          </p:nvPr>
        </p:nvSpPr>
        <p:spPr/>
        <p:txBody>
          <a:bodyPr>
            <a:normAutofit fontScale="85000" lnSpcReduction="10000"/>
          </a:bodyPr>
          <a:lstStyle/>
          <a:p>
            <a:pPr marL="342900" marR="0" lvl="0" indent="-342900" algn="just" rtl="0">
              <a:lnSpc>
                <a:spcPct val="107000"/>
              </a:lnSpc>
              <a:spcBef>
                <a:spcPts val="0"/>
              </a:spcBef>
              <a:spcAft>
                <a:spcPts val="0"/>
              </a:spcAft>
              <a:buFont typeface="+mj-lt"/>
              <a:buAutoNum type="arabicPeriod"/>
            </a:pPr>
            <a:r>
              <a:rPr lang="en-US" sz="1800" dirty="0">
                <a:effectLst/>
                <a:latin typeface="Calibri" panose="020F0502020204030204" pitchFamily="34" charset="0"/>
                <a:ea typeface="DengXian" panose="02010600030101010101" pitchFamily="2" charset="-122"/>
                <a:cs typeface="Arial" panose="020B0604020202020204" pitchFamily="34" charset="0"/>
              </a:rPr>
              <a:t>In the name of Allah, the most gracious and merciful</a:t>
            </a:r>
          </a:p>
          <a:p>
            <a:pPr marL="342900" marR="0" lvl="0" indent="-342900" algn="just">
              <a:lnSpc>
                <a:spcPct val="107000"/>
              </a:lnSpc>
              <a:spcBef>
                <a:spcPts val="0"/>
              </a:spcBef>
              <a:spcAft>
                <a:spcPts val="0"/>
              </a:spcAft>
              <a:buFont typeface="+mj-lt"/>
              <a:buAutoNum type="arabicPeriod"/>
            </a:pPr>
            <a:r>
              <a:rPr lang="en-US" sz="1800" dirty="0">
                <a:effectLst/>
                <a:latin typeface="Calibri" panose="020F0502020204030204" pitchFamily="34" charset="0"/>
                <a:ea typeface="DengXian" panose="02010600030101010101" pitchFamily="2" charset="-122"/>
                <a:cs typeface="Arial" panose="020B0604020202020204" pitchFamily="34" charset="0"/>
              </a:rPr>
              <a:t>Respected Chairman, examiners, supervisor and co-supervisor, and participants, Assalamualaikum and good afternoon. </a:t>
            </a:r>
          </a:p>
          <a:p>
            <a:pPr marL="342900" marR="0" lvl="0" indent="-342900" algn="just">
              <a:lnSpc>
                <a:spcPct val="107000"/>
              </a:lnSpc>
              <a:spcBef>
                <a:spcPts val="0"/>
              </a:spcBef>
              <a:spcAft>
                <a:spcPts val="0"/>
              </a:spcAft>
              <a:buFont typeface="+mj-lt"/>
              <a:buAutoNum type="arabicPeriod"/>
            </a:pPr>
            <a:r>
              <a:rPr lang="en-US" sz="1800" dirty="0">
                <a:effectLst/>
                <a:latin typeface="Calibri" panose="020F0502020204030204" pitchFamily="34" charset="0"/>
                <a:ea typeface="DengXian" panose="02010600030101010101" pitchFamily="2" charset="-122"/>
                <a:cs typeface="Arial" panose="020B0604020202020204" pitchFamily="34" charset="0"/>
              </a:rPr>
              <a:t>Today, I am here to present my PhD Thesis Titled  Design of a mechanism for Securing SECS/GEM communications in the Industry 4.0 Ecosystem”</a:t>
            </a:r>
          </a:p>
          <a:p>
            <a:pPr marL="342900" marR="0" lvl="0" indent="-342900" algn="just">
              <a:lnSpc>
                <a:spcPct val="107000"/>
              </a:lnSpc>
              <a:spcBef>
                <a:spcPts val="0"/>
              </a:spcBef>
              <a:spcAft>
                <a:spcPts val="0"/>
              </a:spcAft>
              <a:buFont typeface="+mj-lt"/>
              <a:buAutoNum type="arabicPeriod"/>
            </a:pPr>
            <a:endParaRPr lang="en-US" sz="1800" dirty="0">
              <a:effectLst/>
              <a:latin typeface="Calibri" panose="020F0502020204030204" pitchFamily="34" charset="0"/>
              <a:ea typeface="DengXian" panose="02010600030101010101" pitchFamily="2" charset="-122"/>
              <a:cs typeface="Arial" panose="020B0604020202020204" pitchFamily="34" charset="0"/>
            </a:endParaRPr>
          </a:p>
          <a:p>
            <a:r>
              <a:rPr lang="en-US" sz="1800" b="1" dirty="0"/>
              <a:t>SECS is abbreviated as </a:t>
            </a:r>
            <a:r>
              <a:rPr lang="en-US" sz="1800" b="0" i="0" dirty="0">
                <a:solidFill>
                  <a:srgbClr val="BDC1C6"/>
                </a:solidFill>
                <a:effectLst/>
                <a:latin typeface="arial" panose="020B0604020202020204" pitchFamily="34" charset="0"/>
              </a:rPr>
              <a:t>Semiconductor Equipment Communication Standard and</a:t>
            </a:r>
          </a:p>
          <a:p>
            <a:r>
              <a:rPr lang="en-US" sz="1800" b="1" i="0" dirty="0">
                <a:solidFill>
                  <a:srgbClr val="BDC1C6"/>
                </a:solidFill>
                <a:effectLst/>
                <a:latin typeface="arial" panose="020B0604020202020204" pitchFamily="34" charset="0"/>
              </a:rPr>
              <a:t>GEM stands for</a:t>
            </a:r>
            <a:r>
              <a:rPr lang="en-US" sz="1800" b="0" i="0" dirty="0">
                <a:solidFill>
                  <a:srgbClr val="BDC1C6"/>
                </a:solidFill>
                <a:effectLst/>
                <a:latin typeface="arial" panose="020B0604020202020204" pitchFamily="34" charset="0"/>
              </a:rPr>
              <a:t> Generic Equipment Model</a:t>
            </a:r>
            <a:endParaRPr lang="ar-SA" sz="1800" b="0" dirty="0"/>
          </a:p>
          <a:p>
            <a:pPr marL="0" marR="0" lvl="0" indent="0" algn="just">
              <a:lnSpc>
                <a:spcPct val="107000"/>
              </a:lnSpc>
              <a:spcBef>
                <a:spcPts val="0"/>
              </a:spcBef>
              <a:spcAft>
                <a:spcPts val="0"/>
              </a:spcAft>
              <a:buFont typeface="+mj-lt"/>
              <a:buNone/>
            </a:pPr>
            <a:endParaRPr lang="en-US" sz="1800" dirty="0">
              <a:effectLst/>
              <a:latin typeface="Calibri" panose="020F0502020204030204" pitchFamily="34" charset="0"/>
              <a:ea typeface="DengXian" panose="02010600030101010101" pitchFamily="2" charset="-122"/>
              <a:cs typeface="Arial" panose="020B0604020202020204" pitchFamily="34" charset="0"/>
            </a:endParaRPr>
          </a:p>
          <a:p>
            <a:pPr marL="342900" marR="0" lvl="0" indent="-342900" algn="just">
              <a:lnSpc>
                <a:spcPct val="107000"/>
              </a:lnSpc>
              <a:spcBef>
                <a:spcPts val="0"/>
              </a:spcBef>
              <a:spcAft>
                <a:spcPts val="800"/>
              </a:spcAft>
              <a:buFont typeface="+mj-lt"/>
              <a:buAutoNum type="arabicPeriod"/>
            </a:pPr>
            <a:r>
              <a:rPr lang="en-US" sz="1800" dirty="0">
                <a:effectLst/>
                <a:latin typeface="Calibri" panose="020F0502020204030204" pitchFamily="34" charset="0"/>
                <a:ea typeface="DengXian" panose="02010600030101010101" pitchFamily="2" charset="-122"/>
                <a:cs typeface="Arial" panose="020B0604020202020204" pitchFamily="34" charset="0"/>
              </a:rPr>
              <a:t>I am Shams ul Arfeen Laghari, PhD Student at National Advanced IPv6 Centre</a:t>
            </a:r>
          </a:p>
          <a:p>
            <a:pPr marL="342900" marR="0" lvl="0" indent="-342900" algn="just">
              <a:lnSpc>
                <a:spcPct val="107000"/>
              </a:lnSpc>
              <a:spcBef>
                <a:spcPts val="0"/>
              </a:spcBef>
              <a:spcAft>
                <a:spcPts val="800"/>
              </a:spcAft>
              <a:buFont typeface="+mj-lt"/>
              <a:buAutoNum type="arabicPeriod"/>
            </a:pPr>
            <a:r>
              <a:rPr lang="en-US" sz="1800" dirty="0">
                <a:effectLst/>
                <a:latin typeface="Calibri" panose="020F0502020204030204" pitchFamily="34" charset="0"/>
                <a:ea typeface="DengXian" panose="02010600030101010101" pitchFamily="2" charset="-122"/>
                <a:cs typeface="Arial" panose="020B0604020202020204" pitchFamily="34" charset="0"/>
              </a:rPr>
              <a:t>My main supervisor is Prof. Dr. Selvakumar, and my Co-Supervisor is Dr. Shankar</a:t>
            </a:r>
          </a:p>
          <a:p>
            <a:endParaRPr lang="en-US" b="1" dirty="0"/>
          </a:p>
        </p:txBody>
      </p:sp>
      <p:sp>
        <p:nvSpPr>
          <p:cNvPr id="4" name="Footer Placeholder 3"/>
          <p:cNvSpPr>
            <a:spLocks noGrp="1"/>
          </p:cNvSpPr>
          <p:nvPr>
            <p:ph type="ftr" sz="quarter" idx="10"/>
          </p:nvPr>
        </p:nvSpPr>
        <p:spPr/>
        <p:txBody>
          <a:bodyPr/>
          <a:lstStyle/>
          <a:p>
            <a:r>
              <a:rPr lang="en-US"/>
              <a:t>10</a:t>
            </a:r>
          </a:p>
        </p:txBody>
      </p:sp>
      <p:sp>
        <p:nvSpPr>
          <p:cNvPr id="5" name="Slide Number Placeholder 4"/>
          <p:cNvSpPr>
            <a:spLocks noGrp="1"/>
          </p:cNvSpPr>
          <p:nvPr>
            <p:ph type="sldNum" sz="quarter" idx="11"/>
          </p:nvPr>
        </p:nvSpPr>
        <p:spPr/>
        <p:txBody>
          <a:bodyPr/>
          <a:lstStyle/>
          <a:p>
            <a:fld id="{89C0A295-EDEF-4AFA-9CDA-A6B0418A7CB8}" type="slidenum">
              <a:rPr lang="en-US" smtClean="0"/>
              <a:pPr/>
              <a:t>1</a:t>
            </a:fld>
            <a:endParaRPr lang="en-US"/>
          </a:p>
        </p:txBody>
      </p:sp>
    </p:spTree>
    <p:extLst>
      <p:ext uri="{BB962C8B-B14F-4D97-AF65-F5344CB8AC3E}">
        <p14:creationId xmlns:p14="http://schemas.microsoft.com/office/powerpoint/2010/main" val="1173990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03463" y="528638"/>
            <a:ext cx="4702175" cy="2644775"/>
          </a:xfrm>
        </p:spPr>
      </p:sp>
      <p:sp>
        <p:nvSpPr>
          <p:cNvPr id="3" name="Notes Placeholder 2"/>
          <p:cNvSpPr>
            <a:spLocks noGrp="1"/>
          </p:cNvSpPr>
          <p:nvPr>
            <p:ph type="body" idx="1"/>
          </p:nvPr>
        </p:nvSpPr>
        <p:spPr/>
        <p:txBody>
          <a:bodyPr>
            <a:normAutofit fontScale="92500"/>
          </a:bodyPr>
          <a:lstStyle/>
          <a:p>
            <a:r>
              <a:rPr lang="en-US" sz="1200" dirty="0"/>
              <a:t>1. Industry 4.0 (I4.0) is the fourth industrial revolution, and it has completely changed the way products are manufactured, improved and distributed to the consumers. </a:t>
            </a:r>
          </a:p>
          <a:p>
            <a:endParaRPr lang="en-US" dirty="0"/>
          </a:p>
          <a:p>
            <a:r>
              <a:rPr lang="en-US" dirty="0"/>
              <a:t>2. I4.0 requires all production processes digitally interconnected, in order to get near real-time insights into the production systems for effective decision making</a:t>
            </a:r>
          </a:p>
          <a:p>
            <a:endParaRPr lang="en-US" dirty="0"/>
          </a:p>
          <a:p>
            <a:r>
              <a:rPr lang="en-US" dirty="0"/>
              <a:t>3. Protocols designed for industrial networks are operated in a closed, air-gapped environment, so security was not an issue</a:t>
            </a:r>
          </a:p>
          <a:p>
            <a:endParaRPr lang="en-US" dirty="0"/>
          </a:p>
          <a:p>
            <a:r>
              <a:rPr lang="en-US" dirty="0"/>
              <a:t>4. However, when these security-less protocols are used in I4.0 ecosystem, they are vulnerable to cyber-attacks.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5. Manufacturers are eager to adopt I4.0 so that they can minimize expenses and increase revenue</a:t>
            </a:r>
          </a:p>
          <a:p>
            <a:endParaRPr lang="en-US" dirty="0"/>
          </a:p>
          <a:p>
            <a:pPr marL="0" indent="0" algn="just">
              <a:lnSpc>
                <a:spcPct val="100000"/>
              </a:lnSpc>
              <a:buFont typeface="Wingdings" panose="05000000000000000000" pitchFamily="2" charset="2"/>
              <a:buNone/>
            </a:pPr>
            <a:r>
              <a:rPr lang="en-US" sz="1200" dirty="0"/>
              <a:t>6. Manufacturers forced for compliance with I4.0 otherwise, they may lose their competitive edge, </a:t>
            </a:r>
          </a:p>
          <a:p>
            <a:pPr marL="0" indent="0" algn="just">
              <a:lnSpc>
                <a:spcPct val="100000"/>
              </a:lnSpc>
              <a:buFont typeface="Wingdings" panose="05000000000000000000" pitchFamily="2" charset="2"/>
              <a:buNone/>
            </a:pPr>
            <a:endParaRPr lang="en-US" sz="1200" dirty="0"/>
          </a:p>
          <a:p>
            <a:pPr marL="0" indent="0" algn="just">
              <a:lnSpc>
                <a:spcPct val="100000"/>
              </a:lnSpc>
              <a:buFont typeface="Wingdings" panose="05000000000000000000" pitchFamily="2" charset="2"/>
              <a:buNone/>
            </a:pPr>
            <a:r>
              <a:rPr lang="en-US" sz="1200" dirty="0"/>
              <a:t>7. Reports indicate that cyber-attacks on industrial networks are on rise in recent years,</a:t>
            </a:r>
          </a:p>
          <a:p>
            <a:pPr marL="0" indent="0" algn="just">
              <a:lnSpc>
                <a:spcPct val="100000"/>
              </a:lnSpc>
              <a:buFont typeface="Wingdings" panose="05000000000000000000" pitchFamily="2" charset="2"/>
              <a:buNone/>
            </a:pPr>
            <a:endParaRPr lang="en-US" sz="1200" dirty="0"/>
          </a:p>
          <a:p>
            <a:pPr marL="0" indent="0" algn="just">
              <a:lnSpc>
                <a:spcPct val="100000"/>
              </a:lnSpc>
              <a:buFont typeface="Wingdings" panose="05000000000000000000" pitchFamily="2" charset="2"/>
              <a:buNone/>
            </a:pPr>
            <a:r>
              <a:rPr lang="en-US" sz="1200" dirty="0"/>
              <a:t>8. Especially, cyber-attacks on manufacturing have jumped from 8</a:t>
            </a:r>
            <a:r>
              <a:rPr lang="en-US" sz="1200" baseline="30000" dirty="0"/>
              <a:t>th</a:t>
            </a:r>
            <a:r>
              <a:rPr lang="en-US" sz="1200" dirty="0"/>
              <a:t> to 2</a:t>
            </a:r>
            <a:r>
              <a:rPr lang="en-US" sz="1200" baseline="30000" dirty="0"/>
              <a:t>nd</a:t>
            </a:r>
            <a:r>
              <a:rPr lang="en-US" sz="1200" dirty="0"/>
              <a:t> position, implying a 300% increase in a single year</a:t>
            </a:r>
          </a:p>
          <a:p>
            <a:endParaRPr lang="en-US" dirty="0"/>
          </a:p>
          <a:p>
            <a:endParaRPr lang="en-US" dirty="0"/>
          </a:p>
        </p:txBody>
      </p:sp>
      <p:sp>
        <p:nvSpPr>
          <p:cNvPr id="4" name="Slide Number Placeholder 3"/>
          <p:cNvSpPr>
            <a:spLocks noGrp="1"/>
          </p:cNvSpPr>
          <p:nvPr>
            <p:ph type="sldNum" sz="quarter" idx="10"/>
          </p:nvPr>
        </p:nvSpPr>
        <p:spPr/>
        <p:txBody>
          <a:bodyPr/>
          <a:lstStyle/>
          <a:p>
            <a:fld id="{89C0A295-EDEF-4AFA-9CDA-A6B0418A7CB8}" type="slidenum">
              <a:rPr lang="en-US" smtClean="0"/>
              <a:pPr/>
              <a:t>2</a:t>
            </a:fld>
            <a:endParaRPr lang="en-US"/>
          </a:p>
        </p:txBody>
      </p:sp>
      <p:sp>
        <p:nvSpPr>
          <p:cNvPr id="5" name="Footer Placeholder 4"/>
          <p:cNvSpPr>
            <a:spLocks noGrp="1"/>
          </p:cNvSpPr>
          <p:nvPr>
            <p:ph type="ftr" sz="quarter" idx="11"/>
          </p:nvPr>
        </p:nvSpPr>
        <p:spPr/>
        <p:txBody>
          <a:bodyPr/>
          <a:lstStyle/>
          <a:p>
            <a:r>
              <a:rPr lang="en-US"/>
              <a:t>10</a:t>
            </a:r>
          </a:p>
        </p:txBody>
      </p:sp>
    </p:spTree>
    <p:extLst>
      <p:ext uri="{BB962C8B-B14F-4D97-AF65-F5344CB8AC3E}">
        <p14:creationId xmlns:p14="http://schemas.microsoft.com/office/powerpoint/2010/main" val="4163904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03463" y="528638"/>
            <a:ext cx="4702175" cy="2644775"/>
          </a:xfrm>
        </p:spPr>
      </p:sp>
      <p:sp>
        <p:nvSpPr>
          <p:cNvPr id="3" name="Notes Placeholder 2"/>
          <p:cNvSpPr>
            <a:spLocks noGrp="1"/>
          </p:cNvSpPr>
          <p:nvPr>
            <p:ph type="body" idx="1"/>
          </p:nvPr>
        </p:nvSpPr>
        <p:spPr/>
        <p:txBody>
          <a:bodyPr>
            <a:normAutofit fontScale="77500" lnSpcReduction="20000"/>
          </a:bodyPr>
          <a:lstStyle/>
          <a:p>
            <a:pPr marL="0" marR="0" lvl="0" indent="0" algn="just" rtl="0">
              <a:lnSpc>
                <a:spcPct val="107000"/>
              </a:lnSpc>
              <a:spcBef>
                <a:spcPts val="0"/>
              </a:spcBef>
              <a:spcAft>
                <a:spcPts val="0"/>
              </a:spcAft>
              <a:buFont typeface="+mj-lt"/>
              <a:buNone/>
            </a:pPr>
            <a:r>
              <a:rPr lang="en-US" sz="1800" dirty="0">
                <a:effectLst/>
                <a:latin typeface="Calibri" panose="020F0502020204030204" pitchFamily="34" charset="0"/>
                <a:ea typeface="DengXian" panose="02010600030101010101" pitchFamily="2" charset="-122"/>
                <a:cs typeface="Arial" panose="020B0604020202020204" pitchFamily="34" charset="0"/>
              </a:rPr>
              <a:t>1. It is estimated in different reports that cyber-crimes could cause companies 10.5 trillion per year by the year 2025. </a:t>
            </a:r>
          </a:p>
          <a:p>
            <a:pPr marL="0" marR="0" lvl="0" indent="0" algn="just" rtl="0">
              <a:lnSpc>
                <a:spcPct val="107000"/>
              </a:lnSpc>
              <a:spcBef>
                <a:spcPts val="0"/>
              </a:spcBef>
              <a:spcAft>
                <a:spcPts val="0"/>
              </a:spcAft>
              <a:buFont typeface="+mj-lt"/>
              <a:buNone/>
            </a:pPr>
            <a:endParaRPr lang="en-US" sz="1800" dirty="0">
              <a:effectLst/>
              <a:latin typeface="Calibri" panose="020F0502020204030204" pitchFamily="34" charset="0"/>
              <a:ea typeface="DengXian" panose="02010600030101010101" pitchFamily="2" charset="-122"/>
              <a:cs typeface="Arial" panose="020B0604020202020204" pitchFamily="34" charset="0"/>
            </a:endParaRPr>
          </a:p>
          <a:p>
            <a:pPr marL="0" marR="0" lvl="0" indent="0" algn="just" defTabSz="914400" rtl="0" eaLnBrk="1" fontAlgn="auto" latinLnBrk="0" hangingPunct="1">
              <a:lnSpc>
                <a:spcPct val="107000"/>
              </a:lnSpc>
              <a:spcBef>
                <a:spcPts val="0"/>
              </a:spcBef>
              <a:spcAft>
                <a:spcPts val="0"/>
              </a:spcAft>
              <a:buClrTx/>
              <a:buSzTx/>
              <a:buFont typeface="+mj-lt"/>
              <a:buNone/>
              <a:tabLst/>
              <a:defRPr/>
            </a:pPr>
            <a:r>
              <a:rPr lang="en-US" sz="1800" dirty="0">
                <a:solidFill>
                  <a:schemeClr val="tx2">
                    <a:lumMod val="50000"/>
                  </a:schemeClr>
                </a:solidFill>
              </a:rPr>
              <a:t>2. Securing Industrial protocols is of utmost priority</a:t>
            </a:r>
          </a:p>
          <a:p>
            <a:pPr marL="0" marR="0" lvl="0" indent="0" algn="just" rtl="0">
              <a:lnSpc>
                <a:spcPct val="107000"/>
              </a:lnSpc>
              <a:spcBef>
                <a:spcPts val="0"/>
              </a:spcBef>
              <a:spcAft>
                <a:spcPts val="0"/>
              </a:spcAft>
              <a:buFont typeface="+mj-lt"/>
              <a:buNone/>
            </a:pPr>
            <a:endParaRPr lang="en-US" sz="1800" dirty="0">
              <a:effectLst/>
              <a:latin typeface="Calibri" panose="020F0502020204030204" pitchFamily="34" charset="0"/>
              <a:ea typeface="DengXian" panose="02010600030101010101" pitchFamily="2" charset="-122"/>
              <a:cs typeface="Arial" panose="020B0604020202020204" pitchFamily="34" charset="0"/>
            </a:endParaRPr>
          </a:p>
          <a:p>
            <a:pPr marL="0" marR="0" lvl="0" indent="0" algn="just" rtl="0">
              <a:lnSpc>
                <a:spcPct val="107000"/>
              </a:lnSpc>
              <a:spcBef>
                <a:spcPts val="0"/>
              </a:spcBef>
              <a:spcAft>
                <a:spcPts val="0"/>
              </a:spcAft>
              <a:buFont typeface="+mj-lt"/>
              <a:buNone/>
            </a:pPr>
            <a:r>
              <a:rPr lang="en-US" sz="1800" dirty="0">
                <a:effectLst/>
                <a:latin typeface="Calibri" panose="020F0502020204030204" pitchFamily="34" charset="0"/>
                <a:ea typeface="DengXian" panose="02010600030101010101" pitchFamily="2" charset="-122"/>
                <a:cs typeface="Arial" panose="020B0604020202020204" pitchFamily="34" charset="0"/>
              </a:rPr>
              <a:t>3-4. SECS/GEM is an M2M communication protocol, and it is considered as Jugular vein to semiconductor industry and is in profound use since its inception. </a:t>
            </a:r>
          </a:p>
          <a:p>
            <a:endParaRPr lang="en-US" sz="1800" dirty="0">
              <a:effectLst/>
              <a:latin typeface="Calibri" panose="020F0502020204030204" pitchFamily="34" charset="0"/>
              <a:ea typeface="DengXian" panose="02010600030101010101" pitchFamily="2" charset="-122"/>
              <a:cs typeface="Arial" panose="020B0604020202020204" pitchFamily="34" charset="0"/>
            </a:endParaRPr>
          </a:p>
          <a:p>
            <a:r>
              <a:rPr lang="en-US" sz="1800" dirty="0">
                <a:effectLst/>
                <a:latin typeface="Calibri" panose="020F0502020204030204" pitchFamily="34" charset="0"/>
                <a:ea typeface="DengXian" panose="02010600030101010101" pitchFamily="2" charset="-122"/>
                <a:cs typeface="Arial" panose="020B0604020202020204" pitchFamily="34" charset="0"/>
              </a:rPr>
              <a:t>5. SECS/GEM was developed for closed and air gapped environments, thus the designers only focused on performance, and completely ignored security features.</a:t>
            </a:r>
          </a:p>
          <a:p>
            <a:endParaRPr lang="en-US" sz="1800" dirty="0">
              <a:effectLst/>
              <a:latin typeface="Calibri" panose="020F0502020204030204" pitchFamily="34" charset="0"/>
              <a:ea typeface="DengXian" panose="02010600030101010101" pitchFamily="2" charset="-122"/>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2">
                    <a:lumMod val="50000"/>
                  </a:schemeClr>
                </a:solidFill>
              </a:rPr>
              <a:t>6. SECS/GEM messages are of two types, control messages, and data messages. Control messages do not have data part and comprised only HSMS header. Data messages can be of 4.3GB in size.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2">
                  <a:lumMod val="50000"/>
                </a:schemeClr>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2">
                    <a:lumMod val="50000"/>
                  </a:schemeClr>
                </a:solidFill>
              </a:rPr>
              <a:t>7. SECS/GEM does not require entities to be authenticated before starting communication, thus, an intruder can easily start and disrupt communication</a:t>
            </a:r>
          </a:p>
          <a:p>
            <a:endParaRPr lang="en-US" dirty="0"/>
          </a:p>
          <a:p>
            <a:r>
              <a:rPr lang="en-US" dirty="0"/>
              <a:t>8. Because there is not security, SECS/GEM is vulnerable to all type of attacks, including DoS, Replay, and FDIA attacks</a:t>
            </a:r>
          </a:p>
          <a:p>
            <a:endParaRPr lang="en-US" dirty="0"/>
          </a:p>
          <a:p>
            <a:r>
              <a:rPr lang="en-US" dirty="0"/>
              <a:t>GEM = Generic Equipment Model</a:t>
            </a:r>
          </a:p>
          <a:p>
            <a:r>
              <a:rPr lang="en-US" dirty="0"/>
              <a:t>SECS-II = </a:t>
            </a:r>
            <a:r>
              <a:rPr lang="en-US" b="0" i="0" dirty="0">
                <a:solidFill>
                  <a:srgbClr val="BDC1C6"/>
                </a:solidFill>
                <a:effectLst/>
                <a:latin typeface="arial" panose="020B0604020202020204" pitchFamily="34" charset="0"/>
              </a:rPr>
              <a:t>SEMI Equipment Communication Standard 2</a:t>
            </a:r>
            <a:endParaRPr lang="en-US" dirty="0"/>
          </a:p>
          <a:p>
            <a:r>
              <a:rPr lang="en-US" dirty="0"/>
              <a:t>HSMS =</a:t>
            </a:r>
            <a:r>
              <a:rPr lang="en-US" b="0" i="0" dirty="0">
                <a:solidFill>
                  <a:srgbClr val="BDC1C6"/>
                </a:solidFill>
                <a:effectLst/>
                <a:latin typeface="arial" panose="020B0604020202020204" pitchFamily="34" charset="0"/>
              </a:rPr>
              <a:t>High-Speed SECS Message Services</a:t>
            </a:r>
            <a:endParaRPr lang="en-US" b="0" dirty="0"/>
          </a:p>
        </p:txBody>
      </p:sp>
      <p:sp>
        <p:nvSpPr>
          <p:cNvPr id="4" name="Slide Number Placeholder 3"/>
          <p:cNvSpPr>
            <a:spLocks noGrp="1"/>
          </p:cNvSpPr>
          <p:nvPr>
            <p:ph type="sldNum" sz="quarter" idx="10"/>
          </p:nvPr>
        </p:nvSpPr>
        <p:spPr/>
        <p:txBody>
          <a:bodyPr/>
          <a:lstStyle/>
          <a:p>
            <a:fld id="{89C0A295-EDEF-4AFA-9CDA-A6B0418A7CB8}" type="slidenum">
              <a:rPr lang="en-US" smtClean="0"/>
              <a:pPr/>
              <a:t>3</a:t>
            </a:fld>
            <a:endParaRPr lang="en-US"/>
          </a:p>
        </p:txBody>
      </p:sp>
      <p:sp>
        <p:nvSpPr>
          <p:cNvPr id="5" name="Footer Placeholder 4"/>
          <p:cNvSpPr>
            <a:spLocks noGrp="1"/>
          </p:cNvSpPr>
          <p:nvPr>
            <p:ph type="ftr" sz="quarter" idx="11"/>
          </p:nvPr>
        </p:nvSpPr>
        <p:spPr/>
        <p:txBody>
          <a:bodyPr/>
          <a:lstStyle/>
          <a:p>
            <a:r>
              <a:rPr lang="en-US"/>
              <a:t>10</a:t>
            </a:r>
          </a:p>
        </p:txBody>
      </p:sp>
    </p:spTree>
    <p:extLst>
      <p:ext uri="{BB962C8B-B14F-4D97-AF65-F5344CB8AC3E}">
        <p14:creationId xmlns:p14="http://schemas.microsoft.com/office/powerpoint/2010/main" val="5932535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03463" y="528638"/>
            <a:ext cx="4702175" cy="2644775"/>
          </a:xfrm>
        </p:spPr>
      </p:sp>
      <p:sp>
        <p:nvSpPr>
          <p:cNvPr id="3" name="Notes Placeholder 2"/>
          <p:cNvSpPr>
            <a:spLocks noGrp="1"/>
          </p:cNvSpPr>
          <p:nvPr>
            <p:ph type="body" idx="1"/>
          </p:nvPr>
        </p:nvSpPr>
        <p:spPr/>
        <p:txBody>
          <a:bodyPr>
            <a:normAutofit/>
          </a:bodyPr>
          <a:lstStyle/>
          <a:p>
            <a:r>
              <a:rPr lang="en-US" dirty="0"/>
              <a:t>1. Based on the introduction provided in previous introductory slides, it is identified that SECS/GEM lacks an authentication mechanism, which opens up the door for attacker to communicate and inject malicious contents which would either degrade performance, or result in faulty products</a:t>
            </a:r>
          </a:p>
          <a:p>
            <a:endParaRPr lang="en-US" dirty="0"/>
          </a:p>
          <a:p>
            <a:r>
              <a:rPr lang="en-US" dirty="0"/>
              <a:t>2. Since, SECS/GEM does not have any security feature, thus it is vulnerable to attacks including DoS, replay, and FDIA attacks. </a:t>
            </a:r>
          </a:p>
        </p:txBody>
      </p:sp>
      <p:sp>
        <p:nvSpPr>
          <p:cNvPr id="4" name="Slide Number Placeholder 3"/>
          <p:cNvSpPr>
            <a:spLocks noGrp="1"/>
          </p:cNvSpPr>
          <p:nvPr>
            <p:ph type="sldNum" sz="quarter" idx="10"/>
          </p:nvPr>
        </p:nvSpPr>
        <p:spPr/>
        <p:txBody>
          <a:bodyPr/>
          <a:lstStyle/>
          <a:p>
            <a:fld id="{89C0A295-EDEF-4AFA-9CDA-A6B0418A7CB8}" type="slidenum">
              <a:rPr lang="en-US" smtClean="0"/>
              <a:pPr/>
              <a:t>4</a:t>
            </a:fld>
            <a:endParaRPr lang="en-US"/>
          </a:p>
        </p:txBody>
      </p:sp>
      <p:sp>
        <p:nvSpPr>
          <p:cNvPr id="5" name="Footer Placeholder 4"/>
          <p:cNvSpPr>
            <a:spLocks noGrp="1"/>
          </p:cNvSpPr>
          <p:nvPr>
            <p:ph type="ftr" sz="quarter" idx="11"/>
          </p:nvPr>
        </p:nvSpPr>
        <p:spPr/>
        <p:txBody>
          <a:bodyPr/>
          <a:lstStyle/>
          <a:p>
            <a:r>
              <a:rPr lang="en-US"/>
              <a:t>10</a:t>
            </a:r>
          </a:p>
        </p:txBody>
      </p:sp>
    </p:spTree>
    <p:extLst>
      <p:ext uri="{BB962C8B-B14F-4D97-AF65-F5344CB8AC3E}">
        <p14:creationId xmlns:p14="http://schemas.microsoft.com/office/powerpoint/2010/main" val="23612936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03463" y="528638"/>
            <a:ext cx="4702175" cy="2644775"/>
          </a:xfrm>
        </p:spPr>
      </p:sp>
      <p:sp>
        <p:nvSpPr>
          <p:cNvPr id="3" name="Notes Placeholder 2"/>
          <p:cNvSpPr>
            <a:spLocks noGrp="1"/>
          </p:cNvSpPr>
          <p:nvPr>
            <p:ph type="body" idx="1"/>
          </p:nvPr>
        </p:nvSpPr>
        <p:spPr/>
        <p:txBody>
          <a:bodyPr>
            <a:normAutofit/>
          </a:bodyPr>
          <a:lstStyle/>
          <a:p>
            <a:r>
              <a:rPr lang="en-US" dirty="0"/>
              <a:t>To address issues identified in the problem statement, and make SECS/GEM security-enabled, four Research Objectives are identified in this research.</a:t>
            </a:r>
          </a:p>
          <a:p>
            <a:endParaRPr lang="en-US" dirty="0"/>
          </a:p>
          <a:p>
            <a:pPr marL="228600" indent="-228600">
              <a:buAutoNum type="arabicPeriod"/>
            </a:pPr>
            <a:r>
              <a:rPr lang="en-US" dirty="0"/>
              <a:t>To prevent unauthorized devices from communicating with the legitimate industry equipment, SECS/GEM is required to be enabled with authentication mechanism </a:t>
            </a:r>
          </a:p>
          <a:p>
            <a:pPr marL="228600" indent="-228600">
              <a:buAutoNum type="arabicPeriod"/>
            </a:pPr>
            <a:r>
              <a:rPr lang="en-US" dirty="0"/>
              <a:t>There are several applications designed for analytics, thus, it is required that the proposed mechanism must not modify existing message structure</a:t>
            </a:r>
          </a:p>
          <a:p>
            <a:pPr marL="228600" indent="-228600">
              <a:buAutoNum type="arabicPeriod"/>
            </a:pPr>
            <a:r>
              <a:rPr lang="en-US" dirty="0"/>
              <a:t>To prevent cyber-attacks, a rule-based mechanism is required which will enable SECS/GEM to classify messages into legitimate and illegitimate and prevent attacks</a:t>
            </a:r>
          </a:p>
          <a:p>
            <a:pPr marL="228600" indent="-228600">
              <a:buAutoNum type="arabicPeriod"/>
            </a:pPr>
            <a:r>
              <a:rPr lang="en-US" dirty="0"/>
              <a:t>The fourth objective is to build a testbed in order to evaluate the performance of the proposed security mechanism</a:t>
            </a:r>
          </a:p>
        </p:txBody>
      </p:sp>
      <p:sp>
        <p:nvSpPr>
          <p:cNvPr id="4" name="Slide Number Placeholder 3"/>
          <p:cNvSpPr>
            <a:spLocks noGrp="1"/>
          </p:cNvSpPr>
          <p:nvPr>
            <p:ph type="sldNum" sz="quarter" idx="10"/>
          </p:nvPr>
        </p:nvSpPr>
        <p:spPr/>
        <p:txBody>
          <a:bodyPr/>
          <a:lstStyle/>
          <a:p>
            <a:fld id="{89C0A295-EDEF-4AFA-9CDA-A6B0418A7CB8}" type="slidenum">
              <a:rPr lang="en-US" smtClean="0"/>
              <a:pPr/>
              <a:t>5</a:t>
            </a:fld>
            <a:endParaRPr lang="en-US"/>
          </a:p>
        </p:txBody>
      </p:sp>
      <p:sp>
        <p:nvSpPr>
          <p:cNvPr id="5" name="Footer Placeholder 4"/>
          <p:cNvSpPr>
            <a:spLocks noGrp="1"/>
          </p:cNvSpPr>
          <p:nvPr>
            <p:ph type="ftr" sz="quarter" idx="11"/>
          </p:nvPr>
        </p:nvSpPr>
        <p:spPr/>
        <p:txBody>
          <a:bodyPr/>
          <a:lstStyle/>
          <a:p>
            <a:r>
              <a:rPr lang="en-US"/>
              <a:t>10</a:t>
            </a:r>
          </a:p>
        </p:txBody>
      </p:sp>
    </p:spTree>
    <p:extLst>
      <p:ext uri="{BB962C8B-B14F-4D97-AF65-F5344CB8AC3E}">
        <p14:creationId xmlns:p14="http://schemas.microsoft.com/office/powerpoint/2010/main" val="20579275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03463" y="528638"/>
            <a:ext cx="4702175" cy="2644775"/>
          </a:xfrm>
        </p:spPr>
      </p:sp>
      <p:sp>
        <p:nvSpPr>
          <p:cNvPr id="3" name="Notes Placeholder 2"/>
          <p:cNvSpPr>
            <a:spLocks noGrp="1"/>
          </p:cNvSpPr>
          <p:nvPr>
            <p:ph type="body" idx="1"/>
          </p:nvPr>
        </p:nvSpPr>
        <p:spPr/>
        <p:txBody>
          <a:bodyPr>
            <a:normAutofit fontScale="92500"/>
          </a:bodyPr>
          <a:lstStyle/>
          <a:p>
            <a:r>
              <a:rPr lang="en-US" dirty="0"/>
              <a:t>Limitations</a:t>
            </a:r>
          </a:p>
          <a:p>
            <a:r>
              <a:rPr lang="en-US" dirty="0"/>
              <a:t>------------</a:t>
            </a:r>
          </a:p>
          <a:p>
            <a:r>
              <a:rPr lang="en-US" dirty="0"/>
              <a:t>1. Although, our proposed security mechanism is versatile, and highly configurable, however, in this research the focus is on authentication and prevention of cyber-attacks. </a:t>
            </a:r>
          </a:p>
          <a:p>
            <a:endParaRPr lang="en-US" dirty="0"/>
          </a:p>
          <a:p>
            <a:r>
              <a:rPr lang="en-US" dirty="0"/>
              <a:t>2-3. The DoS attack is usually carried out by flooding the victim with overwhelming traffic which it cannot process, however, this type of DoS attack is beyond the scope of this research, instead, attacks are carried on SECS/GEM’s transport protocol named as HSMS or Highspeed SECS messaging service</a:t>
            </a:r>
          </a:p>
          <a:p>
            <a:endParaRPr lang="en-US" dirty="0"/>
          </a:p>
          <a:p>
            <a:r>
              <a:rPr lang="en-US" dirty="0"/>
              <a:t>4. Instead of running proposed mechanism on real industry equipment, a testbed is developed for the performance evaluation</a:t>
            </a:r>
          </a:p>
          <a:p>
            <a:endParaRPr lang="en-US" dirty="0"/>
          </a:p>
          <a:p>
            <a:r>
              <a:rPr lang="en-US" dirty="0"/>
              <a:t>5. For authentication using HMAC algorithms, a secret key is needed. These keys are preconfigured on machines, and no key distribution mechanism is employed.</a:t>
            </a:r>
          </a:p>
          <a:p>
            <a:endParaRPr lang="en-US" dirty="0"/>
          </a:p>
          <a:p>
            <a:r>
              <a:rPr lang="en-US" dirty="0"/>
              <a:t>Scope of Research</a:t>
            </a:r>
          </a:p>
          <a:p>
            <a:r>
              <a:rPr lang="en-US" dirty="0"/>
              <a:t>--------------------</a:t>
            </a:r>
          </a:p>
          <a:p>
            <a:r>
              <a:rPr lang="en-US" dirty="0"/>
              <a:t>The table specifies the scope of the research, the proposed mechanism is evaluated in terms of processing time, control overhead and defense against cyber-attacks</a:t>
            </a:r>
          </a:p>
          <a:p>
            <a:endParaRPr lang="en-US" dirty="0"/>
          </a:p>
          <a:p>
            <a:endParaRPr lang="en-US" dirty="0"/>
          </a:p>
        </p:txBody>
      </p:sp>
      <p:sp>
        <p:nvSpPr>
          <p:cNvPr id="4" name="Slide Number Placeholder 3"/>
          <p:cNvSpPr>
            <a:spLocks noGrp="1"/>
          </p:cNvSpPr>
          <p:nvPr>
            <p:ph type="sldNum" sz="quarter" idx="10"/>
          </p:nvPr>
        </p:nvSpPr>
        <p:spPr/>
        <p:txBody>
          <a:bodyPr/>
          <a:lstStyle/>
          <a:p>
            <a:fld id="{89C0A295-EDEF-4AFA-9CDA-A6B0418A7CB8}" type="slidenum">
              <a:rPr lang="en-US" smtClean="0"/>
              <a:pPr/>
              <a:t>6</a:t>
            </a:fld>
            <a:endParaRPr lang="en-US"/>
          </a:p>
        </p:txBody>
      </p:sp>
      <p:sp>
        <p:nvSpPr>
          <p:cNvPr id="5" name="Footer Placeholder 4"/>
          <p:cNvSpPr>
            <a:spLocks noGrp="1"/>
          </p:cNvSpPr>
          <p:nvPr>
            <p:ph type="ftr" sz="quarter" idx="11"/>
          </p:nvPr>
        </p:nvSpPr>
        <p:spPr/>
        <p:txBody>
          <a:bodyPr/>
          <a:lstStyle/>
          <a:p>
            <a:r>
              <a:rPr lang="en-US"/>
              <a:t>10</a:t>
            </a:r>
          </a:p>
        </p:txBody>
      </p:sp>
    </p:spTree>
    <p:extLst>
      <p:ext uri="{BB962C8B-B14F-4D97-AF65-F5344CB8AC3E}">
        <p14:creationId xmlns:p14="http://schemas.microsoft.com/office/powerpoint/2010/main" val="37687799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03463" y="528638"/>
            <a:ext cx="4702175" cy="2644775"/>
          </a:xfrm>
        </p:spPr>
      </p:sp>
      <p:sp>
        <p:nvSpPr>
          <p:cNvPr id="3" name="Notes Placeholder 2"/>
          <p:cNvSpPr>
            <a:spLocks noGrp="1"/>
          </p:cNvSpPr>
          <p:nvPr>
            <p:ph type="body" idx="1"/>
          </p:nvPr>
        </p:nvSpPr>
        <p:spPr/>
        <p:txBody>
          <a:bodyPr>
            <a:normAutofit fontScale="92500" lnSpcReduction="200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2">
                    <a:lumMod val="50000"/>
                  </a:schemeClr>
                </a:solidFill>
              </a:rPr>
              <a:t>1. There is extensive research work going on for securing protocols operating in the industrial ecosystem</a:t>
            </a:r>
          </a:p>
          <a:p>
            <a:endParaRPr lang="en-US" dirty="0"/>
          </a:p>
          <a:p>
            <a:r>
              <a:rPr lang="en-US" dirty="0"/>
              <a:t>2. The literature available suggests that the authentication is a fundamental security prerequisites which is usually achieved by employing PKI-based systems. </a:t>
            </a:r>
          </a:p>
          <a:p>
            <a:endParaRPr lang="en-US" dirty="0"/>
          </a:p>
          <a:p>
            <a:r>
              <a:rPr lang="en-US" dirty="0"/>
              <a:t>3. To best of our knowledge, there is no mechanism to authenticate or secure SECS/GEM protocol</a:t>
            </a:r>
          </a:p>
          <a:p>
            <a:endParaRPr lang="en-US" dirty="0"/>
          </a:p>
          <a:p>
            <a:r>
              <a:rPr lang="en-US" dirty="0"/>
              <a:t>4. As part of our industrial research project, we were asked to enable security in SECS/GEM, the project was split into two parts (1) to enable authentication and prevent attacks, and (2) to enable confidentially with authentication.</a:t>
            </a:r>
          </a:p>
          <a:p>
            <a:endParaRPr lang="en-US" dirty="0"/>
          </a:p>
          <a:p>
            <a:r>
              <a:rPr lang="en-US" dirty="0"/>
              <a:t>Based on the available literature, we were inspired by PKI-based solutions so we developed an authentication mechanism named as SECS/GEMsec</a:t>
            </a:r>
          </a:p>
          <a:p>
            <a:r>
              <a:rPr lang="en-US" dirty="0"/>
              <a:t>And we also proposed another mechanism for achieving confidentiality which we named as Secured SECS/GEM</a:t>
            </a:r>
          </a:p>
          <a:p>
            <a:endParaRPr lang="en-US" dirty="0"/>
          </a:p>
          <a:p>
            <a:r>
              <a:rPr lang="en-US" dirty="0"/>
              <a:t>5-6. We identified that the mechanisms we proposed were complex and required high processing time, also we noticed that the PKI based solutions were suitable for systems where several clients were connecting with a centralized server.</a:t>
            </a:r>
          </a:p>
          <a:p>
            <a:endParaRPr lang="en-US" dirty="0"/>
          </a:p>
          <a:p>
            <a:r>
              <a:rPr lang="en-US" dirty="0"/>
              <a:t>As we know that SECS/GEM is a point-to-point communication protocol, thus PKI based solutions were not needed. </a:t>
            </a:r>
          </a:p>
          <a:p>
            <a:endParaRPr lang="en-US" dirty="0"/>
          </a:p>
          <a:p>
            <a:r>
              <a:rPr lang="en-US" dirty="0"/>
              <a:t>We realized that there is a need for a comprehensive mechanism which not only offers authentication and prevents cyber-attack, but also optionally offers confidentiality. We decided not to use PKI based solutions because they are complex and require high processing time</a:t>
            </a:r>
          </a:p>
          <a:p>
            <a:endParaRPr lang="en-US" dirty="0"/>
          </a:p>
          <a:p>
            <a:endParaRPr lang="en-US" dirty="0"/>
          </a:p>
          <a:p>
            <a:endParaRPr lang="en-US" dirty="0"/>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89C0A295-EDEF-4AFA-9CDA-A6B0418A7CB8}" type="slidenum">
              <a:rPr lang="en-US" smtClean="0"/>
              <a:pPr/>
              <a:t>7</a:t>
            </a:fld>
            <a:endParaRPr lang="en-US"/>
          </a:p>
        </p:txBody>
      </p:sp>
      <p:sp>
        <p:nvSpPr>
          <p:cNvPr id="5" name="Footer Placeholder 4"/>
          <p:cNvSpPr>
            <a:spLocks noGrp="1"/>
          </p:cNvSpPr>
          <p:nvPr>
            <p:ph type="ftr" sz="quarter" idx="11"/>
          </p:nvPr>
        </p:nvSpPr>
        <p:spPr/>
        <p:txBody>
          <a:bodyPr/>
          <a:lstStyle/>
          <a:p>
            <a:r>
              <a:rPr lang="en-US"/>
              <a:t>10</a:t>
            </a:r>
          </a:p>
        </p:txBody>
      </p:sp>
    </p:spTree>
    <p:extLst>
      <p:ext uri="{BB962C8B-B14F-4D97-AF65-F5344CB8AC3E}">
        <p14:creationId xmlns:p14="http://schemas.microsoft.com/office/powerpoint/2010/main" val="24491561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03463" y="528638"/>
            <a:ext cx="4702175" cy="2644775"/>
          </a:xfrm>
        </p:spPr>
      </p:sp>
      <p:sp>
        <p:nvSpPr>
          <p:cNvPr id="3" name="Notes Placeholder 2"/>
          <p:cNvSpPr>
            <a:spLocks noGrp="1"/>
          </p:cNvSpPr>
          <p:nvPr>
            <p:ph type="body" idx="1"/>
          </p:nvPr>
        </p:nvSpPr>
        <p:spPr/>
        <p:txBody>
          <a:bodyPr>
            <a:normAutofit/>
          </a:bodyPr>
          <a:lstStyle/>
          <a:p>
            <a:r>
              <a:rPr lang="en-US" dirty="0"/>
              <a:t>The details of our previously proposed two security mechanisms are listed in this table along with their strengths and shortcomings</a:t>
            </a:r>
          </a:p>
          <a:p>
            <a:r>
              <a:rPr lang="en-US" dirty="0"/>
              <a:t>The standard SECS/GEM is also mentioned here in this table because it is used a benchmark for the features required</a:t>
            </a:r>
          </a:p>
        </p:txBody>
      </p:sp>
      <p:sp>
        <p:nvSpPr>
          <p:cNvPr id="4" name="Slide Number Placeholder 3"/>
          <p:cNvSpPr>
            <a:spLocks noGrp="1"/>
          </p:cNvSpPr>
          <p:nvPr>
            <p:ph type="sldNum" sz="quarter" idx="10"/>
          </p:nvPr>
        </p:nvSpPr>
        <p:spPr/>
        <p:txBody>
          <a:bodyPr/>
          <a:lstStyle/>
          <a:p>
            <a:fld id="{89C0A295-EDEF-4AFA-9CDA-A6B0418A7CB8}" type="slidenum">
              <a:rPr lang="en-US" smtClean="0"/>
              <a:pPr/>
              <a:t>8</a:t>
            </a:fld>
            <a:endParaRPr lang="en-US"/>
          </a:p>
        </p:txBody>
      </p:sp>
      <p:sp>
        <p:nvSpPr>
          <p:cNvPr id="5" name="Footer Placeholder 4"/>
          <p:cNvSpPr>
            <a:spLocks noGrp="1"/>
          </p:cNvSpPr>
          <p:nvPr>
            <p:ph type="ftr" sz="quarter" idx="11"/>
          </p:nvPr>
        </p:nvSpPr>
        <p:spPr/>
        <p:txBody>
          <a:bodyPr/>
          <a:lstStyle/>
          <a:p>
            <a:r>
              <a:rPr lang="en-US"/>
              <a:t>10</a:t>
            </a:r>
          </a:p>
        </p:txBody>
      </p:sp>
    </p:spTree>
    <p:extLst>
      <p:ext uri="{BB962C8B-B14F-4D97-AF65-F5344CB8AC3E}">
        <p14:creationId xmlns:p14="http://schemas.microsoft.com/office/powerpoint/2010/main" val="14216082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03463" y="528638"/>
            <a:ext cx="4702175" cy="2644775"/>
          </a:xfrm>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available mechanisms for securing SECS/GEM communication are mentioned in this table along with available features.</a:t>
            </a:r>
          </a:p>
          <a:p>
            <a:endParaRPr lang="en-US" dirty="0"/>
          </a:p>
          <a:p>
            <a:r>
              <a:rPr lang="en-US" dirty="0"/>
              <a:t>1. The existing mechanisms are hard-coded and do not allow customization, for example, change of algorithm or change of key size</a:t>
            </a:r>
          </a:p>
          <a:p>
            <a:endParaRPr lang="en-US" dirty="0"/>
          </a:p>
          <a:p>
            <a:r>
              <a:rPr lang="en-US" dirty="0"/>
              <a:t>2. </a:t>
            </a:r>
            <a:r>
              <a:rPr lang="en-US" sz="1200" dirty="0">
                <a:solidFill>
                  <a:schemeClr val="tx2">
                    <a:lumMod val="50000"/>
                  </a:schemeClr>
                </a:solidFill>
              </a:rPr>
              <a:t>No provisioning for different security features, i.e., there is no way that both confidentiality and authentication can be achieved at once</a:t>
            </a:r>
          </a:p>
          <a:p>
            <a:endParaRPr lang="en-US" dirty="0"/>
          </a:p>
          <a:p>
            <a:r>
              <a:rPr lang="en-US" dirty="0"/>
              <a:t>3-4. Existing mechanisms are either complex or vulnerable to cyber attacks</a:t>
            </a:r>
          </a:p>
          <a:p>
            <a:endParaRPr lang="en-US" dirty="0"/>
          </a:p>
          <a:p>
            <a:r>
              <a:rPr lang="en-US" dirty="0"/>
              <a:t>Based on the observations, we propose a mechanism which is lightweight, multi-featured, customizable, and prevents cyber-attacks. </a:t>
            </a:r>
          </a:p>
        </p:txBody>
      </p:sp>
      <p:sp>
        <p:nvSpPr>
          <p:cNvPr id="4" name="Slide Number Placeholder 3"/>
          <p:cNvSpPr>
            <a:spLocks noGrp="1"/>
          </p:cNvSpPr>
          <p:nvPr>
            <p:ph type="sldNum" sz="quarter" idx="10"/>
          </p:nvPr>
        </p:nvSpPr>
        <p:spPr/>
        <p:txBody>
          <a:bodyPr/>
          <a:lstStyle/>
          <a:p>
            <a:fld id="{89C0A295-EDEF-4AFA-9CDA-A6B0418A7CB8}" type="slidenum">
              <a:rPr lang="en-US" smtClean="0"/>
              <a:pPr/>
              <a:t>9</a:t>
            </a:fld>
            <a:endParaRPr lang="en-US"/>
          </a:p>
        </p:txBody>
      </p:sp>
      <p:sp>
        <p:nvSpPr>
          <p:cNvPr id="5" name="Footer Placeholder 4"/>
          <p:cNvSpPr>
            <a:spLocks noGrp="1"/>
          </p:cNvSpPr>
          <p:nvPr>
            <p:ph type="ftr" sz="quarter" idx="11"/>
          </p:nvPr>
        </p:nvSpPr>
        <p:spPr/>
        <p:txBody>
          <a:bodyPr/>
          <a:lstStyle/>
          <a:p>
            <a:r>
              <a:rPr lang="en-US"/>
              <a:t>10</a:t>
            </a:r>
          </a:p>
        </p:txBody>
      </p:sp>
    </p:spTree>
    <p:extLst>
      <p:ext uri="{BB962C8B-B14F-4D97-AF65-F5344CB8AC3E}">
        <p14:creationId xmlns:p14="http://schemas.microsoft.com/office/powerpoint/2010/main" val="65602431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03463" y="528638"/>
            <a:ext cx="4702175" cy="2644775"/>
          </a:xfrm>
        </p:spPr>
      </p:sp>
      <p:sp>
        <p:nvSpPr>
          <p:cNvPr id="3" name="Notes Placeholder 2"/>
          <p:cNvSpPr>
            <a:spLocks noGrp="1"/>
          </p:cNvSpPr>
          <p:nvPr>
            <p:ph type="body" idx="1"/>
          </p:nvPr>
        </p:nvSpPr>
        <p:spPr/>
        <p:txBody>
          <a:bodyPr>
            <a:normAutofit/>
          </a:bodyPr>
          <a:lstStyle/>
          <a:p>
            <a:r>
              <a:rPr lang="en-US" dirty="0"/>
              <a:t>We named our proposed mechanism as SECS/GEM Security Mechanism or SGSM in short. </a:t>
            </a:r>
          </a:p>
          <a:p>
            <a:endParaRPr lang="en-US" dirty="0"/>
          </a:p>
          <a:p>
            <a:r>
              <a:rPr lang="en-US" dirty="0"/>
              <a:t>The message structure of SGSM is shown on the figure</a:t>
            </a:r>
          </a:p>
          <a:p>
            <a:endParaRPr lang="en-US" dirty="0"/>
          </a:p>
          <a:p>
            <a:r>
              <a:rPr lang="en-US" dirty="0"/>
              <a:t>The details of each field is provided. </a:t>
            </a:r>
          </a:p>
          <a:p>
            <a:endParaRPr lang="en-US" dirty="0"/>
          </a:p>
          <a:p>
            <a:pPr marL="457200" indent="-457200" algn="just">
              <a:lnSpc>
                <a:spcPct val="100000"/>
              </a:lnSpc>
              <a:buFont typeface="Wingdings" panose="05000000000000000000" pitchFamily="2" charset="2"/>
              <a:buChar char="§"/>
            </a:pPr>
            <a:r>
              <a:rPr lang="en-US" sz="1200" b="1" dirty="0">
                <a:solidFill>
                  <a:srgbClr val="002060"/>
                </a:solidFill>
              </a:rPr>
              <a:t>Length: </a:t>
            </a:r>
            <a:r>
              <a:rPr lang="en-US" sz="1200" dirty="0">
                <a:solidFill>
                  <a:schemeClr val="tx2">
                    <a:lumMod val="50000"/>
                  </a:schemeClr>
                </a:solidFill>
              </a:rPr>
              <a:t>Determines ACB length</a:t>
            </a:r>
          </a:p>
          <a:p>
            <a:pPr marL="457200" indent="-457200" algn="just">
              <a:lnSpc>
                <a:spcPct val="100000"/>
              </a:lnSpc>
              <a:buFont typeface="Wingdings" panose="05000000000000000000" pitchFamily="2" charset="2"/>
              <a:buChar char="§"/>
            </a:pPr>
            <a:r>
              <a:rPr lang="en-US" sz="1200" b="1" dirty="0">
                <a:solidFill>
                  <a:srgbClr val="002060"/>
                </a:solidFill>
              </a:rPr>
              <a:t>Mode: </a:t>
            </a:r>
            <a:r>
              <a:rPr lang="en-US" sz="1200" dirty="0">
                <a:solidFill>
                  <a:schemeClr val="tx2">
                    <a:lumMod val="50000"/>
                  </a:schemeClr>
                </a:solidFill>
              </a:rPr>
              <a:t>Specifies operational mode (i.e., Mode=1 [authentication])</a:t>
            </a:r>
          </a:p>
          <a:p>
            <a:pPr marL="457200" indent="-457200" algn="just">
              <a:lnSpc>
                <a:spcPct val="100000"/>
              </a:lnSpc>
              <a:buFont typeface="Wingdings" panose="05000000000000000000" pitchFamily="2" charset="2"/>
              <a:buChar char="§"/>
            </a:pPr>
            <a:r>
              <a:rPr lang="en-US" sz="1200" b="1" dirty="0">
                <a:solidFill>
                  <a:srgbClr val="002060"/>
                </a:solidFill>
              </a:rPr>
              <a:t>SECS-Info: </a:t>
            </a:r>
            <a:r>
              <a:rPr lang="en-US" sz="1200" dirty="0">
                <a:solidFill>
                  <a:schemeClr val="tx2">
                    <a:lumMod val="50000"/>
                  </a:schemeClr>
                </a:solidFill>
              </a:rPr>
              <a:t>Reserved for future usage</a:t>
            </a:r>
          </a:p>
          <a:p>
            <a:pPr marL="457200" indent="-457200" algn="just">
              <a:lnSpc>
                <a:spcPct val="100000"/>
              </a:lnSpc>
              <a:buFont typeface="Wingdings" panose="05000000000000000000" pitchFamily="2" charset="2"/>
              <a:buChar char="§"/>
            </a:pPr>
            <a:r>
              <a:rPr lang="en-US" sz="1200" b="1" dirty="0">
                <a:solidFill>
                  <a:srgbClr val="002060"/>
                </a:solidFill>
              </a:rPr>
              <a:t>RPM:</a:t>
            </a:r>
            <a:r>
              <a:rPr lang="en-US" sz="1200" dirty="0">
                <a:solidFill>
                  <a:schemeClr val="tx2">
                    <a:lumMod val="50000"/>
                  </a:schemeClr>
                </a:solidFill>
              </a:rPr>
              <a:t> Identifies mode to be used for detecting replay attacks </a:t>
            </a:r>
          </a:p>
          <a:p>
            <a:pPr marL="457200" indent="-457200" algn="just">
              <a:lnSpc>
                <a:spcPct val="100000"/>
              </a:lnSpc>
              <a:buFont typeface="Wingdings" panose="05000000000000000000" pitchFamily="2" charset="2"/>
              <a:buChar char="§"/>
            </a:pPr>
            <a:r>
              <a:rPr lang="en-US" sz="1200" b="1" dirty="0" err="1">
                <a:solidFill>
                  <a:srgbClr val="002060"/>
                </a:solidFill>
              </a:rPr>
              <a:t>RPV</a:t>
            </a:r>
            <a:r>
              <a:rPr lang="en-US" sz="1200" b="1" dirty="0">
                <a:solidFill>
                  <a:srgbClr val="002060"/>
                </a:solidFill>
              </a:rPr>
              <a:t>:</a:t>
            </a:r>
            <a:r>
              <a:rPr lang="en-US" sz="1200" dirty="0">
                <a:solidFill>
                  <a:schemeClr val="tx2">
                    <a:lumMod val="50000"/>
                  </a:schemeClr>
                </a:solidFill>
              </a:rPr>
              <a:t> Used to store value to indicate the freshness of the message</a:t>
            </a:r>
          </a:p>
          <a:p>
            <a:pPr marL="457200" indent="-457200" algn="just">
              <a:lnSpc>
                <a:spcPct val="100000"/>
              </a:lnSpc>
              <a:buFont typeface="Wingdings" panose="05000000000000000000" pitchFamily="2" charset="2"/>
              <a:buChar char="§"/>
            </a:pPr>
            <a:r>
              <a:rPr lang="en-US" sz="1200" b="1" dirty="0">
                <a:solidFill>
                  <a:srgbClr val="002060"/>
                </a:solidFill>
              </a:rPr>
              <a:t>Algorithm: </a:t>
            </a:r>
            <a:r>
              <a:rPr lang="en-US" sz="1200" dirty="0">
                <a:solidFill>
                  <a:schemeClr val="tx2">
                    <a:lumMod val="50000"/>
                  </a:schemeClr>
                </a:solidFill>
              </a:rPr>
              <a:t>Determines algorithm to compute the hash</a:t>
            </a:r>
          </a:p>
          <a:p>
            <a:pPr marL="457200" indent="-457200" algn="just">
              <a:lnSpc>
                <a:spcPct val="100000"/>
              </a:lnSpc>
              <a:buFont typeface="Wingdings" panose="05000000000000000000" pitchFamily="2" charset="2"/>
              <a:buChar char="§"/>
            </a:pPr>
            <a:r>
              <a:rPr lang="en-US" sz="1200" b="1" dirty="0">
                <a:solidFill>
                  <a:srgbClr val="002060"/>
                </a:solidFill>
              </a:rPr>
              <a:t>Secret-Key ID: </a:t>
            </a:r>
            <a:r>
              <a:rPr lang="en-US" sz="1200" dirty="0">
                <a:solidFill>
                  <a:schemeClr val="tx2">
                    <a:lumMod val="50000"/>
                  </a:schemeClr>
                </a:solidFill>
              </a:rPr>
              <a:t>Identifies several keys on an active entity</a:t>
            </a:r>
          </a:p>
          <a:p>
            <a:pPr marL="457200" indent="-457200" algn="just">
              <a:lnSpc>
                <a:spcPct val="100000"/>
              </a:lnSpc>
              <a:buFont typeface="Wingdings" panose="05000000000000000000" pitchFamily="2" charset="2"/>
              <a:buChar char="§"/>
            </a:pPr>
            <a:r>
              <a:rPr lang="en-US" sz="1200" b="1" dirty="0">
                <a:solidFill>
                  <a:srgbClr val="002060"/>
                </a:solidFill>
              </a:rPr>
              <a:t>ACB Payload:</a:t>
            </a:r>
            <a:r>
              <a:rPr lang="en-US" sz="1200" dirty="0">
                <a:solidFill>
                  <a:schemeClr val="tx2">
                    <a:lumMod val="50000"/>
                  </a:schemeClr>
                </a:solidFill>
              </a:rPr>
              <a:t> Carries hash value or other control information</a:t>
            </a:r>
            <a:endParaRPr lang="en-US" sz="1600" dirty="0">
              <a:solidFill>
                <a:schemeClr val="tx2">
                  <a:lumMod val="50000"/>
                </a:schemeClr>
              </a:solidFill>
            </a:endParaRPr>
          </a:p>
          <a:p>
            <a:endParaRPr lang="en-US" dirty="0"/>
          </a:p>
        </p:txBody>
      </p:sp>
      <p:sp>
        <p:nvSpPr>
          <p:cNvPr id="4" name="Slide Number Placeholder 3"/>
          <p:cNvSpPr>
            <a:spLocks noGrp="1"/>
          </p:cNvSpPr>
          <p:nvPr>
            <p:ph type="sldNum" sz="quarter" idx="10"/>
          </p:nvPr>
        </p:nvSpPr>
        <p:spPr/>
        <p:txBody>
          <a:bodyPr/>
          <a:lstStyle/>
          <a:p>
            <a:fld id="{89C0A295-EDEF-4AFA-9CDA-A6B0418A7CB8}" type="slidenum">
              <a:rPr lang="en-US" smtClean="0"/>
              <a:pPr/>
              <a:t>10</a:t>
            </a:fld>
            <a:endParaRPr lang="en-US"/>
          </a:p>
        </p:txBody>
      </p:sp>
      <p:sp>
        <p:nvSpPr>
          <p:cNvPr id="5" name="Footer Placeholder 4"/>
          <p:cNvSpPr>
            <a:spLocks noGrp="1"/>
          </p:cNvSpPr>
          <p:nvPr>
            <p:ph type="ftr" sz="quarter" idx="11"/>
          </p:nvPr>
        </p:nvSpPr>
        <p:spPr/>
        <p:txBody>
          <a:bodyPr/>
          <a:lstStyle/>
          <a:p>
            <a:r>
              <a:rPr lang="en-US"/>
              <a:t>10</a:t>
            </a:r>
          </a:p>
        </p:txBody>
      </p:sp>
    </p:spTree>
    <p:extLst>
      <p:ext uri="{BB962C8B-B14F-4D97-AF65-F5344CB8AC3E}">
        <p14:creationId xmlns:p14="http://schemas.microsoft.com/office/powerpoint/2010/main" val="25279326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03463" y="528638"/>
            <a:ext cx="4702175" cy="2644775"/>
          </a:xfrm>
        </p:spPr>
      </p:sp>
      <p:sp>
        <p:nvSpPr>
          <p:cNvPr id="3" name="Notes Placeholder 2"/>
          <p:cNvSpPr>
            <a:spLocks noGrp="1"/>
          </p:cNvSpPr>
          <p:nvPr>
            <p:ph type="body" idx="1"/>
          </p:nvPr>
        </p:nvSpPr>
        <p:spPr/>
        <p:txBody>
          <a:bodyPr>
            <a:normAutofit/>
          </a:bodyPr>
          <a:lstStyle/>
          <a:p>
            <a:r>
              <a:rPr lang="en-US" dirty="0"/>
              <a:t>The architecture of the proposed mechanism is split into four main sections where each section addresses a research objective of this study. </a:t>
            </a:r>
          </a:p>
          <a:p>
            <a:endParaRPr lang="en-US" dirty="0"/>
          </a:p>
          <a:p>
            <a:r>
              <a:rPr lang="en-US" dirty="0"/>
              <a:t>1. The research objective 2 states that the message structure of existing SECS/GEM mechanism must not be altered, therefore we attach a control block with each message. The control block is named as authentication code block or ACB in short.  The sender is required to Generate the ACB and initialize it with all zeros. Once ACB is generated, it is attached at the end of the message. </a:t>
            </a:r>
          </a:p>
          <a:p>
            <a:endParaRPr lang="en-US" dirty="0"/>
          </a:p>
          <a:p>
            <a:r>
              <a:rPr lang="en-US" dirty="0"/>
              <a:t>2. Once, ACB is attached, the ACB fields are assigned values which are available in a configuration file. Based on the values stored in ACB, the hash is generated for authentication, which satisfies our second research objective</a:t>
            </a:r>
          </a:p>
          <a:p>
            <a:endParaRPr lang="en-US" dirty="0"/>
          </a:p>
          <a:p>
            <a:r>
              <a:rPr lang="en-US" dirty="0"/>
              <a:t>3. The messages are either accepted or rejected based on the rules defined. Thus, this satisfies our 3</a:t>
            </a:r>
            <a:r>
              <a:rPr lang="en-US" baseline="30000" dirty="0"/>
              <a:t>rd</a:t>
            </a:r>
            <a:r>
              <a:rPr lang="en-US" dirty="0"/>
              <a:t> research objective. </a:t>
            </a:r>
          </a:p>
          <a:p>
            <a:endParaRPr lang="en-US" dirty="0"/>
          </a:p>
          <a:p>
            <a:r>
              <a:rPr lang="en-US" dirty="0"/>
              <a:t>4. The fourth research is to develop a testbed which is explained in subsequent slides. </a:t>
            </a:r>
          </a:p>
        </p:txBody>
      </p:sp>
      <p:sp>
        <p:nvSpPr>
          <p:cNvPr id="4" name="Slide Number Placeholder 3"/>
          <p:cNvSpPr>
            <a:spLocks noGrp="1"/>
          </p:cNvSpPr>
          <p:nvPr>
            <p:ph type="sldNum" sz="quarter" idx="10"/>
          </p:nvPr>
        </p:nvSpPr>
        <p:spPr/>
        <p:txBody>
          <a:bodyPr/>
          <a:lstStyle/>
          <a:p>
            <a:fld id="{89C0A295-EDEF-4AFA-9CDA-A6B0418A7CB8}" type="slidenum">
              <a:rPr lang="en-US" smtClean="0"/>
              <a:pPr/>
              <a:t>11</a:t>
            </a:fld>
            <a:endParaRPr lang="en-US"/>
          </a:p>
        </p:txBody>
      </p:sp>
      <p:sp>
        <p:nvSpPr>
          <p:cNvPr id="5" name="Footer Placeholder 4"/>
          <p:cNvSpPr>
            <a:spLocks noGrp="1"/>
          </p:cNvSpPr>
          <p:nvPr>
            <p:ph type="ftr" sz="quarter" idx="11"/>
          </p:nvPr>
        </p:nvSpPr>
        <p:spPr/>
        <p:txBody>
          <a:bodyPr/>
          <a:lstStyle/>
          <a:p>
            <a:r>
              <a:rPr lang="en-US"/>
              <a:t>10</a:t>
            </a:r>
          </a:p>
        </p:txBody>
      </p:sp>
    </p:spTree>
    <p:extLst>
      <p:ext uri="{BB962C8B-B14F-4D97-AF65-F5344CB8AC3E}">
        <p14:creationId xmlns:p14="http://schemas.microsoft.com/office/powerpoint/2010/main" val="40991794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03463" y="528638"/>
            <a:ext cx="4702175" cy="26447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9C0A295-EDEF-4AFA-9CDA-A6B0418A7CB8}" type="slidenum">
              <a:rPr lang="en-US" smtClean="0"/>
              <a:pPr/>
              <a:t>12</a:t>
            </a:fld>
            <a:endParaRPr lang="en-US"/>
          </a:p>
        </p:txBody>
      </p:sp>
      <p:sp>
        <p:nvSpPr>
          <p:cNvPr id="5" name="Footer Placeholder 4"/>
          <p:cNvSpPr>
            <a:spLocks noGrp="1"/>
          </p:cNvSpPr>
          <p:nvPr>
            <p:ph type="ftr" sz="quarter" idx="11"/>
          </p:nvPr>
        </p:nvSpPr>
        <p:spPr/>
        <p:txBody>
          <a:bodyPr/>
          <a:lstStyle/>
          <a:p>
            <a:r>
              <a:rPr lang="en-US"/>
              <a:t>10</a:t>
            </a:r>
          </a:p>
        </p:txBody>
      </p:sp>
    </p:spTree>
    <p:extLst>
      <p:ext uri="{BB962C8B-B14F-4D97-AF65-F5344CB8AC3E}">
        <p14:creationId xmlns:p14="http://schemas.microsoft.com/office/powerpoint/2010/main" val="5676250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03463" y="528638"/>
            <a:ext cx="4702175" cy="2644775"/>
          </a:xfrm>
        </p:spPr>
      </p:sp>
      <p:sp>
        <p:nvSpPr>
          <p:cNvPr id="3" name="Notes Placeholder 2"/>
          <p:cNvSpPr>
            <a:spLocks noGrp="1"/>
          </p:cNvSpPr>
          <p:nvPr>
            <p:ph type="body" idx="1"/>
          </p:nvPr>
        </p:nvSpPr>
        <p:spPr/>
        <p:txBody>
          <a:bodyPr>
            <a:normAutofit/>
          </a:bodyPr>
          <a:lstStyle/>
          <a:p>
            <a:r>
              <a:rPr lang="en-US" dirty="0"/>
              <a:t>There are two separate scenarios to evaluate the performance of the proposed mechanism (1) normal scenario and (2) attack scenario</a:t>
            </a:r>
          </a:p>
          <a:p>
            <a:endParaRPr lang="en-US" dirty="0"/>
          </a:p>
          <a:p>
            <a:r>
              <a:rPr lang="en-US" dirty="0"/>
              <a:t>The figure shows attack scenario, the normal scenario does not have attacker in the network. </a:t>
            </a:r>
          </a:p>
          <a:p>
            <a:endParaRPr lang="en-US" dirty="0"/>
          </a:p>
          <a:p>
            <a:r>
              <a:rPr lang="en-US" dirty="0"/>
              <a:t>The development of the testbed satisfies our fourth research objective. </a:t>
            </a:r>
          </a:p>
        </p:txBody>
      </p:sp>
      <p:sp>
        <p:nvSpPr>
          <p:cNvPr id="4" name="Slide Number Placeholder 3"/>
          <p:cNvSpPr>
            <a:spLocks noGrp="1"/>
          </p:cNvSpPr>
          <p:nvPr>
            <p:ph type="sldNum" sz="quarter" idx="10"/>
          </p:nvPr>
        </p:nvSpPr>
        <p:spPr/>
        <p:txBody>
          <a:bodyPr/>
          <a:lstStyle/>
          <a:p>
            <a:fld id="{89C0A295-EDEF-4AFA-9CDA-A6B0418A7CB8}" type="slidenum">
              <a:rPr lang="en-US" smtClean="0"/>
              <a:pPr/>
              <a:t>13</a:t>
            </a:fld>
            <a:endParaRPr lang="en-US"/>
          </a:p>
        </p:txBody>
      </p:sp>
      <p:sp>
        <p:nvSpPr>
          <p:cNvPr id="5" name="Footer Placeholder 4"/>
          <p:cNvSpPr>
            <a:spLocks noGrp="1"/>
          </p:cNvSpPr>
          <p:nvPr>
            <p:ph type="ftr" sz="quarter" idx="11"/>
          </p:nvPr>
        </p:nvSpPr>
        <p:spPr/>
        <p:txBody>
          <a:bodyPr/>
          <a:lstStyle/>
          <a:p>
            <a:r>
              <a:rPr lang="en-US"/>
              <a:t>10</a:t>
            </a:r>
          </a:p>
        </p:txBody>
      </p:sp>
    </p:spTree>
    <p:extLst>
      <p:ext uri="{BB962C8B-B14F-4D97-AF65-F5344CB8AC3E}">
        <p14:creationId xmlns:p14="http://schemas.microsoft.com/office/powerpoint/2010/main" val="2419542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03463" y="528638"/>
            <a:ext cx="4702175" cy="2644775"/>
          </a:xfrm>
        </p:spPr>
      </p:sp>
      <p:sp>
        <p:nvSpPr>
          <p:cNvPr id="3" name="Notes Placeholder 2"/>
          <p:cNvSpPr>
            <a:spLocks noGrp="1"/>
          </p:cNvSpPr>
          <p:nvPr>
            <p:ph type="body" idx="1"/>
          </p:nvPr>
        </p:nvSpPr>
        <p:spPr/>
        <p:txBody>
          <a:bodyPr>
            <a:normAutofit/>
          </a:bodyPr>
          <a:lstStyle/>
          <a:p>
            <a:r>
              <a:rPr lang="en-US" b="1" dirty="0"/>
              <a:t>Normal Scenario</a:t>
            </a:r>
          </a:p>
          <a:p>
            <a:r>
              <a:rPr lang="en-US" dirty="0"/>
              <a:t>1. Processing Time SHA1, SHA256, SHA512, SHA3-256, SHA3-512</a:t>
            </a:r>
          </a:p>
          <a:p>
            <a:r>
              <a:rPr lang="en-US" dirty="0"/>
              <a:t>2. Processing Time (Standard SECS/GEM vs. SECS/GEMsec vs. Secured SECS/GEM)</a:t>
            </a:r>
          </a:p>
          <a:p>
            <a:r>
              <a:rPr lang="en-US" dirty="0"/>
              <a:t>3. Total Processing Time (Graph explaining)</a:t>
            </a:r>
          </a:p>
          <a:p>
            <a:endParaRPr lang="en-US" dirty="0"/>
          </a:p>
          <a:p>
            <a:r>
              <a:rPr lang="en-US" b="1" dirty="0"/>
              <a:t>Attack Scenario</a:t>
            </a:r>
          </a:p>
          <a:p>
            <a:pPr marL="228600" indent="-228600">
              <a:buAutoNum type="arabicPeriod"/>
            </a:pPr>
            <a:r>
              <a:rPr lang="en-US" dirty="0"/>
              <a:t>DoS Attack</a:t>
            </a:r>
          </a:p>
          <a:p>
            <a:pPr marL="228600" indent="-228600">
              <a:buAutoNum type="arabicPeriod"/>
            </a:pPr>
            <a:r>
              <a:rPr lang="en-US" dirty="0"/>
              <a:t>FDIA Attack</a:t>
            </a:r>
          </a:p>
          <a:p>
            <a:pPr marL="228600" indent="-228600">
              <a:buAutoNum type="arabicPeriod"/>
            </a:pPr>
            <a:r>
              <a:rPr lang="en-US" dirty="0"/>
              <a:t>Replay Attack</a:t>
            </a:r>
          </a:p>
        </p:txBody>
      </p:sp>
      <p:sp>
        <p:nvSpPr>
          <p:cNvPr id="4" name="Slide Number Placeholder 3"/>
          <p:cNvSpPr>
            <a:spLocks noGrp="1"/>
          </p:cNvSpPr>
          <p:nvPr>
            <p:ph type="sldNum" sz="quarter" idx="10"/>
          </p:nvPr>
        </p:nvSpPr>
        <p:spPr/>
        <p:txBody>
          <a:bodyPr/>
          <a:lstStyle/>
          <a:p>
            <a:fld id="{89C0A295-EDEF-4AFA-9CDA-A6B0418A7CB8}" type="slidenum">
              <a:rPr lang="en-US" smtClean="0"/>
              <a:pPr/>
              <a:t>14</a:t>
            </a:fld>
            <a:endParaRPr lang="en-US"/>
          </a:p>
        </p:txBody>
      </p:sp>
      <p:sp>
        <p:nvSpPr>
          <p:cNvPr id="5" name="Footer Placeholder 4"/>
          <p:cNvSpPr>
            <a:spLocks noGrp="1"/>
          </p:cNvSpPr>
          <p:nvPr>
            <p:ph type="ftr" sz="quarter" idx="11"/>
          </p:nvPr>
        </p:nvSpPr>
        <p:spPr/>
        <p:txBody>
          <a:bodyPr/>
          <a:lstStyle/>
          <a:p>
            <a:r>
              <a:rPr lang="en-US"/>
              <a:t>10</a:t>
            </a:r>
          </a:p>
        </p:txBody>
      </p:sp>
    </p:spTree>
    <p:extLst>
      <p:ext uri="{BB962C8B-B14F-4D97-AF65-F5344CB8AC3E}">
        <p14:creationId xmlns:p14="http://schemas.microsoft.com/office/powerpoint/2010/main" val="39618293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03463" y="528638"/>
            <a:ext cx="4702175" cy="2644775"/>
          </a:xfrm>
        </p:spPr>
      </p:sp>
      <p:sp>
        <p:nvSpPr>
          <p:cNvPr id="3" name="Notes Placeholder 2"/>
          <p:cNvSpPr>
            <a:spLocks noGrp="1"/>
          </p:cNvSpPr>
          <p:nvPr>
            <p:ph type="body" idx="1"/>
          </p:nvPr>
        </p:nvSpPr>
        <p:spPr/>
        <p:txBody>
          <a:bodyPr>
            <a:normAutofit/>
          </a:bodyPr>
          <a:lstStyle/>
          <a:p>
            <a:r>
              <a:rPr lang="en-US" dirty="0"/>
              <a:t>The performance of the proposed mechanism is evaluated in terms of processing time. The processing time is measured at both sender and receiver. </a:t>
            </a:r>
          </a:p>
          <a:p>
            <a:endParaRPr lang="en-US" dirty="0"/>
          </a:p>
          <a:p>
            <a:r>
              <a:rPr lang="en-US" dirty="0"/>
              <a:t>As our proposed mechanism is versatile and supports selecting several HMAC algorithm, the processing time of different HMAC algorithms are shown in the graph.</a:t>
            </a:r>
          </a:p>
          <a:p>
            <a:endParaRPr lang="en-US" dirty="0"/>
          </a:p>
          <a:p>
            <a:r>
              <a:rPr lang="en-US" dirty="0"/>
              <a:t>The X-Axis shows the number of times experiments repeated, and Y-Axis shows time in milliseconds. </a:t>
            </a:r>
          </a:p>
          <a:p>
            <a:endParaRPr lang="en-US" dirty="0"/>
          </a:p>
          <a:p>
            <a:r>
              <a:rPr lang="en-US" dirty="0"/>
              <a:t>1. It can be observed that the performance at sender with all HMAC variants is lower than 0.7 milliseconds</a:t>
            </a:r>
          </a:p>
          <a:p>
            <a:endParaRPr lang="en-US" dirty="0"/>
          </a:p>
          <a:p>
            <a:r>
              <a:rPr lang="en-US" dirty="0"/>
              <a:t>2. The performance is even better at receiver (i.e., 0.3 m/s) because the receiver is only extracting Hash value and performing some checks. </a:t>
            </a:r>
          </a:p>
        </p:txBody>
      </p:sp>
      <p:sp>
        <p:nvSpPr>
          <p:cNvPr id="4" name="Slide Number Placeholder 3"/>
          <p:cNvSpPr>
            <a:spLocks noGrp="1"/>
          </p:cNvSpPr>
          <p:nvPr>
            <p:ph type="sldNum" sz="quarter" idx="10"/>
          </p:nvPr>
        </p:nvSpPr>
        <p:spPr/>
        <p:txBody>
          <a:bodyPr/>
          <a:lstStyle/>
          <a:p>
            <a:fld id="{89C0A295-EDEF-4AFA-9CDA-A6B0418A7CB8}" type="slidenum">
              <a:rPr lang="en-US" smtClean="0"/>
              <a:pPr/>
              <a:t>15</a:t>
            </a:fld>
            <a:endParaRPr lang="en-US"/>
          </a:p>
        </p:txBody>
      </p:sp>
      <p:sp>
        <p:nvSpPr>
          <p:cNvPr id="5" name="Footer Placeholder 4"/>
          <p:cNvSpPr>
            <a:spLocks noGrp="1"/>
          </p:cNvSpPr>
          <p:nvPr>
            <p:ph type="ftr" sz="quarter" idx="11"/>
          </p:nvPr>
        </p:nvSpPr>
        <p:spPr/>
        <p:txBody>
          <a:bodyPr/>
          <a:lstStyle/>
          <a:p>
            <a:r>
              <a:rPr lang="en-US"/>
              <a:t>10</a:t>
            </a:r>
          </a:p>
        </p:txBody>
      </p:sp>
    </p:spTree>
    <p:extLst>
      <p:ext uri="{BB962C8B-B14F-4D97-AF65-F5344CB8AC3E}">
        <p14:creationId xmlns:p14="http://schemas.microsoft.com/office/powerpoint/2010/main" val="31514255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03463" y="528638"/>
            <a:ext cx="4702175" cy="2644775"/>
          </a:xfrm>
        </p:spPr>
      </p:sp>
      <p:sp>
        <p:nvSpPr>
          <p:cNvPr id="3" name="Notes Placeholder 2"/>
          <p:cNvSpPr>
            <a:spLocks noGrp="1"/>
          </p:cNvSpPr>
          <p:nvPr>
            <p:ph type="body" idx="1"/>
          </p:nvPr>
        </p:nvSpPr>
        <p:spPr/>
        <p:txBody>
          <a:bodyPr>
            <a:normAutofit/>
          </a:bodyPr>
          <a:lstStyle/>
          <a:p>
            <a:r>
              <a:rPr lang="en-US" dirty="0"/>
              <a:t>As Secured SECS/GEM is using AES with 256-bit key size, we have also used same key size to compare performance with other mechanisms. </a:t>
            </a:r>
          </a:p>
          <a:p>
            <a:endParaRPr lang="en-US" dirty="0"/>
          </a:p>
          <a:p>
            <a:pPr marL="228600" indent="-228600">
              <a:buAutoNum type="arabicPeriod"/>
            </a:pPr>
            <a:r>
              <a:rPr lang="en-US" dirty="0"/>
              <a:t>The processing time of SGSM is better than both SECS/GEMsec and Secured SECS/GEM. SHA256 has a little higher processing time than the standard SECS/GEM, which is considered impressive. </a:t>
            </a:r>
          </a:p>
          <a:p>
            <a:pPr marL="0" indent="0">
              <a:buNone/>
            </a:pPr>
            <a:r>
              <a:rPr lang="en-US" dirty="0"/>
              <a:t>The SECS/GEMsec is worst performer, it exhibited highest processing time. The reason for having highest processing time is because it is digital signature-based mechanism. </a:t>
            </a:r>
          </a:p>
          <a:p>
            <a:endParaRPr lang="en-US" dirty="0"/>
          </a:p>
          <a:p>
            <a:r>
              <a:rPr lang="en-US" dirty="0"/>
              <a:t>2. Processing time at receiver is shown in another graph, SGSM has yet again proved that it is superior to other mechanisms in terms of processing time. </a:t>
            </a:r>
          </a:p>
          <a:p>
            <a:endParaRPr lang="en-US" dirty="0"/>
          </a:p>
        </p:txBody>
      </p:sp>
      <p:sp>
        <p:nvSpPr>
          <p:cNvPr id="4" name="Slide Number Placeholder 3"/>
          <p:cNvSpPr>
            <a:spLocks noGrp="1"/>
          </p:cNvSpPr>
          <p:nvPr>
            <p:ph type="sldNum" sz="quarter" idx="10"/>
          </p:nvPr>
        </p:nvSpPr>
        <p:spPr/>
        <p:txBody>
          <a:bodyPr/>
          <a:lstStyle/>
          <a:p>
            <a:fld id="{89C0A295-EDEF-4AFA-9CDA-A6B0418A7CB8}" type="slidenum">
              <a:rPr lang="en-US" smtClean="0"/>
              <a:pPr/>
              <a:t>16</a:t>
            </a:fld>
            <a:endParaRPr lang="en-US"/>
          </a:p>
        </p:txBody>
      </p:sp>
      <p:sp>
        <p:nvSpPr>
          <p:cNvPr id="5" name="Footer Placeholder 4"/>
          <p:cNvSpPr>
            <a:spLocks noGrp="1"/>
          </p:cNvSpPr>
          <p:nvPr>
            <p:ph type="ftr" sz="quarter" idx="11"/>
          </p:nvPr>
        </p:nvSpPr>
        <p:spPr/>
        <p:txBody>
          <a:bodyPr/>
          <a:lstStyle/>
          <a:p>
            <a:r>
              <a:rPr lang="en-US"/>
              <a:t>10</a:t>
            </a:r>
          </a:p>
        </p:txBody>
      </p:sp>
    </p:spTree>
    <p:extLst>
      <p:ext uri="{BB962C8B-B14F-4D97-AF65-F5344CB8AC3E}">
        <p14:creationId xmlns:p14="http://schemas.microsoft.com/office/powerpoint/2010/main" val="14000505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03463" y="528638"/>
            <a:ext cx="4702175" cy="2644775"/>
          </a:xfrm>
        </p:spPr>
      </p:sp>
      <p:sp>
        <p:nvSpPr>
          <p:cNvPr id="3" name="Notes Placeholder 2"/>
          <p:cNvSpPr>
            <a:spLocks noGrp="1"/>
          </p:cNvSpPr>
          <p:nvPr>
            <p:ph type="body" idx="1"/>
          </p:nvPr>
        </p:nvSpPr>
        <p:spPr/>
        <p:txBody>
          <a:bodyPr>
            <a:normAutofit/>
          </a:bodyPr>
          <a:lstStyle/>
          <a:p>
            <a:r>
              <a:rPr lang="en-US" dirty="0"/>
              <a:t>This graph shows that for both sending and receiving messages, our proposed SGSM mechanism outperformed both mechanisms in terms of processing time.</a:t>
            </a:r>
          </a:p>
          <a:p>
            <a:endParaRPr lang="en-US" dirty="0"/>
          </a:p>
          <a:p>
            <a:r>
              <a:rPr lang="en-US" sz="1800" dirty="0">
                <a:solidFill>
                  <a:srgbClr val="000000"/>
                </a:solidFill>
                <a:effectLst/>
                <a:latin typeface="Times New Roman" panose="02020603050405020304" pitchFamily="18" charset="0"/>
                <a:ea typeface="SimSun" panose="02010600030101010101" pitchFamily="2" charset="-122"/>
              </a:rPr>
              <a:t>The SGSM exhibited promising results, as compared with the Secured SECS/GEM mechanism, our proposed SGSM reduced processing time by 18% and 38% for sending and receiving messages, respectively. Similarly, Compared to the SECS/GEMsec, the SGSM reduced processing time by 97% and 99% for sending and receiving messages, respectively. </a:t>
            </a:r>
            <a:endParaRPr lang="en-US" dirty="0"/>
          </a:p>
        </p:txBody>
      </p:sp>
      <p:sp>
        <p:nvSpPr>
          <p:cNvPr id="4" name="Slide Number Placeholder 3"/>
          <p:cNvSpPr>
            <a:spLocks noGrp="1"/>
          </p:cNvSpPr>
          <p:nvPr>
            <p:ph type="sldNum" sz="quarter" idx="10"/>
          </p:nvPr>
        </p:nvSpPr>
        <p:spPr/>
        <p:txBody>
          <a:bodyPr/>
          <a:lstStyle/>
          <a:p>
            <a:fld id="{89C0A295-EDEF-4AFA-9CDA-A6B0418A7CB8}" type="slidenum">
              <a:rPr lang="en-US" smtClean="0"/>
              <a:pPr/>
              <a:t>17</a:t>
            </a:fld>
            <a:endParaRPr lang="en-US"/>
          </a:p>
        </p:txBody>
      </p:sp>
      <p:sp>
        <p:nvSpPr>
          <p:cNvPr id="5" name="Footer Placeholder 4"/>
          <p:cNvSpPr>
            <a:spLocks noGrp="1"/>
          </p:cNvSpPr>
          <p:nvPr>
            <p:ph type="ftr" sz="quarter" idx="11"/>
          </p:nvPr>
        </p:nvSpPr>
        <p:spPr/>
        <p:txBody>
          <a:bodyPr/>
          <a:lstStyle/>
          <a:p>
            <a:r>
              <a:rPr lang="en-US"/>
              <a:t>10</a:t>
            </a:r>
          </a:p>
        </p:txBody>
      </p:sp>
    </p:spTree>
    <p:extLst>
      <p:ext uri="{BB962C8B-B14F-4D97-AF65-F5344CB8AC3E}">
        <p14:creationId xmlns:p14="http://schemas.microsoft.com/office/powerpoint/2010/main" val="39874397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03463" y="528638"/>
            <a:ext cx="4702175" cy="2644775"/>
          </a:xfrm>
        </p:spPr>
      </p:sp>
      <p:sp>
        <p:nvSpPr>
          <p:cNvPr id="3" name="Notes Placeholder 2"/>
          <p:cNvSpPr>
            <a:spLocks noGrp="1"/>
          </p:cNvSpPr>
          <p:nvPr>
            <p:ph type="body" idx="1"/>
          </p:nvPr>
        </p:nvSpPr>
        <p:spPr/>
        <p:txBody>
          <a:bodyPr>
            <a:normAutofit/>
          </a:bodyPr>
          <a:lstStyle/>
          <a:p>
            <a:r>
              <a:rPr lang="en-US" dirty="0"/>
              <a:t>1. The performance of the proposed mechanism is also measured in terms of Control Overhead. The extra bytes attached with each message is considered as control overhead. As SGSM attaches ACB with each message, the impact of extra bytes is shown in this table. </a:t>
            </a:r>
          </a:p>
          <a:p>
            <a:endParaRPr lang="en-US" dirty="0"/>
          </a:p>
          <a:p>
            <a:r>
              <a:rPr lang="en-US" dirty="0"/>
              <a:t>2. It is important to observe that as message size increases, the significance of control overhead decreases. With a message of 1000 bytes, the impact of control overhead is almost negligible. </a:t>
            </a:r>
          </a:p>
          <a:p>
            <a:endParaRPr lang="en-US" dirty="0"/>
          </a:p>
          <a:p>
            <a:r>
              <a:rPr lang="en-US" dirty="0"/>
              <a:t>3. The Control overhead of SECS/GEMsec and Secured SECS/GEM is shown in the final table. </a:t>
            </a:r>
          </a:p>
          <a:p>
            <a:endParaRPr lang="en-US" dirty="0"/>
          </a:p>
          <a:p>
            <a:r>
              <a:rPr lang="en-US" dirty="0"/>
              <a:t>It can be seen that the control overhead of SECS/GEMsec is higher with same level of security, because it uses 4096-bit key size which provides same results as 256-bit with HMAC algorithms</a:t>
            </a:r>
          </a:p>
          <a:p>
            <a:endParaRPr lang="en-US" dirty="0"/>
          </a:p>
          <a:p>
            <a:endParaRPr lang="en-US" dirty="0"/>
          </a:p>
        </p:txBody>
      </p:sp>
      <p:sp>
        <p:nvSpPr>
          <p:cNvPr id="4" name="Slide Number Placeholder 3"/>
          <p:cNvSpPr>
            <a:spLocks noGrp="1"/>
          </p:cNvSpPr>
          <p:nvPr>
            <p:ph type="sldNum" sz="quarter" idx="10"/>
          </p:nvPr>
        </p:nvSpPr>
        <p:spPr/>
        <p:txBody>
          <a:bodyPr/>
          <a:lstStyle/>
          <a:p>
            <a:fld id="{89C0A295-EDEF-4AFA-9CDA-A6B0418A7CB8}" type="slidenum">
              <a:rPr lang="en-US" smtClean="0"/>
              <a:pPr/>
              <a:t>18</a:t>
            </a:fld>
            <a:endParaRPr lang="en-US"/>
          </a:p>
        </p:txBody>
      </p:sp>
      <p:sp>
        <p:nvSpPr>
          <p:cNvPr id="5" name="Footer Placeholder 4"/>
          <p:cNvSpPr>
            <a:spLocks noGrp="1"/>
          </p:cNvSpPr>
          <p:nvPr>
            <p:ph type="ftr" sz="quarter" idx="11"/>
          </p:nvPr>
        </p:nvSpPr>
        <p:spPr/>
        <p:txBody>
          <a:bodyPr/>
          <a:lstStyle/>
          <a:p>
            <a:r>
              <a:rPr lang="en-US"/>
              <a:t>10</a:t>
            </a:r>
          </a:p>
        </p:txBody>
      </p:sp>
    </p:spTree>
    <p:extLst>
      <p:ext uri="{BB962C8B-B14F-4D97-AF65-F5344CB8AC3E}">
        <p14:creationId xmlns:p14="http://schemas.microsoft.com/office/powerpoint/2010/main" val="25616610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03463" y="528638"/>
            <a:ext cx="4702175" cy="2644775"/>
          </a:xfrm>
        </p:spPr>
      </p:sp>
      <p:sp>
        <p:nvSpPr>
          <p:cNvPr id="3" name="Notes Placeholder 2"/>
          <p:cNvSpPr>
            <a:spLocks noGrp="1"/>
          </p:cNvSpPr>
          <p:nvPr>
            <p:ph type="body" idx="1"/>
          </p:nvPr>
        </p:nvSpPr>
        <p:spPr/>
        <p:txBody>
          <a:bodyPr>
            <a:normAutofit fontScale="92500" lnSpcReduction="10000"/>
          </a:bodyPr>
          <a:lstStyle/>
          <a:p>
            <a:r>
              <a:rPr lang="en-US" dirty="0"/>
              <a:t>The final parameter on which performance is measured is Prevention against cyber-attacks. </a:t>
            </a:r>
          </a:p>
          <a:p>
            <a:endParaRPr lang="en-US" dirty="0"/>
          </a:p>
          <a:p>
            <a:r>
              <a:rPr lang="en-US" dirty="0"/>
              <a:t>The experiments were repeated 20 times for each attacks and performance was measured. </a:t>
            </a:r>
            <a:r>
              <a:rPr lang="en-US" dirty="0" err="1"/>
              <a:t>APSR</a:t>
            </a:r>
            <a:r>
              <a:rPr lang="en-US" dirty="0"/>
              <a:t> refers to Attack Prevention Success Rate, N refers to Number of times attacks attempted, F refers to Number of times attacks failed. </a:t>
            </a:r>
          </a:p>
          <a:p>
            <a:endParaRPr lang="en-US" dirty="0"/>
          </a:p>
          <a:p>
            <a:r>
              <a:rPr lang="en-US" dirty="0"/>
              <a:t>1. Under DoS attack, It can be seen that SGSM and SECS/GEMsec successfully detected and mitigated attacks, however, SECS/GEMsec has higher processing time thus its applications are limited</a:t>
            </a:r>
          </a:p>
          <a:p>
            <a:endParaRPr lang="en-US" dirty="0"/>
          </a:p>
          <a:p>
            <a:r>
              <a:rPr lang="en-US" dirty="0"/>
              <a:t>2-3. The performance with Replay and FDIA attacks is same, and SGSM successfully detected and mitigated attacks carried on SECS/GEM communications. </a:t>
            </a:r>
          </a:p>
          <a:p>
            <a:endParaRPr lang="en-US" dirty="0"/>
          </a:p>
          <a:p>
            <a:r>
              <a:rPr lang="en-US" dirty="0"/>
              <a:t>Although, SECS/GEMsec also prevented attacks, however its processing time is very high, which makes it applications limited at commercial level. </a:t>
            </a:r>
          </a:p>
          <a:p>
            <a:endParaRPr lang="en-US" dirty="0"/>
          </a:p>
          <a:p>
            <a:r>
              <a:rPr lang="en-US" dirty="0"/>
              <a:t>Secured SECS/GEM Failed to prevent attacks, because it only encrypts data messages, whereas most of the attacks are carried out using control messages</a:t>
            </a:r>
          </a:p>
          <a:p>
            <a:endParaRPr lang="en-US" dirty="0"/>
          </a:p>
          <a:p>
            <a:r>
              <a:rPr lang="en-US" dirty="0"/>
              <a:t>Here, we can safely say that the proposed SGSM mechanism outperformed other mechanisms in all aspects and is suitable for commercial use. </a:t>
            </a:r>
          </a:p>
          <a:p>
            <a:endParaRPr lang="en-US" dirty="0"/>
          </a:p>
          <a:p>
            <a:endParaRPr lang="en-US" dirty="0"/>
          </a:p>
        </p:txBody>
      </p:sp>
      <p:sp>
        <p:nvSpPr>
          <p:cNvPr id="4" name="Slide Number Placeholder 3"/>
          <p:cNvSpPr>
            <a:spLocks noGrp="1"/>
          </p:cNvSpPr>
          <p:nvPr>
            <p:ph type="sldNum" sz="quarter" idx="10"/>
          </p:nvPr>
        </p:nvSpPr>
        <p:spPr/>
        <p:txBody>
          <a:bodyPr/>
          <a:lstStyle/>
          <a:p>
            <a:fld id="{89C0A295-EDEF-4AFA-9CDA-A6B0418A7CB8}" type="slidenum">
              <a:rPr lang="en-US" smtClean="0"/>
              <a:pPr/>
              <a:t>19</a:t>
            </a:fld>
            <a:endParaRPr lang="en-US"/>
          </a:p>
        </p:txBody>
      </p:sp>
      <p:sp>
        <p:nvSpPr>
          <p:cNvPr id="5" name="Footer Placeholder 4"/>
          <p:cNvSpPr>
            <a:spLocks noGrp="1"/>
          </p:cNvSpPr>
          <p:nvPr>
            <p:ph type="ftr" sz="quarter" idx="11"/>
          </p:nvPr>
        </p:nvSpPr>
        <p:spPr/>
        <p:txBody>
          <a:bodyPr/>
          <a:lstStyle/>
          <a:p>
            <a:r>
              <a:rPr lang="en-US"/>
              <a:t>10</a:t>
            </a:r>
          </a:p>
        </p:txBody>
      </p:sp>
    </p:spTree>
    <p:extLst>
      <p:ext uri="{BB962C8B-B14F-4D97-AF65-F5344CB8AC3E}">
        <p14:creationId xmlns:p14="http://schemas.microsoft.com/office/powerpoint/2010/main" val="39789931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03463" y="528638"/>
            <a:ext cx="4702175" cy="2644775"/>
          </a:xfrm>
        </p:spPr>
      </p:sp>
      <p:sp>
        <p:nvSpPr>
          <p:cNvPr id="3" name="Notes Placeholder 2"/>
          <p:cNvSpPr>
            <a:spLocks noGrp="1"/>
          </p:cNvSpPr>
          <p:nvPr>
            <p:ph type="body" idx="1"/>
          </p:nvPr>
        </p:nvSpPr>
        <p:spPr/>
        <p:txBody>
          <a:bodyPr>
            <a:normAutofit/>
          </a:bodyPr>
          <a:lstStyle/>
          <a:p>
            <a:endParaRPr lang="en-US" dirty="0"/>
          </a:p>
          <a:p>
            <a:endParaRPr lang="en-US" dirty="0"/>
          </a:p>
          <a:p>
            <a:r>
              <a:rPr lang="en-US" dirty="0"/>
              <a:t>The Table summarizes the features supported by different mechanisms. It can be seen that SGSM stands strong on all accounts and outperforms other mechanisms with margin. </a:t>
            </a:r>
          </a:p>
          <a:p>
            <a:endParaRPr lang="en-US" dirty="0"/>
          </a:p>
          <a:p>
            <a:pPr marL="457200" indent="-457200" algn="just">
              <a:lnSpc>
                <a:spcPct val="100000"/>
              </a:lnSpc>
              <a:buFont typeface="+mj-lt"/>
              <a:buAutoNum type="arabicPeriod"/>
            </a:pPr>
            <a:r>
              <a:rPr lang="en-US" sz="1200" dirty="0">
                <a:solidFill>
                  <a:schemeClr val="tx2">
                    <a:lumMod val="50000"/>
                  </a:schemeClr>
                </a:solidFill>
              </a:rPr>
              <a:t>SGSM secures SECS/GEM communications</a:t>
            </a:r>
          </a:p>
          <a:p>
            <a:pPr marL="457200" indent="-457200" algn="just">
              <a:lnSpc>
                <a:spcPct val="100000"/>
              </a:lnSpc>
              <a:buFont typeface="+mj-lt"/>
              <a:buAutoNum type="arabicPeriod"/>
            </a:pPr>
            <a:r>
              <a:rPr lang="en-US" sz="1200" dirty="0">
                <a:solidFill>
                  <a:schemeClr val="tx2">
                    <a:lumMod val="50000"/>
                  </a:schemeClr>
                </a:solidFill>
              </a:rPr>
              <a:t>SGSM is multi-featured and versatile mechanism</a:t>
            </a:r>
          </a:p>
          <a:p>
            <a:pPr marL="457200" indent="-457200" algn="just">
              <a:lnSpc>
                <a:spcPct val="100000"/>
              </a:lnSpc>
              <a:buFont typeface="+mj-lt"/>
              <a:buAutoNum type="arabicPeriod"/>
            </a:pPr>
            <a:r>
              <a:rPr lang="en-US" sz="1200" dirty="0">
                <a:solidFill>
                  <a:schemeClr val="tx2">
                    <a:lumMod val="50000"/>
                  </a:schemeClr>
                </a:solidFill>
              </a:rPr>
              <a:t>SGSM attains customizability</a:t>
            </a:r>
          </a:p>
          <a:p>
            <a:pPr marL="457200" indent="-457200" algn="just">
              <a:lnSpc>
                <a:spcPct val="100000"/>
              </a:lnSpc>
              <a:buFont typeface="+mj-lt"/>
              <a:buAutoNum type="arabicPeriod"/>
            </a:pPr>
            <a:r>
              <a:rPr lang="en-US" sz="1200" dirty="0">
                <a:solidFill>
                  <a:schemeClr val="tx2">
                    <a:lumMod val="50000"/>
                  </a:schemeClr>
                </a:solidFill>
              </a:rPr>
              <a:t>SGSM offers authentication and attains integrity</a:t>
            </a:r>
          </a:p>
          <a:p>
            <a:pPr marL="457200" indent="-457200" algn="just">
              <a:lnSpc>
                <a:spcPct val="100000"/>
              </a:lnSpc>
              <a:buFont typeface="+mj-lt"/>
              <a:buAutoNum type="arabicPeriod"/>
            </a:pPr>
            <a:r>
              <a:rPr lang="en-US" sz="1200" dirty="0">
                <a:solidFill>
                  <a:schemeClr val="tx2">
                    <a:lumMod val="50000"/>
                  </a:schemeClr>
                </a:solidFill>
              </a:rPr>
              <a:t>SGSM is Lightweight</a:t>
            </a:r>
          </a:p>
          <a:p>
            <a:pPr marL="457200" indent="-457200" algn="just">
              <a:lnSpc>
                <a:spcPct val="100000"/>
              </a:lnSpc>
              <a:buFont typeface="+mj-lt"/>
              <a:buAutoNum type="arabicPeriod"/>
            </a:pPr>
            <a:r>
              <a:rPr lang="en-US" sz="1200" dirty="0">
                <a:solidFill>
                  <a:schemeClr val="tx2">
                    <a:lumMod val="50000"/>
                  </a:schemeClr>
                </a:solidFill>
              </a:rPr>
              <a:t>SGSM detects and mitigates DoS attacks</a:t>
            </a:r>
          </a:p>
          <a:p>
            <a:pPr marL="457200" indent="-457200" algn="just">
              <a:lnSpc>
                <a:spcPct val="100000"/>
              </a:lnSpc>
              <a:buFont typeface="+mj-lt"/>
              <a:buAutoNum type="arabicPeriod"/>
            </a:pPr>
            <a:r>
              <a:rPr lang="en-US" sz="1200" dirty="0">
                <a:solidFill>
                  <a:schemeClr val="tx2">
                    <a:lumMod val="50000"/>
                  </a:schemeClr>
                </a:solidFill>
              </a:rPr>
              <a:t>SGSM detects and mitigates FDIA attacks</a:t>
            </a:r>
          </a:p>
          <a:p>
            <a:pPr marL="457200" indent="-457200" algn="just">
              <a:lnSpc>
                <a:spcPct val="100000"/>
              </a:lnSpc>
              <a:buFont typeface="+mj-lt"/>
              <a:buAutoNum type="arabicPeriod"/>
            </a:pPr>
            <a:r>
              <a:rPr lang="en-US" sz="1200" dirty="0">
                <a:solidFill>
                  <a:schemeClr val="tx2">
                    <a:lumMod val="50000"/>
                  </a:schemeClr>
                </a:solidFill>
              </a:rPr>
              <a:t>SGSM detects and mitigates Replay attacks</a:t>
            </a:r>
          </a:p>
          <a:p>
            <a:endParaRPr lang="en-US" dirty="0"/>
          </a:p>
        </p:txBody>
      </p:sp>
      <p:sp>
        <p:nvSpPr>
          <p:cNvPr id="4" name="Slide Number Placeholder 3"/>
          <p:cNvSpPr>
            <a:spLocks noGrp="1"/>
          </p:cNvSpPr>
          <p:nvPr>
            <p:ph type="sldNum" sz="quarter" idx="10"/>
          </p:nvPr>
        </p:nvSpPr>
        <p:spPr/>
        <p:txBody>
          <a:bodyPr/>
          <a:lstStyle/>
          <a:p>
            <a:fld id="{89C0A295-EDEF-4AFA-9CDA-A6B0418A7CB8}" type="slidenum">
              <a:rPr lang="en-US" smtClean="0"/>
              <a:pPr/>
              <a:t>20</a:t>
            </a:fld>
            <a:endParaRPr lang="en-US"/>
          </a:p>
        </p:txBody>
      </p:sp>
      <p:sp>
        <p:nvSpPr>
          <p:cNvPr id="5" name="Footer Placeholder 4"/>
          <p:cNvSpPr>
            <a:spLocks noGrp="1"/>
          </p:cNvSpPr>
          <p:nvPr>
            <p:ph type="ftr" sz="quarter" idx="11"/>
          </p:nvPr>
        </p:nvSpPr>
        <p:spPr/>
        <p:txBody>
          <a:bodyPr/>
          <a:lstStyle/>
          <a:p>
            <a:r>
              <a:rPr lang="en-US"/>
              <a:t>10</a:t>
            </a:r>
          </a:p>
        </p:txBody>
      </p:sp>
    </p:spTree>
    <p:extLst>
      <p:ext uri="{BB962C8B-B14F-4D97-AF65-F5344CB8AC3E}">
        <p14:creationId xmlns:p14="http://schemas.microsoft.com/office/powerpoint/2010/main" val="3992764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03463" y="528638"/>
            <a:ext cx="4702175" cy="2644775"/>
          </a:xfrm>
        </p:spPr>
      </p:sp>
      <p:sp>
        <p:nvSpPr>
          <p:cNvPr id="3" name="Notes Placeholder 2"/>
          <p:cNvSpPr>
            <a:spLocks noGrp="1"/>
          </p:cNvSpPr>
          <p:nvPr>
            <p:ph type="body" idx="1"/>
          </p:nvPr>
        </p:nvSpPr>
        <p:spPr/>
        <p:txBody>
          <a:bodyPr>
            <a:normAutofit/>
          </a:bodyPr>
          <a:lstStyle/>
          <a:p>
            <a:r>
              <a:rPr lang="en-US" dirty="0"/>
              <a:t>Finally, I would like to highlight our main contribution</a:t>
            </a:r>
          </a:p>
          <a:p>
            <a:endParaRPr lang="en-US" dirty="0"/>
          </a:p>
          <a:p>
            <a:pPr marL="457200" indent="-457200" algn="just">
              <a:lnSpc>
                <a:spcPct val="100000"/>
              </a:lnSpc>
              <a:buFont typeface="+mj-lt"/>
              <a:buAutoNum type="arabicPeriod"/>
            </a:pPr>
            <a:r>
              <a:rPr lang="en-US" sz="1200" dirty="0">
                <a:solidFill>
                  <a:schemeClr val="tx2">
                    <a:lumMod val="50000"/>
                  </a:schemeClr>
                </a:solidFill>
              </a:rPr>
              <a:t>Proof of Concept that SECS/GEM protocol is vulnerable to cyber-attacks</a:t>
            </a:r>
          </a:p>
          <a:p>
            <a:pPr marL="457200" indent="-457200" algn="just">
              <a:lnSpc>
                <a:spcPct val="100000"/>
              </a:lnSpc>
              <a:buFont typeface="+mj-lt"/>
              <a:buAutoNum type="arabicPeriod"/>
            </a:pPr>
            <a:r>
              <a:rPr lang="en-US" sz="1200" dirty="0">
                <a:solidFill>
                  <a:schemeClr val="tx2">
                    <a:lumMod val="50000"/>
                  </a:schemeClr>
                </a:solidFill>
              </a:rPr>
              <a:t>Testbed design for performance evaluation</a:t>
            </a:r>
          </a:p>
          <a:p>
            <a:pPr marL="457200" indent="-457200" algn="just">
              <a:lnSpc>
                <a:spcPct val="100000"/>
              </a:lnSpc>
              <a:buFont typeface="+mj-lt"/>
              <a:buAutoNum type="arabicPeriod"/>
            </a:pPr>
            <a:r>
              <a:rPr lang="en-US" sz="1200" dirty="0">
                <a:solidFill>
                  <a:schemeClr val="tx2">
                    <a:lumMod val="50000"/>
                  </a:schemeClr>
                </a:solidFill>
              </a:rPr>
              <a:t>SGSM is among the first attempts to secure SECS/GEM communications</a:t>
            </a:r>
          </a:p>
          <a:p>
            <a:pPr marL="457200" indent="-457200" algn="just">
              <a:lnSpc>
                <a:spcPct val="100000"/>
              </a:lnSpc>
              <a:buFont typeface="+mj-lt"/>
              <a:buAutoNum type="arabicPeriod"/>
            </a:pPr>
            <a:r>
              <a:rPr lang="en-US" sz="1200" dirty="0">
                <a:solidFill>
                  <a:schemeClr val="tx2">
                    <a:lumMod val="50000"/>
                  </a:schemeClr>
                </a:solidFill>
              </a:rPr>
              <a:t>SGSM is highly configurable and allows adaptations to the desired security level</a:t>
            </a:r>
          </a:p>
          <a:p>
            <a:pPr marL="457200" indent="-457200" algn="just">
              <a:lnSpc>
                <a:spcPct val="100000"/>
              </a:lnSpc>
              <a:buFont typeface="+mj-lt"/>
              <a:buAutoNum type="arabicPeriod"/>
            </a:pPr>
            <a:r>
              <a:rPr lang="en-US" sz="1200" dirty="0">
                <a:solidFill>
                  <a:schemeClr val="tx2">
                    <a:lumMod val="50000"/>
                  </a:schemeClr>
                </a:solidFill>
              </a:rPr>
              <a:t>SGSM attains authentication and integrity</a:t>
            </a:r>
          </a:p>
          <a:p>
            <a:pPr marL="457200" indent="-457200" algn="just">
              <a:lnSpc>
                <a:spcPct val="100000"/>
              </a:lnSpc>
              <a:buFont typeface="+mj-lt"/>
              <a:buAutoNum type="arabicPeriod"/>
            </a:pPr>
            <a:r>
              <a:rPr lang="en-US" sz="1200" dirty="0">
                <a:solidFill>
                  <a:schemeClr val="tx2">
                    <a:lumMod val="50000"/>
                  </a:schemeClr>
                </a:solidFill>
              </a:rPr>
              <a:t>SGSM detects and mitigates DoS, Replay, and FDIA attacks</a:t>
            </a:r>
          </a:p>
          <a:p>
            <a:endParaRPr lang="en-US" dirty="0"/>
          </a:p>
        </p:txBody>
      </p:sp>
      <p:sp>
        <p:nvSpPr>
          <p:cNvPr id="4" name="Slide Number Placeholder 3"/>
          <p:cNvSpPr>
            <a:spLocks noGrp="1"/>
          </p:cNvSpPr>
          <p:nvPr>
            <p:ph type="sldNum" sz="quarter" idx="10"/>
          </p:nvPr>
        </p:nvSpPr>
        <p:spPr/>
        <p:txBody>
          <a:bodyPr/>
          <a:lstStyle/>
          <a:p>
            <a:fld id="{89C0A295-EDEF-4AFA-9CDA-A6B0418A7CB8}" type="slidenum">
              <a:rPr lang="en-US" smtClean="0"/>
              <a:pPr/>
              <a:t>21</a:t>
            </a:fld>
            <a:endParaRPr lang="en-US"/>
          </a:p>
        </p:txBody>
      </p:sp>
      <p:sp>
        <p:nvSpPr>
          <p:cNvPr id="5" name="Footer Placeholder 4"/>
          <p:cNvSpPr>
            <a:spLocks noGrp="1"/>
          </p:cNvSpPr>
          <p:nvPr>
            <p:ph type="ftr" sz="quarter" idx="11"/>
          </p:nvPr>
        </p:nvSpPr>
        <p:spPr/>
        <p:txBody>
          <a:bodyPr/>
          <a:lstStyle/>
          <a:p>
            <a:r>
              <a:rPr lang="en-US"/>
              <a:t>10</a:t>
            </a:r>
          </a:p>
        </p:txBody>
      </p:sp>
    </p:spTree>
    <p:extLst>
      <p:ext uri="{BB962C8B-B14F-4D97-AF65-F5344CB8AC3E}">
        <p14:creationId xmlns:p14="http://schemas.microsoft.com/office/powerpoint/2010/main" val="34411050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03463" y="528638"/>
            <a:ext cx="4702175" cy="26447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9C0A295-EDEF-4AFA-9CDA-A6B0418A7CB8}" type="slidenum">
              <a:rPr lang="en-US" smtClean="0"/>
              <a:pPr/>
              <a:t>22</a:t>
            </a:fld>
            <a:endParaRPr lang="en-US"/>
          </a:p>
        </p:txBody>
      </p:sp>
      <p:sp>
        <p:nvSpPr>
          <p:cNvPr id="5" name="Footer Placeholder 4"/>
          <p:cNvSpPr>
            <a:spLocks noGrp="1"/>
          </p:cNvSpPr>
          <p:nvPr>
            <p:ph type="ftr" sz="quarter" idx="11"/>
          </p:nvPr>
        </p:nvSpPr>
        <p:spPr/>
        <p:txBody>
          <a:bodyPr/>
          <a:lstStyle/>
          <a:p>
            <a:r>
              <a:rPr lang="en-US"/>
              <a:t>10</a:t>
            </a:r>
          </a:p>
        </p:txBody>
      </p:sp>
    </p:spTree>
    <p:extLst>
      <p:ext uri="{BB962C8B-B14F-4D97-AF65-F5344CB8AC3E}">
        <p14:creationId xmlns:p14="http://schemas.microsoft.com/office/powerpoint/2010/main" val="36555576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03463" y="528638"/>
            <a:ext cx="4702175" cy="2644775"/>
          </a:xfrm>
        </p:spPr>
      </p:sp>
      <p:sp>
        <p:nvSpPr>
          <p:cNvPr id="3" name="Notes Placeholder 2"/>
          <p:cNvSpPr>
            <a:spLocks noGrp="1"/>
          </p:cNvSpPr>
          <p:nvPr>
            <p:ph type="body" idx="1"/>
          </p:nvPr>
        </p:nvSpPr>
        <p:spPr/>
        <p:txBody>
          <a:bodyPr>
            <a:normAutofit/>
          </a:bodyPr>
          <a:lstStyle/>
          <a:p>
            <a:r>
              <a:rPr lang="en-US" dirty="0"/>
              <a:t>How much is the minimum and maximum payload size of ACB with different algorithms? </a:t>
            </a:r>
          </a:p>
        </p:txBody>
      </p:sp>
      <p:sp>
        <p:nvSpPr>
          <p:cNvPr id="4" name="Slide Number Placeholder 3"/>
          <p:cNvSpPr>
            <a:spLocks noGrp="1"/>
          </p:cNvSpPr>
          <p:nvPr>
            <p:ph type="sldNum" sz="quarter" idx="10"/>
          </p:nvPr>
        </p:nvSpPr>
        <p:spPr/>
        <p:txBody>
          <a:bodyPr/>
          <a:lstStyle/>
          <a:p>
            <a:fld id="{89C0A295-EDEF-4AFA-9CDA-A6B0418A7CB8}" type="slidenum">
              <a:rPr lang="en-US" smtClean="0"/>
              <a:pPr/>
              <a:t>25</a:t>
            </a:fld>
            <a:endParaRPr lang="en-US"/>
          </a:p>
        </p:txBody>
      </p:sp>
      <p:sp>
        <p:nvSpPr>
          <p:cNvPr id="5" name="Footer Placeholder 4"/>
          <p:cNvSpPr>
            <a:spLocks noGrp="1"/>
          </p:cNvSpPr>
          <p:nvPr>
            <p:ph type="ftr" sz="quarter" idx="11"/>
          </p:nvPr>
        </p:nvSpPr>
        <p:spPr/>
        <p:txBody>
          <a:bodyPr/>
          <a:lstStyle/>
          <a:p>
            <a:r>
              <a:rPr lang="en-US"/>
              <a:t>10</a:t>
            </a:r>
          </a:p>
        </p:txBody>
      </p:sp>
    </p:spTree>
    <p:extLst>
      <p:ext uri="{BB962C8B-B14F-4D97-AF65-F5344CB8AC3E}">
        <p14:creationId xmlns:p14="http://schemas.microsoft.com/office/powerpoint/2010/main" val="19596507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03463" y="528638"/>
            <a:ext cx="4702175" cy="2644775"/>
          </a:xfrm>
        </p:spPr>
      </p:sp>
      <p:sp>
        <p:nvSpPr>
          <p:cNvPr id="3" name="Notes Placeholder 2"/>
          <p:cNvSpPr>
            <a:spLocks noGrp="1"/>
          </p:cNvSpPr>
          <p:nvPr>
            <p:ph type="body" idx="1"/>
          </p:nvPr>
        </p:nvSpPr>
        <p:spPr/>
        <p:txBody>
          <a:bodyPr>
            <a:normAutofit/>
          </a:bodyPr>
          <a:lstStyle/>
          <a:p>
            <a:r>
              <a:rPr lang="en-US" b="1" dirty="0"/>
              <a:t>Attack Types</a:t>
            </a:r>
          </a:p>
          <a:p>
            <a:r>
              <a:rPr lang="en-US" b="1" dirty="0"/>
              <a:t>------------------</a:t>
            </a:r>
          </a:p>
          <a:p>
            <a:r>
              <a:rPr lang="en-US" b="1" dirty="0"/>
              <a:t>1. FDIA: </a:t>
            </a:r>
            <a:r>
              <a:rPr lang="en-US" dirty="0"/>
              <a:t>A false injection attack is a deception attack, in which the adversary injects false information into the network; for example, by sending malicious commands on a field bus.</a:t>
            </a:r>
          </a:p>
          <a:p>
            <a:r>
              <a:rPr lang="en-US" dirty="0"/>
              <a:t>2. </a:t>
            </a:r>
            <a:r>
              <a:rPr lang="en-US" b="1" dirty="0"/>
              <a:t>Time-Delay: </a:t>
            </a:r>
            <a:r>
              <a:rPr lang="en-US" dirty="0"/>
              <a:t>An attacker injects extra time delays into measurements and control values of the systems which can disturb the stability of the system and cause equipment to crash.</a:t>
            </a:r>
          </a:p>
          <a:p>
            <a:r>
              <a:rPr lang="en-US" b="1" dirty="0"/>
              <a:t>3. Spoofing attack: </a:t>
            </a:r>
            <a:r>
              <a:rPr lang="en-US" dirty="0"/>
              <a:t>Spoofing attacks are where an attacker's node impersonates a system entity. A lack of adequate authentication control mechanisms means that entities can masquerade as one another by falsifying their identity to gain illegitimate access.</a:t>
            </a:r>
          </a:p>
          <a:p>
            <a:r>
              <a:rPr lang="en-US" b="1" dirty="0"/>
              <a:t>4. Replay attack: </a:t>
            </a:r>
            <a:r>
              <a:rPr lang="en-US" dirty="0"/>
              <a:t>In a replay attack, legitimate packets can be re-transmitted by an adversary. This can happen in several ways: an authentic but compromised node could send the data, e.g. an adversary who managed to intercept an authentication message.</a:t>
            </a:r>
          </a:p>
          <a:p>
            <a:r>
              <a:rPr lang="en-US" b="1" dirty="0"/>
              <a:t>5. Data tampering attack: </a:t>
            </a:r>
            <a:r>
              <a:rPr lang="en-US" dirty="0"/>
              <a:t>Data tampering attacks cause unauthorized alteration of data, which could be in storage or in transit. For example, the data held in data historians’ and engineers’ work- stations could be altered, or the network data packets could be changed causing, significant damage to the operation of the plant.</a:t>
            </a:r>
          </a:p>
          <a:p>
            <a:endParaRPr lang="en-US" dirty="0"/>
          </a:p>
          <a:p>
            <a:endParaRPr lang="en-US" dirty="0"/>
          </a:p>
        </p:txBody>
      </p:sp>
      <p:sp>
        <p:nvSpPr>
          <p:cNvPr id="4" name="Slide Number Placeholder 3"/>
          <p:cNvSpPr>
            <a:spLocks noGrp="1"/>
          </p:cNvSpPr>
          <p:nvPr>
            <p:ph type="sldNum" sz="quarter" idx="10"/>
          </p:nvPr>
        </p:nvSpPr>
        <p:spPr/>
        <p:txBody>
          <a:bodyPr/>
          <a:lstStyle/>
          <a:p>
            <a:fld id="{89C0A295-EDEF-4AFA-9CDA-A6B0418A7CB8}" type="slidenum">
              <a:rPr lang="en-US" smtClean="0"/>
              <a:pPr/>
              <a:t>26</a:t>
            </a:fld>
            <a:endParaRPr lang="en-US"/>
          </a:p>
        </p:txBody>
      </p:sp>
      <p:sp>
        <p:nvSpPr>
          <p:cNvPr id="5" name="Footer Placeholder 4"/>
          <p:cNvSpPr>
            <a:spLocks noGrp="1"/>
          </p:cNvSpPr>
          <p:nvPr>
            <p:ph type="ftr" sz="quarter" idx="11"/>
          </p:nvPr>
        </p:nvSpPr>
        <p:spPr/>
        <p:txBody>
          <a:bodyPr/>
          <a:lstStyle/>
          <a:p>
            <a:r>
              <a:rPr lang="en-US"/>
              <a:t>10</a:t>
            </a:r>
          </a:p>
        </p:txBody>
      </p:sp>
    </p:spTree>
    <p:extLst>
      <p:ext uri="{BB962C8B-B14F-4D97-AF65-F5344CB8AC3E}">
        <p14:creationId xmlns:p14="http://schemas.microsoft.com/office/powerpoint/2010/main" val="40130613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03463" y="528638"/>
            <a:ext cx="4702175" cy="26447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9C0A295-EDEF-4AFA-9CDA-A6B0418A7CB8}" type="slidenum">
              <a:rPr lang="en-US" smtClean="0"/>
              <a:pPr/>
              <a:t>27</a:t>
            </a:fld>
            <a:endParaRPr lang="en-US"/>
          </a:p>
        </p:txBody>
      </p:sp>
      <p:sp>
        <p:nvSpPr>
          <p:cNvPr id="5" name="Footer Placeholder 4"/>
          <p:cNvSpPr>
            <a:spLocks noGrp="1"/>
          </p:cNvSpPr>
          <p:nvPr>
            <p:ph type="ftr" sz="quarter" idx="11"/>
          </p:nvPr>
        </p:nvSpPr>
        <p:spPr/>
        <p:txBody>
          <a:bodyPr/>
          <a:lstStyle/>
          <a:p>
            <a:r>
              <a:rPr lang="en-US"/>
              <a:t>10</a:t>
            </a:r>
          </a:p>
        </p:txBody>
      </p:sp>
    </p:spTree>
    <p:extLst>
      <p:ext uri="{BB962C8B-B14F-4D97-AF65-F5344CB8AC3E}">
        <p14:creationId xmlns:p14="http://schemas.microsoft.com/office/powerpoint/2010/main" val="296289760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03463" y="528638"/>
            <a:ext cx="4702175" cy="2644775"/>
          </a:xfrm>
        </p:spPr>
      </p:sp>
      <p:sp>
        <p:nvSpPr>
          <p:cNvPr id="3" name="Notes Placeholder 2"/>
          <p:cNvSpPr>
            <a:spLocks noGrp="1"/>
          </p:cNvSpPr>
          <p:nvPr>
            <p:ph type="body" idx="1"/>
          </p:nvPr>
        </p:nvSpPr>
        <p:spPr/>
        <p:txBody>
          <a:bodyPr>
            <a:normAutofit/>
          </a:bodyPr>
          <a:lstStyle/>
          <a:p>
            <a:r>
              <a:rPr lang="en-US" b="1" dirty="0"/>
              <a:t>SECS </a:t>
            </a:r>
            <a:r>
              <a:rPr lang="en-US" dirty="0"/>
              <a:t> = </a:t>
            </a:r>
            <a:r>
              <a:rPr lang="en-US" b="0" i="0" dirty="0">
                <a:solidFill>
                  <a:srgbClr val="BDC1C6"/>
                </a:solidFill>
                <a:effectLst/>
                <a:latin typeface="arial" panose="020B0604020202020204" pitchFamily="34" charset="0"/>
              </a:rPr>
              <a:t>Semiconductor Equipment Communication Standard</a:t>
            </a:r>
          </a:p>
          <a:p>
            <a:r>
              <a:rPr lang="en-US" b="1" i="0" dirty="0">
                <a:solidFill>
                  <a:srgbClr val="BDC1C6"/>
                </a:solidFill>
                <a:effectLst/>
                <a:latin typeface="arial" panose="020B0604020202020204" pitchFamily="34" charset="0"/>
              </a:rPr>
              <a:t>GEM  = </a:t>
            </a:r>
            <a:r>
              <a:rPr lang="en-US" b="0" i="0" dirty="0">
                <a:solidFill>
                  <a:srgbClr val="BDC1C6"/>
                </a:solidFill>
                <a:effectLst/>
                <a:latin typeface="arial" panose="020B0604020202020204" pitchFamily="34" charset="0"/>
              </a:rPr>
              <a:t>Generic Equipment Model</a:t>
            </a:r>
          </a:p>
          <a:p>
            <a:r>
              <a:rPr lang="en-US" b="1" i="0" dirty="0">
                <a:solidFill>
                  <a:srgbClr val="BDC1C6"/>
                </a:solidFill>
                <a:effectLst/>
                <a:latin typeface="arial" panose="020B0604020202020204" pitchFamily="34" charset="0"/>
              </a:rPr>
              <a:t>HSMS</a:t>
            </a:r>
            <a:r>
              <a:rPr lang="en-US" b="0" i="0" dirty="0">
                <a:solidFill>
                  <a:srgbClr val="BDC1C6"/>
                </a:solidFill>
                <a:effectLst/>
                <a:latin typeface="arial" panose="020B0604020202020204" pitchFamily="34" charset="0"/>
              </a:rPr>
              <a:t> = High-Speed SECS Message Services</a:t>
            </a:r>
          </a:p>
          <a:p>
            <a:r>
              <a:rPr lang="en-US" b="1" i="0" dirty="0">
                <a:solidFill>
                  <a:srgbClr val="BDC1C6"/>
                </a:solidFill>
                <a:effectLst/>
                <a:latin typeface="arial" panose="020B0604020202020204" pitchFamily="34" charset="0"/>
              </a:rPr>
              <a:t>TCP</a:t>
            </a:r>
            <a:r>
              <a:rPr lang="en-US" b="0" i="0" dirty="0">
                <a:solidFill>
                  <a:srgbClr val="BDC1C6"/>
                </a:solidFill>
                <a:effectLst/>
                <a:latin typeface="arial" panose="020B0604020202020204" pitchFamily="34" charset="0"/>
              </a:rPr>
              <a:t> = Transmission Control Protocol</a:t>
            </a:r>
          </a:p>
          <a:p>
            <a:r>
              <a:rPr lang="en-US" b="0" i="0" dirty="0">
                <a:solidFill>
                  <a:srgbClr val="BDC1C6"/>
                </a:solidFill>
                <a:effectLst/>
                <a:latin typeface="arial" panose="020B0604020202020204" pitchFamily="34" charset="0"/>
              </a:rPr>
              <a:t> </a:t>
            </a:r>
          </a:p>
          <a:p>
            <a:endParaRPr lang="ar-SA" b="0" dirty="0"/>
          </a:p>
          <a:p>
            <a:endParaRPr lang="en-US" dirty="0"/>
          </a:p>
        </p:txBody>
      </p:sp>
      <p:sp>
        <p:nvSpPr>
          <p:cNvPr id="4" name="Slide Number Placeholder 3"/>
          <p:cNvSpPr>
            <a:spLocks noGrp="1"/>
          </p:cNvSpPr>
          <p:nvPr>
            <p:ph type="sldNum" sz="quarter" idx="10"/>
          </p:nvPr>
        </p:nvSpPr>
        <p:spPr/>
        <p:txBody>
          <a:bodyPr/>
          <a:lstStyle/>
          <a:p>
            <a:fld id="{89C0A295-EDEF-4AFA-9CDA-A6B0418A7CB8}" type="slidenum">
              <a:rPr lang="en-US" smtClean="0"/>
              <a:pPr/>
              <a:t>28</a:t>
            </a:fld>
            <a:endParaRPr lang="en-US"/>
          </a:p>
        </p:txBody>
      </p:sp>
      <p:sp>
        <p:nvSpPr>
          <p:cNvPr id="5" name="Footer Placeholder 4"/>
          <p:cNvSpPr>
            <a:spLocks noGrp="1"/>
          </p:cNvSpPr>
          <p:nvPr>
            <p:ph type="ftr" sz="quarter" idx="11"/>
          </p:nvPr>
        </p:nvSpPr>
        <p:spPr/>
        <p:txBody>
          <a:bodyPr/>
          <a:lstStyle/>
          <a:p>
            <a:r>
              <a:rPr lang="en-US"/>
              <a:t>10</a:t>
            </a:r>
          </a:p>
        </p:txBody>
      </p:sp>
    </p:spTree>
    <p:extLst>
      <p:ext uri="{BB962C8B-B14F-4D97-AF65-F5344CB8AC3E}">
        <p14:creationId xmlns:p14="http://schemas.microsoft.com/office/powerpoint/2010/main" val="368655663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03463" y="528638"/>
            <a:ext cx="4702175" cy="26447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9C0A295-EDEF-4AFA-9CDA-A6B0418A7CB8}" type="slidenum">
              <a:rPr lang="en-US" smtClean="0"/>
              <a:pPr/>
              <a:t>29</a:t>
            </a:fld>
            <a:endParaRPr lang="en-US"/>
          </a:p>
        </p:txBody>
      </p:sp>
      <p:sp>
        <p:nvSpPr>
          <p:cNvPr id="5" name="Footer Placeholder 4"/>
          <p:cNvSpPr>
            <a:spLocks noGrp="1"/>
          </p:cNvSpPr>
          <p:nvPr>
            <p:ph type="ftr" sz="quarter" idx="11"/>
          </p:nvPr>
        </p:nvSpPr>
        <p:spPr/>
        <p:txBody>
          <a:bodyPr/>
          <a:lstStyle/>
          <a:p>
            <a:r>
              <a:rPr lang="en-US"/>
              <a:t>10</a:t>
            </a:r>
          </a:p>
        </p:txBody>
      </p:sp>
    </p:spTree>
    <p:extLst>
      <p:ext uri="{BB962C8B-B14F-4D97-AF65-F5344CB8AC3E}">
        <p14:creationId xmlns:p14="http://schemas.microsoft.com/office/powerpoint/2010/main" val="21923085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03463" y="528638"/>
            <a:ext cx="4702175" cy="26447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9C0A295-EDEF-4AFA-9CDA-A6B0418A7CB8}" type="slidenum">
              <a:rPr lang="en-US" smtClean="0"/>
              <a:pPr/>
              <a:t>30</a:t>
            </a:fld>
            <a:endParaRPr lang="en-US"/>
          </a:p>
        </p:txBody>
      </p:sp>
      <p:sp>
        <p:nvSpPr>
          <p:cNvPr id="5" name="Footer Placeholder 4"/>
          <p:cNvSpPr>
            <a:spLocks noGrp="1"/>
          </p:cNvSpPr>
          <p:nvPr>
            <p:ph type="ftr" sz="quarter" idx="11"/>
          </p:nvPr>
        </p:nvSpPr>
        <p:spPr/>
        <p:txBody>
          <a:bodyPr/>
          <a:lstStyle/>
          <a:p>
            <a:r>
              <a:rPr lang="en-US"/>
              <a:t>10</a:t>
            </a:r>
          </a:p>
        </p:txBody>
      </p:sp>
    </p:spTree>
    <p:extLst>
      <p:ext uri="{BB962C8B-B14F-4D97-AF65-F5344CB8AC3E}">
        <p14:creationId xmlns:p14="http://schemas.microsoft.com/office/powerpoint/2010/main" val="100494625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303463" y="528638"/>
            <a:ext cx="4702175" cy="2644775"/>
          </a:xfrm>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89C0A295-EDEF-4AFA-9CDA-A6B0418A7CB8}" type="slidenum">
              <a:rPr lang="en-US" smtClean="0"/>
              <a:pPr/>
              <a:t>31</a:t>
            </a:fld>
            <a:endParaRPr lang="en-US"/>
          </a:p>
        </p:txBody>
      </p:sp>
      <p:sp>
        <p:nvSpPr>
          <p:cNvPr id="5" name="Footer Placeholder 4"/>
          <p:cNvSpPr>
            <a:spLocks noGrp="1"/>
          </p:cNvSpPr>
          <p:nvPr>
            <p:ph type="ftr" sz="quarter" idx="11"/>
          </p:nvPr>
        </p:nvSpPr>
        <p:spPr/>
        <p:txBody>
          <a:bodyPr/>
          <a:lstStyle/>
          <a:p>
            <a:r>
              <a:rPr lang="en-US"/>
              <a:t>10</a:t>
            </a:r>
          </a:p>
        </p:txBody>
      </p:sp>
    </p:spTree>
    <p:extLst>
      <p:ext uri="{BB962C8B-B14F-4D97-AF65-F5344CB8AC3E}">
        <p14:creationId xmlns:p14="http://schemas.microsoft.com/office/powerpoint/2010/main" val="12839701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A8A5527-11DC-451C-8E61-C795D3A3C171}" type="datetime1">
              <a:rPr lang="en-US" smtClean="0"/>
              <a:pPr/>
              <a:t>9/28/2022</a:t>
            </a:fld>
            <a:endParaRPr lang="en-US"/>
          </a:p>
        </p:txBody>
      </p:sp>
      <p:sp>
        <p:nvSpPr>
          <p:cNvPr id="5" name="Footer Placeholder 4"/>
          <p:cNvSpPr>
            <a:spLocks noGrp="1"/>
          </p:cNvSpPr>
          <p:nvPr>
            <p:ph type="ftr" sz="quarter" idx="11"/>
          </p:nvPr>
        </p:nvSpPr>
        <p:spPr/>
        <p:txBody>
          <a:bodyPr/>
          <a:lstStyle/>
          <a:p>
            <a:r>
              <a:rPr lang="en-US"/>
              <a:t>‹#›</a:t>
            </a:r>
          </a:p>
        </p:txBody>
      </p:sp>
      <p:sp>
        <p:nvSpPr>
          <p:cNvPr id="6" name="Slide Number Placeholder 5"/>
          <p:cNvSpPr>
            <a:spLocks noGrp="1"/>
          </p:cNvSpPr>
          <p:nvPr>
            <p:ph type="sldNum" sz="quarter" idx="12"/>
          </p:nvPr>
        </p:nvSpPr>
        <p:spPr/>
        <p:txBody>
          <a:bodyPr/>
          <a:lstStyle/>
          <a:p>
            <a:fld id="{D4B39A3D-6E5B-421C-AA99-AA75690A48C6}" type="slidenum">
              <a:rPr lang="en-US" smtClean="0"/>
              <a:pPr/>
              <a:t>‹#›</a:t>
            </a:fld>
            <a:endParaRPr lang="en-US"/>
          </a:p>
        </p:txBody>
      </p:sp>
    </p:spTree>
    <p:extLst>
      <p:ext uri="{BB962C8B-B14F-4D97-AF65-F5344CB8AC3E}">
        <p14:creationId xmlns:p14="http://schemas.microsoft.com/office/powerpoint/2010/main" val="20804723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12AE65B-3765-4617-A2C4-4034486BDB00}" type="datetime1">
              <a:rPr lang="en-US" smtClean="0"/>
              <a:pPr/>
              <a:t>9/28/2022</a:t>
            </a:fld>
            <a:endParaRPr lang="en-US"/>
          </a:p>
        </p:txBody>
      </p:sp>
      <p:sp>
        <p:nvSpPr>
          <p:cNvPr id="5" name="Footer Placeholder 4"/>
          <p:cNvSpPr>
            <a:spLocks noGrp="1"/>
          </p:cNvSpPr>
          <p:nvPr>
            <p:ph type="ftr" sz="quarter" idx="11"/>
          </p:nvPr>
        </p:nvSpPr>
        <p:spPr/>
        <p:txBody>
          <a:bodyPr/>
          <a:lstStyle/>
          <a:p>
            <a:r>
              <a:rPr lang="en-US"/>
              <a:t>‹#›</a:t>
            </a:r>
          </a:p>
        </p:txBody>
      </p:sp>
      <p:sp>
        <p:nvSpPr>
          <p:cNvPr id="6" name="Slide Number Placeholder 5"/>
          <p:cNvSpPr>
            <a:spLocks noGrp="1"/>
          </p:cNvSpPr>
          <p:nvPr>
            <p:ph type="sldNum" sz="quarter" idx="12"/>
          </p:nvPr>
        </p:nvSpPr>
        <p:spPr/>
        <p:txBody>
          <a:bodyPr/>
          <a:lstStyle/>
          <a:p>
            <a:fld id="{D4B39A3D-6E5B-421C-AA99-AA75690A48C6}" type="slidenum">
              <a:rPr lang="en-US" smtClean="0"/>
              <a:pPr/>
              <a:t>‹#›</a:t>
            </a:fld>
            <a:endParaRPr lang="en-US"/>
          </a:p>
        </p:txBody>
      </p:sp>
    </p:spTree>
    <p:extLst>
      <p:ext uri="{BB962C8B-B14F-4D97-AF65-F5344CB8AC3E}">
        <p14:creationId xmlns:p14="http://schemas.microsoft.com/office/powerpoint/2010/main" val="22223079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371CFB1-F66A-480B-8C67-5A82B5EB7ABD}" type="datetime1">
              <a:rPr lang="en-US" smtClean="0"/>
              <a:pPr/>
              <a:t>9/28/2022</a:t>
            </a:fld>
            <a:endParaRPr lang="en-US"/>
          </a:p>
        </p:txBody>
      </p:sp>
      <p:sp>
        <p:nvSpPr>
          <p:cNvPr id="5" name="Footer Placeholder 4"/>
          <p:cNvSpPr>
            <a:spLocks noGrp="1"/>
          </p:cNvSpPr>
          <p:nvPr>
            <p:ph type="ftr" sz="quarter" idx="11"/>
          </p:nvPr>
        </p:nvSpPr>
        <p:spPr/>
        <p:txBody>
          <a:bodyPr/>
          <a:lstStyle/>
          <a:p>
            <a:r>
              <a:rPr lang="en-US"/>
              <a:t>‹#›</a:t>
            </a:r>
          </a:p>
        </p:txBody>
      </p:sp>
      <p:sp>
        <p:nvSpPr>
          <p:cNvPr id="6" name="Slide Number Placeholder 5"/>
          <p:cNvSpPr>
            <a:spLocks noGrp="1"/>
          </p:cNvSpPr>
          <p:nvPr>
            <p:ph type="sldNum" sz="quarter" idx="12"/>
          </p:nvPr>
        </p:nvSpPr>
        <p:spPr/>
        <p:txBody>
          <a:bodyPr/>
          <a:lstStyle/>
          <a:p>
            <a:fld id="{D4B39A3D-6E5B-421C-AA99-AA75690A48C6}" type="slidenum">
              <a:rPr lang="en-US" smtClean="0"/>
              <a:pPr/>
              <a:t>‹#›</a:t>
            </a:fld>
            <a:endParaRPr lang="en-US"/>
          </a:p>
        </p:txBody>
      </p:sp>
    </p:spTree>
    <p:extLst>
      <p:ext uri="{BB962C8B-B14F-4D97-AF65-F5344CB8AC3E}">
        <p14:creationId xmlns:p14="http://schemas.microsoft.com/office/powerpoint/2010/main" val="31437250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30C1C7B-5101-4B9B-A216-12739128089E}" type="datetime1">
              <a:rPr lang="en-US" smtClean="0"/>
              <a:pPr/>
              <a:t>9/28/2022</a:t>
            </a:fld>
            <a:endParaRPr lang="en-US"/>
          </a:p>
        </p:txBody>
      </p:sp>
      <p:sp>
        <p:nvSpPr>
          <p:cNvPr id="6" name="Footer Placeholder 5"/>
          <p:cNvSpPr>
            <a:spLocks noGrp="1"/>
          </p:cNvSpPr>
          <p:nvPr>
            <p:ph type="ftr" sz="quarter" idx="11"/>
          </p:nvPr>
        </p:nvSpPr>
        <p:spPr/>
        <p:txBody>
          <a:bodyPr/>
          <a:lstStyle/>
          <a:p>
            <a:r>
              <a:rPr lang="en-US"/>
              <a:t>‹#›</a:t>
            </a:r>
          </a:p>
        </p:txBody>
      </p:sp>
      <p:sp>
        <p:nvSpPr>
          <p:cNvPr id="7" name="Slide Number Placeholder 6"/>
          <p:cNvSpPr>
            <a:spLocks noGrp="1"/>
          </p:cNvSpPr>
          <p:nvPr>
            <p:ph type="sldNum" sz="quarter" idx="12"/>
          </p:nvPr>
        </p:nvSpPr>
        <p:spPr/>
        <p:txBody>
          <a:bodyPr/>
          <a:lstStyle/>
          <a:p>
            <a:fld id="{D4B39A3D-6E5B-421C-AA99-AA75690A48C6}" type="slidenum">
              <a:rPr lang="en-US" smtClean="0"/>
              <a:pPr/>
              <a:t>‹#›</a:t>
            </a:fld>
            <a:endParaRPr lang="en-US"/>
          </a:p>
        </p:txBody>
      </p:sp>
    </p:spTree>
    <p:extLst>
      <p:ext uri="{BB962C8B-B14F-4D97-AF65-F5344CB8AC3E}">
        <p14:creationId xmlns:p14="http://schemas.microsoft.com/office/powerpoint/2010/main" val="36565989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1693A1C-F22C-43C0-86A6-1D51C96C8A9B}" type="datetime1">
              <a:rPr lang="en-US" smtClean="0"/>
              <a:pPr/>
              <a:t>9/28/2022</a:t>
            </a:fld>
            <a:endParaRPr lang="en-US"/>
          </a:p>
        </p:txBody>
      </p:sp>
      <p:sp>
        <p:nvSpPr>
          <p:cNvPr id="8" name="Footer Placeholder 7"/>
          <p:cNvSpPr>
            <a:spLocks noGrp="1"/>
          </p:cNvSpPr>
          <p:nvPr>
            <p:ph type="ftr" sz="quarter" idx="11"/>
          </p:nvPr>
        </p:nvSpPr>
        <p:spPr/>
        <p:txBody>
          <a:bodyPr/>
          <a:lstStyle/>
          <a:p>
            <a:r>
              <a:rPr lang="en-US"/>
              <a:t>‹#›</a:t>
            </a:r>
          </a:p>
        </p:txBody>
      </p:sp>
      <p:sp>
        <p:nvSpPr>
          <p:cNvPr id="9" name="Slide Number Placeholder 8"/>
          <p:cNvSpPr>
            <a:spLocks noGrp="1"/>
          </p:cNvSpPr>
          <p:nvPr>
            <p:ph type="sldNum" sz="quarter" idx="12"/>
          </p:nvPr>
        </p:nvSpPr>
        <p:spPr/>
        <p:txBody>
          <a:bodyPr/>
          <a:lstStyle/>
          <a:p>
            <a:fld id="{D4B39A3D-6E5B-421C-AA99-AA75690A48C6}" type="slidenum">
              <a:rPr lang="en-US" smtClean="0"/>
              <a:pPr/>
              <a:t>‹#›</a:t>
            </a:fld>
            <a:endParaRPr lang="en-US"/>
          </a:p>
        </p:txBody>
      </p:sp>
    </p:spTree>
    <p:extLst>
      <p:ext uri="{BB962C8B-B14F-4D97-AF65-F5344CB8AC3E}">
        <p14:creationId xmlns:p14="http://schemas.microsoft.com/office/powerpoint/2010/main" val="2134933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29F4BCA-A5A9-4D08-9DD7-A9AF6D3BD7BB}" type="datetime1">
              <a:rPr lang="en-US" smtClean="0"/>
              <a:pPr/>
              <a:t>9/28/2022</a:t>
            </a:fld>
            <a:endParaRPr lang="en-US"/>
          </a:p>
        </p:txBody>
      </p:sp>
      <p:sp>
        <p:nvSpPr>
          <p:cNvPr id="4" name="Footer Placeholder 3"/>
          <p:cNvSpPr>
            <a:spLocks noGrp="1"/>
          </p:cNvSpPr>
          <p:nvPr>
            <p:ph type="ftr" sz="quarter" idx="11"/>
          </p:nvPr>
        </p:nvSpPr>
        <p:spPr/>
        <p:txBody>
          <a:bodyPr/>
          <a:lstStyle/>
          <a:p>
            <a:r>
              <a:rPr lang="en-US"/>
              <a:t>‹#›</a:t>
            </a:r>
          </a:p>
        </p:txBody>
      </p:sp>
      <p:sp>
        <p:nvSpPr>
          <p:cNvPr id="5" name="Slide Number Placeholder 4"/>
          <p:cNvSpPr>
            <a:spLocks noGrp="1"/>
          </p:cNvSpPr>
          <p:nvPr>
            <p:ph type="sldNum" sz="quarter" idx="12"/>
          </p:nvPr>
        </p:nvSpPr>
        <p:spPr/>
        <p:txBody>
          <a:bodyPr/>
          <a:lstStyle/>
          <a:p>
            <a:fld id="{D4B39A3D-6E5B-421C-AA99-AA75690A48C6}" type="slidenum">
              <a:rPr lang="en-US" smtClean="0"/>
              <a:pPr/>
              <a:t>‹#›</a:t>
            </a:fld>
            <a:endParaRPr lang="en-US"/>
          </a:p>
        </p:txBody>
      </p:sp>
    </p:spTree>
    <p:extLst>
      <p:ext uri="{BB962C8B-B14F-4D97-AF65-F5344CB8AC3E}">
        <p14:creationId xmlns:p14="http://schemas.microsoft.com/office/powerpoint/2010/main" val="17367153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2DA2826-13CF-45C4-A06C-7B3EC20DB2A7}" type="datetime1">
              <a:rPr lang="en-US" smtClean="0"/>
              <a:pPr/>
              <a:t>9/28/2022</a:t>
            </a:fld>
            <a:endParaRPr lang="en-US"/>
          </a:p>
        </p:txBody>
      </p:sp>
      <p:sp>
        <p:nvSpPr>
          <p:cNvPr id="3" name="Footer Placeholder 2"/>
          <p:cNvSpPr>
            <a:spLocks noGrp="1"/>
          </p:cNvSpPr>
          <p:nvPr>
            <p:ph type="ftr" sz="quarter" idx="11"/>
          </p:nvPr>
        </p:nvSpPr>
        <p:spPr/>
        <p:txBody>
          <a:bodyPr/>
          <a:lstStyle/>
          <a:p>
            <a:fld id="{BEB67190-088D-4891-AA8F-44608DE7CB49}" type="slidenum">
              <a:rPr lang="en-US" smtClean="0"/>
              <a:pPr/>
              <a:t>‹#›</a:t>
            </a:fld>
            <a:endParaRPr lang="en-US" dirty="0"/>
          </a:p>
        </p:txBody>
      </p:sp>
      <p:sp>
        <p:nvSpPr>
          <p:cNvPr id="4" name="Slide Number Placeholder 3"/>
          <p:cNvSpPr>
            <a:spLocks noGrp="1"/>
          </p:cNvSpPr>
          <p:nvPr>
            <p:ph type="sldNum" sz="quarter" idx="12"/>
          </p:nvPr>
        </p:nvSpPr>
        <p:spPr/>
        <p:txBody>
          <a:bodyPr/>
          <a:lstStyle/>
          <a:p>
            <a:fld id="{D4B39A3D-6E5B-421C-AA99-AA75690A48C6}" type="slidenum">
              <a:rPr lang="en-US" smtClean="0"/>
              <a:pPr/>
              <a:t>‹#›</a:t>
            </a:fld>
            <a:endParaRPr lang="en-US"/>
          </a:p>
        </p:txBody>
      </p:sp>
      <p:pic>
        <p:nvPicPr>
          <p:cNvPr id="5" name="Picture 3">
            <a:extLst>
              <a:ext uri="{FF2B5EF4-FFF2-40B4-BE49-F238E27FC236}">
                <a16:creationId xmlns:a16="http://schemas.microsoft.com/office/drawing/2014/main" id="{6E21ECD9-BEC7-D325-D325-6D6025AE9310}"/>
              </a:ext>
            </a:extLst>
          </p:cNvPr>
          <p:cNvPicPr>
            <a:picLocks noChangeAspect="1" noChangeArrowheads="1"/>
          </p:cNvPicPr>
          <p:nvPr userDrawn="1"/>
        </p:nvPicPr>
        <p:blipFill>
          <a:blip r:embed="rId2" cstate="print"/>
          <a:srcRect/>
          <a:stretch>
            <a:fillRect/>
          </a:stretch>
        </p:blipFill>
        <p:spPr bwMode="auto">
          <a:xfrm>
            <a:off x="9144000" y="6172205"/>
            <a:ext cx="1930400" cy="566179"/>
          </a:xfrm>
          <a:prstGeom prst="rect">
            <a:avLst/>
          </a:prstGeom>
          <a:noFill/>
          <a:ln w="9525">
            <a:noFill/>
            <a:miter lim="800000"/>
            <a:headEnd/>
            <a:tailEnd/>
          </a:ln>
          <a:effectLst/>
        </p:spPr>
      </p:pic>
    </p:spTree>
    <p:extLst>
      <p:ext uri="{BB962C8B-B14F-4D97-AF65-F5344CB8AC3E}">
        <p14:creationId xmlns:p14="http://schemas.microsoft.com/office/powerpoint/2010/main" val="30583854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6C895CB-C08D-4AAD-A831-2231C69394C2}" type="datetime1">
              <a:rPr lang="en-US" smtClean="0"/>
              <a:pPr/>
              <a:t>9/28/2022</a:t>
            </a:fld>
            <a:endParaRPr lang="en-US"/>
          </a:p>
        </p:txBody>
      </p:sp>
      <p:sp>
        <p:nvSpPr>
          <p:cNvPr id="6" name="Footer Placeholder 5"/>
          <p:cNvSpPr>
            <a:spLocks noGrp="1"/>
          </p:cNvSpPr>
          <p:nvPr>
            <p:ph type="ftr" sz="quarter" idx="11"/>
          </p:nvPr>
        </p:nvSpPr>
        <p:spPr/>
        <p:txBody>
          <a:bodyPr/>
          <a:lstStyle/>
          <a:p>
            <a:r>
              <a:rPr lang="en-US"/>
              <a:t>‹#›</a:t>
            </a:r>
            <a:endParaRPr lang="en-US" dirty="0"/>
          </a:p>
        </p:txBody>
      </p:sp>
      <p:sp>
        <p:nvSpPr>
          <p:cNvPr id="7" name="Slide Number Placeholder 6"/>
          <p:cNvSpPr>
            <a:spLocks noGrp="1"/>
          </p:cNvSpPr>
          <p:nvPr>
            <p:ph type="sldNum" sz="quarter" idx="12"/>
          </p:nvPr>
        </p:nvSpPr>
        <p:spPr/>
        <p:txBody>
          <a:bodyPr/>
          <a:lstStyle/>
          <a:p>
            <a:fld id="{D4B39A3D-6E5B-421C-AA99-AA75690A48C6}" type="slidenum">
              <a:rPr lang="en-US" smtClean="0"/>
              <a:pPr/>
              <a:t>‹#›</a:t>
            </a:fld>
            <a:endParaRPr lang="en-US" dirty="0"/>
          </a:p>
        </p:txBody>
      </p:sp>
      <p:pic>
        <p:nvPicPr>
          <p:cNvPr id="8" name="Picture 3">
            <a:extLst>
              <a:ext uri="{FF2B5EF4-FFF2-40B4-BE49-F238E27FC236}">
                <a16:creationId xmlns:a16="http://schemas.microsoft.com/office/drawing/2014/main" id="{4ED31FF6-5383-0A35-79B8-083A342D2C10}"/>
              </a:ext>
            </a:extLst>
          </p:cNvPr>
          <p:cNvPicPr>
            <a:picLocks noChangeAspect="1" noChangeArrowheads="1"/>
          </p:cNvPicPr>
          <p:nvPr userDrawn="1"/>
        </p:nvPicPr>
        <p:blipFill>
          <a:blip r:embed="rId2" cstate="print"/>
          <a:srcRect/>
          <a:stretch>
            <a:fillRect/>
          </a:stretch>
        </p:blipFill>
        <p:spPr bwMode="auto">
          <a:xfrm>
            <a:off x="8952412" y="6172205"/>
            <a:ext cx="1918789" cy="562773"/>
          </a:xfrm>
          <a:prstGeom prst="rect">
            <a:avLst/>
          </a:prstGeom>
          <a:noFill/>
          <a:ln w="9525">
            <a:noFill/>
            <a:miter lim="800000"/>
            <a:headEnd/>
            <a:tailEnd/>
          </a:ln>
          <a:effectLst/>
        </p:spPr>
      </p:pic>
    </p:spTree>
    <p:extLst>
      <p:ext uri="{BB962C8B-B14F-4D97-AF65-F5344CB8AC3E}">
        <p14:creationId xmlns:p14="http://schemas.microsoft.com/office/powerpoint/2010/main" val="36679428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FC97C9F-6C8E-4D46-B353-086F557D55D5}" type="datetime1">
              <a:rPr lang="en-US" smtClean="0"/>
              <a:pPr/>
              <a:t>9/28/2022</a:t>
            </a:fld>
            <a:endParaRPr lang="en-US"/>
          </a:p>
        </p:txBody>
      </p:sp>
      <p:sp>
        <p:nvSpPr>
          <p:cNvPr id="6" name="Footer Placeholder 5"/>
          <p:cNvSpPr>
            <a:spLocks noGrp="1"/>
          </p:cNvSpPr>
          <p:nvPr>
            <p:ph type="ftr" sz="quarter" idx="11"/>
          </p:nvPr>
        </p:nvSpPr>
        <p:spPr/>
        <p:txBody>
          <a:bodyPr/>
          <a:lstStyle/>
          <a:p>
            <a:r>
              <a:rPr lang="en-US"/>
              <a:t>‹#›</a:t>
            </a:r>
          </a:p>
        </p:txBody>
      </p:sp>
      <p:sp>
        <p:nvSpPr>
          <p:cNvPr id="7" name="Slide Number Placeholder 6"/>
          <p:cNvSpPr>
            <a:spLocks noGrp="1"/>
          </p:cNvSpPr>
          <p:nvPr>
            <p:ph type="sldNum" sz="quarter" idx="12"/>
          </p:nvPr>
        </p:nvSpPr>
        <p:spPr/>
        <p:txBody>
          <a:bodyPr/>
          <a:lstStyle/>
          <a:p>
            <a:fld id="{D4B39A3D-6E5B-421C-AA99-AA75690A48C6}" type="slidenum">
              <a:rPr lang="en-US" smtClean="0"/>
              <a:pPr/>
              <a:t>‹#›</a:t>
            </a:fld>
            <a:endParaRPr lang="en-US"/>
          </a:p>
        </p:txBody>
      </p:sp>
    </p:spTree>
    <p:extLst>
      <p:ext uri="{BB962C8B-B14F-4D97-AF65-F5344CB8AC3E}">
        <p14:creationId xmlns:p14="http://schemas.microsoft.com/office/powerpoint/2010/main" val="30189182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1279C3-E76C-4596-A9C5-F3278DC0200F}" type="datetime1">
              <a:rPr lang="en-US" smtClean="0"/>
              <a:pPr/>
              <a:t>9/28/2022</a:t>
            </a:fld>
            <a:endParaRPr lang="en-US"/>
          </a:p>
        </p:txBody>
      </p:sp>
      <p:sp>
        <p:nvSpPr>
          <p:cNvPr id="5" name="Footer Placeholder 4"/>
          <p:cNvSpPr>
            <a:spLocks noGrp="1"/>
          </p:cNvSpPr>
          <p:nvPr>
            <p:ph type="ftr" sz="quarter" idx="11"/>
          </p:nvPr>
        </p:nvSpPr>
        <p:spPr/>
        <p:txBody>
          <a:bodyPr/>
          <a:lstStyle/>
          <a:p>
            <a:r>
              <a:rPr lang="en-US"/>
              <a:t>‹#›</a:t>
            </a:r>
          </a:p>
        </p:txBody>
      </p:sp>
      <p:sp>
        <p:nvSpPr>
          <p:cNvPr id="6" name="Slide Number Placeholder 5"/>
          <p:cNvSpPr>
            <a:spLocks noGrp="1"/>
          </p:cNvSpPr>
          <p:nvPr>
            <p:ph type="sldNum" sz="quarter" idx="12"/>
          </p:nvPr>
        </p:nvSpPr>
        <p:spPr/>
        <p:txBody>
          <a:bodyPr/>
          <a:lstStyle/>
          <a:p>
            <a:fld id="{D4B39A3D-6E5B-421C-AA99-AA75690A48C6}" type="slidenum">
              <a:rPr lang="en-US" smtClean="0"/>
              <a:pPr/>
              <a:t>‹#›</a:t>
            </a:fld>
            <a:endParaRPr lang="en-US"/>
          </a:p>
        </p:txBody>
      </p:sp>
    </p:spTree>
    <p:extLst>
      <p:ext uri="{BB962C8B-B14F-4D97-AF65-F5344CB8AC3E}">
        <p14:creationId xmlns:p14="http://schemas.microsoft.com/office/powerpoint/2010/main" val="1388183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1AF01B8-C0E5-4787-8917-DBFEF6B8A6A6}" type="datetime1">
              <a:rPr lang="en-US" smtClean="0"/>
              <a:pPr/>
              <a:t>9/28/2022</a:t>
            </a:fld>
            <a:endParaRPr lang="en-US"/>
          </a:p>
        </p:txBody>
      </p:sp>
      <p:sp>
        <p:nvSpPr>
          <p:cNvPr id="5" name="Footer Placeholder 4"/>
          <p:cNvSpPr>
            <a:spLocks noGrp="1"/>
          </p:cNvSpPr>
          <p:nvPr>
            <p:ph type="ftr" sz="quarter" idx="11"/>
          </p:nvPr>
        </p:nvSpPr>
        <p:spPr/>
        <p:txBody>
          <a:bodyPr/>
          <a:lstStyle/>
          <a:p>
            <a:r>
              <a:rPr lang="en-US"/>
              <a:t>‹#›</a:t>
            </a:r>
          </a:p>
        </p:txBody>
      </p:sp>
      <p:sp>
        <p:nvSpPr>
          <p:cNvPr id="6" name="Slide Number Placeholder 5"/>
          <p:cNvSpPr>
            <a:spLocks noGrp="1"/>
          </p:cNvSpPr>
          <p:nvPr>
            <p:ph type="sldNum" sz="quarter" idx="12"/>
          </p:nvPr>
        </p:nvSpPr>
        <p:spPr/>
        <p:txBody>
          <a:bodyPr/>
          <a:lstStyle/>
          <a:p>
            <a:fld id="{D4B39A3D-6E5B-421C-AA99-AA75690A48C6}" type="slidenum">
              <a:rPr lang="en-US" smtClean="0"/>
              <a:pPr/>
              <a:t>‹#›</a:t>
            </a:fld>
            <a:endParaRPr lang="en-US"/>
          </a:p>
        </p:txBody>
      </p:sp>
    </p:spTree>
    <p:extLst>
      <p:ext uri="{BB962C8B-B14F-4D97-AF65-F5344CB8AC3E}">
        <p14:creationId xmlns:p14="http://schemas.microsoft.com/office/powerpoint/2010/main" val="42214044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326894B-8485-4805-83D9-F8766E224282}" type="datetime1">
              <a:rPr lang="en-US" smtClean="0"/>
              <a:pPr/>
              <a:t>9/28/2022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B39A3D-6E5B-421C-AA99-AA75690A48C6}" type="slidenum">
              <a:rPr lang="en-US" smtClean="0"/>
              <a:pPr/>
              <a:t>‹#›</a:t>
            </a:fld>
            <a:endParaRPr lang="en-US"/>
          </a:p>
        </p:txBody>
      </p:sp>
    </p:spTree>
    <p:extLst>
      <p:ext uri="{BB962C8B-B14F-4D97-AF65-F5344CB8AC3E}">
        <p14:creationId xmlns:p14="http://schemas.microsoft.com/office/powerpoint/2010/main" val="52948147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png"/><Relationship Id="rId7"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image" Target="../media/image9.png"/><Relationship Id="rId5" Type="http://schemas.openxmlformats.org/officeDocument/2006/relationships/image" Target="../media/image1.png"/><Relationship Id="rId4" Type="http://schemas.openxmlformats.org/officeDocument/2006/relationships/image" Target="../media/image8.jpeg"/></Relationships>
</file>

<file path=ppt/slides/_rels/slide3.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notesSlide" Target="../notesSlides/notesSlide3.xml"/><Relationship Id="rId7" Type="http://schemas.microsoft.com/office/2007/relationships/hdphoto" Target="../media/hdphoto1.wdp"/><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image" Target="../media/image10.png"/><Relationship Id="rId5" Type="http://schemas.openxmlformats.org/officeDocument/2006/relationships/image" Target="../media/image1.png"/><Relationship Id="rId4" Type="http://schemas.openxmlformats.org/officeDocument/2006/relationships/image" Target="../media/image8.jpeg"/><Relationship Id="rId9" Type="http://schemas.openxmlformats.org/officeDocument/2006/relationships/image" Target="../media/image12.png"/></Relationships>
</file>

<file path=ppt/slides/_rels/slide4.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notesSlide" Target="../notesSlides/notesSlide4.xml"/><Relationship Id="rId7" Type="http://schemas.openxmlformats.org/officeDocument/2006/relationships/image" Target="../media/image14.png"/><Relationship Id="rId2" Type="http://schemas.openxmlformats.org/officeDocument/2006/relationships/slideLayout" Target="../slideLayouts/slideLayout2.xml"/><Relationship Id="rId1" Type="http://schemas.openxmlformats.org/officeDocument/2006/relationships/tags" Target="../tags/tag3.xml"/><Relationship Id="rId6" Type="http://schemas.openxmlformats.org/officeDocument/2006/relationships/image" Target="../media/image1.png"/><Relationship Id="rId5" Type="http://schemas.openxmlformats.org/officeDocument/2006/relationships/image" Target="../media/image8.jpeg"/><Relationship Id="rId10" Type="http://schemas.microsoft.com/office/2007/relationships/hdphoto" Target="../media/hdphoto3.wdp"/><Relationship Id="rId4" Type="http://schemas.openxmlformats.org/officeDocument/2006/relationships/image" Target="../media/image13.png"/><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8" Type="http://schemas.microsoft.com/office/2007/relationships/hdphoto" Target="../media/hdphoto4.wdp"/><Relationship Id="rId3" Type="http://schemas.openxmlformats.org/officeDocument/2006/relationships/notesSlide" Target="../notesSlides/notesSlide5.xml"/><Relationship Id="rId7" Type="http://schemas.openxmlformats.org/officeDocument/2006/relationships/image" Target="../media/image16.png"/><Relationship Id="rId2" Type="http://schemas.openxmlformats.org/officeDocument/2006/relationships/slideLayout" Target="../slideLayouts/slideLayout2.xml"/><Relationship Id="rId1" Type="http://schemas.openxmlformats.org/officeDocument/2006/relationships/tags" Target="../tags/tag4.xml"/><Relationship Id="rId6" Type="http://schemas.openxmlformats.org/officeDocument/2006/relationships/image" Target="../media/image1.png"/><Relationship Id="rId5" Type="http://schemas.openxmlformats.org/officeDocument/2006/relationships/image" Target="../media/image8.jpeg"/><Relationship Id="rId4" Type="http://schemas.openxmlformats.org/officeDocument/2006/relationships/image" Target="../media/image13.png"/><Relationship Id="rId9" Type="http://schemas.openxmlformats.org/officeDocument/2006/relationships/image" Target="../media/image17.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1.png"/><Relationship Id="rId4" Type="http://schemas.openxmlformats.org/officeDocument/2006/relationships/image" Target="../media/image8.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7" Type="http://schemas.openxmlformats.org/officeDocument/2006/relationships/image" Target="../media/image19.jpeg"/><Relationship Id="rId2" Type="http://schemas.openxmlformats.org/officeDocument/2006/relationships/slideLayout" Target="../slideLayouts/slideLayout2.xml"/><Relationship Id="rId1" Type="http://schemas.openxmlformats.org/officeDocument/2006/relationships/tags" Target="../tags/tag6.xml"/><Relationship Id="rId6" Type="http://schemas.openxmlformats.org/officeDocument/2006/relationships/image" Target="../media/image18.jpeg"/><Relationship Id="rId5" Type="http://schemas.openxmlformats.org/officeDocument/2006/relationships/image" Target="../media/image1.png"/><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7.xml"/><Relationship Id="rId6" Type="http://schemas.openxmlformats.org/officeDocument/2006/relationships/image" Target="../media/image20.png"/><Relationship Id="rId5" Type="http://schemas.openxmlformats.org/officeDocument/2006/relationships/image" Target="../media/image1.png"/><Relationship Id="rId4" Type="http://schemas.openxmlformats.org/officeDocument/2006/relationships/image" Target="../media/image8.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8.xml"/><Relationship Id="rId5" Type="http://schemas.openxmlformats.org/officeDocument/2006/relationships/image" Target="../media/image1.png"/><Relationship Id="rId4" Type="http://schemas.openxmlformats.org/officeDocument/2006/relationships/image" Target="../media/image8.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7" Type="http://schemas.openxmlformats.org/officeDocument/2006/relationships/image" Target="../media/image22.png"/><Relationship Id="rId2" Type="http://schemas.openxmlformats.org/officeDocument/2006/relationships/slideLayout" Target="../slideLayouts/slideLayout2.xml"/><Relationship Id="rId1" Type="http://schemas.openxmlformats.org/officeDocument/2006/relationships/tags" Target="../tags/tag9.xml"/><Relationship Id="rId6" Type="http://schemas.openxmlformats.org/officeDocument/2006/relationships/image" Target="../media/image21.png"/><Relationship Id="rId5" Type="http://schemas.openxmlformats.org/officeDocument/2006/relationships/image" Target="../media/image1.png"/><Relationship Id="rId4" Type="http://schemas.openxmlformats.org/officeDocument/2006/relationships/image" Target="../media/image8.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0.xml"/><Relationship Id="rId6" Type="http://schemas.openxmlformats.org/officeDocument/2006/relationships/image" Target="../media/image23.png"/><Relationship Id="rId5" Type="http://schemas.openxmlformats.org/officeDocument/2006/relationships/image" Target="../media/image1.png"/><Relationship Id="rId4" Type="http://schemas.openxmlformats.org/officeDocument/2006/relationships/image" Target="../media/image8.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1.xml"/><Relationship Id="rId5" Type="http://schemas.openxmlformats.org/officeDocument/2006/relationships/image" Target="../media/image1.png"/><Relationship Id="rId4" Type="http://schemas.openxmlformats.org/officeDocument/2006/relationships/image" Target="../media/image8.jpeg"/></Relationships>
</file>

<file path=ppt/slides/_rels/slide15.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notesSlide" Target="../notesSlides/notesSlide15.xml"/><Relationship Id="rId7" Type="http://schemas.openxmlformats.org/officeDocument/2006/relationships/image" Target="../media/image24.png"/><Relationship Id="rId2" Type="http://schemas.openxmlformats.org/officeDocument/2006/relationships/slideLayout" Target="../slideLayouts/slideLayout2.xml"/><Relationship Id="rId1" Type="http://schemas.openxmlformats.org/officeDocument/2006/relationships/tags" Target="../tags/tag12.xml"/><Relationship Id="rId6" Type="http://schemas.openxmlformats.org/officeDocument/2006/relationships/chart" Target="../charts/chart1.xml"/><Relationship Id="rId5" Type="http://schemas.openxmlformats.org/officeDocument/2006/relationships/image" Target="../media/image1.png"/><Relationship Id="rId4" Type="http://schemas.openxmlformats.org/officeDocument/2006/relationships/image" Target="../media/image8.jpeg"/><Relationship Id="rId9" Type="http://schemas.openxmlformats.org/officeDocument/2006/relationships/chart" Target="../charts/chart2.xml"/></Relationships>
</file>

<file path=ppt/slides/_rels/slide16.xml.rels><?xml version="1.0" encoding="UTF-8" standalone="yes"?>
<Relationships xmlns="http://schemas.openxmlformats.org/package/2006/relationships"><Relationship Id="rId8" Type="http://schemas.openxmlformats.org/officeDocument/2006/relationships/chart" Target="../charts/chart4.xml"/><Relationship Id="rId3" Type="http://schemas.openxmlformats.org/officeDocument/2006/relationships/notesSlide" Target="../notesSlides/notesSlide16.xml"/><Relationship Id="rId7" Type="http://schemas.openxmlformats.org/officeDocument/2006/relationships/image" Target="../media/image24.png"/><Relationship Id="rId2" Type="http://schemas.openxmlformats.org/officeDocument/2006/relationships/slideLayout" Target="../slideLayouts/slideLayout2.xml"/><Relationship Id="rId1" Type="http://schemas.openxmlformats.org/officeDocument/2006/relationships/tags" Target="../tags/tag13.xml"/><Relationship Id="rId6" Type="http://schemas.openxmlformats.org/officeDocument/2006/relationships/chart" Target="../charts/chart3.xml"/><Relationship Id="rId5" Type="http://schemas.openxmlformats.org/officeDocument/2006/relationships/image" Target="../media/image1.png"/><Relationship Id="rId4" Type="http://schemas.openxmlformats.org/officeDocument/2006/relationships/image" Target="../media/image8.jpeg"/><Relationship Id="rId9"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chart" Target="../charts/chart5.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4.xml"/><Relationship Id="rId6" Type="http://schemas.openxmlformats.org/officeDocument/2006/relationships/chart" Target="../charts/chart6.xml"/><Relationship Id="rId5" Type="http://schemas.openxmlformats.org/officeDocument/2006/relationships/image" Target="../media/image1.png"/><Relationship Id="rId4" Type="http://schemas.openxmlformats.org/officeDocument/2006/relationships/image" Target="../media/image8.jpe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15.xml"/><Relationship Id="rId6" Type="http://schemas.openxmlformats.org/officeDocument/2006/relationships/image" Target="../media/image270.png"/><Relationship Id="rId5" Type="http://schemas.openxmlformats.org/officeDocument/2006/relationships/image" Target="../media/image1.png"/><Relationship Id="rId4" Type="http://schemas.openxmlformats.org/officeDocument/2006/relationships/image" Target="../media/image8.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16.xml"/><Relationship Id="rId5" Type="http://schemas.openxmlformats.org/officeDocument/2006/relationships/image" Target="../media/image1.png"/><Relationship Id="rId4" Type="http://schemas.openxmlformats.org/officeDocument/2006/relationships/image" Target="../media/image8.jpe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17.xml"/><Relationship Id="rId6" Type="http://schemas.openxmlformats.org/officeDocument/2006/relationships/image" Target="../media/image25.jpeg"/><Relationship Id="rId5" Type="http://schemas.openxmlformats.org/officeDocument/2006/relationships/image" Target="../media/image1.png"/><Relationship Id="rId4" Type="http://schemas.openxmlformats.org/officeDocument/2006/relationships/image" Target="../media/image8.jpeg"/></Relationships>
</file>

<file path=ppt/slides/_rels/slide2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4.jpeg"/><Relationship Id="rId1" Type="http://schemas.openxmlformats.org/officeDocument/2006/relationships/slideLayout" Target="../slideLayouts/slideLayout7.xml"/><Relationship Id="rId4" Type="http://schemas.openxmlformats.org/officeDocument/2006/relationships/image" Target="../media/image26.jpeg"/></Relationships>
</file>

<file path=ppt/slides/_rels/slide2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slideLayout" Target="../slideLayouts/slideLayout2.xml"/><Relationship Id="rId1" Type="http://schemas.openxmlformats.org/officeDocument/2006/relationships/tags" Target="../tags/tag18.xml"/><Relationship Id="rId4" Type="http://schemas.openxmlformats.org/officeDocument/2006/relationships/image" Target="../media/image1.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19.xml"/><Relationship Id="rId6" Type="http://schemas.openxmlformats.org/officeDocument/2006/relationships/image" Target="../media/image27.png"/><Relationship Id="rId5" Type="http://schemas.openxmlformats.org/officeDocument/2006/relationships/image" Target="../media/image1.png"/><Relationship Id="rId4" Type="http://schemas.openxmlformats.org/officeDocument/2006/relationships/image" Target="../media/image8.jpeg"/></Relationships>
</file>

<file path=ppt/slides/_rels/slide26.xml.rels><?xml version="1.0" encoding="UTF-8" standalone="yes"?>
<Relationships xmlns="http://schemas.openxmlformats.org/package/2006/relationships"><Relationship Id="rId8" Type="http://schemas.microsoft.com/office/2007/relationships/hdphoto" Target="../media/hdphoto6.wdp"/><Relationship Id="rId3" Type="http://schemas.openxmlformats.org/officeDocument/2006/relationships/image" Target="../media/image8.jpeg"/><Relationship Id="rId7"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microsoft.com/office/2007/relationships/hdphoto" Target="../media/hdphoto5.wdp"/><Relationship Id="rId5" Type="http://schemas.openxmlformats.org/officeDocument/2006/relationships/image" Target="../media/image28.png"/><Relationship Id="rId10" Type="http://schemas.microsoft.com/office/2007/relationships/hdphoto" Target="../media/hdphoto7.wdp"/><Relationship Id="rId4" Type="http://schemas.openxmlformats.org/officeDocument/2006/relationships/image" Target="../media/image1.png"/><Relationship Id="rId9" Type="http://schemas.openxmlformats.org/officeDocument/2006/relationships/image" Target="../media/image30.png"/></Relationships>
</file>

<file path=ppt/slides/_rels/slide27.xml.rels><?xml version="1.0" encoding="UTF-8" standalone="yes"?>
<Relationships xmlns="http://schemas.openxmlformats.org/package/2006/relationships"><Relationship Id="rId3" Type="http://schemas.openxmlformats.org/officeDocument/2006/relationships/image" Target="../media/image8.jpeg"/><Relationship Id="rId7"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jpeg"/><Relationship Id="rId4" Type="http://schemas.openxmlformats.org/officeDocument/2006/relationships/image" Target="../media/image1.png"/></Relationships>
</file>

<file path=ppt/slides/_rels/slide2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jpeg"/><Relationship Id="rId7" Type="http://schemas.openxmlformats.org/officeDocument/2006/relationships/image" Target="../media/image11.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10.png"/><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notesSlide" Target="../notesSlides/notesSlide27.xml"/><Relationship Id="rId7" Type="http://schemas.openxmlformats.org/officeDocument/2006/relationships/chart" Target="../charts/chart8.xml"/><Relationship Id="rId2" Type="http://schemas.openxmlformats.org/officeDocument/2006/relationships/slideLayout" Target="../slideLayouts/slideLayout2.xml"/><Relationship Id="rId1" Type="http://schemas.openxmlformats.org/officeDocument/2006/relationships/tags" Target="../tags/tag20.xml"/><Relationship Id="rId6" Type="http://schemas.openxmlformats.org/officeDocument/2006/relationships/chart" Target="../charts/chart7.xml"/><Relationship Id="rId5" Type="http://schemas.openxmlformats.org/officeDocument/2006/relationships/image" Target="../media/image1.png"/><Relationship Id="rId4" Type="http://schemas.openxmlformats.org/officeDocument/2006/relationships/image" Target="../media/image8.jpeg"/><Relationship Id="rId9" Type="http://schemas.openxmlformats.org/officeDocument/2006/relationships/image" Target="../media/image22.png"/></Relationships>
</file>

<file path=ppt/slides/_rels/slide30.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notesSlide" Target="../notesSlides/notesSlide28.xml"/><Relationship Id="rId7" Type="http://schemas.openxmlformats.org/officeDocument/2006/relationships/chart" Target="../charts/chart10.xml"/><Relationship Id="rId2" Type="http://schemas.openxmlformats.org/officeDocument/2006/relationships/slideLayout" Target="../slideLayouts/slideLayout2.xml"/><Relationship Id="rId1" Type="http://schemas.openxmlformats.org/officeDocument/2006/relationships/tags" Target="../tags/tag21.xml"/><Relationship Id="rId6" Type="http://schemas.openxmlformats.org/officeDocument/2006/relationships/chart" Target="../charts/chart9.xml"/><Relationship Id="rId5" Type="http://schemas.openxmlformats.org/officeDocument/2006/relationships/image" Target="../media/image1.png"/><Relationship Id="rId4" Type="http://schemas.openxmlformats.org/officeDocument/2006/relationships/image" Target="../media/image8.jpe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9.xml"/><Relationship Id="rId7" Type="http://schemas.openxmlformats.org/officeDocument/2006/relationships/image" Target="../media/image22.png"/><Relationship Id="rId2" Type="http://schemas.openxmlformats.org/officeDocument/2006/relationships/slideLayout" Target="../slideLayouts/slideLayout2.xml"/><Relationship Id="rId1" Type="http://schemas.openxmlformats.org/officeDocument/2006/relationships/tags" Target="../tags/tag22.xml"/><Relationship Id="rId6" Type="http://schemas.openxmlformats.org/officeDocument/2006/relationships/image" Target="../media/image21.png"/><Relationship Id="rId5" Type="http://schemas.openxmlformats.org/officeDocument/2006/relationships/image" Target="../media/image1.png"/><Relationship Id="rId4" Type="http://schemas.openxmlformats.org/officeDocument/2006/relationships/image" Target="../media/image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p:blipFill>
        <p:spPr bwMode="auto">
          <a:xfrm>
            <a:off x="0" y="0"/>
            <a:ext cx="4730430" cy="1455021"/>
          </a:xfrm>
          <a:prstGeom prst="rect">
            <a:avLst/>
          </a:prstGeom>
          <a:noFill/>
        </p:spPr>
      </p:pic>
      <p:pic>
        <p:nvPicPr>
          <p:cNvPr id="1027" name="Picture 3" descr="C:\Users\fauzisukiman\Desktop\template pp USM\Line.jpg"/>
          <p:cNvPicPr>
            <a:picLocks noChangeAspect="1" noChangeArrowheads="1"/>
          </p:cNvPicPr>
          <p:nvPr/>
        </p:nvPicPr>
        <p:blipFill>
          <a:blip r:embed="rId4" cstate="print"/>
          <a:srcRect l="833" t="10988"/>
          <a:stretch>
            <a:fillRect/>
          </a:stretch>
        </p:blipFill>
        <p:spPr bwMode="auto">
          <a:xfrm>
            <a:off x="0" y="1444488"/>
            <a:ext cx="12192000" cy="357808"/>
          </a:xfrm>
          <a:prstGeom prst="rect">
            <a:avLst/>
          </a:prstGeom>
          <a:noFill/>
        </p:spPr>
      </p:pic>
      <p:grpSp>
        <p:nvGrpSpPr>
          <p:cNvPr id="3" name="Group 2">
            <a:extLst>
              <a:ext uri="{FF2B5EF4-FFF2-40B4-BE49-F238E27FC236}">
                <a16:creationId xmlns:a16="http://schemas.microsoft.com/office/drawing/2014/main" id="{A31B668F-AF59-A400-2411-48BB2FB96B10}"/>
              </a:ext>
            </a:extLst>
          </p:cNvPr>
          <p:cNvGrpSpPr/>
          <p:nvPr/>
        </p:nvGrpSpPr>
        <p:grpSpPr>
          <a:xfrm>
            <a:off x="0" y="1828800"/>
            <a:ext cx="12192000" cy="5029200"/>
            <a:chOff x="0" y="1828800"/>
            <a:chExt cx="12192000" cy="5029200"/>
          </a:xfrm>
        </p:grpSpPr>
        <p:pic>
          <p:nvPicPr>
            <p:cNvPr id="1026" name="Picture 2" descr="C:\Users\fauzisukiman\Desktop\template pp USM\purple.jpg"/>
            <p:cNvPicPr>
              <a:picLocks noChangeAspect="1" noChangeArrowheads="1"/>
            </p:cNvPicPr>
            <p:nvPr/>
          </p:nvPicPr>
          <p:blipFill>
            <a:blip r:embed="rId5" cstate="print"/>
            <a:srcRect/>
            <a:stretch>
              <a:fillRect/>
            </a:stretch>
          </p:blipFill>
          <p:spPr bwMode="auto">
            <a:xfrm>
              <a:off x="0" y="1828800"/>
              <a:ext cx="12192000" cy="5029200"/>
            </a:xfrm>
            <a:prstGeom prst="rect">
              <a:avLst/>
            </a:prstGeom>
            <a:noFill/>
          </p:spPr>
        </p:pic>
        <p:pic>
          <p:nvPicPr>
            <p:cNvPr id="1030" name="Picture 6" descr="C:\Users\fauzisukiman\Desktop\template pp USM\line kebawah.jpg"/>
            <p:cNvPicPr>
              <a:picLocks noChangeAspect="1" noChangeArrowheads="1"/>
            </p:cNvPicPr>
            <p:nvPr/>
          </p:nvPicPr>
          <p:blipFill>
            <a:blip r:embed="rId6" cstate="print"/>
            <a:srcRect/>
            <a:stretch>
              <a:fillRect/>
            </a:stretch>
          </p:blipFill>
          <p:spPr bwMode="auto">
            <a:xfrm>
              <a:off x="0" y="1931293"/>
              <a:ext cx="1509995" cy="4790182"/>
            </a:xfrm>
            <a:prstGeom prst="rect">
              <a:avLst/>
            </a:prstGeom>
            <a:noFill/>
          </p:spPr>
        </p:pic>
      </p:grpSp>
      <p:pic>
        <p:nvPicPr>
          <p:cNvPr id="7" name="Picture 5" descr="C:\Users\fauzisukiman\Desktop\template pp USM\Bucu petak.jpg"/>
          <p:cNvPicPr>
            <a:picLocks noChangeAspect="1" noChangeArrowheads="1"/>
          </p:cNvPicPr>
          <p:nvPr/>
        </p:nvPicPr>
        <p:blipFill>
          <a:blip r:embed="rId7" cstate="print"/>
          <a:srcRect/>
          <a:stretch>
            <a:fillRect/>
          </a:stretch>
        </p:blipFill>
        <p:spPr bwMode="auto">
          <a:xfrm>
            <a:off x="9622379" y="4876805"/>
            <a:ext cx="2569621" cy="1981201"/>
          </a:xfrm>
          <a:prstGeom prst="rect">
            <a:avLst/>
          </a:prstGeom>
          <a:noFill/>
        </p:spPr>
      </p:pic>
      <p:sp>
        <p:nvSpPr>
          <p:cNvPr id="8" name="TextBox 7"/>
          <p:cNvSpPr txBox="1"/>
          <p:nvPr/>
        </p:nvSpPr>
        <p:spPr>
          <a:xfrm>
            <a:off x="1219200" y="2093893"/>
            <a:ext cx="9829800" cy="954107"/>
          </a:xfrm>
          <a:prstGeom prst="rect">
            <a:avLst/>
          </a:prstGeom>
          <a:noFill/>
        </p:spPr>
        <p:txBody>
          <a:bodyPr wrap="square" rtlCol="0">
            <a:spAutoFit/>
          </a:bodyPr>
          <a:lstStyle/>
          <a:p>
            <a:pPr algn="ctr" hangingPunct="0">
              <a:spcAft>
                <a:spcPts val="1000"/>
              </a:spcAft>
            </a:pPr>
            <a:r>
              <a:rPr lang="en-US" sz="2800" b="1" dirty="0">
                <a:solidFill>
                  <a:schemeClr val="bg1"/>
                </a:solidFill>
              </a:rPr>
              <a:t>Design of a Mechanism for Securing SECS/GEM Communications from Cyberattacks in the Industry 4.0 Ecosystem</a:t>
            </a:r>
            <a:endParaRPr lang="en-MY" sz="1400" dirty="0">
              <a:latin typeface="Times New Roman" panose="02020603050405020304" pitchFamily="18" charset="0"/>
              <a:ea typeface="Times New Roman" panose="02020603050405020304" pitchFamily="18" charset="0"/>
            </a:endParaRPr>
          </a:p>
        </p:txBody>
      </p:sp>
      <p:sp>
        <p:nvSpPr>
          <p:cNvPr id="9" name="TextBox 8"/>
          <p:cNvSpPr txBox="1"/>
          <p:nvPr/>
        </p:nvSpPr>
        <p:spPr>
          <a:xfrm>
            <a:off x="2005264" y="3200400"/>
            <a:ext cx="8205536" cy="2739211"/>
          </a:xfrm>
          <a:prstGeom prst="rect">
            <a:avLst/>
          </a:prstGeom>
          <a:noFill/>
        </p:spPr>
        <p:txBody>
          <a:bodyPr wrap="square" rtlCol="0">
            <a:spAutoFit/>
          </a:bodyPr>
          <a:lstStyle/>
          <a:p>
            <a:pPr algn="ctr"/>
            <a:r>
              <a:rPr lang="en-US" sz="2400" b="1" dirty="0">
                <a:solidFill>
                  <a:schemeClr val="accent2">
                    <a:lumMod val="60000"/>
                    <a:lumOff val="40000"/>
                  </a:schemeClr>
                </a:solidFill>
              </a:rPr>
              <a:t>Presented by</a:t>
            </a:r>
          </a:p>
          <a:p>
            <a:pPr algn="ctr"/>
            <a:r>
              <a:rPr lang="en-US" sz="2400" dirty="0">
                <a:solidFill>
                  <a:schemeClr val="bg1"/>
                </a:solidFill>
                <a:latin typeface="Andalus" pitchFamily="18" charset="-78"/>
                <a:cs typeface="Andalus" pitchFamily="18" charset="-78"/>
              </a:rPr>
              <a:t>Shams Ul Arfeen Laghari</a:t>
            </a:r>
            <a:br>
              <a:rPr lang="en-US" sz="2400" dirty="0">
                <a:solidFill>
                  <a:schemeClr val="bg1"/>
                </a:solidFill>
              </a:rPr>
            </a:br>
            <a:br>
              <a:rPr lang="en-US" sz="1400" dirty="0">
                <a:solidFill>
                  <a:schemeClr val="bg1"/>
                </a:solidFill>
              </a:rPr>
            </a:br>
            <a:r>
              <a:rPr lang="en-US" sz="2000" dirty="0">
                <a:solidFill>
                  <a:schemeClr val="accent2">
                    <a:lumMod val="60000"/>
                    <a:lumOff val="40000"/>
                  </a:schemeClr>
                </a:solidFill>
              </a:rPr>
              <a:t> </a:t>
            </a:r>
            <a:r>
              <a:rPr lang="en-US" sz="2400" b="1" dirty="0">
                <a:solidFill>
                  <a:schemeClr val="accent2">
                    <a:lumMod val="60000"/>
                    <a:lumOff val="40000"/>
                  </a:schemeClr>
                </a:solidFill>
              </a:rPr>
              <a:t>Main Supervisor</a:t>
            </a:r>
            <a:r>
              <a:rPr lang="en-US" sz="2400" dirty="0">
                <a:solidFill>
                  <a:schemeClr val="accent2">
                    <a:lumMod val="60000"/>
                    <a:lumOff val="40000"/>
                  </a:schemeClr>
                </a:solidFill>
              </a:rPr>
              <a:t> </a:t>
            </a:r>
            <a:br>
              <a:rPr lang="en-US" sz="2000" dirty="0">
                <a:solidFill>
                  <a:schemeClr val="bg1"/>
                </a:solidFill>
              </a:rPr>
            </a:br>
            <a:r>
              <a:rPr lang="en-US" sz="2400" dirty="0">
                <a:solidFill>
                  <a:schemeClr val="bg1"/>
                </a:solidFill>
                <a:latin typeface="Andalus" pitchFamily="18" charset="-78"/>
                <a:cs typeface="Andalus" pitchFamily="18" charset="-78"/>
              </a:rPr>
              <a:t>Assoc. Prof. Dr. Selvakumar Manickam</a:t>
            </a:r>
          </a:p>
          <a:p>
            <a:pPr algn="ctr"/>
            <a:endParaRPr lang="en-US" sz="1400" dirty="0">
              <a:solidFill>
                <a:schemeClr val="bg1"/>
              </a:solidFill>
              <a:latin typeface="Andalus" pitchFamily="18" charset="-78"/>
              <a:cs typeface="Andalus" pitchFamily="18" charset="-78"/>
            </a:endParaRPr>
          </a:p>
          <a:p>
            <a:pPr algn="ctr"/>
            <a:r>
              <a:rPr lang="en-US" sz="2400" b="1" dirty="0">
                <a:solidFill>
                  <a:schemeClr val="accent2">
                    <a:lumMod val="60000"/>
                    <a:lumOff val="40000"/>
                  </a:schemeClr>
                </a:solidFill>
              </a:rPr>
              <a:t>Co-Supervisor</a:t>
            </a:r>
            <a:endParaRPr lang="en-US" sz="2400" b="1" dirty="0">
              <a:solidFill>
                <a:schemeClr val="accent2">
                  <a:lumMod val="60000"/>
                  <a:lumOff val="40000"/>
                </a:schemeClr>
              </a:solidFill>
              <a:latin typeface="Andalus" pitchFamily="18" charset="-78"/>
              <a:cs typeface="Andalus" pitchFamily="18" charset="-78"/>
            </a:endParaRPr>
          </a:p>
          <a:p>
            <a:pPr algn="ctr"/>
            <a:r>
              <a:rPr lang="en-US" sz="2400" dirty="0">
                <a:solidFill>
                  <a:schemeClr val="bg1"/>
                </a:solidFill>
                <a:latin typeface="Andalus" pitchFamily="18" charset="-78"/>
                <a:cs typeface="Andalus" pitchFamily="18" charset="-78"/>
              </a:rPr>
              <a:t>Ts. Dr. Shankar Karuppayah</a:t>
            </a:r>
          </a:p>
        </p:txBody>
      </p:sp>
      <p:pic>
        <p:nvPicPr>
          <p:cNvPr id="12" name="Picture 3"/>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p:blipFill>
        <p:spPr bwMode="auto">
          <a:xfrm>
            <a:off x="8547447" y="0"/>
            <a:ext cx="3644553" cy="1417983"/>
          </a:xfrm>
          <a:prstGeom prst="rect">
            <a:avLst/>
          </a:prstGeom>
          <a:noFill/>
          <a:ln w="9525">
            <a:noFill/>
            <a:miter lim="800000"/>
            <a:headEnd/>
            <a:tailEnd/>
          </a:ln>
          <a:effectLst/>
        </p:spPr>
      </p:pic>
      <p:sp>
        <p:nvSpPr>
          <p:cNvPr id="11" name="TextBox 10">
            <a:extLst>
              <a:ext uri="{FF2B5EF4-FFF2-40B4-BE49-F238E27FC236}">
                <a16:creationId xmlns:a16="http://schemas.microsoft.com/office/drawing/2014/main" id="{2E784968-6381-93C7-8A79-8DA1BD230CB0}"/>
              </a:ext>
            </a:extLst>
          </p:cNvPr>
          <p:cNvSpPr txBox="1"/>
          <p:nvPr/>
        </p:nvSpPr>
        <p:spPr>
          <a:xfrm>
            <a:off x="1828800" y="6431939"/>
            <a:ext cx="8534400" cy="246221"/>
          </a:xfrm>
          <a:prstGeom prst="rect">
            <a:avLst/>
          </a:prstGeom>
          <a:noFill/>
        </p:spPr>
        <p:txBody>
          <a:bodyPr wrap="square">
            <a:spAutoFit/>
          </a:bodyPr>
          <a:lstStyle/>
          <a:p>
            <a:pPr algn="ctr"/>
            <a:r>
              <a:rPr lang="en-US" sz="1000" dirty="0">
                <a:solidFill>
                  <a:schemeClr val="bg1"/>
                </a:solidFill>
              </a:rPr>
              <a:t>National Advanced IPv6 Centre (NAv6), Universiti Sains Malaysia (USM)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fauzisukiman\Desktop\template pp USM\page 2 n seterusnya\Header.jpg"/>
          <p:cNvPicPr>
            <a:picLocks noChangeAspect="1" noChangeArrowheads="1"/>
          </p:cNvPicPr>
          <p:nvPr/>
        </p:nvPicPr>
        <p:blipFill rotWithShape="1">
          <a:blip r:embed="rId4" cstate="print"/>
          <a:srcRect l="14375"/>
          <a:stretch/>
        </p:blipFill>
        <p:spPr bwMode="auto">
          <a:xfrm>
            <a:off x="1268881" y="0"/>
            <a:ext cx="10923119" cy="822960"/>
          </a:xfrm>
          <a:prstGeom prst="rect">
            <a:avLst/>
          </a:prstGeom>
          <a:noFill/>
        </p:spPr>
      </p:pic>
      <p:sp>
        <p:nvSpPr>
          <p:cNvPr id="6" name="Rectangle 5"/>
          <p:cNvSpPr/>
          <p:nvPr/>
        </p:nvSpPr>
        <p:spPr>
          <a:xfrm>
            <a:off x="1447800" y="76200"/>
            <a:ext cx="4030385" cy="707886"/>
          </a:xfrm>
          <a:prstGeom prst="rect">
            <a:avLst/>
          </a:prstGeom>
        </p:spPr>
        <p:txBody>
          <a:bodyPr wrap="square">
            <a:spAutoFit/>
          </a:bodyPr>
          <a:lstStyle/>
          <a:p>
            <a:r>
              <a:rPr lang="en-US" sz="4000" b="1" i="1" dirty="0">
                <a:solidFill>
                  <a:schemeClr val="bg1"/>
                </a:solidFill>
              </a:rPr>
              <a:t> Introduction			</a:t>
            </a:r>
          </a:p>
        </p:txBody>
      </p:sp>
      <p:sp>
        <p:nvSpPr>
          <p:cNvPr id="8" name="Content Placeholder 7"/>
          <p:cNvSpPr>
            <a:spLocks noGrp="1"/>
          </p:cNvSpPr>
          <p:nvPr>
            <p:ph idx="1"/>
          </p:nvPr>
        </p:nvSpPr>
        <p:spPr>
          <a:xfrm>
            <a:off x="544975" y="1383174"/>
            <a:ext cx="7151225" cy="5454777"/>
          </a:xfrm>
        </p:spPr>
        <p:txBody>
          <a:bodyPr>
            <a:noAutofit/>
          </a:bodyPr>
          <a:lstStyle/>
          <a:p>
            <a:pPr marL="457200" indent="-457200" algn="just">
              <a:lnSpc>
                <a:spcPct val="100000"/>
              </a:lnSpc>
              <a:buFont typeface="Wingdings" panose="05000000000000000000" pitchFamily="2" charset="2"/>
              <a:buChar char="§"/>
            </a:pPr>
            <a:r>
              <a:rPr lang="en-US" sz="1800" dirty="0"/>
              <a:t>Industry 4.0 (I4.0) is the fourth industrial revolution</a:t>
            </a:r>
          </a:p>
          <a:p>
            <a:pPr marL="457200" indent="-457200" algn="just">
              <a:lnSpc>
                <a:spcPct val="100000"/>
              </a:lnSpc>
              <a:buFont typeface="Wingdings" panose="05000000000000000000" pitchFamily="2" charset="2"/>
              <a:buChar char="§"/>
            </a:pPr>
            <a:r>
              <a:rPr lang="en-US" sz="1800" dirty="0"/>
              <a:t>I4.0 requires </a:t>
            </a:r>
            <a:r>
              <a:rPr lang="en-US" sz="1800" b="1" dirty="0">
                <a:solidFill>
                  <a:srgbClr val="C00000"/>
                </a:solidFill>
              </a:rPr>
              <a:t>interconnecting</a:t>
            </a:r>
            <a:r>
              <a:rPr lang="en-US" sz="1800" dirty="0"/>
              <a:t> all production processes</a:t>
            </a:r>
          </a:p>
          <a:p>
            <a:pPr marL="457200" indent="-457200" algn="just">
              <a:lnSpc>
                <a:spcPct val="100000"/>
              </a:lnSpc>
              <a:buFont typeface="Wingdings" panose="05000000000000000000" pitchFamily="2" charset="2"/>
              <a:buChar char="§"/>
            </a:pPr>
            <a:r>
              <a:rPr lang="en-US" sz="1800" b="1" dirty="0">
                <a:solidFill>
                  <a:srgbClr val="C00000"/>
                </a:solidFill>
              </a:rPr>
              <a:t>Connecting</a:t>
            </a:r>
            <a:r>
              <a:rPr lang="en-US" sz="1800" dirty="0"/>
              <a:t> machines running protocols without security is dangerous</a:t>
            </a:r>
          </a:p>
          <a:p>
            <a:pPr marL="457200" indent="-457200" algn="just">
              <a:lnSpc>
                <a:spcPct val="100000"/>
              </a:lnSpc>
              <a:buFont typeface="Wingdings" panose="05000000000000000000" pitchFamily="2" charset="2"/>
              <a:buChar char="§"/>
            </a:pPr>
            <a:r>
              <a:rPr lang="en-US" sz="1800" dirty="0"/>
              <a:t>Industrial protocols were designed only for performance; </a:t>
            </a:r>
            <a:r>
              <a:rPr lang="en-US" sz="1800" b="1" dirty="0">
                <a:solidFill>
                  <a:srgbClr val="C00000"/>
                </a:solidFill>
              </a:rPr>
              <a:t>security</a:t>
            </a:r>
            <a:r>
              <a:rPr lang="en-US" sz="1800" dirty="0"/>
              <a:t> was not a consideration</a:t>
            </a:r>
          </a:p>
          <a:p>
            <a:pPr marL="457200" indent="-457200" algn="just">
              <a:lnSpc>
                <a:spcPct val="100000"/>
              </a:lnSpc>
              <a:buFont typeface="Wingdings" panose="05000000000000000000" pitchFamily="2" charset="2"/>
              <a:buChar char="§"/>
            </a:pPr>
            <a:r>
              <a:rPr lang="en-US" sz="1800" dirty="0"/>
              <a:t>Manufacturers are eager to adopt I4.0 so that they can minimize expenses and increase revenue</a:t>
            </a:r>
          </a:p>
          <a:p>
            <a:pPr marL="457200" indent="-457200" algn="just">
              <a:lnSpc>
                <a:spcPct val="100000"/>
              </a:lnSpc>
              <a:buFont typeface="Wingdings" panose="05000000000000000000" pitchFamily="2" charset="2"/>
              <a:buChar char="§"/>
            </a:pPr>
            <a:r>
              <a:rPr lang="en-US" sz="1800" dirty="0"/>
              <a:t>Compliance to I4.0 is must to retain competitive advantage</a:t>
            </a:r>
          </a:p>
          <a:p>
            <a:pPr marL="457200" indent="-457200" algn="just">
              <a:lnSpc>
                <a:spcPct val="100000"/>
              </a:lnSpc>
              <a:buFont typeface="Wingdings" panose="05000000000000000000" pitchFamily="2" charset="2"/>
              <a:buChar char="§"/>
            </a:pPr>
            <a:r>
              <a:rPr lang="en-US" sz="1800" dirty="0">
                <a:solidFill>
                  <a:schemeClr val="tx2">
                    <a:lumMod val="50000"/>
                  </a:schemeClr>
                </a:solidFill>
              </a:rPr>
              <a:t>Cyberattacks on industrial networks has dramatically increased in recent years</a:t>
            </a:r>
          </a:p>
          <a:p>
            <a:pPr marL="457200" indent="-457200" algn="just">
              <a:lnSpc>
                <a:spcPct val="100000"/>
              </a:lnSpc>
              <a:buFont typeface="Wingdings" panose="05000000000000000000" pitchFamily="2" charset="2"/>
              <a:buChar char="§"/>
            </a:pPr>
            <a:r>
              <a:rPr lang="en-US" sz="1800" dirty="0">
                <a:solidFill>
                  <a:schemeClr val="tx2">
                    <a:lumMod val="50000"/>
                  </a:schemeClr>
                </a:solidFill>
              </a:rPr>
              <a:t>Cyberattacks on manufacturing have jumped from the </a:t>
            </a:r>
            <a:r>
              <a:rPr lang="en-US" sz="1800" b="1" dirty="0">
                <a:solidFill>
                  <a:srgbClr val="C00000"/>
                </a:solidFill>
              </a:rPr>
              <a:t>8</a:t>
            </a:r>
            <a:r>
              <a:rPr lang="en-US" sz="1800" b="1" baseline="30000" dirty="0">
                <a:solidFill>
                  <a:srgbClr val="C00000"/>
                </a:solidFill>
              </a:rPr>
              <a:t>th</a:t>
            </a:r>
            <a:r>
              <a:rPr lang="en-US" sz="1800" b="1" dirty="0">
                <a:solidFill>
                  <a:srgbClr val="C00000"/>
                </a:solidFill>
              </a:rPr>
              <a:t> to the 2</a:t>
            </a:r>
            <a:r>
              <a:rPr lang="en-US" sz="1800" b="1" baseline="30000" dirty="0">
                <a:solidFill>
                  <a:srgbClr val="C00000"/>
                </a:solidFill>
              </a:rPr>
              <a:t>nd</a:t>
            </a:r>
            <a:r>
              <a:rPr lang="en-US" sz="1800" b="1" dirty="0">
                <a:solidFill>
                  <a:srgbClr val="C00000"/>
                </a:solidFill>
              </a:rPr>
              <a:t> </a:t>
            </a:r>
            <a:r>
              <a:rPr lang="en-US" sz="1800" dirty="0">
                <a:solidFill>
                  <a:schemeClr val="tx2">
                    <a:lumMod val="50000"/>
                  </a:schemeClr>
                </a:solidFill>
              </a:rPr>
              <a:t>position, implying a </a:t>
            </a:r>
            <a:r>
              <a:rPr lang="en-US" sz="1800" b="1" dirty="0">
                <a:solidFill>
                  <a:srgbClr val="C00000"/>
                </a:solidFill>
              </a:rPr>
              <a:t>300%</a:t>
            </a:r>
            <a:r>
              <a:rPr lang="en-US" sz="1800" dirty="0">
                <a:solidFill>
                  <a:srgbClr val="C00000"/>
                </a:solidFill>
              </a:rPr>
              <a:t> </a:t>
            </a:r>
            <a:r>
              <a:rPr lang="en-US" sz="1800" dirty="0">
                <a:solidFill>
                  <a:schemeClr val="tx2">
                    <a:lumMod val="50000"/>
                  </a:schemeClr>
                </a:solidFill>
              </a:rPr>
              <a:t>increase in a single year </a:t>
            </a:r>
          </a:p>
          <a:p>
            <a:pPr marL="457200" indent="-457200" algn="just">
              <a:lnSpc>
                <a:spcPct val="100000"/>
              </a:lnSpc>
              <a:buFont typeface="Wingdings" panose="05000000000000000000" pitchFamily="2" charset="2"/>
              <a:buChar char="§"/>
            </a:pPr>
            <a:endParaRPr lang="en-US" sz="1800" dirty="0">
              <a:solidFill>
                <a:schemeClr val="tx2">
                  <a:lumMod val="50000"/>
                </a:schemeClr>
              </a:solidFill>
            </a:endParaRPr>
          </a:p>
          <a:p>
            <a:pPr marL="457200" indent="-457200" algn="just">
              <a:lnSpc>
                <a:spcPct val="100000"/>
              </a:lnSpc>
              <a:buFont typeface="Wingdings" panose="05000000000000000000" pitchFamily="2" charset="2"/>
              <a:buChar char="§"/>
            </a:pPr>
            <a:endParaRPr lang="en-US" sz="1800" dirty="0">
              <a:solidFill>
                <a:schemeClr val="tx2">
                  <a:lumMod val="50000"/>
                </a:schemeClr>
              </a:solidFill>
            </a:endParaRPr>
          </a:p>
        </p:txBody>
      </p:sp>
      <p:sp>
        <p:nvSpPr>
          <p:cNvPr id="2" name="Slide Number Placeholder 1"/>
          <p:cNvSpPr>
            <a:spLocks noGrp="1"/>
          </p:cNvSpPr>
          <p:nvPr>
            <p:ph type="sldNum" sz="quarter" idx="12"/>
          </p:nvPr>
        </p:nvSpPr>
        <p:spPr>
          <a:xfrm>
            <a:off x="9906000" y="6472826"/>
            <a:ext cx="2133600" cy="365125"/>
          </a:xfrm>
        </p:spPr>
        <p:txBody>
          <a:bodyPr/>
          <a:lstStyle/>
          <a:p>
            <a:fld id="{D4B39A3D-6E5B-421C-AA99-AA75690A48C6}" type="slidenum">
              <a:rPr lang="en-US" smtClean="0"/>
              <a:pPr/>
              <a:t>2</a:t>
            </a:fld>
            <a:endParaRPr lang="en-US" dirty="0"/>
          </a:p>
        </p:txBody>
      </p:sp>
      <p:pic>
        <p:nvPicPr>
          <p:cNvPr id="9" name="Picture 3"/>
          <p:cNvPicPr>
            <a:picLocks noChangeAspect="1" noChangeArrowheads="1"/>
          </p:cNvPicPr>
          <p:nvPr/>
        </p:nvPicPr>
        <p:blipFill>
          <a:blip r:embed="rId5" cstate="print">
            <a:clrChange>
              <a:clrFrom>
                <a:srgbClr val="FDFDFD"/>
              </a:clrFrom>
              <a:clrTo>
                <a:srgbClr val="FDFDFD">
                  <a:alpha val="0"/>
                </a:srgbClr>
              </a:clrTo>
            </a:clrChange>
          </a:blip>
          <a:srcRect/>
          <a:stretch>
            <a:fillRect/>
          </a:stretch>
        </p:blipFill>
        <p:spPr bwMode="auto">
          <a:xfrm>
            <a:off x="0" y="-1224"/>
            <a:ext cx="1268881" cy="824184"/>
          </a:xfrm>
          <a:prstGeom prst="rect">
            <a:avLst/>
          </a:prstGeom>
          <a:noFill/>
          <a:ln w="9525">
            <a:noFill/>
            <a:miter lim="800000"/>
            <a:headEnd/>
            <a:tailEnd/>
          </a:ln>
          <a:effectLst/>
        </p:spPr>
      </p:pic>
      <p:pic>
        <p:nvPicPr>
          <p:cNvPr id="1073" name="Picture 1072" descr="Diagram&#10;&#10;Description automatically generated">
            <a:extLst>
              <a:ext uri="{FF2B5EF4-FFF2-40B4-BE49-F238E27FC236}">
                <a16:creationId xmlns:a16="http://schemas.microsoft.com/office/drawing/2014/main" id="{B4883B3C-7BCE-74D7-A663-8F25B4CFFB0F}"/>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3901" r="19375" b="13538"/>
          <a:stretch/>
        </p:blipFill>
        <p:spPr>
          <a:xfrm>
            <a:off x="8026654" y="2126433"/>
            <a:ext cx="3758691" cy="3042920"/>
          </a:xfrm>
          <a:prstGeom prst="rect">
            <a:avLst/>
          </a:prstGeom>
        </p:spPr>
      </p:pic>
      <p:sp>
        <p:nvSpPr>
          <p:cNvPr id="3" name="TextBox 2">
            <a:extLst>
              <a:ext uri="{FF2B5EF4-FFF2-40B4-BE49-F238E27FC236}">
                <a16:creationId xmlns:a16="http://schemas.microsoft.com/office/drawing/2014/main" id="{F38EB1B8-5CB2-4651-4E3D-E3C08CAE75C7}"/>
              </a:ext>
            </a:extLst>
          </p:cNvPr>
          <p:cNvSpPr txBox="1"/>
          <p:nvPr/>
        </p:nvSpPr>
        <p:spPr>
          <a:xfrm>
            <a:off x="9279280" y="5169353"/>
            <a:ext cx="1680268" cy="246221"/>
          </a:xfrm>
          <a:prstGeom prst="rect">
            <a:avLst/>
          </a:prstGeom>
          <a:noFill/>
        </p:spPr>
        <p:txBody>
          <a:bodyPr wrap="none" rtlCol="0">
            <a:spAutoFit/>
          </a:bodyPr>
          <a:lstStyle/>
          <a:p>
            <a:r>
              <a:rPr lang="en-US" sz="1000" dirty="0"/>
              <a:t>Simplified industrial network</a:t>
            </a:r>
          </a:p>
        </p:txBody>
      </p:sp>
      <p:sp>
        <p:nvSpPr>
          <p:cNvPr id="4" name="TextBox 3">
            <a:extLst>
              <a:ext uri="{FF2B5EF4-FFF2-40B4-BE49-F238E27FC236}">
                <a16:creationId xmlns:a16="http://schemas.microsoft.com/office/drawing/2014/main" id="{537D0852-74A6-BAB6-D9B2-D9BDD2136EFF}"/>
              </a:ext>
            </a:extLst>
          </p:cNvPr>
          <p:cNvSpPr txBox="1"/>
          <p:nvPr/>
        </p:nvSpPr>
        <p:spPr>
          <a:xfrm>
            <a:off x="9905999" y="1769285"/>
            <a:ext cx="965329" cy="253916"/>
          </a:xfrm>
          <a:prstGeom prst="rect">
            <a:avLst/>
          </a:prstGeom>
          <a:solidFill>
            <a:schemeClr val="accent1">
              <a:lumMod val="20000"/>
              <a:lumOff val="80000"/>
            </a:schemeClr>
          </a:solidFill>
        </p:spPr>
        <p:txBody>
          <a:bodyPr wrap="none" rtlCol="0">
            <a:spAutoFit/>
          </a:bodyPr>
          <a:lstStyle/>
          <a:p>
            <a:r>
              <a:rPr lang="en-US" sz="1000" i="1" dirty="0"/>
              <a:t>E = Equipment</a:t>
            </a:r>
            <a:endParaRPr lang="en-US" sz="1000" i="1" baseline="-25000" dirty="0"/>
          </a:p>
        </p:txBody>
      </p:sp>
    </p:spTree>
    <p:custDataLst>
      <p:tags r:id="rId1"/>
    </p:custDataLst>
    <p:extLst>
      <p:ext uri="{BB962C8B-B14F-4D97-AF65-F5344CB8AC3E}">
        <p14:creationId xmlns:p14="http://schemas.microsoft.com/office/powerpoint/2010/main" val="3614030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7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P spid="3" grpId="0"/>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fauzisukiman\Desktop\template pp USM\page 2 n seterusnya\Header.jpg"/>
          <p:cNvPicPr>
            <a:picLocks noChangeAspect="1" noChangeArrowheads="1"/>
          </p:cNvPicPr>
          <p:nvPr/>
        </p:nvPicPr>
        <p:blipFill rotWithShape="1">
          <a:blip r:embed="rId4" cstate="print"/>
          <a:srcRect l="14375"/>
          <a:stretch/>
        </p:blipFill>
        <p:spPr bwMode="auto">
          <a:xfrm>
            <a:off x="1268881" y="0"/>
            <a:ext cx="10923119" cy="822960"/>
          </a:xfrm>
          <a:prstGeom prst="rect">
            <a:avLst/>
          </a:prstGeom>
          <a:noFill/>
        </p:spPr>
      </p:pic>
      <p:sp>
        <p:nvSpPr>
          <p:cNvPr id="6" name="Rectangle 5"/>
          <p:cNvSpPr/>
          <p:nvPr/>
        </p:nvSpPr>
        <p:spPr>
          <a:xfrm>
            <a:off x="1447800" y="76200"/>
            <a:ext cx="4030385" cy="707886"/>
          </a:xfrm>
          <a:prstGeom prst="rect">
            <a:avLst/>
          </a:prstGeom>
        </p:spPr>
        <p:txBody>
          <a:bodyPr wrap="square">
            <a:spAutoFit/>
          </a:bodyPr>
          <a:lstStyle/>
          <a:p>
            <a:r>
              <a:rPr lang="en-US" sz="4000" b="1" i="1" dirty="0">
                <a:solidFill>
                  <a:schemeClr val="bg1"/>
                </a:solidFill>
              </a:rPr>
              <a:t> Introduction			</a:t>
            </a:r>
          </a:p>
        </p:txBody>
      </p:sp>
      <p:sp>
        <p:nvSpPr>
          <p:cNvPr id="8" name="Content Placeholder 7"/>
          <p:cNvSpPr>
            <a:spLocks noGrp="1"/>
          </p:cNvSpPr>
          <p:nvPr>
            <p:ph idx="1"/>
          </p:nvPr>
        </p:nvSpPr>
        <p:spPr>
          <a:xfrm>
            <a:off x="544975" y="1383174"/>
            <a:ext cx="7819255" cy="5089652"/>
          </a:xfrm>
        </p:spPr>
        <p:txBody>
          <a:bodyPr>
            <a:noAutofit/>
          </a:bodyPr>
          <a:lstStyle/>
          <a:p>
            <a:pPr marL="357188" indent="-357188" algn="just">
              <a:lnSpc>
                <a:spcPct val="100000"/>
              </a:lnSpc>
              <a:buFont typeface="Wingdings" panose="05000000000000000000" pitchFamily="2" charset="2"/>
              <a:buChar char="§"/>
            </a:pPr>
            <a:r>
              <a:rPr lang="en-US" sz="1800" dirty="0">
                <a:solidFill>
                  <a:schemeClr val="tx2">
                    <a:lumMod val="50000"/>
                  </a:schemeClr>
                </a:solidFill>
              </a:rPr>
              <a:t>Cybercrimes</a:t>
            </a:r>
            <a:r>
              <a:rPr lang="en-US" sz="1800" b="1" dirty="0">
                <a:solidFill>
                  <a:schemeClr val="tx2">
                    <a:lumMod val="50000"/>
                  </a:schemeClr>
                </a:solidFill>
              </a:rPr>
              <a:t> </a:t>
            </a:r>
            <a:r>
              <a:rPr lang="en-US" sz="1800" dirty="0">
                <a:solidFill>
                  <a:schemeClr val="tx2">
                    <a:lumMod val="50000"/>
                  </a:schemeClr>
                </a:solidFill>
              </a:rPr>
              <a:t>could cost companies </a:t>
            </a:r>
            <a:r>
              <a:rPr lang="en-US" sz="1800" b="1" dirty="0">
                <a:solidFill>
                  <a:srgbClr val="C00000"/>
                </a:solidFill>
              </a:rPr>
              <a:t>$10.5 trillion </a:t>
            </a:r>
            <a:r>
              <a:rPr lang="en-US" sz="1800" dirty="0">
                <a:solidFill>
                  <a:schemeClr val="tx2">
                    <a:lumMod val="50000"/>
                  </a:schemeClr>
                </a:solidFill>
              </a:rPr>
              <a:t>per year by 2025</a:t>
            </a:r>
          </a:p>
          <a:p>
            <a:pPr marL="357188" indent="-357188" algn="just">
              <a:lnSpc>
                <a:spcPct val="100000"/>
              </a:lnSpc>
              <a:buFont typeface="Wingdings" panose="05000000000000000000" pitchFamily="2" charset="2"/>
              <a:buChar char="§"/>
            </a:pPr>
            <a:r>
              <a:rPr lang="en-US" sz="1800" dirty="0">
                <a:solidFill>
                  <a:schemeClr val="tx2">
                    <a:lumMod val="50000"/>
                  </a:schemeClr>
                </a:solidFill>
              </a:rPr>
              <a:t>Securing Industrial protocols is of utmost priority</a:t>
            </a:r>
          </a:p>
          <a:p>
            <a:pPr marL="357188" indent="-357188" algn="just">
              <a:lnSpc>
                <a:spcPct val="100000"/>
              </a:lnSpc>
              <a:buFont typeface="Wingdings" panose="05000000000000000000" pitchFamily="2" charset="2"/>
              <a:buChar char="§"/>
            </a:pPr>
            <a:r>
              <a:rPr lang="en-US" sz="1800" dirty="0">
                <a:solidFill>
                  <a:schemeClr val="tx2">
                    <a:lumMod val="50000"/>
                  </a:schemeClr>
                </a:solidFill>
              </a:rPr>
              <a:t>Among several M2M Industrial protocols, </a:t>
            </a:r>
            <a:r>
              <a:rPr lang="en-US" sz="1800" b="1" dirty="0">
                <a:solidFill>
                  <a:srgbClr val="C00000"/>
                </a:solidFill>
              </a:rPr>
              <a:t>SECS/GEM </a:t>
            </a:r>
            <a:r>
              <a:rPr lang="en-US" sz="1800" dirty="0">
                <a:solidFill>
                  <a:schemeClr val="tx2">
                    <a:lumMod val="50000"/>
                  </a:schemeClr>
                </a:solidFill>
              </a:rPr>
              <a:t>is the semiconductor’s equipment-to-host data communications protocol</a:t>
            </a:r>
          </a:p>
          <a:p>
            <a:pPr marL="357188" indent="-357188" algn="just">
              <a:lnSpc>
                <a:spcPct val="100000"/>
              </a:lnSpc>
              <a:buFont typeface="Wingdings" panose="05000000000000000000" pitchFamily="2" charset="2"/>
              <a:buChar char="§"/>
            </a:pPr>
            <a:r>
              <a:rPr lang="en-US" sz="1800" dirty="0">
                <a:solidFill>
                  <a:schemeClr val="tx2">
                    <a:lumMod val="50000"/>
                  </a:schemeClr>
                </a:solidFill>
              </a:rPr>
              <a:t>SECS/GEM is in profound use since its inception</a:t>
            </a:r>
          </a:p>
          <a:p>
            <a:pPr marL="357188" indent="-357188" algn="just">
              <a:lnSpc>
                <a:spcPct val="100000"/>
              </a:lnSpc>
              <a:buFont typeface="Wingdings" panose="05000000000000000000" pitchFamily="2" charset="2"/>
              <a:buChar char="§"/>
            </a:pPr>
            <a:r>
              <a:rPr lang="en-US" sz="1800" dirty="0">
                <a:solidFill>
                  <a:schemeClr val="tx2">
                    <a:lumMod val="50000"/>
                  </a:schemeClr>
                </a:solidFill>
              </a:rPr>
              <a:t>SECS/GEM is a point-to-point protocol, and it is completely devoid of security features</a:t>
            </a:r>
          </a:p>
          <a:p>
            <a:pPr marL="357188" indent="-357188" algn="just">
              <a:lnSpc>
                <a:spcPct val="100000"/>
              </a:lnSpc>
              <a:buFont typeface="Wingdings" panose="05000000000000000000" pitchFamily="2" charset="2"/>
              <a:buChar char="§"/>
            </a:pPr>
            <a:r>
              <a:rPr lang="en-US" sz="1800" dirty="0">
                <a:solidFill>
                  <a:schemeClr val="tx2">
                    <a:lumMod val="50000"/>
                  </a:schemeClr>
                </a:solidFill>
              </a:rPr>
              <a:t>SECS/GEM messages are of two types, control messages, and data messages</a:t>
            </a:r>
          </a:p>
          <a:p>
            <a:pPr marL="357188" indent="-357188" algn="just">
              <a:lnSpc>
                <a:spcPct val="100000"/>
              </a:lnSpc>
              <a:buFont typeface="Wingdings" panose="05000000000000000000" pitchFamily="2" charset="2"/>
              <a:buChar char="§"/>
            </a:pPr>
            <a:r>
              <a:rPr lang="en-US" sz="1800" dirty="0">
                <a:solidFill>
                  <a:schemeClr val="tx2">
                    <a:lumMod val="50000"/>
                  </a:schemeClr>
                </a:solidFill>
              </a:rPr>
              <a:t>SECS/GEM does not require entities to be authenticated</a:t>
            </a:r>
          </a:p>
          <a:p>
            <a:pPr marL="357188" indent="-357188" algn="just">
              <a:lnSpc>
                <a:spcPct val="100000"/>
              </a:lnSpc>
              <a:buFont typeface="Wingdings" panose="05000000000000000000" pitchFamily="2" charset="2"/>
              <a:buChar char="§"/>
            </a:pPr>
            <a:r>
              <a:rPr lang="en-US" sz="1800" dirty="0">
                <a:solidFill>
                  <a:schemeClr val="tx2">
                    <a:lumMod val="50000"/>
                  </a:schemeClr>
                </a:solidFill>
              </a:rPr>
              <a:t>SECS/GEM is vulnerable to several attacks including:</a:t>
            </a:r>
          </a:p>
          <a:p>
            <a:pPr marL="625475" lvl="1" indent="-268288" algn="just">
              <a:lnSpc>
                <a:spcPct val="100000"/>
              </a:lnSpc>
              <a:buFont typeface="Wingdings" panose="05000000000000000000" pitchFamily="2" charset="2"/>
              <a:buChar char="§"/>
            </a:pPr>
            <a:r>
              <a:rPr lang="en-US" sz="1400" dirty="0">
                <a:solidFill>
                  <a:schemeClr val="tx2">
                    <a:lumMod val="50000"/>
                  </a:schemeClr>
                </a:solidFill>
              </a:rPr>
              <a:t>Denial of Service (DoS) attack</a:t>
            </a:r>
          </a:p>
          <a:p>
            <a:pPr marL="625475" lvl="1" indent="-268288" algn="just">
              <a:lnSpc>
                <a:spcPct val="100000"/>
              </a:lnSpc>
              <a:buFont typeface="Wingdings" panose="05000000000000000000" pitchFamily="2" charset="2"/>
              <a:buChar char="§"/>
            </a:pPr>
            <a:r>
              <a:rPr lang="en-US" sz="1400" dirty="0">
                <a:solidFill>
                  <a:schemeClr val="tx2">
                    <a:lumMod val="50000"/>
                  </a:schemeClr>
                </a:solidFill>
              </a:rPr>
              <a:t>Replay attack</a:t>
            </a:r>
          </a:p>
          <a:p>
            <a:pPr marL="625475" lvl="1" indent="-268288" algn="just">
              <a:lnSpc>
                <a:spcPct val="100000"/>
              </a:lnSpc>
              <a:buFont typeface="Wingdings" panose="05000000000000000000" pitchFamily="2" charset="2"/>
              <a:buChar char="§"/>
            </a:pPr>
            <a:r>
              <a:rPr lang="en-US" sz="1400" dirty="0">
                <a:solidFill>
                  <a:schemeClr val="tx2">
                    <a:lumMod val="50000"/>
                  </a:schemeClr>
                </a:solidFill>
              </a:rPr>
              <a:t>False-Data-Injection-Attack (FDIA)</a:t>
            </a:r>
            <a:endParaRPr lang="en-US" sz="1800" dirty="0">
              <a:solidFill>
                <a:schemeClr val="tx2">
                  <a:lumMod val="50000"/>
                </a:schemeClr>
              </a:solidFill>
            </a:endParaRPr>
          </a:p>
        </p:txBody>
      </p:sp>
      <p:sp>
        <p:nvSpPr>
          <p:cNvPr id="2" name="Slide Number Placeholder 1"/>
          <p:cNvSpPr>
            <a:spLocks noGrp="1"/>
          </p:cNvSpPr>
          <p:nvPr>
            <p:ph type="sldNum" sz="quarter" idx="12"/>
          </p:nvPr>
        </p:nvSpPr>
        <p:spPr>
          <a:xfrm>
            <a:off x="9906000" y="6472826"/>
            <a:ext cx="2133600" cy="365125"/>
          </a:xfrm>
        </p:spPr>
        <p:txBody>
          <a:bodyPr/>
          <a:lstStyle/>
          <a:p>
            <a:fld id="{D4B39A3D-6E5B-421C-AA99-AA75690A48C6}" type="slidenum">
              <a:rPr lang="en-US" smtClean="0"/>
              <a:pPr/>
              <a:t>3</a:t>
            </a:fld>
            <a:endParaRPr lang="en-US" dirty="0"/>
          </a:p>
        </p:txBody>
      </p:sp>
      <p:pic>
        <p:nvPicPr>
          <p:cNvPr id="9" name="Picture 3"/>
          <p:cNvPicPr>
            <a:picLocks noChangeAspect="1" noChangeArrowheads="1"/>
          </p:cNvPicPr>
          <p:nvPr/>
        </p:nvPicPr>
        <p:blipFill>
          <a:blip r:embed="rId5" cstate="print">
            <a:clrChange>
              <a:clrFrom>
                <a:srgbClr val="FDFDFD"/>
              </a:clrFrom>
              <a:clrTo>
                <a:srgbClr val="FDFDFD">
                  <a:alpha val="0"/>
                </a:srgbClr>
              </a:clrTo>
            </a:clrChange>
          </a:blip>
          <a:srcRect/>
          <a:stretch>
            <a:fillRect/>
          </a:stretch>
        </p:blipFill>
        <p:spPr bwMode="auto">
          <a:xfrm>
            <a:off x="0" y="-1224"/>
            <a:ext cx="1268881" cy="824184"/>
          </a:xfrm>
          <a:prstGeom prst="rect">
            <a:avLst/>
          </a:prstGeom>
          <a:noFill/>
          <a:ln w="9525">
            <a:noFill/>
            <a:miter lim="800000"/>
            <a:headEnd/>
            <a:tailEnd/>
          </a:ln>
          <a:effectLst/>
        </p:spPr>
      </p:pic>
      <p:grpSp>
        <p:nvGrpSpPr>
          <p:cNvPr id="19" name="Group 18">
            <a:extLst>
              <a:ext uri="{FF2B5EF4-FFF2-40B4-BE49-F238E27FC236}">
                <a16:creationId xmlns:a16="http://schemas.microsoft.com/office/drawing/2014/main" id="{6FD9833F-CD1A-2DF5-5939-40063F963FF6}"/>
              </a:ext>
            </a:extLst>
          </p:cNvPr>
          <p:cNvGrpSpPr/>
          <p:nvPr/>
        </p:nvGrpSpPr>
        <p:grpSpPr>
          <a:xfrm>
            <a:off x="9144000" y="1364258"/>
            <a:ext cx="2784475" cy="5334211"/>
            <a:chOff x="9144000" y="1364258"/>
            <a:chExt cx="2784475" cy="5334211"/>
          </a:xfrm>
        </p:grpSpPr>
        <p:sp>
          <p:nvSpPr>
            <p:cNvPr id="1060" name="TextBox 1059">
              <a:extLst>
                <a:ext uri="{FF2B5EF4-FFF2-40B4-BE49-F238E27FC236}">
                  <a16:creationId xmlns:a16="http://schemas.microsoft.com/office/drawing/2014/main" id="{ABB1533D-0A18-8849-20FC-323E5115BCB6}"/>
                </a:ext>
              </a:extLst>
            </p:cNvPr>
            <p:cNvSpPr txBox="1"/>
            <p:nvPr/>
          </p:nvSpPr>
          <p:spPr>
            <a:xfrm>
              <a:off x="10972800" y="1447800"/>
              <a:ext cx="955675" cy="307777"/>
            </a:xfrm>
            <a:prstGeom prst="rect">
              <a:avLst/>
            </a:prstGeom>
            <a:noFill/>
          </p:spPr>
          <p:txBody>
            <a:bodyPr wrap="square">
              <a:spAutoFit/>
            </a:bodyPr>
            <a:lstStyle/>
            <a:p>
              <a:r>
                <a:rPr lang="en-US" sz="1400" b="1" i="1" dirty="0">
                  <a:solidFill>
                    <a:schemeClr val="accent1">
                      <a:lumMod val="75000"/>
                    </a:schemeClr>
                  </a:solidFill>
                </a:rPr>
                <a:t>Active</a:t>
              </a:r>
              <a:endParaRPr lang="en-US" sz="1400" i="1" dirty="0">
                <a:solidFill>
                  <a:schemeClr val="accent1">
                    <a:lumMod val="75000"/>
                  </a:schemeClr>
                </a:solidFill>
              </a:endParaRPr>
            </a:p>
          </p:txBody>
        </p:sp>
        <p:grpSp>
          <p:nvGrpSpPr>
            <p:cNvPr id="18" name="Group 17">
              <a:extLst>
                <a:ext uri="{FF2B5EF4-FFF2-40B4-BE49-F238E27FC236}">
                  <a16:creationId xmlns:a16="http://schemas.microsoft.com/office/drawing/2014/main" id="{B79B7288-153E-8E12-6039-9CF8B5EE0A6D}"/>
                </a:ext>
              </a:extLst>
            </p:cNvPr>
            <p:cNvGrpSpPr/>
            <p:nvPr/>
          </p:nvGrpSpPr>
          <p:grpSpPr>
            <a:xfrm>
              <a:off x="9144000" y="1364258"/>
              <a:ext cx="2115830" cy="5334211"/>
              <a:chOff x="9144000" y="1364258"/>
              <a:chExt cx="2115830" cy="5334211"/>
            </a:xfrm>
          </p:grpSpPr>
          <p:pic>
            <p:nvPicPr>
              <p:cNvPr id="3" name="Picture 2" descr="DEK Automatic Solder Paste Printer, HORIZON">
                <a:extLst>
                  <a:ext uri="{FF2B5EF4-FFF2-40B4-BE49-F238E27FC236}">
                    <a16:creationId xmlns:a16="http://schemas.microsoft.com/office/drawing/2014/main" id="{746A78DD-9574-4722-B22F-CC66DA96ABEE}"/>
                  </a:ext>
                </a:extLst>
              </p:cNvPr>
              <p:cNvPicPr>
                <a:picLocks noChangeAspect="1" noChangeArrowheads="1"/>
              </p:cNvPicPr>
              <p:nvPr/>
            </p:nvPicPr>
            <p:blipFill rotWithShape="1">
              <a:blip r:embed="rId6" cstate="print">
                <a:extLst>
                  <a:ext uri="{BEBA8EAE-BF5A-486C-A8C5-ECC9F3942E4B}">
                    <a14:imgProps xmlns:a14="http://schemas.microsoft.com/office/drawing/2010/main">
                      <a14:imgLayer r:embed="rId7">
                        <a14:imgEffect>
                          <a14:backgroundRemoval t="12239" b="89552" l="14502" r="86707">
                            <a14:foregroundMark x1="34441" y1="40597" x2="23867" y2="37313"/>
                            <a14:foregroundMark x1="17673" y1="43087" x2="20242" y2="70448"/>
                            <a14:foregroundMark x1="79456" y1="56716" x2="84290" y2="54925"/>
                            <a14:foregroundMark x1="84290" y1="55522" x2="87311" y2="55522"/>
                            <a14:foregroundMark x1="77341" y1="48955" x2="81269" y2="45970"/>
                            <a14:foregroundMark x1="46828" y1="12239" x2="47130" y2="18806"/>
                            <a14:foregroundMark x1="22961" y1="34925" x2="22961" y2="34925"/>
                            <a14:foregroundMark x1="22356" y1="34328" x2="19897" y2="35862"/>
                            <a14:foregroundMark x1="22356" y1="34328" x2="20489" y2="36050"/>
                            <a14:foregroundMark x1="21752" y1="32836" x2="20527" y2="34576"/>
                            <a14:foregroundMark x1="18127" y1="43232" x2="18127" y2="43881"/>
                            <a14:foregroundMark x1="16092" y1="42585" x2="16918" y2="46567"/>
                            <a14:foregroundMark x1="15966" y1="42545" x2="16918" y2="51642"/>
                            <a14:foregroundMark x1="48563" y1="27463" x2="49849" y2="27164"/>
                            <a14:foregroundMark x1="47281" y1="27761" x2="48563" y2="27463"/>
                            <a14:foregroundMark x1="46877" y1="27855" x2="47281" y2="27761"/>
                            <a14:foregroundMark x1="20843" y1="33907" x2="26873" y2="32505"/>
                            <a14:foregroundMark x1="36254" y1="83582" x2="36556" y2="79701"/>
                            <a14:foregroundMark x1="37462" y1="89552" x2="36858" y2="87761"/>
                            <a14:backgroundMark x1="49245" y1="27164" x2="49245" y2="27164"/>
                            <a14:backgroundMark x1="50151" y1="27463" x2="50453" y2="26866"/>
                            <a14:backgroundMark x1="50453" y1="26866" x2="50453" y2="26866"/>
                            <a14:backgroundMark x1="48943" y1="27463" x2="48943" y2="27463"/>
                            <a14:backgroundMark x1="48640" y1="27463" x2="48640" y2="27463"/>
                            <a14:backgroundMark x1="48338" y1="27761" x2="48338" y2="27761"/>
                            <a14:backgroundMark x1="47734" y1="27761" x2="47734" y2="27761"/>
                            <a14:backgroundMark x1="43807" y1="28060" x2="43807" y2="28060"/>
                            <a14:backgroundMark x1="16012" y1="36716" x2="16012" y2="36716"/>
                            <a14:backgroundMark x1="16012" y1="34627" x2="13595" y2="41791"/>
                            <a14:backgroundMark x1="16012" y1="35522" x2="19335" y2="31642"/>
                            <a14:backgroundMark x1="17825" y1="34030" x2="22054" y2="31343"/>
                            <a14:backgroundMark x1="27190" y1="31940" x2="46526" y2="27463"/>
                            <a14:backgroundMark x1="46526" y1="27463" x2="47130" y2="27463"/>
                          </a14:backgroundRemoval>
                        </a14:imgEffect>
                      </a14:imgLayer>
                    </a14:imgProps>
                  </a:ext>
                  <a:ext uri="{28A0092B-C50C-407E-A947-70E740481C1C}">
                    <a14:useLocalDpi xmlns:a14="http://schemas.microsoft.com/office/drawing/2010/main" val="0"/>
                  </a:ext>
                </a:extLst>
              </a:blip>
              <a:srcRect l="13053" t="9160" r="10786" b="9856"/>
              <a:stretch/>
            </p:blipFill>
            <p:spPr bwMode="auto">
              <a:xfrm>
                <a:off x="9874250" y="5204709"/>
                <a:ext cx="1385580" cy="1493760"/>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oup 3">
                <a:extLst>
                  <a:ext uri="{FF2B5EF4-FFF2-40B4-BE49-F238E27FC236}">
                    <a16:creationId xmlns:a16="http://schemas.microsoft.com/office/drawing/2014/main" id="{D437D8F5-6565-37C0-9030-6AA93E420604}"/>
                  </a:ext>
                </a:extLst>
              </p:cNvPr>
              <p:cNvGrpSpPr/>
              <p:nvPr/>
            </p:nvGrpSpPr>
            <p:grpSpPr>
              <a:xfrm>
                <a:off x="9753600" y="1364258"/>
                <a:ext cx="1143000" cy="541865"/>
                <a:chOff x="9753600" y="1364258"/>
                <a:chExt cx="1290834" cy="687983"/>
              </a:xfrm>
            </p:grpSpPr>
            <p:grpSp>
              <p:nvGrpSpPr>
                <p:cNvPr id="11" name="Group 10">
                  <a:extLst>
                    <a:ext uri="{FF2B5EF4-FFF2-40B4-BE49-F238E27FC236}">
                      <a16:creationId xmlns:a16="http://schemas.microsoft.com/office/drawing/2014/main" id="{60C64DC0-CE34-C83F-A772-07AA61074948}"/>
                    </a:ext>
                  </a:extLst>
                </p:cNvPr>
                <p:cNvGrpSpPr/>
                <p:nvPr/>
              </p:nvGrpSpPr>
              <p:grpSpPr>
                <a:xfrm>
                  <a:off x="9753600" y="1364258"/>
                  <a:ext cx="1290834" cy="687983"/>
                  <a:chOff x="9503643" y="1042491"/>
                  <a:chExt cx="1560404" cy="986264"/>
                </a:xfrm>
              </p:grpSpPr>
              <p:sp>
                <p:nvSpPr>
                  <p:cNvPr id="16" name="Freeform: Shape 15">
                    <a:extLst>
                      <a:ext uri="{FF2B5EF4-FFF2-40B4-BE49-F238E27FC236}">
                        <a16:creationId xmlns:a16="http://schemas.microsoft.com/office/drawing/2014/main" id="{C8C23776-E6BA-BD1E-05C0-FEAF0FA21E2A}"/>
                      </a:ext>
                    </a:extLst>
                  </p:cNvPr>
                  <p:cNvSpPr/>
                  <p:nvPr/>
                </p:nvSpPr>
                <p:spPr>
                  <a:xfrm>
                    <a:off x="9503643" y="1042491"/>
                    <a:ext cx="1011957" cy="980152"/>
                  </a:xfrm>
                  <a:custGeom>
                    <a:avLst/>
                    <a:gdLst>
                      <a:gd name="connsiteX0" fmla="*/ 771524 w 857249"/>
                      <a:gd name="connsiteY0" fmla="*/ 542925 h 800099"/>
                      <a:gd name="connsiteX1" fmla="*/ 85725 w 857249"/>
                      <a:gd name="connsiteY1" fmla="*/ 542925 h 800099"/>
                      <a:gd name="connsiteX2" fmla="*/ 85725 w 857249"/>
                      <a:gd name="connsiteY2" fmla="*/ 85725 h 800099"/>
                      <a:gd name="connsiteX3" fmla="*/ 771524 w 857249"/>
                      <a:gd name="connsiteY3" fmla="*/ 85725 h 800099"/>
                      <a:gd name="connsiteX4" fmla="*/ 771524 w 857249"/>
                      <a:gd name="connsiteY4" fmla="*/ 542925 h 800099"/>
                      <a:gd name="connsiteX5" fmla="*/ 800099 w 857249"/>
                      <a:gd name="connsiteY5" fmla="*/ 0 h 800099"/>
                      <a:gd name="connsiteX6" fmla="*/ 57150 w 857249"/>
                      <a:gd name="connsiteY6" fmla="*/ 0 h 800099"/>
                      <a:gd name="connsiteX7" fmla="*/ 0 w 857249"/>
                      <a:gd name="connsiteY7" fmla="*/ 57150 h 800099"/>
                      <a:gd name="connsiteX8" fmla="*/ 0 w 857249"/>
                      <a:gd name="connsiteY8" fmla="*/ 571500 h 800099"/>
                      <a:gd name="connsiteX9" fmla="*/ 57150 w 857249"/>
                      <a:gd name="connsiteY9" fmla="*/ 628650 h 800099"/>
                      <a:gd name="connsiteX10" fmla="*/ 342900 w 857249"/>
                      <a:gd name="connsiteY10" fmla="*/ 628650 h 800099"/>
                      <a:gd name="connsiteX11" fmla="*/ 342900 w 857249"/>
                      <a:gd name="connsiteY11" fmla="*/ 714375 h 800099"/>
                      <a:gd name="connsiteX12" fmla="*/ 214312 w 857249"/>
                      <a:gd name="connsiteY12" fmla="*/ 714375 h 800099"/>
                      <a:gd name="connsiteX13" fmla="*/ 214312 w 857249"/>
                      <a:gd name="connsiteY13" fmla="*/ 800099 h 800099"/>
                      <a:gd name="connsiteX14" fmla="*/ 642937 w 857249"/>
                      <a:gd name="connsiteY14" fmla="*/ 800099 h 800099"/>
                      <a:gd name="connsiteX15" fmla="*/ 642937 w 857249"/>
                      <a:gd name="connsiteY15" fmla="*/ 714375 h 800099"/>
                      <a:gd name="connsiteX16" fmla="*/ 514350 w 857249"/>
                      <a:gd name="connsiteY16" fmla="*/ 714375 h 800099"/>
                      <a:gd name="connsiteX17" fmla="*/ 514350 w 857249"/>
                      <a:gd name="connsiteY17" fmla="*/ 628650 h 800099"/>
                      <a:gd name="connsiteX18" fmla="*/ 800099 w 857249"/>
                      <a:gd name="connsiteY18" fmla="*/ 628650 h 800099"/>
                      <a:gd name="connsiteX19" fmla="*/ 857249 w 857249"/>
                      <a:gd name="connsiteY19" fmla="*/ 571500 h 800099"/>
                      <a:gd name="connsiteX20" fmla="*/ 857249 w 857249"/>
                      <a:gd name="connsiteY20" fmla="*/ 57150 h 800099"/>
                      <a:gd name="connsiteX21" fmla="*/ 800099 w 857249"/>
                      <a:gd name="connsiteY21" fmla="*/ 0 h 800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57249" h="800099">
                        <a:moveTo>
                          <a:pt x="771524" y="542925"/>
                        </a:moveTo>
                        <a:lnTo>
                          <a:pt x="85725" y="542925"/>
                        </a:lnTo>
                        <a:lnTo>
                          <a:pt x="85725" y="85725"/>
                        </a:lnTo>
                        <a:lnTo>
                          <a:pt x="771524" y="85725"/>
                        </a:lnTo>
                        <a:lnTo>
                          <a:pt x="771524" y="542925"/>
                        </a:lnTo>
                        <a:close/>
                        <a:moveTo>
                          <a:pt x="800099" y="0"/>
                        </a:moveTo>
                        <a:lnTo>
                          <a:pt x="57150" y="0"/>
                        </a:lnTo>
                        <a:cubicBezTo>
                          <a:pt x="25717" y="0"/>
                          <a:pt x="0" y="25717"/>
                          <a:pt x="0" y="57150"/>
                        </a:cubicBezTo>
                        <a:lnTo>
                          <a:pt x="0" y="571500"/>
                        </a:lnTo>
                        <a:cubicBezTo>
                          <a:pt x="0" y="602932"/>
                          <a:pt x="25717" y="628650"/>
                          <a:pt x="57150" y="628650"/>
                        </a:cubicBezTo>
                        <a:lnTo>
                          <a:pt x="342900" y="628650"/>
                        </a:lnTo>
                        <a:lnTo>
                          <a:pt x="342900" y="714375"/>
                        </a:lnTo>
                        <a:lnTo>
                          <a:pt x="214312" y="714375"/>
                        </a:lnTo>
                        <a:lnTo>
                          <a:pt x="214312" y="800099"/>
                        </a:lnTo>
                        <a:lnTo>
                          <a:pt x="642937" y="800099"/>
                        </a:lnTo>
                        <a:lnTo>
                          <a:pt x="642937" y="714375"/>
                        </a:lnTo>
                        <a:lnTo>
                          <a:pt x="514350" y="714375"/>
                        </a:lnTo>
                        <a:lnTo>
                          <a:pt x="514350" y="628650"/>
                        </a:lnTo>
                        <a:lnTo>
                          <a:pt x="800099" y="628650"/>
                        </a:lnTo>
                        <a:cubicBezTo>
                          <a:pt x="831532" y="628650"/>
                          <a:pt x="857249" y="602932"/>
                          <a:pt x="857249" y="571500"/>
                        </a:cubicBezTo>
                        <a:lnTo>
                          <a:pt x="857249" y="57150"/>
                        </a:lnTo>
                        <a:cubicBezTo>
                          <a:pt x="857249" y="25717"/>
                          <a:pt x="831532" y="0"/>
                          <a:pt x="800099" y="0"/>
                        </a:cubicBezTo>
                        <a:close/>
                      </a:path>
                    </a:pathLst>
                  </a:custGeom>
                  <a:solidFill>
                    <a:schemeClr val="accent5">
                      <a:lumMod val="75000"/>
                    </a:schemeClr>
                  </a:solidFill>
                  <a:ln w="14188" cap="flat">
                    <a:noFill/>
                    <a:prstDash val="solid"/>
                    <a:miter/>
                  </a:ln>
                </p:spPr>
                <p:txBody>
                  <a:bodyPr rtlCol="0" anchor="ctr"/>
                  <a:lstStyle/>
                  <a:p>
                    <a:endParaRPr lang="en-MY"/>
                  </a:p>
                </p:txBody>
              </p:sp>
              <p:sp>
                <p:nvSpPr>
                  <p:cNvPr id="1058" name="Freeform: Shape 1057">
                    <a:extLst>
                      <a:ext uri="{FF2B5EF4-FFF2-40B4-BE49-F238E27FC236}">
                        <a16:creationId xmlns:a16="http://schemas.microsoft.com/office/drawing/2014/main" id="{C5F71A66-ACB5-A86D-36DD-15B9936C4E98}"/>
                      </a:ext>
                    </a:extLst>
                  </p:cNvPr>
                  <p:cNvSpPr/>
                  <p:nvPr/>
                </p:nvSpPr>
                <p:spPr>
                  <a:xfrm>
                    <a:off x="10591800" y="1048603"/>
                    <a:ext cx="472247" cy="980152"/>
                  </a:xfrm>
                  <a:custGeom>
                    <a:avLst/>
                    <a:gdLst>
                      <a:gd name="connsiteX0" fmla="*/ 342900 w 400049"/>
                      <a:gd name="connsiteY0" fmla="*/ 142875 h 800099"/>
                      <a:gd name="connsiteX1" fmla="*/ 57150 w 400049"/>
                      <a:gd name="connsiteY1" fmla="*/ 142875 h 800099"/>
                      <a:gd name="connsiteX2" fmla="*/ 57150 w 400049"/>
                      <a:gd name="connsiteY2" fmla="*/ 57150 h 800099"/>
                      <a:gd name="connsiteX3" fmla="*/ 342900 w 400049"/>
                      <a:gd name="connsiteY3" fmla="*/ 57150 h 800099"/>
                      <a:gd name="connsiteX4" fmla="*/ 342900 w 400049"/>
                      <a:gd name="connsiteY4" fmla="*/ 142875 h 800099"/>
                      <a:gd name="connsiteX5" fmla="*/ 342900 w 400049"/>
                      <a:gd name="connsiteY5" fmla="*/ 285750 h 800099"/>
                      <a:gd name="connsiteX6" fmla="*/ 57150 w 400049"/>
                      <a:gd name="connsiteY6" fmla="*/ 285750 h 800099"/>
                      <a:gd name="connsiteX7" fmla="*/ 57150 w 400049"/>
                      <a:gd name="connsiteY7" fmla="*/ 200025 h 800099"/>
                      <a:gd name="connsiteX8" fmla="*/ 342900 w 400049"/>
                      <a:gd name="connsiteY8" fmla="*/ 200025 h 800099"/>
                      <a:gd name="connsiteX9" fmla="*/ 342900 w 400049"/>
                      <a:gd name="connsiteY9" fmla="*/ 285750 h 800099"/>
                      <a:gd name="connsiteX10" fmla="*/ 200025 w 400049"/>
                      <a:gd name="connsiteY10" fmla="*/ 714375 h 800099"/>
                      <a:gd name="connsiteX11" fmla="*/ 157162 w 400049"/>
                      <a:gd name="connsiteY11" fmla="*/ 671512 h 800099"/>
                      <a:gd name="connsiteX12" fmla="*/ 200025 w 400049"/>
                      <a:gd name="connsiteY12" fmla="*/ 628650 h 800099"/>
                      <a:gd name="connsiteX13" fmla="*/ 242887 w 400049"/>
                      <a:gd name="connsiteY13" fmla="*/ 671512 h 800099"/>
                      <a:gd name="connsiteX14" fmla="*/ 200025 w 400049"/>
                      <a:gd name="connsiteY14" fmla="*/ 714375 h 800099"/>
                      <a:gd name="connsiteX15" fmla="*/ 342900 w 400049"/>
                      <a:gd name="connsiteY15" fmla="*/ 0 h 800099"/>
                      <a:gd name="connsiteX16" fmla="*/ 57150 w 400049"/>
                      <a:gd name="connsiteY16" fmla="*/ 0 h 800099"/>
                      <a:gd name="connsiteX17" fmla="*/ 0 w 400049"/>
                      <a:gd name="connsiteY17" fmla="*/ 57150 h 800099"/>
                      <a:gd name="connsiteX18" fmla="*/ 0 w 400049"/>
                      <a:gd name="connsiteY18" fmla="*/ 742949 h 800099"/>
                      <a:gd name="connsiteX19" fmla="*/ 57150 w 400049"/>
                      <a:gd name="connsiteY19" fmla="*/ 800099 h 800099"/>
                      <a:gd name="connsiteX20" fmla="*/ 342900 w 400049"/>
                      <a:gd name="connsiteY20" fmla="*/ 800099 h 800099"/>
                      <a:gd name="connsiteX21" fmla="*/ 400050 w 400049"/>
                      <a:gd name="connsiteY21" fmla="*/ 742949 h 800099"/>
                      <a:gd name="connsiteX22" fmla="*/ 400050 w 400049"/>
                      <a:gd name="connsiteY22" fmla="*/ 57150 h 800099"/>
                      <a:gd name="connsiteX23" fmla="*/ 342900 w 400049"/>
                      <a:gd name="connsiteY23" fmla="*/ 0 h 800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00049" h="800099">
                        <a:moveTo>
                          <a:pt x="342900" y="142875"/>
                        </a:moveTo>
                        <a:lnTo>
                          <a:pt x="57150" y="142875"/>
                        </a:lnTo>
                        <a:lnTo>
                          <a:pt x="57150" y="57150"/>
                        </a:lnTo>
                        <a:lnTo>
                          <a:pt x="342900" y="57150"/>
                        </a:lnTo>
                        <a:lnTo>
                          <a:pt x="342900" y="142875"/>
                        </a:lnTo>
                        <a:close/>
                        <a:moveTo>
                          <a:pt x="342900" y="285750"/>
                        </a:moveTo>
                        <a:lnTo>
                          <a:pt x="57150" y="285750"/>
                        </a:lnTo>
                        <a:lnTo>
                          <a:pt x="57150" y="200025"/>
                        </a:lnTo>
                        <a:lnTo>
                          <a:pt x="342900" y="200025"/>
                        </a:lnTo>
                        <a:lnTo>
                          <a:pt x="342900" y="285750"/>
                        </a:lnTo>
                        <a:close/>
                        <a:moveTo>
                          <a:pt x="200025" y="714375"/>
                        </a:moveTo>
                        <a:cubicBezTo>
                          <a:pt x="175736" y="714375"/>
                          <a:pt x="157162" y="695801"/>
                          <a:pt x="157162" y="671512"/>
                        </a:cubicBezTo>
                        <a:cubicBezTo>
                          <a:pt x="157162" y="647223"/>
                          <a:pt x="175736" y="628650"/>
                          <a:pt x="200025" y="628650"/>
                        </a:cubicBezTo>
                        <a:cubicBezTo>
                          <a:pt x="224314" y="628650"/>
                          <a:pt x="242887" y="647223"/>
                          <a:pt x="242887" y="671512"/>
                        </a:cubicBezTo>
                        <a:cubicBezTo>
                          <a:pt x="242887" y="695801"/>
                          <a:pt x="224314" y="714375"/>
                          <a:pt x="200025" y="714375"/>
                        </a:cubicBezTo>
                        <a:close/>
                        <a:moveTo>
                          <a:pt x="342900" y="0"/>
                        </a:moveTo>
                        <a:lnTo>
                          <a:pt x="57150" y="0"/>
                        </a:lnTo>
                        <a:cubicBezTo>
                          <a:pt x="25718" y="0"/>
                          <a:pt x="0" y="25717"/>
                          <a:pt x="0" y="57150"/>
                        </a:cubicBezTo>
                        <a:lnTo>
                          <a:pt x="0" y="742949"/>
                        </a:lnTo>
                        <a:cubicBezTo>
                          <a:pt x="0" y="774382"/>
                          <a:pt x="25718" y="800099"/>
                          <a:pt x="57150" y="800099"/>
                        </a:cubicBezTo>
                        <a:lnTo>
                          <a:pt x="342900" y="800099"/>
                        </a:lnTo>
                        <a:cubicBezTo>
                          <a:pt x="374332" y="800099"/>
                          <a:pt x="400050" y="774382"/>
                          <a:pt x="400050" y="742949"/>
                        </a:cubicBezTo>
                        <a:lnTo>
                          <a:pt x="400050" y="57150"/>
                        </a:lnTo>
                        <a:cubicBezTo>
                          <a:pt x="400050" y="25717"/>
                          <a:pt x="374332" y="0"/>
                          <a:pt x="342900" y="0"/>
                        </a:cubicBezTo>
                        <a:close/>
                      </a:path>
                    </a:pathLst>
                  </a:custGeom>
                  <a:solidFill>
                    <a:schemeClr val="accent1">
                      <a:lumMod val="75000"/>
                    </a:schemeClr>
                  </a:solidFill>
                  <a:ln w="14188" cap="flat">
                    <a:noFill/>
                    <a:prstDash val="solid"/>
                    <a:miter/>
                  </a:ln>
                </p:spPr>
                <p:txBody>
                  <a:bodyPr rtlCol="0" anchor="ctr"/>
                  <a:lstStyle/>
                  <a:p>
                    <a:endParaRPr lang="en-MY"/>
                  </a:p>
                </p:txBody>
              </p:sp>
            </p:grpSp>
            <p:sp>
              <p:nvSpPr>
                <p:cNvPr id="14" name="TextBox 13">
                  <a:extLst>
                    <a:ext uri="{FF2B5EF4-FFF2-40B4-BE49-F238E27FC236}">
                      <a16:creationId xmlns:a16="http://schemas.microsoft.com/office/drawing/2014/main" id="{348D17B1-1FAC-6DAC-18BE-9F6F84D9162F}"/>
                    </a:ext>
                  </a:extLst>
                </p:cNvPr>
                <p:cNvSpPr txBox="1"/>
                <p:nvPr/>
              </p:nvSpPr>
              <p:spPr>
                <a:xfrm>
                  <a:off x="9902810" y="1492161"/>
                  <a:ext cx="514497" cy="332155"/>
                </a:xfrm>
                <a:prstGeom prst="rect">
                  <a:avLst/>
                </a:prstGeom>
                <a:noFill/>
              </p:spPr>
              <p:txBody>
                <a:bodyPr wrap="none" rtlCol="0">
                  <a:spAutoFit/>
                </a:bodyPr>
                <a:lstStyle/>
                <a:p>
                  <a:r>
                    <a:rPr lang="en-US" sz="1100" b="1" dirty="0"/>
                    <a:t>Host</a:t>
                  </a:r>
                </a:p>
              </p:txBody>
            </p:sp>
          </p:grpSp>
          <p:sp>
            <p:nvSpPr>
              <p:cNvPr id="1059" name="TextBox 1058">
                <a:extLst>
                  <a:ext uri="{FF2B5EF4-FFF2-40B4-BE49-F238E27FC236}">
                    <a16:creationId xmlns:a16="http://schemas.microsoft.com/office/drawing/2014/main" id="{37026441-E0EE-DE0F-090B-35E2E4A334D0}"/>
                  </a:ext>
                </a:extLst>
              </p:cNvPr>
              <p:cNvSpPr txBox="1"/>
              <p:nvPr/>
            </p:nvSpPr>
            <p:spPr>
              <a:xfrm>
                <a:off x="9144000" y="5858483"/>
                <a:ext cx="727075" cy="307777"/>
              </a:xfrm>
              <a:prstGeom prst="rect">
                <a:avLst/>
              </a:prstGeom>
              <a:noFill/>
            </p:spPr>
            <p:txBody>
              <a:bodyPr wrap="square">
                <a:spAutoFit/>
              </a:bodyPr>
              <a:lstStyle/>
              <a:p>
                <a:r>
                  <a:rPr lang="en-US" sz="1400" b="1" i="1" dirty="0">
                    <a:solidFill>
                      <a:schemeClr val="accent1">
                        <a:lumMod val="75000"/>
                      </a:schemeClr>
                    </a:solidFill>
                  </a:rPr>
                  <a:t>Passive</a:t>
                </a:r>
                <a:endParaRPr lang="en-US" sz="1400" i="1" dirty="0">
                  <a:solidFill>
                    <a:schemeClr val="accent1">
                      <a:lumMod val="75000"/>
                    </a:schemeClr>
                  </a:solidFill>
                </a:endParaRPr>
              </a:p>
            </p:txBody>
          </p:sp>
          <p:sp>
            <p:nvSpPr>
              <p:cNvPr id="1061" name="Arrow: Up-Down 1060">
                <a:extLst>
                  <a:ext uri="{FF2B5EF4-FFF2-40B4-BE49-F238E27FC236}">
                    <a16:creationId xmlns:a16="http://schemas.microsoft.com/office/drawing/2014/main" id="{6C48B77C-1A24-C9DD-53C1-72C15CF90C25}"/>
                  </a:ext>
                </a:extLst>
              </p:cNvPr>
              <p:cNvSpPr/>
              <p:nvPr/>
            </p:nvSpPr>
            <p:spPr>
              <a:xfrm>
                <a:off x="10187442" y="3607333"/>
                <a:ext cx="306284" cy="389588"/>
              </a:xfrm>
              <a:prstGeom prst="upDownArrow">
                <a:avLst>
                  <a:gd name="adj1" fmla="val 59369"/>
                  <a:gd name="adj2" fmla="val 32406"/>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62" name="Picture 1061">
                <a:extLst>
                  <a:ext uri="{FF2B5EF4-FFF2-40B4-BE49-F238E27FC236}">
                    <a16:creationId xmlns:a16="http://schemas.microsoft.com/office/drawing/2014/main" id="{7830292E-2613-103C-0196-67CD0B955B77}"/>
                  </a:ext>
                </a:extLst>
              </p:cNvPr>
              <p:cNvPicPr>
                <a:picLocks noChangeAspect="1"/>
              </p:cNvPicPr>
              <p:nvPr/>
            </p:nvPicPr>
            <p:blipFill>
              <a:blip r:embed="rId8"/>
              <a:stretch>
                <a:fillRect/>
              </a:stretch>
            </p:blipFill>
            <p:spPr>
              <a:xfrm>
                <a:off x="9636734" y="1981200"/>
                <a:ext cx="1407700" cy="1579371"/>
              </a:xfrm>
              <a:prstGeom prst="rect">
                <a:avLst/>
              </a:prstGeom>
            </p:spPr>
          </p:pic>
          <p:pic>
            <p:nvPicPr>
              <p:cNvPr id="1063" name="Picture 1062">
                <a:extLst>
                  <a:ext uri="{FF2B5EF4-FFF2-40B4-BE49-F238E27FC236}">
                    <a16:creationId xmlns:a16="http://schemas.microsoft.com/office/drawing/2014/main" id="{EDCB287A-2F60-1C17-A87C-A9A504C5A06F}"/>
                  </a:ext>
                </a:extLst>
              </p:cNvPr>
              <p:cNvPicPr>
                <a:picLocks noChangeAspect="1"/>
              </p:cNvPicPr>
              <p:nvPr/>
            </p:nvPicPr>
            <p:blipFill>
              <a:blip r:embed="rId9"/>
              <a:stretch>
                <a:fillRect/>
              </a:stretch>
            </p:blipFill>
            <p:spPr>
              <a:xfrm>
                <a:off x="9640491" y="4043684"/>
                <a:ext cx="1403943" cy="1138564"/>
              </a:xfrm>
              <a:prstGeom prst="rect">
                <a:avLst/>
              </a:prstGeom>
            </p:spPr>
          </p:pic>
        </p:grpSp>
      </p:grpSp>
    </p:spTree>
    <p:custDataLst>
      <p:tags r:id="rId1"/>
    </p:custDataLst>
    <p:extLst>
      <p:ext uri="{BB962C8B-B14F-4D97-AF65-F5344CB8AC3E}">
        <p14:creationId xmlns:p14="http://schemas.microsoft.com/office/powerpoint/2010/main" val="1675919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
                                            <p:txEl>
                                              <p:pRg st="7" end="7"/>
                                            </p:txEl>
                                          </p:spTgt>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
                                            <p:txEl>
                                              <p:pRg st="8" end="8"/>
                                            </p:txEl>
                                          </p:spTgt>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8">
                                            <p:txEl>
                                              <p:pRg st="9" end="9"/>
                                            </p:txEl>
                                          </p:spTgt>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939AF30-2CF2-A6E5-C0CC-E1609AA9BFCB}"/>
              </a:ext>
            </a:extLst>
          </p:cNvPr>
          <p:cNvPicPr>
            <a:picLocks noChangeAspect="1"/>
          </p:cNvPicPr>
          <p:nvPr/>
        </p:nvPicPr>
        <p:blipFill>
          <a:blip r:embed="rId4"/>
          <a:stretch>
            <a:fillRect/>
          </a:stretch>
        </p:blipFill>
        <p:spPr>
          <a:xfrm>
            <a:off x="8534401" y="1371600"/>
            <a:ext cx="3129280" cy="5305700"/>
          </a:xfrm>
          <a:prstGeom prst="rect">
            <a:avLst/>
          </a:prstGeom>
        </p:spPr>
      </p:pic>
      <p:pic>
        <p:nvPicPr>
          <p:cNvPr id="1026" name="Picture 2" descr="C:\Users\fauzisukiman\Desktop\template pp USM\page 2 n seterusnya\Header.jpg"/>
          <p:cNvPicPr>
            <a:picLocks noChangeAspect="1" noChangeArrowheads="1"/>
          </p:cNvPicPr>
          <p:nvPr/>
        </p:nvPicPr>
        <p:blipFill rotWithShape="1">
          <a:blip r:embed="rId5" cstate="print"/>
          <a:srcRect l="14375"/>
          <a:stretch/>
        </p:blipFill>
        <p:spPr bwMode="auto">
          <a:xfrm>
            <a:off x="1268881" y="0"/>
            <a:ext cx="10923119" cy="822960"/>
          </a:xfrm>
          <a:prstGeom prst="rect">
            <a:avLst/>
          </a:prstGeom>
          <a:noFill/>
        </p:spPr>
      </p:pic>
      <p:sp>
        <p:nvSpPr>
          <p:cNvPr id="6" name="Rectangle 5"/>
          <p:cNvSpPr/>
          <p:nvPr/>
        </p:nvSpPr>
        <p:spPr>
          <a:xfrm>
            <a:off x="1447800" y="76200"/>
            <a:ext cx="10287000" cy="707886"/>
          </a:xfrm>
          <a:prstGeom prst="rect">
            <a:avLst/>
          </a:prstGeom>
        </p:spPr>
        <p:txBody>
          <a:bodyPr wrap="square">
            <a:spAutoFit/>
          </a:bodyPr>
          <a:lstStyle/>
          <a:p>
            <a:r>
              <a:rPr lang="en-US" sz="4000" b="1" i="1" dirty="0">
                <a:solidFill>
                  <a:schemeClr val="bg1"/>
                </a:solidFill>
              </a:rPr>
              <a:t>Problem Statement (Simplified)</a:t>
            </a:r>
          </a:p>
        </p:txBody>
      </p:sp>
      <p:sp>
        <p:nvSpPr>
          <p:cNvPr id="8" name="Content Placeholder 7"/>
          <p:cNvSpPr>
            <a:spLocks noGrp="1"/>
          </p:cNvSpPr>
          <p:nvPr>
            <p:ph idx="1"/>
          </p:nvPr>
        </p:nvSpPr>
        <p:spPr>
          <a:xfrm>
            <a:off x="548640" y="1386840"/>
            <a:ext cx="7985760" cy="4757552"/>
          </a:xfrm>
        </p:spPr>
        <p:txBody>
          <a:bodyPr>
            <a:noAutofit/>
          </a:bodyPr>
          <a:lstStyle/>
          <a:p>
            <a:pPr marL="457200" indent="-457200" algn="just">
              <a:lnSpc>
                <a:spcPct val="100000"/>
              </a:lnSpc>
              <a:buFont typeface="+mj-lt"/>
              <a:buAutoNum type="arabicPeriod"/>
            </a:pPr>
            <a:r>
              <a:rPr lang="en-US" sz="1800" dirty="0">
                <a:solidFill>
                  <a:schemeClr val="tx2">
                    <a:lumMod val="50000"/>
                  </a:schemeClr>
                </a:solidFill>
              </a:rPr>
              <a:t>SECS/GEM lacks an authentication mechanism  </a:t>
            </a:r>
          </a:p>
          <a:p>
            <a:pPr marL="457200" indent="-457200" algn="just">
              <a:lnSpc>
                <a:spcPct val="100000"/>
              </a:lnSpc>
              <a:buFont typeface="+mj-lt"/>
              <a:buAutoNum type="arabicPeriod"/>
            </a:pPr>
            <a:endParaRPr lang="en-US" sz="1800" dirty="0">
              <a:solidFill>
                <a:schemeClr val="tx2">
                  <a:lumMod val="50000"/>
                </a:schemeClr>
              </a:solidFill>
            </a:endParaRPr>
          </a:p>
          <a:p>
            <a:pPr marL="457200" indent="-457200" algn="just">
              <a:lnSpc>
                <a:spcPct val="100000"/>
              </a:lnSpc>
              <a:buFont typeface="+mj-lt"/>
              <a:buAutoNum type="arabicPeriod"/>
            </a:pPr>
            <a:r>
              <a:rPr lang="en-US" sz="1800" dirty="0">
                <a:solidFill>
                  <a:schemeClr val="tx2">
                    <a:lumMod val="50000"/>
                  </a:schemeClr>
                </a:solidFill>
              </a:rPr>
              <a:t>SECS/GEM is completely defenseless against cyber-attacks including Denial of Service (DoS) attacks, False-Data-Injection-Attack (FDIA), and Replay Attacks</a:t>
            </a:r>
          </a:p>
        </p:txBody>
      </p:sp>
      <p:sp>
        <p:nvSpPr>
          <p:cNvPr id="2" name="Slide Number Placeholder 1"/>
          <p:cNvSpPr>
            <a:spLocks noGrp="1"/>
          </p:cNvSpPr>
          <p:nvPr>
            <p:ph type="sldNum" sz="quarter" idx="12"/>
          </p:nvPr>
        </p:nvSpPr>
        <p:spPr>
          <a:xfrm>
            <a:off x="9906000" y="6472826"/>
            <a:ext cx="2133600" cy="365125"/>
          </a:xfrm>
        </p:spPr>
        <p:txBody>
          <a:bodyPr/>
          <a:lstStyle/>
          <a:p>
            <a:fld id="{D4B39A3D-6E5B-421C-AA99-AA75690A48C6}" type="slidenum">
              <a:rPr lang="en-US" smtClean="0"/>
              <a:pPr/>
              <a:t>4</a:t>
            </a:fld>
            <a:endParaRPr lang="en-US" dirty="0"/>
          </a:p>
        </p:txBody>
      </p:sp>
      <p:pic>
        <p:nvPicPr>
          <p:cNvPr id="9" name="Picture 3"/>
          <p:cNvPicPr>
            <a:picLocks noChangeAspect="1" noChangeArrowheads="1"/>
          </p:cNvPicPr>
          <p:nvPr/>
        </p:nvPicPr>
        <p:blipFill>
          <a:blip r:embed="rId6" cstate="print">
            <a:clrChange>
              <a:clrFrom>
                <a:srgbClr val="FDFDFD"/>
              </a:clrFrom>
              <a:clrTo>
                <a:srgbClr val="FDFDFD">
                  <a:alpha val="0"/>
                </a:srgbClr>
              </a:clrTo>
            </a:clrChange>
          </a:blip>
          <a:srcRect/>
          <a:stretch>
            <a:fillRect/>
          </a:stretch>
        </p:blipFill>
        <p:spPr bwMode="auto">
          <a:xfrm>
            <a:off x="0" y="-1224"/>
            <a:ext cx="1268881" cy="824184"/>
          </a:xfrm>
          <a:prstGeom prst="rect">
            <a:avLst/>
          </a:prstGeom>
          <a:noFill/>
          <a:ln w="9525">
            <a:noFill/>
            <a:miter lim="800000"/>
            <a:headEnd/>
            <a:tailEnd/>
          </a:ln>
          <a:effectLst/>
        </p:spPr>
      </p:pic>
      <p:pic>
        <p:nvPicPr>
          <p:cNvPr id="1028" name="Picture 4" descr="Computer Icons Problem Statement Definition PNG, Clipart, Area, Blue,  Circle, Clip Art, Computer Icons Free PNG Download">
            <a:extLst>
              <a:ext uri="{FF2B5EF4-FFF2-40B4-BE49-F238E27FC236}">
                <a16:creationId xmlns:a16="http://schemas.microsoft.com/office/drawing/2014/main" id="{495713FE-3A7E-3570-BD38-368E8EA18E40}"/>
              </a:ext>
            </a:extLst>
          </p:cNvPr>
          <p:cNvPicPr>
            <a:picLocks noChangeAspect="1" noChangeArrowheads="1"/>
          </p:cNvPicPr>
          <p:nvPr/>
        </p:nvPicPr>
        <p:blipFill>
          <a:blip r:embed="rId7" cstate="print">
            <a:extLst>
              <a:ext uri="{BEBA8EAE-BF5A-486C-A8C5-ECC9F3942E4B}">
                <a14:imgProps xmlns:a14="http://schemas.microsoft.com/office/drawing/2010/main">
                  <a14:imgLayer r:embed="rId8">
                    <a14:imgEffect>
                      <a14:backgroundRemoval t="2273" b="98701" l="4194" r="97097">
                        <a14:foregroundMark x1="12581" y1="20130" x2="12581" y2="20130"/>
                        <a14:foregroundMark x1="29032" y1="31169" x2="29032" y2="31169"/>
                        <a14:foregroundMark x1="26452" y1="7468" x2="26452" y2="7468"/>
                        <a14:foregroundMark x1="26774" y1="2273" x2="31613" y2="4221"/>
                        <a14:foregroundMark x1="4839" y1="18506" x2="4194" y2="14935"/>
                        <a14:foregroundMark x1="65161" y1="44481" x2="80000" y2="39286"/>
                        <a14:foregroundMark x1="88710" y1="42208" x2="93871" y2="56494"/>
                        <a14:foregroundMark x1="97419" y1="57143" x2="95806" y2="51948"/>
                        <a14:foregroundMark x1="20968" y1="93831" x2="23226" y2="96753"/>
                        <a14:foregroundMark x1="34516" y1="98052" x2="32903" y2="98052"/>
                        <a14:foregroundMark x1="19355" y1="98701" x2="23548" y2="98701"/>
                        <a14:foregroundMark x1="50968" y1="71753" x2="50968" y2="71753"/>
                        <a14:foregroundMark x1="52581" y1="71429" x2="52581" y2="69481"/>
                        <a14:foregroundMark x1="51935" y1="50974" x2="51935" y2="50974"/>
                        <a14:foregroundMark x1="51935" y1="50974" x2="51935" y2="50974"/>
                        <a14:foregroundMark x1="50645" y1="86039" x2="50645" y2="86039"/>
                        <a14:foregroundMark x1="50645" y1="86039" x2="50645" y2="86039"/>
                      </a14:backgroundRemoval>
                    </a14:imgEffect>
                  </a14:imgLayer>
                </a14:imgProps>
              </a:ext>
              <a:ext uri="{28A0092B-C50C-407E-A947-70E740481C1C}">
                <a14:useLocalDpi xmlns:a14="http://schemas.microsoft.com/office/drawing/2010/main" val="0"/>
              </a:ext>
            </a:extLst>
          </a:blip>
          <a:srcRect/>
          <a:stretch>
            <a:fillRect/>
          </a:stretch>
        </p:blipFill>
        <p:spPr bwMode="auto">
          <a:xfrm flipH="1">
            <a:off x="8825168" y="4064602"/>
            <a:ext cx="1195689" cy="117976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Question mark Portable Network Graphics Computer Icons Transparency Problem  statement - questionmark png monochrome photography png download - 512*512  - Free Transparent Question Mark png Download. - Clip Art Library">
            <a:extLst>
              <a:ext uri="{FF2B5EF4-FFF2-40B4-BE49-F238E27FC236}">
                <a16:creationId xmlns:a16="http://schemas.microsoft.com/office/drawing/2014/main" id="{CD892022-B603-B4D3-E082-D34C89BDEEA3}"/>
              </a:ext>
            </a:extLst>
          </p:cNvPr>
          <p:cNvPicPr>
            <a:picLocks noChangeAspect="1" noChangeArrowheads="1"/>
          </p:cNvPicPr>
          <p:nvPr/>
        </p:nvPicPr>
        <p:blipFill>
          <a:blip r:embed="rId9" cstate="print">
            <a:extLst>
              <a:ext uri="{BEBA8EAE-BF5A-486C-A8C5-ECC9F3942E4B}">
                <a14:imgProps xmlns:a14="http://schemas.microsoft.com/office/drawing/2010/main">
                  <a14:imgLayer r:embed="rId10">
                    <a14:imgEffect>
                      <a14:backgroundRemoval t="4000" b="98222" l="2667" r="98667">
                        <a14:foregroundMark x1="25778" y1="51556" x2="25778" y2="51556"/>
                        <a14:foregroundMark x1="25778" y1="51556" x2="25778" y2="51556"/>
                        <a14:foregroundMark x1="25333" y1="46222" x2="25333" y2="46222"/>
                        <a14:foregroundMark x1="25333" y1="46222" x2="25333" y2="46222"/>
                        <a14:foregroundMark x1="15556" y1="47556" x2="24889" y2="62222"/>
                        <a14:foregroundMark x1="10667" y1="49778" x2="29778" y2="81333"/>
                        <a14:foregroundMark x1="23556" y1="22222" x2="8889" y2="52000"/>
                        <a14:foregroundMark x1="3111" y1="40889" x2="4444" y2="57778"/>
                        <a14:foregroundMark x1="8889" y1="34667" x2="43111" y2="4444"/>
                        <a14:foregroundMark x1="43111" y1="4444" x2="69333" y2="15111"/>
                        <a14:foregroundMark x1="69333" y1="15111" x2="85333" y2="54667"/>
                        <a14:foregroundMark x1="85333" y1="54667" x2="78222" y2="76444"/>
                        <a14:foregroundMark x1="78222" y1="76444" x2="70667" y2="84889"/>
                        <a14:foregroundMark x1="95111" y1="32000" x2="93333" y2="62222"/>
                        <a14:foregroundMark x1="93333" y1="62222" x2="94667" y2="66222"/>
                        <a14:foregroundMark x1="99111" y1="44444" x2="98222" y2="50667"/>
                        <a14:foregroundMark x1="48444" y1="93778" x2="68444" y2="89333"/>
                        <a14:foregroundMark x1="37778" y1="96889" x2="61778" y2="98222"/>
                      </a14:backgroundRemoval>
                    </a14:imgEffect>
                  </a14:imgLayer>
                </a14:imgProps>
              </a:ext>
              <a:ext uri="{28A0092B-C50C-407E-A947-70E740481C1C}">
                <a14:useLocalDpi xmlns:a14="http://schemas.microsoft.com/office/drawing/2010/main" val="0"/>
              </a:ext>
            </a:extLst>
          </a:blip>
          <a:srcRect/>
          <a:stretch>
            <a:fillRect/>
          </a:stretch>
        </p:blipFill>
        <p:spPr bwMode="auto">
          <a:xfrm>
            <a:off x="10134600" y="4160520"/>
            <a:ext cx="858599" cy="79248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4077933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02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30"/>
                                        </p:tgtEl>
                                        <p:attrNameLst>
                                          <p:attrName>style.visibility</p:attrName>
                                        </p:attrNameLst>
                                      </p:cBhvr>
                                      <p:to>
                                        <p:strVal val="visible"/>
                                      </p:to>
                                    </p:set>
                                  </p:childTnLst>
                                </p:cTn>
                              </p:par>
                              <p:par>
                                <p:cTn id="9" presetID="26" presetClass="emph" presetSubtype="0" repeatCount="indefinite" fill="hold" nodeType="withEffect">
                                  <p:stCondLst>
                                    <p:cond delay="0"/>
                                  </p:stCondLst>
                                  <p:childTnLst>
                                    <p:animEffect transition="out" filter="fade">
                                      <p:cBhvr>
                                        <p:cTn id="10" dur="1000" tmFilter="0, 0; .2, .5; .8, .5; 1, 0"/>
                                        <p:tgtEl>
                                          <p:spTgt spid="1030"/>
                                        </p:tgtEl>
                                      </p:cBhvr>
                                    </p:animEffect>
                                    <p:animScale>
                                      <p:cBhvr>
                                        <p:cTn id="11" dur="500" autoRev="1" fill="hold"/>
                                        <p:tgtEl>
                                          <p:spTgt spid="103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D4F65C3-85E3-B796-1EE9-98FDC2EDCD3D}"/>
              </a:ext>
            </a:extLst>
          </p:cNvPr>
          <p:cNvPicPr>
            <a:picLocks noChangeAspect="1"/>
          </p:cNvPicPr>
          <p:nvPr/>
        </p:nvPicPr>
        <p:blipFill>
          <a:blip r:embed="rId4"/>
          <a:stretch>
            <a:fillRect/>
          </a:stretch>
        </p:blipFill>
        <p:spPr>
          <a:xfrm>
            <a:off x="8534400" y="1371600"/>
            <a:ext cx="3129281" cy="5305702"/>
          </a:xfrm>
          <a:prstGeom prst="rect">
            <a:avLst/>
          </a:prstGeom>
        </p:spPr>
      </p:pic>
      <p:pic>
        <p:nvPicPr>
          <p:cNvPr id="1026" name="Picture 2" descr="C:\Users\fauzisukiman\Desktop\template pp USM\page 2 n seterusnya\Header.jpg"/>
          <p:cNvPicPr>
            <a:picLocks noChangeAspect="1" noChangeArrowheads="1"/>
          </p:cNvPicPr>
          <p:nvPr/>
        </p:nvPicPr>
        <p:blipFill rotWithShape="1">
          <a:blip r:embed="rId5" cstate="print"/>
          <a:srcRect l="14375"/>
          <a:stretch/>
        </p:blipFill>
        <p:spPr bwMode="auto">
          <a:xfrm>
            <a:off x="1268881" y="0"/>
            <a:ext cx="10923119" cy="822960"/>
          </a:xfrm>
          <a:prstGeom prst="rect">
            <a:avLst/>
          </a:prstGeom>
          <a:noFill/>
        </p:spPr>
      </p:pic>
      <p:sp>
        <p:nvSpPr>
          <p:cNvPr id="6" name="Rectangle 5"/>
          <p:cNvSpPr/>
          <p:nvPr/>
        </p:nvSpPr>
        <p:spPr>
          <a:xfrm>
            <a:off x="1447800" y="76200"/>
            <a:ext cx="10287000" cy="707886"/>
          </a:xfrm>
          <a:prstGeom prst="rect">
            <a:avLst/>
          </a:prstGeom>
        </p:spPr>
        <p:txBody>
          <a:bodyPr wrap="square">
            <a:spAutoFit/>
          </a:bodyPr>
          <a:lstStyle/>
          <a:p>
            <a:r>
              <a:rPr lang="en-US" sz="4000" b="1" i="1">
                <a:solidFill>
                  <a:schemeClr val="bg1"/>
                </a:solidFill>
              </a:rPr>
              <a:t>Research Objectives</a:t>
            </a:r>
            <a:endParaRPr lang="en-US" sz="4000" b="1" i="1" dirty="0">
              <a:solidFill>
                <a:schemeClr val="bg1"/>
              </a:solidFill>
            </a:endParaRPr>
          </a:p>
        </p:txBody>
      </p:sp>
      <p:sp>
        <p:nvSpPr>
          <p:cNvPr id="8" name="Content Placeholder 7"/>
          <p:cNvSpPr>
            <a:spLocks noGrp="1"/>
          </p:cNvSpPr>
          <p:nvPr>
            <p:ph idx="1"/>
          </p:nvPr>
        </p:nvSpPr>
        <p:spPr>
          <a:xfrm>
            <a:off x="548640" y="1386840"/>
            <a:ext cx="7680960" cy="4757552"/>
          </a:xfrm>
        </p:spPr>
        <p:txBody>
          <a:bodyPr>
            <a:noAutofit/>
          </a:bodyPr>
          <a:lstStyle/>
          <a:p>
            <a:pPr marL="457200" indent="-457200" algn="just">
              <a:lnSpc>
                <a:spcPct val="100000"/>
              </a:lnSpc>
              <a:buFont typeface="+mj-lt"/>
              <a:buAutoNum type="arabicPeriod"/>
            </a:pPr>
            <a:r>
              <a:rPr lang="en-US" sz="1800" dirty="0">
                <a:solidFill>
                  <a:schemeClr val="tx2">
                    <a:lumMod val="50000"/>
                  </a:schemeClr>
                </a:solidFill>
              </a:rPr>
              <a:t>To propose an authentication mechanism</a:t>
            </a:r>
          </a:p>
          <a:p>
            <a:pPr marL="457200" indent="-457200" algn="just">
              <a:lnSpc>
                <a:spcPct val="100000"/>
              </a:lnSpc>
              <a:buFont typeface="+mj-lt"/>
              <a:buAutoNum type="arabicPeriod"/>
            </a:pPr>
            <a:endParaRPr lang="en-US" sz="1800" dirty="0">
              <a:solidFill>
                <a:schemeClr val="tx2">
                  <a:lumMod val="50000"/>
                </a:schemeClr>
              </a:solidFill>
            </a:endParaRPr>
          </a:p>
          <a:p>
            <a:pPr marL="457200" indent="-457200" algn="just">
              <a:lnSpc>
                <a:spcPct val="100000"/>
              </a:lnSpc>
              <a:buFont typeface="+mj-lt"/>
              <a:buAutoNum type="arabicPeriod"/>
            </a:pPr>
            <a:r>
              <a:rPr lang="en-US" sz="1800" dirty="0">
                <a:solidFill>
                  <a:schemeClr val="tx2">
                    <a:lumMod val="50000"/>
                  </a:schemeClr>
                </a:solidFill>
              </a:rPr>
              <a:t>The proposed security mechanism must retain the message structure</a:t>
            </a:r>
          </a:p>
          <a:p>
            <a:pPr marL="457200" indent="-457200" algn="just">
              <a:lnSpc>
                <a:spcPct val="100000"/>
              </a:lnSpc>
              <a:buFont typeface="+mj-lt"/>
              <a:buAutoNum type="arabicPeriod"/>
            </a:pPr>
            <a:endParaRPr lang="en-US" sz="1800" dirty="0">
              <a:solidFill>
                <a:schemeClr val="tx2">
                  <a:lumMod val="50000"/>
                </a:schemeClr>
              </a:solidFill>
            </a:endParaRPr>
          </a:p>
          <a:p>
            <a:pPr marL="457200" indent="-457200" algn="just">
              <a:lnSpc>
                <a:spcPct val="100000"/>
              </a:lnSpc>
              <a:buFont typeface="+mj-lt"/>
              <a:buAutoNum type="arabicPeriod"/>
            </a:pPr>
            <a:r>
              <a:rPr lang="en-US" sz="1800" dirty="0">
                <a:solidFill>
                  <a:schemeClr val="tx2">
                    <a:lumMod val="50000"/>
                  </a:schemeClr>
                </a:solidFill>
              </a:rPr>
              <a:t>To design a rule-based mechanism for preventing cyber-attacks</a:t>
            </a:r>
          </a:p>
          <a:p>
            <a:pPr marL="457200" indent="-457200" algn="just">
              <a:lnSpc>
                <a:spcPct val="100000"/>
              </a:lnSpc>
              <a:buFont typeface="+mj-lt"/>
              <a:buAutoNum type="arabicPeriod"/>
            </a:pPr>
            <a:endParaRPr lang="en-US" sz="1800" dirty="0">
              <a:solidFill>
                <a:schemeClr val="tx2">
                  <a:lumMod val="50000"/>
                </a:schemeClr>
              </a:solidFill>
            </a:endParaRPr>
          </a:p>
          <a:p>
            <a:pPr marL="457200" indent="-457200" algn="just">
              <a:lnSpc>
                <a:spcPct val="100000"/>
              </a:lnSpc>
              <a:buFont typeface="+mj-lt"/>
              <a:buAutoNum type="arabicPeriod"/>
            </a:pPr>
            <a:r>
              <a:rPr lang="en-US" sz="1800" dirty="0">
                <a:solidFill>
                  <a:schemeClr val="tx2">
                    <a:lumMod val="50000"/>
                  </a:schemeClr>
                </a:solidFill>
              </a:rPr>
              <a:t>To build a testbed for evaluating the proposed security mechanism</a:t>
            </a:r>
          </a:p>
          <a:p>
            <a:pPr marL="457200" indent="-457200" algn="just">
              <a:lnSpc>
                <a:spcPct val="100000"/>
              </a:lnSpc>
              <a:buFont typeface="Wingdings" panose="05000000000000000000" pitchFamily="2" charset="2"/>
              <a:buChar char="§"/>
            </a:pPr>
            <a:endParaRPr lang="en-US" sz="1800" dirty="0">
              <a:solidFill>
                <a:schemeClr val="tx2">
                  <a:lumMod val="50000"/>
                </a:schemeClr>
              </a:solidFill>
            </a:endParaRPr>
          </a:p>
        </p:txBody>
      </p:sp>
      <p:sp>
        <p:nvSpPr>
          <p:cNvPr id="2" name="Slide Number Placeholder 1"/>
          <p:cNvSpPr>
            <a:spLocks noGrp="1"/>
          </p:cNvSpPr>
          <p:nvPr>
            <p:ph type="sldNum" sz="quarter" idx="12"/>
          </p:nvPr>
        </p:nvSpPr>
        <p:spPr>
          <a:xfrm>
            <a:off x="9906000" y="6472826"/>
            <a:ext cx="2133600" cy="365125"/>
          </a:xfrm>
        </p:spPr>
        <p:txBody>
          <a:bodyPr/>
          <a:lstStyle/>
          <a:p>
            <a:fld id="{D4B39A3D-6E5B-421C-AA99-AA75690A48C6}" type="slidenum">
              <a:rPr lang="en-US" smtClean="0"/>
              <a:pPr/>
              <a:t>5</a:t>
            </a:fld>
            <a:endParaRPr lang="en-US" dirty="0"/>
          </a:p>
        </p:txBody>
      </p:sp>
      <p:pic>
        <p:nvPicPr>
          <p:cNvPr id="9" name="Picture 3"/>
          <p:cNvPicPr>
            <a:picLocks noChangeAspect="1" noChangeArrowheads="1"/>
          </p:cNvPicPr>
          <p:nvPr/>
        </p:nvPicPr>
        <p:blipFill>
          <a:blip r:embed="rId6" cstate="print">
            <a:clrChange>
              <a:clrFrom>
                <a:srgbClr val="FDFDFD"/>
              </a:clrFrom>
              <a:clrTo>
                <a:srgbClr val="FDFDFD">
                  <a:alpha val="0"/>
                </a:srgbClr>
              </a:clrTo>
            </a:clrChange>
          </a:blip>
          <a:srcRect/>
          <a:stretch>
            <a:fillRect/>
          </a:stretch>
        </p:blipFill>
        <p:spPr bwMode="auto">
          <a:xfrm>
            <a:off x="0" y="-1224"/>
            <a:ext cx="1268881" cy="824184"/>
          </a:xfrm>
          <a:prstGeom prst="rect">
            <a:avLst/>
          </a:prstGeom>
          <a:noFill/>
          <a:ln w="9525">
            <a:noFill/>
            <a:miter lim="800000"/>
            <a:headEnd/>
            <a:tailEnd/>
          </a:ln>
          <a:effectLst/>
        </p:spPr>
      </p:pic>
      <p:pic>
        <p:nvPicPr>
          <p:cNvPr id="2050" name="Picture 2" descr="57,939 Objective Icon Stock Photos and Images - 123RF">
            <a:extLst>
              <a:ext uri="{FF2B5EF4-FFF2-40B4-BE49-F238E27FC236}">
                <a16:creationId xmlns:a16="http://schemas.microsoft.com/office/drawing/2014/main" id="{883ED47B-FEA5-EB42-E08D-E268F87F52D2}"/>
              </a:ext>
            </a:extLst>
          </p:cNvPr>
          <p:cNvPicPr>
            <a:picLocks noChangeAspect="1" noChangeArrowheads="1"/>
          </p:cNvPicPr>
          <p:nvPr/>
        </p:nvPicPr>
        <p:blipFill rotWithShape="1">
          <a:blip r:embed="rId7" cstate="print">
            <a:extLst>
              <a:ext uri="{BEBA8EAE-BF5A-486C-A8C5-ECC9F3942E4B}">
                <a14:imgProps xmlns:a14="http://schemas.microsoft.com/office/drawing/2010/main">
                  <a14:imgLayer r:embed="rId8">
                    <a14:imgEffect>
                      <a14:backgroundRemoval t="18889" b="78667" l="28667" r="76000">
                        <a14:foregroundMark x1="55111" y1="26667" x2="55111" y2="26667"/>
                        <a14:foregroundMark x1="30667" y1="28889" x2="30667" y2="28889"/>
                        <a14:foregroundMark x1="28667" y1="37333" x2="28667" y2="37333"/>
                        <a14:foregroundMark x1="37111" y1="35778" x2="37111" y2="35778"/>
                        <a14:foregroundMark x1="49111" y1="37111" x2="49111" y2="37111"/>
                        <a14:foregroundMark x1="48889" y1="19111" x2="48889" y2="19111"/>
                        <a14:foregroundMark x1="54889" y1="45778" x2="54889" y2="45778"/>
                        <a14:foregroundMark x1="55333" y1="54222" x2="55333" y2="54222"/>
                        <a14:foregroundMark x1="54000" y1="63111" x2="54000" y2="63111"/>
                        <a14:foregroundMark x1="48667" y1="74889" x2="48667" y2="74889"/>
                        <a14:foregroundMark x1="67778" y1="73556" x2="67778" y2="73556"/>
                        <a14:foregroundMark x1="73556" y1="63778" x2="73556" y2="63778"/>
                        <a14:foregroundMark x1="76222" y1="62444" x2="76222" y2="62444"/>
                        <a14:foregroundMark x1="68000" y1="78667" x2="68000" y2="78667"/>
                        <a14:foregroundMark x1="38889" y1="44889" x2="38889" y2="44889"/>
                        <a14:foregroundMark x1="38000" y1="54444" x2="38000" y2="54444"/>
                        <a14:foregroundMark x1="37556" y1="62222" x2="37556" y2="62222"/>
                      </a14:backgroundRemoval>
                    </a14:imgEffect>
                  </a14:imgLayer>
                </a14:imgProps>
              </a:ext>
              <a:ext uri="{28A0092B-C50C-407E-A947-70E740481C1C}">
                <a14:useLocalDpi xmlns:a14="http://schemas.microsoft.com/office/drawing/2010/main" val="0"/>
              </a:ext>
            </a:extLst>
          </a:blip>
          <a:srcRect l="27172" t="17207" r="21334" b="18784"/>
          <a:stretch/>
        </p:blipFill>
        <p:spPr bwMode="auto">
          <a:xfrm>
            <a:off x="10439400" y="3937021"/>
            <a:ext cx="853740" cy="1061223"/>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Man Waving Arm - Free people icons">
            <a:extLst>
              <a:ext uri="{FF2B5EF4-FFF2-40B4-BE49-F238E27FC236}">
                <a16:creationId xmlns:a16="http://schemas.microsoft.com/office/drawing/2014/main" id="{A9137678-0F9C-61B0-5340-BC5C97F24E7E}"/>
              </a:ext>
            </a:extLst>
          </p:cNvPr>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l="17187" r="18750"/>
          <a:stretch/>
        </p:blipFill>
        <p:spPr bwMode="auto">
          <a:xfrm>
            <a:off x="9560560" y="3956975"/>
            <a:ext cx="706420" cy="1102705"/>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946069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05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0"/>
                                        </p:tgtEl>
                                        <p:attrNameLst>
                                          <p:attrName>style.visibility</p:attrName>
                                        </p:attrNameLst>
                                      </p:cBhvr>
                                      <p:to>
                                        <p:strVal val="visible"/>
                                      </p:to>
                                    </p:set>
                                  </p:childTnLst>
                                </p:cTn>
                              </p:par>
                              <p:par>
                                <p:cTn id="9" presetID="26" presetClass="emph" presetSubtype="0" repeatCount="indefinite" fill="hold" nodeType="withEffect">
                                  <p:stCondLst>
                                    <p:cond delay="0"/>
                                  </p:stCondLst>
                                  <p:childTnLst>
                                    <p:animEffect transition="out" filter="fade">
                                      <p:cBhvr>
                                        <p:cTn id="10" dur="1000" tmFilter="0, 0; .2, .5; .8, .5; 1, 0"/>
                                        <p:tgtEl>
                                          <p:spTgt spid="2050"/>
                                        </p:tgtEl>
                                      </p:cBhvr>
                                    </p:animEffect>
                                    <p:animScale>
                                      <p:cBhvr>
                                        <p:cTn id="11" dur="500" autoRev="1" fill="hold"/>
                                        <p:tgtEl>
                                          <p:spTgt spid="2050"/>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fauzisukiman\Desktop\template pp USM\page 2 n seterusnya\Header.jpg"/>
          <p:cNvPicPr>
            <a:picLocks noChangeAspect="1" noChangeArrowheads="1"/>
          </p:cNvPicPr>
          <p:nvPr/>
        </p:nvPicPr>
        <p:blipFill rotWithShape="1">
          <a:blip r:embed="rId4" cstate="print"/>
          <a:srcRect l="14375"/>
          <a:stretch/>
        </p:blipFill>
        <p:spPr bwMode="auto">
          <a:xfrm>
            <a:off x="1268881" y="0"/>
            <a:ext cx="10923119" cy="822960"/>
          </a:xfrm>
          <a:prstGeom prst="rect">
            <a:avLst/>
          </a:prstGeom>
          <a:noFill/>
        </p:spPr>
      </p:pic>
      <p:sp>
        <p:nvSpPr>
          <p:cNvPr id="6" name="Rectangle 5"/>
          <p:cNvSpPr/>
          <p:nvPr/>
        </p:nvSpPr>
        <p:spPr>
          <a:xfrm>
            <a:off x="1447800" y="76200"/>
            <a:ext cx="10287000" cy="707886"/>
          </a:xfrm>
          <a:prstGeom prst="rect">
            <a:avLst/>
          </a:prstGeom>
        </p:spPr>
        <p:txBody>
          <a:bodyPr wrap="square">
            <a:spAutoFit/>
          </a:bodyPr>
          <a:lstStyle/>
          <a:p>
            <a:r>
              <a:rPr lang="en-US" sz="4000" b="1" i="1" dirty="0">
                <a:solidFill>
                  <a:schemeClr val="bg1"/>
                </a:solidFill>
              </a:rPr>
              <a:t>Limitations and Research Scope</a:t>
            </a:r>
          </a:p>
        </p:txBody>
      </p:sp>
      <p:sp>
        <p:nvSpPr>
          <p:cNvPr id="2" name="Slide Number Placeholder 1"/>
          <p:cNvSpPr>
            <a:spLocks noGrp="1"/>
          </p:cNvSpPr>
          <p:nvPr>
            <p:ph type="sldNum" sz="quarter" idx="12"/>
          </p:nvPr>
        </p:nvSpPr>
        <p:spPr>
          <a:xfrm>
            <a:off x="9906000" y="6472826"/>
            <a:ext cx="2133600" cy="365125"/>
          </a:xfrm>
        </p:spPr>
        <p:txBody>
          <a:bodyPr/>
          <a:lstStyle/>
          <a:p>
            <a:fld id="{D4B39A3D-6E5B-421C-AA99-AA75690A48C6}" type="slidenum">
              <a:rPr lang="en-US" smtClean="0"/>
              <a:pPr/>
              <a:t>6</a:t>
            </a:fld>
            <a:endParaRPr lang="en-US" dirty="0"/>
          </a:p>
        </p:txBody>
      </p:sp>
      <p:pic>
        <p:nvPicPr>
          <p:cNvPr id="9" name="Picture 3"/>
          <p:cNvPicPr>
            <a:picLocks noChangeAspect="1" noChangeArrowheads="1"/>
          </p:cNvPicPr>
          <p:nvPr/>
        </p:nvPicPr>
        <p:blipFill>
          <a:blip r:embed="rId5" cstate="print">
            <a:clrChange>
              <a:clrFrom>
                <a:srgbClr val="FDFDFD"/>
              </a:clrFrom>
              <a:clrTo>
                <a:srgbClr val="FDFDFD">
                  <a:alpha val="0"/>
                </a:srgbClr>
              </a:clrTo>
            </a:clrChange>
          </a:blip>
          <a:srcRect/>
          <a:stretch>
            <a:fillRect/>
          </a:stretch>
        </p:blipFill>
        <p:spPr bwMode="auto">
          <a:xfrm>
            <a:off x="0" y="-1224"/>
            <a:ext cx="1268881" cy="824184"/>
          </a:xfrm>
          <a:prstGeom prst="rect">
            <a:avLst/>
          </a:prstGeom>
          <a:noFill/>
          <a:ln w="9525">
            <a:noFill/>
            <a:miter lim="800000"/>
            <a:headEnd/>
            <a:tailEnd/>
          </a:ln>
          <a:effectLst/>
        </p:spPr>
      </p:pic>
      <p:graphicFrame>
        <p:nvGraphicFramePr>
          <p:cNvPr id="3" name="Table 2">
            <a:extLst>
              <a:ext uri="{FF2B5EF4-FFF2-40B4-BE49-F238E27FC236}">
                <a16:creationId xmlns:a16="http://schemas.microsoft.com/office/drawing/2014/main" id="{23463DFF-6BD5-29EF-ECDF-A03DC5BE1835}"/>
              </a:ext>
            </a:extLst>
          </p:cNvPr>
          <p:cNvGraphicFramePr>
            <a:graphicFrameLocks noGrp="1"/>
          </p:cNvGraphicFramePr>
          <p:nvPr>
            <p:extLst>
              <p:ext uri="{D42A27DB-BD31-4B8C-83A1-F6EECF244321}">
                <p14:modId xmlns:p14="http://schemas.microsoft.com/office/powerpoint/2010/main" val="3240849703"/>
              </p:ext>
            </p:extLst>
          </p:nvPr>
        </p:nvGraphicFramePr>
        <p:xfrm>
          <a:off x="7162800" y="1371600"/>
          <a:ext cx="4495800" cy="3133908"/>
        </p:xfrm>
        <a:graphic>
          <a:graphicData uri="http://schemas.openxmlformats.org/drawingml/2006/table">
            <a:tbl>
              <a:tblPr firstRow="1" firstCol="1" bandRow="1">
                <a:tableStyleId>{5C22544A-7EE6-4342-B048-85BDC9FD1C3A}</a:tableStyleId>
              </a:tblPr>
              <a:tblGrid>
                <a:gridCol w="1174055">
                  <a:extLst>
                    <a:ext uri="{9D8B030D-6E8A-4147-A177-3AD203B41FA5}">
                      <a16:colId xmlns:a16="http://schemas.microsoft.com/office/drawing/2014/main" val="1013133206"/>
                    </a:ext>
                  </a:extLst>
                </a:gridCol>
                <a:gridCol w="3321745">
                  <a:extLst>
                    <a:ext uri="{9D8B030D-6E8A-4147-A177-3AD203B41FA5}">
                      <a16:colId xmlns:a16="http://schemas.microsoft.com/office/drawing/2014/main" val="2691251879"/>
                    </a:ext>
                  </a:extLst>
                </a:gridCol>
              </a:tblGrid>
              <a:tr h="499134">
                <a:tc>
                  <a:txBody>
                    <a:bodyPr/>
                    <a:lstStyle/>
                    <a:p>
                      <a:pPr marL="0" marR="0" algn="ctr">
                        <a:spcBef>
                          <a:spcPts val="300"/>
                        </a:spcBef>
                        <a:spcAft>
                          <a:spcPts val="300"/>
                        </a:spcAft>
                      </a:pPr>
                      <a:r>
                        <a:rPr lang="en-US" sz="1400" dirty="0">
                          <a:effectLst/>
                        </a:rPr>
                        <a:t>Item</a:t>
                      </a:r>
                      <a:endParaRPr lang="en-US" sz="1400" dirty="0">
                        <a:effectLst/>
                        <a:latin typeface="Times New Roman" panose="02020603050405020304" pitchFamily="18" charset="0"/>
                        <a:ea typeface="SimSun" panose="02010600030101010101" pitchFamily="2" charset="-122"/>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300"/>
                        </a:spcBef>
                        <a:spcAft>
                          <a:spcPts val="300"/>
                        </a:spcAft>
                      </a:pPr>
                      <a:r>
                        <a:rPr lang="en-US" sz="1400" dirty="0">
                          <a:effectLst/>
                        </a:rPr>
                        <a:t>Scope of Research</a:t>
                      </a:r>
                      <a:endParaRPr lang="en-US" sz="1400" dirty="0">
                        <a:effectLst/>
                        <a:latin typeface="Times New Roman" panose="02020603050405020304" pitchFamily="18" charset="0"/>
                        <a:ea typeface="SimSun" panose="02010600030101010101" pitchFamily="2" charset="-122"/>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99687293"/>
                  </a:ext>
                </a:extLst>
              </a:tr>
              <a:tr h="499134">
                <a:tc>
                  <a:txBody>
                    <a:bodyPr/>
                    <a:lstStyle/>
                    <a:p>
                      <a:pPr marL="0" marR="0" algn="ctr">
                        <a:spcBef>
                          <a:spcPts val="300"/>
                        </a:spcBef>
                        <a:spcAft>
                          <a:spcPts val="300"/>
                        </a:spcAft>
                      </a:pPr>
                      <a:r>
                        <a:rPr lang="en-US" sz="1400" dirty="0">
                          <a:effectLst/>
                        </a:rPr>
                        <a:t>Environment</a:t>
                      </a:r>
                      <a:endParaRPr lang="en-US" sz="1400" dirty="0">
                        <a:effectLst/>
                        <a:latin typeface="Times New Roman" panose="02020603050405020304" pitchFamily="18" charset="0"/>
                        <a:ea typeface="SimSun" panose="02010600030101010101" pitchFamily="2" charset="-122"/>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spcBef>
                          <a:spcPts val="300"/>
                        </a:spcBef>
                        <a:spcAft>
                          <a:spcPts val="300"/>
                        </a:spcAft>
                      </a:pPr>
                      <a:r>
                        <a:rPr lang="en-US" sz="1200" dirty="0">
                          <a:effectLst/>
                        </a:rPr>
                        <a:t>TCP/IP Network</a:t>
                      </a:r>
                      <a:endParaRPr lang="en-US" sz="1200" dirty="0">
                        <a:effectLst/>
                        <a:latin typeface="Times New Roman" panose="02020603050405020304" pitchFamily="18" charset="0"/>
                        <a:ea typeface="SimSun" panose="02010600030101010101" pitchFamily="2" charset="-122"/>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7566159"/>
                  </a:ext>
                </a:extLst>
              </a:tr>
              <a:tr h="535440">
                <a:tc>
                  <a:txBody>
                    <a:bodyPr/>
                    <a:lstStyle/>
                    <a:p>
                      <a:pPr marL="0" marR="0" algn="ctr">
                        <a:spcBef>
                          <a:spcPts val="300"/>
                        </a:spcBef>
                        <a:spcAft>
                          <a:spcPts val="300"/>
                        </a:spcAft>
                      </a:pPr>
                      <a:r>
                        <a:rPr lang="en-US" sz="1400" dirty="0">
                          <a:effectLst/>
                        </a:rPr>
                        <a:t>Security Mode</a:t>
                      </a:r>
                      <a:endParaRPr lang="en-US" sz="1400" dirty="0">
                        <a:effectLst/>
                        <a:latin typeface="Times New Roman" panose="02020603050405020304" pitchFamily="18" charset="0"/>
                        <a:ea typeface="SimSun" panose="02010600030101010101" pitchFamily="2" charset="-122"/>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spcBef>
                          <a:spcPts val="300"/>
                        </a:spcBef>
                        <a:spcAft>
                          <a:spcPts val="300"/>
                        </a:spcAft>
                      </a:pPr>
                      <a:r>
                        <a:rPr lang="en-US" sz="1200" dirty="0">
                          <a:effectLst/>
                        </a:rPr>
                        <a:t>Authentication</a:t>
                      </a:r>
                      <a:endParaRPr lang="en-US" sz="1200" dirty="0">
                        <a:effectLst/>
                        <a:latin typeface="Times New Roman" panose="02020603050405020304" pitchFamily="18" charset="0"/>
                        <a:ea typeface="SimSun" panose="02010600030101010101" pitchFamily="2" charset="-122"/>
                        <a:cs typeface="Arial" panose="020B0604020202020204" pitchFamily="34" charset="0"/>
                      </a:endParaRPr>
                    </a:p>
                  </a:txBody>
                  <a:tcPr marL="73025" marR="73025" marT="9144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26998639"/>
                  </a:ext>
                </a:extLst>
              </a:tr>
              <a:tr h="499134">
                <a:tc>
                  <a:txBody>
                    <a:bodyPr/>
                    <a:lstStyle/>
                    <a:p>
                      <a:pPr marL="0" marR="0" algn="ctr">
                        <a:spcBef>
                          <a:spcPts val="300"/>
                        </a:spcBef>
                        <a:spcAft>
                          <a:spcPts val="300"/>
                        </a:spcAft>
                      </a:pPr>
                      <a:r>
                        <a:rPr lang="en-US" sz="1400" dirty="0">
                          <a:effectLst/>
                        </a:rPr>
                        <a:t>Attack Types</a:t>
                      </a:r>
                      <a:endParaRPr lang="en-US" sz="1400" dirty="0">
                        <a:effectLst/>
                        <a:latin typeface="Times New Roman" panose="02020603050405020304" pitchFamily="18" charset="0"/>
                        <a:ea typeface="SimSun" panose="02010600030101010101" pitchFamily="2" charset="-122"/>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spcBef>
                          <a:spcPts val="300"/>
                        </a:spcBef>
                        <a:spcAft>
                          <a:spcPts val="300"/>
                        </a:spcAft>
                      </a:pPr>
                      <a:r>
                        <a:rPr lang="en-US" sz="1200" dirty="0">
                          <a:effectLst/>
                        </a:rPr>
                        <a:t>DoS, Replay Attack, False-Data-Injection-Attack (FDIA)</a:t>
                      </a:r>
                      <a:endParaRPr lang="en-US" sz="1200" dirty="0">
                        <a:effectLst/>
                        <a:latin typeface="Times New Roman" panose="02020603050405020304" pitchFamily="18" charset="0"/>
                        <a:ea typeface="SimSun" panose="02010600030101010101" pitchFamily="2" charset="-122"/>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36288106"/>
                  </a:ext>
                </a:extLst>
              </a:tr>
              <a:tr h="499134">
                <a:tc>
                  <a:txBody>
                    <a:bodyPr/>
                    <a:lstStyle/>
                    <a:p>
                      <a:pPr marL="0" marR="0" algn="ctr">
                        <a:spcBef>
                          <a:spcPts val="300"/>
                        </a:spcBef>
                        <a:spcAft>
                          <a:spcPts val="300"/>
                        </a:spcAft>
                      </a:pPr>
                      <a:r>
                        <a:rPr lang="en-US" sz="1400" dirty="0">
                          <a:effectLst/>
                        </a:rPr>
                        <a:t>OSI </a:t>
                      </a:r>
                      <a:br>
                        <a:rPr lang="en-US" sz="1400" dirty="0">
                          <a:effectLst/>
                        </a:rPr>
                      </a:br>
                      <a:r>
                        <a:rPr lang="en-US" sz="1400" dirty="0">
                          <a:effectLst/>
                        </a:rPr>
                        <a:t>Target Layer</a:t>
                      </a:r>
                      <a:endParaRPr lang="en-US" sz="1400" dirty="0">
                        <a:effectLst/>
                        <a:latin typeface="Times New Roman" panose="02020603050405020304" pitchFamily="18" charset="0"/>
                        <a:ea typeface="SimSun" panose="02010600030101010101" pitchFamily="2" charset="-122"/>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spcBef>
                          <a:spcPts val="300"/>
                        </a:spcBef>
                        <a:spcAft>
                          <a:spcPts val="300"/>
                        </a:spcAft>
                      </a:pPr>
                      <a:r>
                        <a:rPr lang="en-US" sz="1200" dirty="0">
                          <a:effectLst/>
                        </a:rPr>
                        <a:t>Application Layer, Transport Layer</a:t>
                      </a:r>
                      <a:endParaRPr lang="en-US" sz="1200" dirty="0">
                        <a:effectLst/>
                        <a:latin typeface="Times New Roman" panose="02020603050405020304" pitchFamily="18" charset="0"/>
                        <a:ea typeface="SimSun" panose="02010600030101010101" pitchFamily="2" charset="-122"/>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66976174"/>
                  </a:ext>
                </a:extLst>
              </a:tr>
              <a:tr h="601932">
                <a:tc>
                  <a:txBody>
                    <a:bodyPr/>
                    <a:lstStyle/>
                    <a:p>
                      <a:pPr marL="0" marR="0" algn="ctr">
                        <a:spcBef>
                          <a:spcPts val="300"/>
                        </a:spcBef>
                        <a:spcAft>
                          <a:spcPts val="300"/>
                        </a:spcAft>
                      </a:pPr>
                      <a:r>
                        <a:rPr lang="en-US" sz="1400" dirty="0">
                          <a:effectLst/>
                        </a:rPr>
                        <a:t>Evaluation </a:t>
                      </a:r>
                      <a:br>
                        <a:rPr lang="en-US" sz="1400" dirty="0">
                          <a:effectLst/>
                        </a:rPr>
                      </a:br>
                      <a:r>
                        <a:rPr lang="en-US" sz="1400" dirty="0">
                          <a:effectLst/>
                        </a:rPr>
                        <a:t>Metrics</a:t>
                      </a:r>
                      <a:endParaRPr lang="en-US" sz="1400" dirty="0">
                        <a:effectLst/>
                        <a:latin typeface="Times New Roman" panose="02020603050405020304" pitchFamily="18" charset="0"/>
                        <a:ea typeface="SimSun" panose="02010600030101010101" pitchFamily="2" charset="-122"/>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just">
                        <a:spcBef>
                          <a:spcPts val="300"/>
                        </a:spcBef>
                        <a:spcAft>
                          <a:spcPts val="300"/>
                        </a:spcAft>
                      </a:pPr>
                      <a:r>
                        <a:rPr lang="en-US" sz="1200" dirty="0">
                          <a:effectLst/>
                        </a:rPr>
                        <a:t>Processing Time, Protocol Control Overhead, Attack Prevention Success Rate</a:t>
                      </a:r>
                      <a:endParaRPr lang="en-US" sz="1200" dirty="0">
                        <a:effectLst/>
                        <a:latin typeface="Times New Roman" panose="02020603050405020304" pitchFamily="18" charset="0"/>
                        <a:ea typeface="SimSun" panose="02010600030101010101" pitchFamily="2" charset="-122"/>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81606485"/>
                  </a:ext>
                </a:extLst>
              </a:tr>
            </a:tbl>
          </a:graphicData>
        </a:graphic>
      </p:graphicFrame>
      <p:sp>
        <p:nvSpPr>
          <p:cNvPr id="10" name="Content Placeholder 7">
            <a:extLst>
              <a:ext uri="{FF2B5EF4-FFF2-40B4-BE49-F238E27FC236}">
                <a16:creationId xmlns:a16="http://schemas.microsoft.com/office/drawing/2014/main" id="{F8E0DFF5-804C-6693-7A00-74CFD9E71684}"/>
              </a:ext>
            </a:extLst>
          </p:cNvPr>
          <p:cNvSpPr>
            <a:spLocks noGrp="1"/>
          </p:cNvSpPr>
          <p:nvPr>
            <p:ph idx="1"/>
          </p:nvPr>
        </p:nvSpPr>
        <p:spPr>
          <a:xfrm>
            <a:off x="543560" y="1381760"/>
            <a:ext cx="5857240" cy="3266440"/>
          </a:xfrm>
        </p:spPr>
        <p:txBody>
          <a:bodyPr>
            <a:noAutofit/>
          </a:bodyPr>
          <a:lstStyle/>
          <a:p>
            <a:pPr marL="357188" indent="-357188" algn="just">
              <a:lnSpc>
                <a:spcPct val="100000"/>
              </a:lnSpc>
              <a:buFont typeface="Wingdings" panose="05000000000000000000" pitchFamily="2" charset="2"/>
              <a:buChar char="§"/>
            </a:pPr>
            <a:r>
              <a:rPr lang="en-US" sz="1600" dirty="0">
                <a:solidFill>
                  <a:schemeClr val="tx2">
                    <a:lumMod val="50000"/>
                  </a:schemeClr>
                </a:solidFill>
              </a:rPr>
              <a:t>This research focuses only on authentication and defense against cyberattacks</a:t>
            </a:r>
          </a:p>
          <a:p>
            <a:pPr marL="357188" indent="-357188" algn="just">
              <a:lnSpc>
                <a:spcPct val="100000"/>
              </a:lnSpc>
              <a:buFont typeface="Wingdings" panose="05000000000000000000" pitchFamily="2" charset="2"/>
              <a:buChar char="§"/>
            </a:pPr>
            <a:r>
              <a:rPr lang="en-US" sz="1600" dirty="0">
                <a:solidFill>
                  <a:schemeClr val="tx2">
                    <a:lumMod val="50000"/>
                  </a:schemeClr>
                </a:solidFill>
              </a:rPr>
              <a:t>DoS attack by flooding the victim is beyond the scope this research</a:t>
            </a:r>
          </a:p>
          <a:p>
            <a:pPr marL="357188" indent="-357188" algn="just">
              <a:lnSpc>
                <a:spcPct val="100000"/>
              </a:lnSpc>
              <a:buFont typeface="Wingdings" panose="05000000000000000000" pitchFamily="2" charset="2"/>
              <a:buChar char="§"/>
            </a:pPr>
            <a:r>
              <a:rPr lang="en-US" sz="1600" dirty="0">
                <a:solidFill>
                  <a:schemeClr val="tx2">
                    <a:lumMod val="50000"/>
                  </a:schemeClr>
                </a:solidFill>
              </a:rPr>
              <a:t>DoS and other attacks are conducted on HSMS protocol</a:t>
            </a:r>
          </a:p>
          <a:p>
            <a:pPr marL="357188" indent="-357188" algn="just">
              <a:lnSpc>
                <a:spcPct val="100000"/>
              </a:lnSpc>
              <a:buFont typeface="Wingdings" panose="05000000000000000000" pitchFamily="2" charset="2"/>
              <a:buChar char="§"/>
            </a:pPr>
            <a:r>
              <a:rPr lang="en-US" sz="1600" dirty="0">
                <a:solidFill>
                  <a:schemeClr val="tx2">
                    <a:lumMod val="50000"/>
                  </a:schemeClr>
                </a:solidFill>
              </a:rPr>
              <a:t>Performance evaluation is conducted using emulators in a testbed environment</a:t>
            </a:r>
          </a:p>
          <a:p>
            <a:pPr marL="357188" indent="-357188" algn="just">
              <a:lnSpc>
                <a:spcPct val="100000"/>
              </a:lnSpc>
              <a:buFont typeface="Wingdings" panose="05000000000000000000" pitchFamily="2" charset="2"/>
              <a:buChar char="§"/>
            </a:pPr>
            <a:r>
              <a:rPr lang="en-US" sz="1600" dirty="0">
                <a:solidFill>
                  <a:schemeClr val="tx2">
                    <a:lumMod val="50000"/>
                  </a:schemeClr>
                </a:solidFill>
              </a:rPr>
              <a:t>Secret Keys are preconfigured on machines during configuration</a:t>
            </a:r>
          </a:p>
          <a:p>
            <a:pPr marL="457200" indent="-457200" algn="just">
              <a:lnSpc>
                <a:spcPct val="100000"/>
              </a:lnSpc>
              <a:buFont typeface="Wingdings" panose="05000000000000000000" pitchFamily="2" charset="2"/>
              <a:buChar char="§"/>
            </a:pPr>
            <a:endParaRPr lang="en-US" sz="1800" dirty="0">
              <a:solidFill>
                <a:schemeClr val="tx2">
                  <a:lumMod val="50000"/>
                </a:schemeClr>
              </a:solidFill>
            </a:endParaRPr>
          </a:p>
          <a:p>
            <a:pPr marL="457200" indent="-457200" algn="just">
              <a:lnSpc>
                <a:spcPct val="100000"/>
              </a:lnSpc>
              <a:buFont typeface="Wingdings" panose="05000000000000000000" pitchFamily="2" charset="2"/>
              <a:buChar char="§"/>
            </a:pPr>
            <a:endParaRPr lang="en-US" sz="1800" dirty="0">
              <a:solidFill>
                <a:schemeClr val="tx2">
                  <a:lumMod val="50000"/>
                </a:schemeClr>
              </a:solidFill>
            </a:endParaRPr>
          </a:p>
        </p:txBody>
      </p:sp>
      <p:sp>
        <p:nvSpPr>
          <p:cNvPr id="11" name="TextBox 10">
            <a:extLst>
              <a:ext uri="{FF2B5EF4-FFF2-40B4-BE49-F238E27FC236}">
                <a16:creationId xmlns:a16="http://schemas.microsoft.com/office/drawing/2014/main" id="{205F9445-1A55-7DD5-E9DA-22AED999038E}"/>
              </a:ext>
            </a:extLst>
          </p:cNvPr>
          <p:cNvSpPr txBox="1"/>
          <p:nvPr/>
        </p:nvSpPr>
        <p:spPr>
          <a:xfrm>
            <a:off x="457200" y="1024096"/>
            <a:ext cx="6097508" cy="400110"/>
          </a:xfrm>
          <a:prstGeom prst="rect">
            <a:avLst/>
          </a:prstGeom>
          <a:noFill/>
        </p:spPr>
        <p:txBody>
          <a:bodyPr wrap="square">
            <a:spAutoFit/>
          </a:bodyPr>
          <a:lstStyle/>
          <a:p>
            <a:pPr marL="0" indent="0" algn="just">
              <a:lnSpc>
                <a:spcPct val="100000"/>
              </a:lnSpc>
              <a:buNone/>
            </a:pPr>
            <a:r>
              <a:rPr lang="en-US" sz="2000" b="1" dirty="0">
                <a:solidFill>
                  <a:srgbClr val="C00000"/>
                </a:solidFill>
              </a:rPr>
              <a:t>Limitations</a:t>
            </a:r>
          </a:p>
        </p:txBody>
      </p:sp>
    </p:spTree>
    <p:custDataLst>
      <p:tags r:id="rId1"/>
    </p:custDataLst>
    <p:extLst>
      <p:ext uri="{BB962C8B-B14F-4D97-AF65-F5344CB8AC3E}">
        <p14:creationId xmlns:p14="http://schemas.microsoft.com/office/powerpoint/2010/main" val="3778971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fauzisukiman\Desktop\template pp USM\page 2 n seterusnya\Header.jpg"/>
          <p:cNvPicPr>
            <a:picLocks noChangeAspect="1" noChangeArrowheads="1"/>
          </p:cNvPicPr>
          <p:nvPr/>
        </p:nvPicPr>
        <p:blipFill rotWithShape="1">
          <a:blip r:embed="rId4" cstate="print"/>
          <a:srcRect l="14375"/>
          <a:stretch/>
        </p:blipFill>
        <p:spPr bwMode="auto">
          <a:xfrm>
            <a:off x="1268881" y="0"/>
            <a:ext cx="10923119" cy="822960"/>
          </a:xfrm>
          <a:prstGeom prst="rect">
            <a:avLst/>
          </a:prstGeom>
          <a:noFill/>
        </p:spPr>
      </p:pic>
      <p:sp>
        <p:nvSpPr>
          <p:cNvPr id="6" name="Rectangle 5"/>
          <p:cNvSpPr/>
          <p:nvPr/>
        </p:nvSpPr>
        <p:spPr>
          <a:xfrm>
            <a:off x="1447800" y="76200"/>
            <a:ext cx="10363200" cy="707886"/>
          </a:xfrm>
          <a:prstGeom prst="rect">
            <a:avLst/>
          </a:prstGeom>
        </p:spPr>
        <p:txBody>
          <a:bodyPr wrap="square">
            <a:spAutoFit/>
          </a:bodyPr>
          <a:lstStyle/>
          <a:p>
            <a:r>
              <a:rPr lang="en-US" sz="4000" b="1" i="1" dirty="0">
                <a:solidFill>
                  <a:schemeClr val="bg1"/>
                </a:solidFill>
              </a:rPr>
              <a:t>Related Work</a:t>
            </a:r>
          </a:p>
        </p:txBody>
      </p:sp>
      <p:pic>
        <p:nvPicPr>
          <p:cNvPr id="9" name="Picture 3"/>
          <p:cNvPicPr>
            <a:picLocks noChangeAspect="1" noChangeArrowheads="1"/>
          </p:cNvPicPr>
          <p:nvPr/>
        </p:nvPicPr>
        <p:blipFill>
          <a:blip r:embed="rId5" cstate="print">
            <a:clrChange>
              <a:clrFrom>
                <a:srgbClr val="FDFDFD"/>
              </a:clrFrom>
              <a:clrTo>
                <a:srgbClr val="FDFDFD">
                  <a:alpha val="0"/>
                </a:srgbClr>
              </a:clrTo>
            </a:clrChange>
          </a:blip>
          <a:srcRect/>
          <a:stretch>
            <a:fillRect/>
          </a:stretch>
        </p:blipFill>
        <p:spPr bwMode="auto">
          <a:xfrm>
            <a:off x="0" y="-1224"/>
            <a:ext cx="1268881" cy="824184"/>
          </a:xfrm>
          <a:prstGeom prst="rect">
            <a:avLst/>
          </a:prstGeom>
          <a:noFill/>
          <a:ln w="9525">
            <a:noFill/>
            <a:miter lim="800000"/>
            <a:headEnd/>
            <a:tailEnd/>
          </a:ln>
          <a:effectLst/>
        </p:spPr>
      </p:pic>
      <p:sp>
        <p:nvSpPr>
          <p:cNvPr id="38" name="Slide Number Placeholder 1">
            <a:extLst>
              <a:ext uri="{FF2B5EF4-FFF2-40B4-BE49-F238E27FC236}">
                <a16:creationId xmlns:a16="http://schemas.microsoft.com/office/drawing/2014/main" id="{40F218CE-DB75-2F90-65EB-D096F517938A}"/>
              </a:ext>
            </a:extLst>
          </p:cNvPr>
          <p:cNvSpPr>
            <a:spLocks noGrp="1"/>
          </p:cNvSpPr>
          <p:nvPr>
            <p:ph type="sldNum" sz="quarter" idx="12"/>
          </p:nvPr>
        </p:nvSpPr>
        <p:spPr>
          <a:xfrm>
            <a:off x="9906000" y="6472826"/>
            <a:ext cx="2133600" cy="365125"/>
          </a:xfrm>
        </p:spPr>
        <p:txBody>
          <a:bodyPr/>
          <a:lstStyle/>
          <a:p>
            <a:fld id="{D4B39A3D-6E5B-421C-AA99-AA75690A48C6}" type="slidenum">
              <a:rPr lang="en-US" smtClean="0"/>
              <a:pPr/>
              <a:t>7</a:t>
            </a:fld>
            <a:endParaRPr lang="en-US" dirty="0"/>
          </a:p>
        </p:txBody>
      </p:sp>
      <p:sp>
        <p:nvSpPr>
          <p:cNvPr id="2" name="Content Placeholder 7">
            <a:extLst>
              <a:ext uri="{FF2B5EF4-FFF2-40B4-BE49-F238E27FC236}">
                <a16:creationId xmlns:a16="http://schemas.microsoft.com/office/drawing/2014/main" id="{577464D9-A4DE-D43B-6BAB-7F5520112588}"/>
              </a:ext>
            </a:extLst>
          </p:cNvPr>
          <p:cNvSpPr>
            <a:spLocks noGrp="1"/>
          </p:cNvSpPr>
          <p:nvPr>
            <p:ph idx="1"/>
          </p:nvPr>
        </p:nvSpPr>
        <p:spPr>
          <a:xfrm>
            <a:off x="543559" y="1381760"/>
            <a:ext cx="6913407" cy="4942840"/>
          </a:xfrm>
        </p:spPr>
        <p:txBody>
          <a:bodyPr>
            <a:noAutofit/>
          </a:bodyPr>
          <a:lstStyle/>
          <a:p>
            <a:pPr marL="457200" indent="-457200" algn="just">
              <a:lnSpc>
                <a:spcPct val="100000"/>
              </a:lnSpc>
              <a:buFont typeface="Wingdings" panose="05000000000000000000" pitchFamily="2" charset="2"/>
              <a:buChar char="§"/>
            </a:pPr>
            <a:r>
              <a:rPr lang="en-US" sz="1800" dirty="0">
                <a:solidFill>
                  <a:schemeClr val="tx2">
                    <a:lumMod val="50000"/>
                  </a:schemeClr>
                </a:solidFill>
              </a:rPr>
              <a:t>There is extensive literature available for securing protocols operating in the industrial ecosystem</a:t>
            </a:r>
          </a:p>
          <a:p>
            <a:pPr marL="457200" indent="-457200" algn="just">
              <a:lnSpc>
                <a:spcPct val="100000"/>
              </a:lnSpc>
              <a:buFont typeface="Wingdings" panose="05000000000000000000" pitchFamily="2" charset="2"/>
              <a:buChar char="§"/>
            </a:pPr>
            <a:r>
              <a:rPr lang="en-US" sz="1800" dirty="0">
                <a:solidFill>
                  <a:schemeClr val="tx2">
                    <a:lumMod val="50000"/>
                  </a:schemeClr>
                </a:solidFill>
              </a:rPr>
              <a:t>Authentication is achieved by utilizing PKI (Public-key-infrastructure) based mechanisms</a:t>
            </a:r>
          </a:p>
          <a:p>
            <a:pPr marL="457200" indent="-457200" algn="just">
              <a:lnSpc>
                <a:spcPct val="100000"/>
              </a:lnSpc>
              <a:buFont typeface="Wingdings" panose="05000000000000000000" pitchFamily="2" charset="2"/>
              <a:buChar char="§"/>
            </a:pPr>
            <a:r>
              <a:rPr lang="en-US" sz="1800" dirty="0">
                <a:solidFill>
                  <a:schemeClr val="tx2">
                    <a:lumMod val="50000"/>
                  </a:schemeClr>
                </a:solidFill>
              </a:rPr>
              <a:t>There exists not a single study that provides solutions to secure SECS/GEM communications</a:t>
            </a:r>
          </a:p>
          <a:p>
            <a:pPr marL="457200" indent="-457200" algn="just">
              <a:lnSpc>
                <a:spcPct val="100000"/>
              </a:lnSpc>
              <a:buFont typeface="Wingdings" panose="05000000000000000000" pitchFamily="2" charset="2"/>
              <a:buChar char="§"/>
            </a:pPr>
            <a:r>
              <a:rPr lang="en-US" sz="1800" dirty="0">
                <a:solidFill>
                  <a:schemeClr val="tx2">
                    <a:lumMod val="50000"/>
                  </a:schemeClr>
                </a:solidFill>
              </a:rPr>
              <a:t>As part of the industrial research project, we provided two solutions (i.e., SECS/GEMsec and Secured SECS/GEM)</a:t>
            </a:r>
          </a:p>
          <a:p>
            <a:pPr marL="457200" indent="-457200" algn="just">
              <a:lnSpc>
                <a:spcPct val="100000"/>
              </a:lnSpc>
              <a:buFont typeface="Wingdings" panose="05000000000000000000" pitchFamily="2" charset="2"/>
              <a:buChar char="§"/>
            </a:pPr>
            <a:r>
              <a:rPr lang="en-US" sz="1800" dirty="0">
                <a:solidFill>
                  <a:schemeClr val="tx2">
                    <a:lumMod val="50000"/>
                  </a:schemeClr>
                </a:solidFill>
              </a:rPr>
              <a:t>PKI-based systems are complex and have a high processing time</a:t>
            </a:r>
          </a:p>
          <a:p>
            <a:pPr marL="457200" indent="-457200" algn="just">
              <a:lnSpc>
                <a:spcPct val="100000"/>
              </a:lnSpc>
              <a:buFont typeface="Wingdings" panose="05000000000000000000" pitchFamily="2" charset="2"/>
              <a:buChar char="§"/>
            </a:pPr>
            <a:r>
              <a:rPr lang="en-US" sz="1800" dirty="0">
                <a:solidFill>
                  <a:schemeClr val="tx2">
                    <a:lumMod val="50000"/>
                  </a:schemeClr>
                </a:solidFill>
              </a:rPr>
              <a:t>PKI-based solutions are effective where there are several clients connecting to a server</a:t>
            </a:r>
          </a:p>
          <a:p>
            <a:pPr marL="457200" indent="-457200" algn="just">
              <a:lnSpc>
                <a:spcPct val="100000"/>
              </a:lnSpc>
              <a:buFont typeface="Wingdings" panose="05000000000000000000" pitchFamily="2" charset="2"/>
              <a:buChar char="§"/>
            </a:pPr>
            <a:endParaRPr lang="en-US" sz="1800" dirty="0">
              <a:solidFill>
                <a:schemeClr val="tx2">
                  <a:lumMod val="50000"/>
                </a:schemeClr>
              </a:solidFill>
            </a:endParaRPr>
          </a:p>
        </p:txBody>
      </p:sp>
      <p:grpSp>
        <p:nvGrpSpPr>
          <p:cNvPr id="3" name="Group 2">
            <a:extLst>
              <a:ext uri="{FF2B5EF4-FFF2-40B4-BE49-F238E27FC236}">
                <a16:creationId xmlns:a16="http://schemas.microsoft.com/office/drawing/2014/main" id="{3A587852-C617-0945-4AC0-91D927B10119}"/>
              </a:ext>
            </a:extLst>
          </p:cNvPr>
          <p:cNvGrpSpPr/>
          <p:nvPr/>
        </p:nvGrpSpPr>
        <p:grpSpPr>
          <a:xfrm>
            <a:off x="7974688" y="1524000"/>
            <a:ext cx="3673752" cy="3935428"/>
            <a:chOff x="7974688" y="1524000"/>
            <a:chExt cx="3673752" cy="3935428"/>
          </a:xfrm>
        </p:grpSpPr>
        <p:pic>
          <p:nvPicPr>
            <p:cNvPr id="10" name="Picture 2" descr="DEK Automatic Solder Paste Printer, HORIZON">
              <a:extLst>
                <a:ext uri="{FF2B5EF4-FFF2-40B4-BE49-F238E27FC236}">
                  <a16:creationId xmlns:a16="http://schemas.microsoft.com/office/drawing/2014/main" id="{B622E4A8-3EEC-9B39-06F3-52A78931536D}"/>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13053" t="9160" r="10786" b="9856"/>
            <a:stretch/>
          </p:blipFill>
          <p:spPr bwMode="auto">
            <a:xfrm>
              <a:off x="10540021" y="1524000"/>
              <a:ext cx="1108419" cy="1120023"/>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4" descr="Image result for server computer icon">
              <a:extLst>
                <a:ext uri="{FF2B5EF4-FFF2-40B4-BE49-F238E27FC236}">
                  <a16:creationId xmlns:a16="http://schemas.microsoft.com/office/drawing/2014/main" id="{D9BA34A2-5A30-55F0-6C2C-B6E81F6ABA9F}"/>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t="18813" b="19808"/>
            <a:stretch/>
          </p:blipFill>
          <p:spPr bwMode="auto">
            <a:xfrm flipH="1">
              <a:off x="7974688" y="2106209"/>
              <a:ext cx="940686" cy="523266"/>
            </a:xfrm>
            <a:prstGeom prst="rect">
              <a:avLst/>
            </a:prstGeom>
            <a:noFill/>
            <a:extLst>
              <a:ext uri="{909E8E84-426E-40DD-AFC4-6F175D3DCCD1}">
                <a14:hiddenFill xmlns:a14="http://schemas.microsoft.com/office/drawing/2010/main">
                  <a:solidFill>
                    <a:srgbClr val="FFFFFF"/>
                  </a:solidFill>
                </a14:hiddenFill>
              </a:ext>
            </a:extLst>
          </p:spPr>
        </p:pic>
        <p:cxnSp>
          <p:nvCxnSpPr>
            <p:cNvPr id="13" name="Straight Connector 12">
              <a:extLst>
                <a:ext uri="{FF2B5EF4-FFF2-40B4-BE49-F238E27FC236}">
                  <a16:creationId xmlns:a16="http://schemas.microsoft.com/office/drawing/2014/main" id="{D7C9F361-D369-3F35-DBE5-489D2800B4E6}"/>
                </a:ext>
              </a:extLst>
            </p:cNvPr>
            <p:cNvCxnSpPr/>
            <p:nvPr/>
          </p:nvCxnSpPr>
          <p:spPr>
            <a:xfrm>
              <a:off x="8397657" y="2629475"/>
              <a:ext cx="0" cy="2498688"/>
            </a:xfrm>
            <a:prstGeom prst="line">
              <a:avLst/>
            </a:prstGeom>
            <a:ln w="25400">
              <a:solidFill>
                <a:schemeClr val="tx1"/>
              </a:solidFill>
            </a:ln>
          </p:spPr>
          <p:style>
            <a:lnRef idx="3">
              <a:schemeClr val="accent5"/>
            </a:lnRef>
            <a:fillRef idx="0">
              <a:schemeClr val="accent5"/>
            </a:fillRef>
            <a:effectRef idx="2">
              <a:schemeClr val="accent5"/>
            </a:effectRef>
            <a:fontRef idx="minor">
              <a:schemeClr val="tx1"/>
            </a:fontRef>
          </p:style>
        </p:cxnSp>
        <p:cxnSp>
          <p:nvCxnSpPr>
            <p:cNvPr id="14" name="Straight Connector 13">
              <a:extLst>
                <a:ext uri="{FF2B5EF4-FFF2-40B4-BE49-F238E27FC236}">
                  <a16:creationId xmlns:a16="http://schemas.microsoft.com/office/drawing/2014/main" id="{DA04C2A0-9633-010D-E13D-869877AB998B}"/>
                </a:ext>
              </a:extLst>
            </p:cNvPr>
            <p:cNvCxnSpPr/>
            <p:nvPr/>
          </p:nvCxnSpPr>
          <p:spPr>
            <a:xfrm>
              <a:off x="10958150" y="2673121"/>
              <a:ext cx="0" cy="2498688"/>
            </a:xfrm>
            <a:prstGeom prst="line">
              <a:avLst/>
            </a:prstGeom>
            <a:ln w="25400">
              <a:solidFill>
                <a:schemeClr val="tx1"/>
              </a:solidFill>
            </a:ln>
          </p:spPr>
          <p:style>
            <a:lnRef idx="3">
              <a:schemeClr val="accent5"/>
            </a:lnRef>
            <a:fillRef idx="0">
              <a:schemeClr val="accent5"/>
            </a:fillRef>
            <a:effectRef idx="2">
              <a:schemeClr val="accent5"/>
            </a:effectRef>
            <a:fontRef idx="minor">
              <a:schemeClr val="tx1"/>
            </a:fontRef>
          </p:style>
        </p:cxnSp>
        <p:sp>
          <p:nvSpPr>
            <p:cNvPr id="7" name="TextBox 6">
              <a:extLst>
                <a:ext uri="{FF2B5EF4-FFF2-40B4-BE49-F238E27FC236}">
                  <a16:creationId xmlns:a16="http://schemas.microsoft.com/office/drawing/2014/main" id="{E8BB867C-A710-6810-334D-207317780995}"/>
                </a:ext>
              </a:extLst>
            </p:cNvPr>
            <p:cNvSpPr txBox="1"/>
            <p:nvPr/>
          </p:nvSpPr>
          <p:spPr>
            <a:xfrm>
              <a:off x="8766837" y="5182429"/>
              <a:ext cx="1871346" cy="276999"/>
            </a:xfrm>
            <a:prstGeom prst="rect">
              <a:avLst/>
            </a:prstGeom>
            <a:noFill/>
          </p:spPr>
          <p:txBody>
            <a:bodyPr wrap="none" rtlCol="0">
              <a:spAutoFit/>
            </a:bodyPr>
            <a:lstStyle/>
            <a:p>
              <a:r>
                <a:rPr lang="en-US" sz="1200" dirty="0"/>
                <a:t>SECS/GEM Communication</a:t>
              </a:r>
            </a:p>
          </p:txBody>
        </p:sp>
        <p:sp>
          <p:nvSpPr>
            <p:cNvPr id="28" name="TextBox 27">
              <a:extLst>
                <a:ext uri="{FF2B5EF4-FFF2-40B4-BE49-F238E27FC236}">
                  <a16:creationId xmlns:a16="http://schemas.microsoft.com/office/drawing/2014/main" id="{4698168E-71E1-8695-9024-20F4588D6341}"/>
                </a:ext>
              </a:extLst>
            </p:cNvPr>
            <p:cNvSpPr txBox="1"/>
            <p:nvPr/>
          </p:nvSpPr>
          <p:spPr>
            <a:xfrm>
              <a:off x="9016517" y="2700165"/>
              <a:ext cx="1210588" cy="246221"/>
            </a:xfrm>
            <a:prstGeom prst="rect">
              <a:avLst/>
            </a:prstGeom>
            <a:noFill/>
          </p:spPr>
          <p:txBody>
            <a:bodyPr wrap="none" rtlCol="0">
              <a:spAutoFit/>
            </a:bodyPr>
            <a:lstStyle/>
            <a:p>
              <a:r>
                <a:rPr lang="en-US" sz="1000" dirty="0"/>
                <a:t>Connection request</a:t>
              </a:r>
            </a:p>
          </p:txBody>
        </p:sp>
        <p:cxnSp>
          <p:nvCxnSpPr>
            <p:cNvPr id="30" name="Straight Arrow Connector 29">
              <a:extLst>
                <a:ext uri="{FF2B5EF4-FFF2-40B4-BE49-F238E27FC236}">
                  <a16:creationId xmlns:a16="http://schemas.microsoft.com/office/drawing/2014/main" id="{74BD0AC8-03A1-22BE-237C-71229A7DDB55}"/>
                </a:ext>
              </a:extLst>
            </p:cNvPr>
            <p:cNvCxnSpPr/>
            <p:nvPr/>
          </p:nvCxnSpPr>
          <p:spPr>
            <a:xfrm flipH="1">
              <a:off x="8397657" y="3200400"/>
              <a:ext cx="2560493" cy="0"/>
            </a:xfrm>
            <a:prstGeom prst="straightConnector1">
              <a:avLst/>
            </a:prstGeom>
            <a:ln>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02E5536C-86AA-9F99-DBF9-38978EA6F0E1}"/>
                </a:ext>
              </a:extLst>
            </p:cNvPr>
            <p:cNvSpPr txBox="1"/>
            <p:nvPr/>
          </p:nvSpPr>
          <p:spPr>
            <a:xfrm>
              <a:off x="9138815" y="3006268"/>
              <a:ext cx="995785" cy="246221"/>
            </a:xfrm>
            <a:prstGeom prst="rect">
              <a:avLst/>
            </a:prstGeom>
            <a:noFill/>
          </p:spPr>
          <p:txBody>
            <a:bodyPr wrap="none" rtlCol="0">
              <a:spAutoFit/>
            </a:bodyPr>
            <a:lstStyle/>
            <a:p>
              <a:r>
                <a:rPr lang="en-US" sz="1000" dirty="0"/>
                <a:t>Connection Ack</a:t>
              </a:r>
            </a:p>
          </p:txBody>
        </p:sp>
        <p:cxnSp>
          <p:nvCxnSpPr>
            <p:cNvPr id="33" name="Straight Arrow Connector 32">
              <a:extLst>
                <a:ext uri="{FF2B5EF4-FFF2-40B4-BE49-F238E27FC236}">
                  <a16:creationId xmlns:a16="http://schemas.microsoft.com/office/drawing/2014/main" id="{3C48D619-7A37-7AC6-C74B-E62D19E763D3}"/>
                </a:ext>
              </a:extLst>
            </p:cNvPr>
            <p:cNvCxnSpPr/>
            <p:nvPr/>
          </p:nvCxnSpPr>
          <p:spPr>
            <a:xfrm>
              <a:off x="8397657" y="2946386"/>
              <a:ext cx="2525462" cy="0"/>
            </a:xfrm>
            <a:prstGeom prst="straightConnector1">
              <a:avLst/>
            </a:prstGeom>
            <a:ln>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16B3BC55-CD20-8F43-DA85-25370D45B2D7}"/>
                </a:ext>
              </a:extLst>
            </p:cNvPr>
            <p:cNvCxnSpPr/>
            <p:nvPr/>
          </p:nvCxnSpPr>
          <p:spPr>
            <a:xfrm>
              <a:off x="8397657" y="4010025"/>
              <a:ext cx="2560493" cy="0"/>
            </a:xfrm>
            <a:prstGeom prst="straightConnector1">
              <a:avLst/>
            </a:prstGeom>
            <a:ln>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4C85F11C-1599-5C15-9264-DBE88BA32B21}"/>
                </a:ext>
              </a:extLst>
            </p:cNvPr>
            <p:cNvSpPr txBox="1"/>
            <p:nvPr/>
          </p:nvSpPr>
          <p:spPr>
            <a:xfrm>
              <a:off x="8763000" y="3810000"/>
              <a:ext cx="1806905" cy="246221"/>
            </a:xfrm>
            <a:prstGeom prst="rect">
              <a:avLst/>
            </a:prstGeom>
            <a:noFill/>
          </p:spPr>
          <p:txBody>
            <a:bodyPr wrap="none" rtlCol="0">
              <a:spAutoFit/>
            </a:bodyPr>
            <a:lstStyle/>
            <a:p>
              <a:r>
                <a:rPr lang="en-US" sz="1000" dirty="0"/>
                <a:t>Request Data/Control Message</a:t>
              </a:r>
            </a:p>
          </p:txBody>
        </p:sp>
        <p:cxnSp>
          <p:nvCxnSpPr>
            <p:cNvPr id="40" name="Straight Arrow Connector 39">
              <a:extLst>
                <a:ext uri="{FF2B5EF4-FFF2-40B4-BE49-F238E27FC236}">
                  <a16:creationId xmlns:a16="http://schemas.microsoft.com/office/drawing/2014/main" id="{D53CC804-ECED-D164-BA10-0402A059B7E1}"/>
                </a:ext>
              </a:extLst>
            </p:cNvPr>
            <p:cNvCxnSpPr/>
            <p:nvPr/>
          </p:nvCxnSpPr>
          <p:spPr>
            <a:xfrm flipH="1">
              <a:off x="8397657" y="4391025"/>
              <a:ext cx="2560493" cy="0"/>
            </a:xfrm>
            <a:prstGeom prst="straightConnector1">
              <a:avLst/>
            </a:prstGeom>
            <a:ln>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70962A52-5A45-C429-48DB-32E0CA60033E}"/>
                </a:ext>
              </a:extLst>
            </p:cNvPr>
            <p:cNvSpPr txBox="1"/>
            <p:nvPr/>
          </p:nvSpPr>
          <p:spPr>
            <a:xfrm>
              <a:off x="8774450" y="4192023"/>
              <a:ext cx="1880643" cy="246221"/>
            </a:xfrm>
            <a:prstGeom prst="rect">
              <a:avLst/>
            </a:prstGeom>
            <a:noFill/>
          </p:spPr>
          <p:txBody>
            <a:bodyPr wrap="none" rtlCol="0">
              <a:spAutoFit/>
            </a:bodyPr>
            <a:lstStyle/>
            <a:p>
              <a:r>
                <a:rPr lang="en-US" sz="1000" dirty="0"/>
                <a:t>Response Data/Control Message</a:t>
              </a:r>
            </a:p>
          </p:txBody>
        </p:sp>
      </p:grpSp>
    </p:spTree>
    <p:custDataLst>
      <p:tags r:id="rId1"/>
    </p:custDataLst>
    <p:extLst>
      <p:ext uri="{BB962C8B-B14F-4D97-AF65-F5344CB8AC3E}">
        <p14:creationId xmlns:p14="http://schemas.microsoft.com/office/powerpoint/2010/main" val="3374580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fauzisukiman\Desktop\template pp USM\page 2 n seterusnya\Header.jpg"/>
          <p:cNvPicPr>
            <a:picLocks noChangeAspect="1" noChangeArrowheads="1"/>
          </p:cNvPicPr>
          <p:nvPr/>
        </p:nvPicPr>
        <p:blipFill rotWithShape="1">
          <a:blip r:embed="rId3" cstate="print"/>
          <a:srcRect l="14375"/>
          <a:stretch/>
        </p:blipFill>
        <p:spPr bwMode="auto">
          <a:xfrm>
            <a:off x="1268881" y="0"/>
            <a:ext cx="10923119" cy="822960"/>
          </a:xfrm>
          <a:prstGeom prst="rect">
            <a:avLst/>
          </a:prstGeom>
          <a:noFill/>
        </p:spPr>
      </p:pic>
      <p:sp>
        <p:nvSpPr>
          <p:cNvPr id="6" name="Rectangle 5"/>
          <p:cNvSpPr/>
          <p:nvPr/>
        </p:nvSpPr>
        <p:spPr>
          <a:xfrm>
            <a:off x="1447800" y="76200"/>
            <a:ext cx="10363200" cy="707886"/>
          </a:xfrm>
          <a:prstGeom prst="rect">
            <a:avLst/>
          </a:prstGeom>
        </p:spPr>
        <p:txBody>
          <a:bodyPr wrap="square">
            <a:spAutoFit/>
          </a:bodyPr>
          <a:lstStyle/>
          <a:p>
            <a:r>
              <a:rPr lang="en-US" sz="4000" b="1" i="1" dirty="0">
                <a:solidFill>
                  <a:schemeClr val="bg1"/>
                </a:solidFill>
              </a:rPr>
              <a:t>Related Work 														</a:t>
            </a:r>
            <a:r>
              <a:rPr lang="en-US" sz="2000" b="1" i="1" dirty="0">
                <a:solidFill>
                  <a:schemeClr val="bg1"/>
                </a:solidFill>
              </a:rPr>
              <a:t>(Cont.)</a:t>
            </a:r>
            <a:endParaRPr lang="en-US" sz="4000" b="1" i="1" dirty="0">
              <a:solidFill>
                <a:schemeClr val="bg1"/>
              </a:solidFill>
            </a:endParaRPr>
          </a:p>
        </p:txBody>
      </p:sp>
      <p:pic>
        <p:nvPicPr>
          <p:cNvPr id="9" name="Picture 3"/>
          <p:cNvPicPr>
            <a:picLocks noChangeAspect="1" noChangeArrowheads="1"/>
          </p:cNvPicPr>
          <p:nvPr/>
        </p:nvPicPr>
        <p:blipFill>
          <a:blip r:embed="rId4" cstate="print">
            <a:clrChange>
              <a:clrFrom>
                <a:srgbClr val="FDFDFD"/>
              </a:clrFrom>
              <a:clrTo>
                <a:srgbClr val="FDFDFD">
                  <a:alpha val="0"/>
                </a:srgbClr>
              </a:clrTo>
            </a:clrChange>
          </a:blip>
          <a:srcRect/>
          <a:stretch>
            <a:fillRect/>
          </a:stretch>
        </p:blipFill>
        <p:spPr bwMode="auto">
          <a:xfrm>
            <a:off x="0" y="-1224"/>
            <a:ext cx="1268881" cy="824184"/>
          </a:xfrm>
          <a:prstGeom prst="rect">
            <a:avLst/>
          </a:prstGeom>
          <a:noFill/>
          <a:ln w="9525">
            <a:noFill/>
            <a:miter lim="800000"/>
            <a:headEnd/>
            <a:tailEnd/>
          </a:ln>
          <a:effectLst/>
        </p:spPr>
      </p:pic>
      <p:graphicFrame>
        <p:nvGraphicFramePr>
          <p:cNvPr id="3" name="Table 2">
            <a:extLst>
              <a:ext uri="{FF2B5EF4-FFF2-40B4-BE49-F238E27FC236}">
                <a16:creationId xmlns:a16="http://schemas.microsoft.com/office/drawing/2014/main" id="{981129DE-C518-D1A2-4B96-B07DC63CC0ED}"/>
              </a:ext>
            </a:extLst>
          </p:cNvPr>
          <p:cNvGraphicFramePr>
            <a:graphicFrameLocks noGrp="1"/>
          </p:cNvGraphicFramePr>
          <p:nvPr/>
        </p:nvGraphicFramePr>
        <p:xfrm>
          <a:off x="533399" y="1371600"/>
          <a:ext cx="11125201" cy="5029200"/>
        </p:xfrm>
        <a:graphic>
          <a:graphicData uri="http://schemas.openxmlformats.org/drawingml/2006/table">
            <a:tbl>
              <a:tblPr firstRow="1" firstCol="1" bandRow="1">
                <a:tableStyleId>{5C22544A-7EE6-4342-B048-85BDC9FD1C3A}</a:tableStyleId>
              </a:tblPr>
              <a:tblGrid>
                <a:gridCol w="2462831">
                  <a:extLst>
                    <a:ext uri="{9D8B030D-6E8A-4147-A177-3AD203B41FA5}">
                      <a16:colId xmlns:a16="http://schemas.microsoft.com/office/drawing/2014/main" val="1199430920"/>
                    </a:ext>
                  </a:extLst>
                </a:gridCol>
                <a:gridCol w="2814632">
                  <a:extLst>
                    <a:ext uri="{9D8B030D-6E8A-4147-A177-3AD203B41FA5}">
                      <a16:colId xmlns:a16="http://schemas.microsoft.com/office/drawing/2014/main" val="3076168706"/>
                    </a:ext>
                  </a:extLst>
                </a:gridCol>
                <a:gridCol w="5847738">
                  <a:extLst>
                    <a:ext uri="{9D8B030D-6E8A-4147-A177-3AD203B41FA5}">
                      <a16:colId xmlns:a16="http://schemas.microsoft.com/office/drawing/2014/main" val="3052999529"/>
                    </a:ext>
                  </a:extLst>
                </a:gridCol>
              </a:tblGrid>
              <a:tr h="533871">
                <a:tc>
                  <a:txBody>
                    <a:bodyPr/>
                    <a:lstStyle/>
                    <a:p>
                      <a:pPr marL="0" marR="0" algn="ctr">
                        <a:spcBef>
                          <a:spcPts val="300"/>
                        </a:spcBef>
                        <a:spcAft>
                          <a:spcPts val="300"/>
                        </a:spcAft>
                      </a:pPr>
                      <a:r>
                        <a:rPr lang="en-US" sz="1600" dirty="0">
                          <a:effectLst/>
                        </a:rPr>
                        <a:t>Mechanism</a:t>
                      </a:r>
                      <a:endParaRPr lang="en-US" sz="16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48299" marR="4829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300"/>
                        </a:spcBef>
                        <a:spcAft>
                          <a:spcPts val="300"/>
                        </a:spcAft>
                      </a:pPr>
                      <a:r>
                        <a:rPr lang="en-US" sz="1600" dirty="0">
                          <a:effectLst/>
                        </a:rPr>
                        <a:t>Security features </a:t>
                      </a:r>
                      <a:br>
                        <a:rPr lang="en-US" sz="1600" dirty="0">
                          <a:effectLst/>
                        </a:rPr>
                      </a:br>
                      <a:r>
                        <a:rPr lang="en-US" sz="1600" dirty="0">
                          <a:effectLst/>
                        </a:rPr>
                        <a:t>and Strengths</a:t>
                      </a:r>
                      <a:endParaRPr lang="en-US" sz="16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48299" marR="4829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300"/>
                        </a:spcBef>
                        <a:spcAft>
                          <a:spcPts val="300"/>
                        </a:spcAft>
                      </a:pPr>
                      <a:r>
                        <a:rPr lang="en-US" sz="1600" dirty="0">
                          <a:effectLst/>
                        </a:rPr>
                        <a:t>Limitations</a:t>
                      </a:r>
                      <a:endParaRPr lang="en-US" sz="16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48299" marR="4829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76601821"/>
                  </a:ext>
                </a:extLst>
              </a:tr>
              <a:tr h="1334677">
                <a:tc>
                  <a:txBody>
                    <a:bodyPr/>
                    <a:lstStyle/>
                    <a:p>
                      <a:pPr marL="0" marR="0" algn="ctr">
                        <a:spcBef>
                          <a:spcPts val="300"/>
                        </a:spcBef>
                        <a:spcAft>
                          <a:spcPts val="300"/>
                        </a:spcAft>
                      </a:pPr>
                      <a:r>
                        <a:rPr lang="en-US" sz="1200" dirty="0">
                          <a:solidFill>
                            <a:schemeClr val="tx1"/>
                          </a:solidFill>
                          <a:effectLst/>
                        </a:rPr>
                        <a:t>Standard</a:t>
                      </a:r>
                      <a:br>
                        <a:rPr lang="en-US" sz="1200" dirty="0">
                          <a:solidFill>
                            <a:schemeClr val="tx1"/>
                          </a:solidFill>
                          <a:effectLst/>
                        </a:rPr>
                      </a:br>
                      <a:r>
                        <a:rPr lang="en-US" sz="1200" dirty="0">
                          <a:solidFill>
                            <a:schemeClr val="tx1"/>
                          </a:solidFill>
                          <a:effectLst/>
                        </a:rPr>
                        <a:t>SECS/GEM</a:t>
                      </a:r>
                      <a:br>
                        <a:rPr lang="en-US" sz="1200" dirty="0">
                          <a:solidFill>
                            <a:schemeClr val="tx1"/>
                          </a:solidFill>
                          <a:effectLst/>
                        </a:rPr>
                      </a:br>
                      <a:r>
                        <a:rPr lang="en-US" sz="1200" dirty="0">
                          <a:solidFill>
                            <a:schemeClr val="tx1"/>
                          </a:solidFill>
                          <a:effectLst/>
                        </a:rPr>
                        <a:t>(SEMI, 1994)</a:t>
                      </a:r>
                      <a:endParaRPr lang="en-US" sz="12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48299" marR="4829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0" marR="0" algn="ctr">
                        <a:spcBef>
                          <a:spcPts val="300"/>
                        </a:spcBef>
                        <a:spcAft>
                          <a:spcPts val="300"/>
                        </a:spcAft>
                      </a:pPr>
                      <a:r>
                        <a:rPr lang="en-US" sz="1200" dirty="0">
                          <a:effectLst/>
                        </a:rPr>
                        <a:t>N/A</a:t>
                      </a:r>
                      <a:endParaRPr lang="en-US" sz="12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48299" marR="4829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marR="0" lvl="0" indent="-227013" algn="l">
                        <a:spcBef>
                          <a:spcPts val="300"/>
                        </a:spcBef>
                        <a:spcAft>
                          <a:spcPts val="300"/>
                        </a:spcAft>
                        <a:buFont typeface="Symbol" panose="05050102010706020507" pitchFamily="18" charset="2"/>
                        <a:buChar char=""/>
                      </a:pPr>
                      <a:r>
                        <a:rPr lang="en-US" sz="1200" dirty="0">
                          <a:effectLst/>
                        </a:rPr>
                        <a:t>No authentication</a:t>
                      </a:r>
                    </a:p>
                    <a:p>
                      <a:pPr marL="342900" marR="0" lvl="0" indent="-227013" algn="l">
                        <a:spcBef>
                          <a:spcPts val="300"/>
                        </a:spcBef>
                        <a:spcAft>
                          <a:spcPts val="300"/>
                        </a:spcAft>
                        <a:buFont typeface="Symbol" panose="05050102010706020507" pitchFamily="18" charset="2"/>
                        <a:buChar char=""/>
                      </a:pPr>
                      <a:r>
                        <a:rPr lang="en-US" sz="1200" dirty="0">
                          <a:effectLst/>
                        </a:rPr>
                        <a:t>No protection against cyber-attacks at all</a:t>
                      </a:r>
                    </a:p>
                    <a:p>
                      <a:pPr marL="342900" marR="0" lvl="0" indent="-227013" algn="l">
                        <a:spcBef>
                          <a:spcPts val="300"/>
                        </a:spcBef>
                        <a:spcAft>
                          <a:spcPts val="300"/>
                        </a:spcAft>
                        <a:buFont typeface="Symbol" panose="05050102010706020507" pitchFamily="18" charset="2"/>
                        <a:buChar char=""/>
                      </a:pPr>
                      <a:r>
                        <a:rPr lang="en-US" sz="1200" dirty="0">
                          <a:effectLst/>
                        </a:rPr>
                        <a:t>No mechanism to ensure message integrity</a:t>
                      </a:r>
                    </a:p>
                    <a:p>
                      <a:pPr marL="342900" marR="0" lvl="0" indent="-227013" algn="l">
                        <a:spcBef>
                          <a:spcPts val="300"/>
                        </a:spcBef>
                        <a:spcAft>
                          <a:spcPts val="300"/>
                        </a:spcAft>
                        <a:buFont typeface="Symbol" panose="05050102010706020507" pitchFamily="18" charset="2"/>
                        <a:buChar char=""/>
                      </a:pPr>
                      <a:r>
                        <a:rPr lang="en-US" sz="1200" dirty="0">
                          <a:effectLst/>
                        </a:rPr>
                        <a:t>No support for confidentiality </a:t>
                      </a:r>
                    </a:p>
                  </a:txBody>
                  <a:tcPr marL="48299" marR="4829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60822302"/>
                  </a:ext>
                </a:extLst>
              </a:tr>
              <a:tr h="1712852">
                <a:tc>
                  <a:txBody>
                    <a:bodyPr/>
                    <a:lstStyle/>
                    <a:p>
                      <a:pPr marL="0" marR="0" algn="ctr">
                        <a:spcBef>
                          <a:spcPts val="300"/>
                        </a:spcBef>
                        <a:spcAft>
                          <a:spcPts val="300"/>
                        </a:spcAft>
                      </a:pPr>
                      <a:r>
                        <a:rPr lang="en-US" sz="1200" dirty="0">
                          <a:solidFill>
                            <a:schemeClr val="tx1"/>
                          </a:solidFill>
                          <a:effectLst/>
                        </a:rPr>
                        <a:t>SECS/GEMsec</a:t>
                      </a:r>
                      <a:br>
                        <a:rPr lang="en-US" sz="1200" dirty="0">
                          <a:solidFill>
                            <a:schemeClr val="tx1"/>
                          </a:solidFill>
                          <a:effectLst/>
                        </a:rPr>
                      </a:br>
                      <a:r>
                        <a:rPr lang="en-US" sz="1200" dirty="0">
                          <a:solidFill>
                            <a:schemeClr val="tx1"/>
                          </a:solidFill>
                          <a:effectLst/>
                        </a:rPr>
                        <a:t>Shams A. Laghari, et al.,  2021)</a:t>
                      </a:r>
                      <a:endParaRPr lang="en-US" sz="12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48299" marR="4829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342900" marR="0" lvl="0" indent="-227013" algn="l" rtl="0">
                        <a:spcBef>
                          <a:spcPts val="300"/>
                        </a:spcBef>
                        <a:spcAft>
                          <a:spcPts val="300"/>
                        </a:spcAft>
                        <a:buFont typeface="Symbol" panose="05050102010706020507" pitchFamily="18" charset="2"/>
                        <a:buChar char=""/>
                      </a:pPr>
                      <a:r>
                        <a:rPr lang="en-US" sz="1200" dirty="0">
                          <a:effectLst/>
                        </a:rPr>
                        <a:t>Offers authentication</a:t>
                      </a:r>
                    </a:p>
                    <a:p>
                      <a:pPr marL="342900" marR="0" lvl="0" indent="-227013" algn="l">
                        <a:spcBef>
                          <a:spcPts val="300"/>
                        </a:spcBef>
                        <a:spcAft>
                          <a:spcPts val="300"/>
                        </a:spcAft>
                        <a:buFont typeface="Symbol" panose="05050102010706020507" pitchFamily="18" charset="2"/>
                        <a:buChar char=""/>
                      </a:pPr>
                      <a:r>
                        <a:rPr lang="en-US" sz="1200" dirty="0">
                          <a:effectLst/>
                        </a:rPr>
                        <a:t>Ascertains message integrity</a:t>
                      </a:r>
                    </a:p>
                    <a:p>
                      <a:pPr marL="342900" marR="0" lvl="0" indent="-227013" algn="l">
                        <a:spcBef>
                          <a:spcPts val="300"/>
                        </a:spcBef>
                        <a:spcAft>
                          <a:spcPts val="300"/>
                        </a:spcAft>
                        <a:buFont typeface="Symbol" panose="05050102010706020507" pitchFamily="18" charset="2"/>
                        <a:buChar char=""/>
                      </a:pPr>
                      <a:r>
                        <a:rPr lang="en-US" sz="1200" dirty="0">
                          <a:effectLst/>
                        </a:rPr>
                        <a:t>Detection and prevention of cyber-attacks, including DoS attacks, Replay Attacks, and FDIA attacks</a:t>
                      </a:r>
                    </a:p>
                    <a:p>
                      <a:pPr marL="0" marR="0" algn="l">
                        <a:spcBef>
                          <a:spcPts val="300"/>
                        </a:spcBef>
                        <a:spcAft>
                          <a:spcPts val="300"/>
                        </a:spcAft>
                      </a:pPr>
                      <a:r>
                        <a:rPr lang="en-US" sz="1200" dirty="0">
                          <a:effectLst/>
                        </a:rPr>
                        <a:t> </a:t>
                      </a:r>
                      <a:endParaRPr lang="en-US" sz="12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48299" marR="4829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marR="0" lvl="0" indent="-227013" algn="l" rtl="0">
                        <a:spcBef>
                          <a:spcPts val="300"/>
                        </a:spcBef>
                        <a:spcAft>
                          <a:spcPts val="300"/>
                        </a:spcAft>
                        <a:buFont typeface="Symbol" panose="05050102010706020507" pitchFamily="18" charset="2"/>
                        <a:buChar char=""/>
                      </a:pPr>
                      <a:r>
                        <a:rPr lang="en-US" sz="1200" dirty="0">
                          <a:effectLst/>
                        </a:rPr>
                        <a:t>Very high processing time</a:t>
                      </a:r>
                    </a:p>
                    <a:p>
                      <a:pPr marL="342900" marR="0" lvl="0" indent="-227013" algn="l">
                        <a:spcBef>
                          <a:spcPts val="300"/>
                        </a:spcBef>
                        <a:spcAft>
                          <a:spcPts val="300"/>
                        </a:spcAft>
                        <a:buFont typeface="Symbol" panose="05050102010706020507" pitchFamily="18" charset="2"/>
                        <a:buChar char=""/>
                      </a:pPr>
                      <a:r>
                        <a:rPr lang="en-US" sz="1200" dirty="0">
                          <a:effectLst/>
                        </a:rPr>
                        <a:t>High control overhead (i.e., it appends control data with each message exchanged)</a:t>
                      </a:r>
                    </a:p>
                    <a:p>
                      <a:pPr marL="342900" marR="0" lvl="0" indent="-227013" algn="l">
                        <a:spcBef>
                          <a:spcPts val="300"/>
                        </a:spcBef>
                        <a:spcAft>
                          <a:spcPts val="300"/>
                        </a:spcAft>
                        <a:buFont typeface="Symbol" panose="05050102010706020507" pitchFamily="18" charset="2"/>
                        <a:buChar char=""/>
                      </a:pPr>
                      <a:r>
                        <a:rPr lang="en-US" sz="1200" dirty="0">
                          <a:effectLst/>
                        </a:rPr>
                        <a:t>It is a digital signature-based solution; thus, it requires multiple keys</a:t>
                      </a:r>
                    </a:p>
                    <a:p>
                      <a:pPr marL="342900" marR="0" lvl="0" indent="-227013" algn="l">
                        <a:spcBef>
                          <a:spcPts val="300"/>
                        </a:spcBef>
                        <a:spcAft>
                          <a:spcPts val="300"/>
                        </a:spcAft>
                        <a:buFont typeface="Symbol" panose="05050102010706020507" pitchFamily="18" charset="2"/>
                        <a:buChar char=""/>
                      </a:pPr>
                      <a:r>
                        <a:rPr lang="en-US" sz="1200" dirty="0">
                          <a:effectLst/>
                        </a:rPr>
                        <a:t>The mechanism is hardcoded and does not offer to choose algorithms for hashing and digital signature</a:t>
                      </a:r>
                    </a:p>
                    <a:p>
                      <a:pPr marL="342900" marR="0" lvl="0" indent="-227013" algn="l">
                        <a:spcBef>
                          <a:spcPts val="300"/>
                        </a:spcBef>
                        <a:spcAft>
                          <a:spcPts val="300"/>
                        </a:spcAft>
                        <a:buFont typeface="Symbol" panose="05050102010706020507" pitchFamily="18" charset="2"/>
                        <a:buChar char=""/>
                      </a:pPr>
                      <a:r>
                        <a:rPr lang="en-US" sz="1200" dirty="0">
                          <a:effectLst/>
                        </a:rPr>
                        <a:t>Fixed algorithm, as well as key sizes (RSA=2048, SHA2-256), cannot be changed</a:t>
                      </a:r>
                      <a:endParaRPr lang="en-US" sz="12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51429" marR="51429" marT="12969" marB="1296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382453496"/>
                  </a:ext>
                </a:extLst>
              </a:tr>
              <a:tr h="1447800">
                <a:tc>
                  <a:txBody>
                    <a:bodyPr/>
                    <a:lstStyle/>
                    <a:p>
                      <a:pPr marL="0" marR="0" algn="ctr">
                        <a:spcBef>
                          <a:spcPts val="300"/>
                        </a:spcBef>
                        <a:spcAft>
                          <a:spcPts val="300"/>
                        </a:spcAft>
                      </a:pPr>
                      <a:r>
                        <a:rPr lang="en-US" sz="1200" dirty="0">
                          <a:solidFill>
                            <a:schemeClr val="tx1"/>
                          </a:solidFill>
                          <a:effectLst/>
                        </a:rPr>
                        <a:t>Secured SECS/GEM</a:t>
                      </a:r>
                      <a:br>
                        <a:rPr lang="en-US" sz="1200" dirty="0">
                          <a:solidFill>
                            <a:schemeClr val="tx1"/>
                          </a:solidFill>
                          <a:effectLst/>
                        </a:rPr>
                      </a:br>
                      <a:r>
                        <a:rPr lang="en-US" sz="1200" dirty="0">
                          <a:solidFill>
                            <a:schemeClr val="tx1"/>
                          </a:solidFill>
                          <a:effectLst/>
                        </a:rPr>
                        <a:t>Ashish </a:t>
                      </a:r>
                      <a:r>
                        <a:rPr lang="en-US" sz="1200" dirty="0" err="1">
                          <a:solidFill>
                            <a:schemeClr val="tx1"/>
                          </a:solidFill>
                          <a:effectLst/>
                        </a:rPr>
                        <a:t>Jaisan</a:t>
                      </a:r>
                      <a:r>
                        <a:rPr lang="en-US" sz="1200" dirty="0">
                          <a:solidFill>
                            <a:schemeClr val="tx1"/>
                          </a:solidFill>
                          <a:effectLst/>
                        </a:rPr>
                        <a:t>, et al., 2021)</a:t>
                      </a:r>
                    </a:p>
                    <a:p>
                      <a:pPr marL="0" marR="0" algn="ctr">
                        <a:spcBef>
                          <a:spcPts val="300"/>
                        </a:spcBef>
                        <a:spcAft>
                          <a:spcPts val="300"/>
                        </a:spcAft>
                      </a:pPr>
                      <a:r>
                        <a:rPr lang="en-US" sz="1200" dirty="0">
                          <a:solidFill>
                            <a:schemeClr val="tx1"/>
                          </a:solidFill>
                          <a:effectLst/>
                        </a:rPr>
                        <a:t> </a:t>
                      </a:r>
                      <a:endParaRPr lang="en-US" sz="1200" dirty="0">
                        <a:solidFill>
                          <a:schemeClr val="tx1"/>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48299" marR="4829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marL="342900" marR="0" lvl="0" indent="-227013" algn="l" rtl="0">
                        <a:spcBef>
                          <a:spcPts val="300"/>
                        </a:spcBef>
                        <a:spcAft>
                          <a:spcPts val="300"/>
                        </a:spcAft>
                        <a:buFont typeface="Symbol" panose="05050102010706020507" pitchFamily="18" charset="2"/>
                        <a:buChar char=""/>
                      </a:pPr>
                      <a:r>
                        <a:rPr lang="en-US" sz="1200" dirty="0">
                          <a:effectLst/>
                        </a:rPr>
                        <a:t>Offers confidentiality</a:t>
                      </a:r>
                    </a:p>
                    <a:p>
                      <a:pPr marL="342900" marR="0" lvl="0" indent="-227013" algn="l">
                        <a:spcBef>
                          <a:spcPts val="300"/>
                        </a:spcBef>
                        <a:spcAft>
                          <a:spcPts val="300"/>
                        </a:spcAft>
                        <a:buFont typeface="Symbol" panose="05050102010706020507" pitchFamily="18" charset="2"/>
                        <a:buChar char=""/>
                      </a:pPr>
                      <a:r>
                        <a:rPr lang="en-US" sz="1200" dirty="0">
                          <a:effectLst/>
                        </a:rPr>
                        <a:t>Authenticates only data messages</a:t>
                      </a:r>
                      <a:endParaRPr lang="en-US" sz="12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48299" marR="4829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marR="0" lvl="0" indent="-227013" algn="l" rtl="0">
                        <a:spcBef>
                          <a:spcPts val="300"/>
                        </a:spcBef>
                        <a:spcAft>
                          <a:spcPts val="300"/>
                        </a:spcAft>
                        <a:buFont typeface="Symbol" panose="05050102010706020507" pitchFamily="18" charset="2"/>
                        <a:buChar char=""/>
                      </a:pPr>
                      <a:r>
                        <a:rPr lang="en-US" sz="1200" dirty="0">
                          <a:effectLst/>
                        </a:rPr>
                        <a:t>Only encrypts payloads, thus cannot protect the privacy</a:t>
                      </a:r>
                    </a:p>
                    <a:p>
                      <a:pPr marL="342900" marR="0" lvl="0" indent="-227013" algn="l">
                        <a:spcBef>
                          <a:spcPts val="300"/>
                        </a:spcBef>
                        <a:spcAft>
                          <a:spcPts val="300"/>
                        </a:spcAft>
                        <a:buFont typeface="Symbol" panose="05050102010706020507" pitchFamily="18" charset="2"/>
                        <a:buChar char=""/>
                      </a:pPr>
                      <a:r>
                        <a:rPr lang="en-US" sz="1200" dirty="0">
                          <a:effectLst/>
                        </a:rPr>
                        <a:t>Vulnerable to replay attacks</a:t>
                      </a:r>
                    </a:p>
                    <a:p>
                      <a:pPr marL="342900" marR="0" lvl="0" indent="-227013" algn="l">
                        <a:spcBef>
                          <a:spcPts val="300"/>
                        </a:spcBef>
                        <a:spcAft>
                          <a:spcPts val="300"/>
                        </a:spcAft>
                        <a:buFont typeface="Symbol" panose="05050102010706020507" pitchFamily="18" charset="2"/>
                        <a:buChar char=""/>
                      </a:pPr>
                      <a:r>
                        <a:rPr lang="en-US" sz="1200" dirty="0">
                          <a:effectLst/>
                        </a:rPr>
                        <a:t>It does not authenticate control messages</a:t>
                      </a:r>
                    </a:p>
                    <a:p>
                      <a:pPr marL="342900" marR="0" lvl="0" indent="-227013" algn="l">
                        <a:spcBef>
                          <a:spcPts val="300"/>
                        </a:spcBef>
                        <a:spcAft>
                          <a:spcPts val="300"/>
                        </a:spcAft>
                        <a:buFont typeface="Symbol" panose="05050102010706020507" pitchFamily="18" charset="2"/>
                        <a:buChar char=""/>
                      </a:pPr>
                      <a:r>
                        <a:rPr lang="en-US" sz="1200" dirty="0">
                          <a:effectLst/>
                        </a:rPr>
                        <a:t>Vulnerable to DoS attack</a:t>
                      </a:r>
                      <a:endParaRPr lang="en-US" sz="12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48299" marR="4829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46243657"/>
                  </a:ext>
                </a:extLst>
              </a:tr>
            </a:tbl>
          </a:graphicData>
        </a:graphic>
      </p:graphicFrame>
      <p:sp>
        <p:nvSpPr>
          <p:cNvPr id="38" name="Slide Number Placeholder 1">
            <a:extLst>
              <a:ext uri="{FF2B5EF4-FFF2-40B4-BE49-F238E27FC236}">
                <a16:creationId xmlns:a16="http://schemas.microsoft.com/office/drawing/2014/main" id="{40F218CE-DB75-2F90-65EB-D096F517938A}"/>
              </a:ext>
            </a:extLst>
          </p:cNvPr>
          <p:cNvSpPr>
            <a:spLocks noGrp="1"/>
          </p:cNvSpPr>
          <p:nvPr>
            <p:ph type="sldNum" sz="quarter" idx="12"/>
          </p:nvPr>
        </p:nvSpPr>
        <p:spPr>
          <a:xfrm>
            <a:off x="9906000" y="6472826"/>
            <a:ext cx="2133600" cy="365125"/>
          </a:xfrm>
        </p:spPr>
        <p:txBody>
          <a:bodyPr/>
          <a:lstStyle/>
          <a:p>
            <a:fld id="{D4B39A3D-6E5B-421C-AA99-AA75690A48C6}" type="slidenum">
              <a:rPr lang="en-US" smtClean="0"/>
              <a:pPr/>
              <a:t>8</a:t>
            </a:fld>
            <a:endParaRPr lang="en-US" dirty="0"/>
          </a:p>
        </p:txBody>
      </p:sp>
    </p:spTree>
    <p:extLst>
      <p:ext uri="{BB962C8B-B14F-4D97-AF65-F5344CB8AC3E}">
        <p14:creationId xmlns:p14="http://schemas.microsoft.com/office/powerpoint/2010/main" val="28081004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fauzisukiman\Desktop\template pp USM\page 2 n seterusnya\Header.jpg"/>
          <p:cNvPicPr>
            <a:picLocks noChangeAspect="1" noChangeArrowheads="1"/>
          </p:cNvPicPr>
          <p:nvPr/>
        </p:nvPicPr>
        <p:blipFill rotWithShape="1">
          <a:blip r:embed="rId3" cstate="print"/>
          <a:srcRect l="14375"/>
          <a:stretch/>
        </p:blipFill>
        <p:spPr bwMode="auto">
          <a:xfrm>
            <a:off x="1268881" y="0"/>
            <a:ext cx="10923119" cy="822960"/>
          </a:xfrm>
          <a:prstGeom prst="rect">
            <a:avLst/>
          </a:prstGeom>
          <a:noFill/>
        </p:spPr>
      </p:pic>
      <p:sp>
        <p:nvSpPr>
          <p:cNvPr id="6" name="Rectangle 5"/>
          <p:cNvSpPr/>
          <p:nvPr/>
        </p:nvSpPr>
        <p:spPr>
          <a:xfrm>
            <a:off x="1447800" y="76200"/>
            <a:ext cx="10363200" cy="707886"/>
          </a:xfrm>
          <a:prstGeom prst="rect">
            <a:avLst/>
          </a:prstGeom>
        </p:spPr>
        <p:txBody>
          <a:bodyPr wrap="square">
            <a:spAutoFit/>
          </a:bodyPr>
          <a:lstStyle/>
          <a:p>
            <a:r>
              <a:rPr lang="en-US" sz="4000" b="1" i="1" dirty="0">
                <a:solidFill>
                  <a:schemeClr val="bg1"/>
                </a:solidFill>
              </a:rPr>
              <a:t>Research Gap</a:t>
            </a:r>
          </a:p>
        </p:txBody>
      </p:sp>
      <p:sp>
        <p:nvSpPr>
          <p:cNvPr id="2" name="Slide Number Placeholder 1"/>
          <p:cNvSpPr>
            <a:spLocks noGrp="1"/>
          </p:cNvSpPr>
          <p:nvPr>
            <p:ph type="sldNum" sz="quarter" idx="12"/>
          </p:nvPr>
        </p:nvSpPr>
        <p:spPr>
          <a:xfrm>
            <a:off x="9906000" y="6472826"/>
            <a:ext cx="2133600" cy="365125"/>
          </a:xfrm>
        </p:spPr>
        <p:txBody>
          <a:bodyPr/>
          <a:lstStyle/>
          <a:p>
            <a:fld id="{D4B39A3D-6E5B-421C-AA99-AA75690A48C6}" type="slidenum">
              <a:rPr lang="en-US" smtClean="0"/>
              <a:pPr/>
              <a:t>9</a:t>
            </a:fld>
            <a:endParaRPr lang="en-US" dirty="0"/>
          </a:p>
        </p:txBody>
      </p:sp>
      <p:pic>
        <p:nvPicPr>
          <p:cNvPr id="9" name="Picture 3"/>
          <p:cNvPicPr>
            <a:picLocks noChangeAspect="1" noChangeArrowheads="1"/>
          </p:cNvPicPr>
          <p:nvPr/>
        </p:nvPicPr>
        <p:blipFill>
          <a:blip r:embed="rId4" cstate="print">
            <a:clrChange>
              <a:clrFrom>
                <a:srgbClr val="FDFDFD"/>
              </a:clrFrom>
              <a:clrTo>
                <a:srgbClr val="FDFDFD">
                  <a:alpha val="0"/>
                </a:srgbClr>
              </a:clrTo>
            </a:clrChange>
          </a:blip>
          <a:srcRect/>
          <a:stretch>
            <a:fillRect/>
          </a:stretch>
        </p:blipFill>
        <p:spPr bwMode="auto">
          <a:xfrm>
            <a:off x="0" y="-1224"/>
            <a:ext cx="1268881" cy="824184"/>
          </a:xfrm>
          <a:prstGeom prst="rect">
            <a:avLst/>
          </a:prstGeom>
          <a:noFill/>
          <a:ln w="9525">
            <a:noFill/>
            <a:miter lim="800000"/>
            <a:headEnd/>
            <a:tailEnd/>
          </a:ln>
          <a:effectLst/>
        </p:spPr>
      </p:pic>
      <p:graphicFrame>
        <p:nvGraphicFramePr>
          <p:cNvPr id="4" name="Table 3">
            <a:extLst>
              <a:ext uri="{FF2B5EF4-FFF2-40B4-BE49-F238E27FC236}">
                <a16:creationId xmlns:a16="http://schemas.microsoft.com/office/drawing/2014/main" id="{8F778492-8CFA-B66A-ECB7-99FA2BB6A52C}"/>
              </a:ext>
            </a:extLst>
          </p:cNvPr>
          <p:cNvGraphicFramePr>
            <a:graphicFrameLocks noGrp="1"/>
          </p:cNvGraphicFramePr>
          <p:nvPr>
            <p:extLst>
              <p:ext uri="{D42A27DB-BD31-4B8C-83A1-F6EECF244321}">
                <p14:modId xmlns:p14="http://schemas.microsoft.com/office/powerpoint/2010/main" val="4165865622"/>
              </p:ext>
            </p:extLst>
          </p:nvPr>
        </p:nvGraphicFramePr>
        <p:xfrm>
          <a:off x="6705601" y="1398896"/>
          <a:ext cx="4953003" cy="4952999"/>
        </p:xfrm>
        <a:graphic>
          <a:graphicData uri="http://schemas.openxmlformats.org/drawingml/2006/table">
            <a:tbl>
              <a:tblPr firstRow="1" firstCol="1" bandRow="1">
                <a:tableStyleId>{5C22544A-7EE6-4342-B048-85BDC9FD1C3A}</a:tableStyleId>
              </a:tblPr>
              <a:tblGrid>
                <a:gridCol w="1403848">
                  <a:extLst>
                    <a:ext uri="{9D8B030D-6E8A-4147-A177-3AD203B41FA5}">
                      <a16:colId xmlns:a16="http://schemas.microsoft.com/office/drawing/2014/main" val="949044433"/>
                    </a:ext>
                  </a:extLst>
                </a:gridCol>
                <a:gridCol w="1102131">
                  <a:extLst>
                    <a:ext uri="{9D8B030D-6E8A-4147-A177-3AD203B41FA5}">
                      <a16:colId xmlns:a16="http://schemas.microsoft.com/office/drawing/2014/main" val="1809967575"/>
                    </a:ext>
                  </a:extLst>
                </a:gridCol>
                <a:gridCol w="1223512">
                  <a:extLst>
                    <a:ext uri="{9D8B030D-6E8A-4147-A177-3AD203B41FA5}">
                      <a16:colId xmlns:a16="http://schemas.microsoft.com/office/drawing/2014/main" val="1514925127"/>
                    </a:ext>
                  </a:extLst>
                </a:gridCol>
                <a:gridCol w="1223512">
                  <a:extLst>
                    <a:ext uri="{9D8B030D-6E8A-4147-A177-3AD203B41FA5}">
                      <a16:colId xmlns:a16="http://schemas.microsoft.com/office/drawing/2014/main" val="2199265336"/>
                    </a:ext>
                  </a:extLst>
                </a:gridCol>
              </a:tblGrid>
              <a:tr h="647621">
                <a:tc rowSpan="2">
                  <a:txBody>
                    <a:bodyPr/>
                    <a:lstStyle/>
                    <a:p>
                      <a:pPr marL="0" marR="0" algn="ctr">
                        <a:spcBef>
                          <a:spcPts val="200"/>
                        </a:spcBef>
                        <a:spcAft>
                          <a:spcPts val="200"/>
                        </a:spcAft>
                      </a:pPr>
                      <a:r>
                        <a:rPr lang="en-US" sz="1200" dirty="0">
                          <a:effectLst/>
                        </a:rPr>
                        <a:t>Attribute</a:t>
                      </a:r>
                      <a:endParaRPr lang="en-US" sz="12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3">
                  <a:txBody>
                    <a:bodyPr/>
                    <a:lstStyle/>
                    <a:p>
                      <a:pPr marL="0" marR="0" algn="ctr">
                        <a:spcBef>
                          <a:spcPts val="200"/>
                        </a:spcBef>
                        <a:spcAft>
                          <a:spcPts val="200"/>
                        </a:spcAft>
                      </a:pPr>
                      <a:r>
                        <a:rPr lang="en-US" sz="1200" dirty="0">
                          <a:effectLst/>
                        </a:rPr>
                        <a:t>Mechanism</a:t>
                      </a:r>
                      <a:endParaRPr lang="en-US" sz="12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066280685"/>
                  </a:ext>
                </a:extLst>
              </a:tr>
              <a:tr h="726681">
                <a:tc vMerge="1">
                  <a:txBody>
                    <a:bodyPr/>
                    <a:lstStyle/>
                    <a:p>
                      <a:endParaRPr lang="en-US"/>
                    </a:p>
                  </a:txBody>
                  <a:tcPr/>
                </a:tc>
                <a:tc>
                  <a:txBody>
                    <a:bodyPr/>
                    <a:lstStyle/>
                    <a:p>
                      <a:pPr marL="0" marR="0" algn="ctr">
                        <a:spcBef>
                          <a:spcPts val="200"/>
                        </a:spcBef>
                        <a:spcAft>
                          <a:spcPts val="200"/>
                        </a:spcAft>
                      </a:pPr>
                      <a:r>
                        <a:rPr lang="en-US" sz="1200" b="1" dirty="0">
                          <a:effectLst/>
                        </a:rPr>
                        <a:t>Standard SECS/GEM</a:t>
                      </a:r>
                      <a:endParaRPr lang="en-US" sz="1200" b="1"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lang="en-US" sz="1200" b="1" dirty="0">
                          <a:effectLst/>
                        </a:rPr>
                        <a:t>Secured SECS/GEM</a:t>
                      </a:r>
                      <a:endParaRPr lang="en-US" sz="1200" b="1"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lang="en-US" sz="1200" b="1" dirty="0">
                          <a:effectLst/>
                        </a:rPr>
                        <a:t>SECS/GEMsec</a:t>
                      </a:r>
                      <a:endParaRPr lang="en-US" sz="1200" b="1"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5688387"/>
                  </a:ext>
                </a:extLst>
              </a:tr>
              <a:tr h="363340">
                <a:tc>
                  <a:txBody>
                    <a:bodyPr/>
                    <a:lstStyle/>
                    <a:p>
                      <a:pPr marL="0" marR="0" algn="ctr">
                        <a:spcBef>
                          <a:spcPts val="200"/>
                        </a:spcBef>
                        <a:spcAft>
                          <a:spcPts val="200"/>
                        </a:spcAft>
                      </a:pPr>
                      <a:r>
                        <a:rPr lang="en-US" sz="1200" dirty="0">
                          <a:effectLst/>
                        </a:rPr>
                        <a:t>Multi-featured</a:t>
                      </a:r>
                      <a:endParaRPr lang="en-US" sz="12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lang="en-US" sz="1800" b="1" dirty="0">
                          <a:solidFill>
                            <a:srgbClr val="C00000"/>
                          </a:solidFill>
                          <a:effectLst/>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dirty="0">
                        <a:solidFill>
                          <a:srgbClr val="C00000"/>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kumimoji="0" lang="en-US" sz="1800" b="1" i="0" u="none" strike="noStrike" kern="1200" cap="none" spc="0" normalizeH="0" baseline="0" noProof="0" dirty="0">
                          <a:ln>
                            <a:noFill/>
                          </a:ln>
                          <a:solidFill>
                            <a:srgbClr val="C00000"/>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dirty="0">
                        <a:solidFill>
                          <a:srgbClr val="C00000"/>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kumimoji="0" lang="en-US" sz="1800" b="1" i="0" u="none" strike="noStrike" kern="1200" cap="none" spc="0" normalizeH="0" baseline="0" noProof="0" dirty="0">
                          <a:ln>
                            <a:noFill/>
                          </a:ln>
                          <a:solidFill>
                            <a:srgbClr val="C00000"/>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dirty="0">
                        <a:solidFill>
                          <a:srgbClr val="C00000"/>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1659205"/>
                  </a:ext>
                </a:extLst>
              </a:tr>
              <a:tr h="363340">
                <a:tc>
                  <a:txBody>
                    <a:bodyPr/>
                    <a:lstStyle/>
                    <a:p>
                      <a:pPr marL="0" marR="0" algn="ctr">
                        <a:spcBef>
                          <a:spcPts val="200"/>
                        </a:spcBef>
                        <a:spcAft>
                          <a:spcPts val="200"/>
                        </a:spcAft>
                      </a:pPr>
                      <a:r>
                        <a:rPr lang="en-US" sz="1200">
                          <a:effectLst/>
                        </a:rPr>
                        <a:t>Customizable</a:t>
                      </a:r>
                      <a:endParaRPr lang="en-US" sz="12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kumimoji="0" lang="en-US" sz="1800" b="1" i="0" u="none" strike="noStrike" kern="1200" cap="none" spc="0" normalizeH="0" baseline="0" noProof="0" dirty="0">
                          <a:ln>
                            <a:noFill/>
                          </a:ln>
                          <a:solidFill>
                            <a:srgbClr val="C00000"/>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dirty="0">
                        <a:solidFill>
                          <a:srgbClr val="C00000"/>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kumimoji="0" lang="en-US" sz="1800" b="1" i="0" u="none" strike="noStrike" kern="1200" cap="none" spc="0" normalizeH="0" baseline="0" noProof="0" dirty="0">
                          <a:ln>
                            <a:noFill/>
                          </a:ln>
                          <a:solidFill>
                            <a:srgbClr val="C00000"/>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dirty="0">
                        <a:solidFill>
                          <a:srgbClr val="C00000"/>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kumimoji="0" lang="en-US" sz="1800" b="1" i="0" u="none" strike="noStrike" kern="1200" cap="none" spc="0" normalizeH="0" baseline="0" noProof="0" dirty="0">
                          <a:ln>
                            <a:noFill/>
                          </a:ln>
                          <a:solidFill>
                            <a:srgbClr val="C00000"/>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dirty="0">
                        <a:solidFill>
                          <a:srgbClr val="C00000"/>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23691249"/>
                  </a:ext>
                </a:extLst>
              </a:tr>
              <a:tr h="363340">
                <a:tc>
                  <a:txBody>
                    <a:bodyPr/>
                    <a:lstStyle/>
                    <a:p>
                      <a:pPr marL="0" marR="0" algn="ctr">
                        <a:spcBef>
                          <a:spcPts val="200"/>
                        </a:spcBef>
                        <a:spcAft>
                          <a:spcPts val="200"/>
                        </a:spcAft>
                      </a:pPr>
                      <a:r>
                        <a:rPr lang="en-US" sz="1200">
                          <a:effectLst/>
                        </a:rPr>
                        <a:t>Authentication</a:t>
                      </a:r>
                      <a:endParaRPr lang="en-US" sz="12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kumimoji="0" lang="en-US" sz="1800" b="1" i="0" u="none" strike="noStrike" kern="1200" cap="none" spc="0" normalizeH="0" baseline="0" noProof="0" dirty="0">
                          <a:ln>
                            <a:noFill/>
                          </a:ln>
                          <a:solidFill>
                            <a:srgbClr val="C00000"/>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dirty="0">
                        <a:solidFill>
                          <a:srgbClr val="C00000"/>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kumimoji="0" lang="en-US" sz="1800" b="1" i="0" u="none" strike="noStrike" kern="1200" cap="none" spc="0" normalizeH="0" baseline="0" noProof="0" dirty="0">
                          <a:ln>
                            <a:noFill/>
                          </a:ln>
                          <a:solidFill>
                            <a:schemeClr val="accent6">
                              <a:lumMod val="75000"/>
                            </a:schemeClr>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r>
                        <a:rPr kumimoji="0" lang="en-US" sz="1800" b="1" i="0" u="none" strike="noStrike" kern="1200" cap="none" spc="0" normalizeH="0" baseline="30000" noProof="0" dirty="0">
                          <a:ln>
                            <a:noFill/>
                          </a:ln>
                          <a:solidFill>
                            <a:schemeClr val="accent1">
                              <a:lumMod val="75000"/>
                            </a:schemeClr>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baseline="30000" dirty="0">
                        <a:solidFill>
                          <a:schemeClr val="accent1">
                            <a:lumMod val="75000"/>
                          </a:schemeClr>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kumimoji="0" lang="en-US" sz="1800" b="1" i="0" u="none" strike="noStrike" kern="1200" cap="none" spc="0" normalizeH="0" baseline="0" noProof="0" dirty="0">
                          <a:ln>
                            <a:noFill/>
                          </a:ln>
                          <a:solidFill>
                            <a:schemeClr val="accent6">
                              <a:lumMod val="75000"/>
                            </a:schemeClr>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dirty="0">
                        <a:solidFill>
                          <a:schemeClr val="accent6">
                            <a:lumMod val="75000"/>
                          </a:schemeClr>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7827952"/>
                  </a:ext>
                </a:extLst>
              </a:tr>
              <a:tr h="363340">
                <a:tc>
                  <a:txBody>
                    <a:bodyPr/>
                    <a:lstStyle/>
                    <a:p>
                      <a:pPr marL="0" marR="0" algn="ctr">
                        <a:spcBef>
                          <a:spcPts val="200"/>
                        </a:spcBef>
                        <a:spcAft>
                          <a:spcPts val="200"/>
                        </a:spcAft>
                      </a:pPr>
                      <a:r>
                        <a:rPr lang="en-US" sz="1200">
                          <a:effectLst/>
                        </a:rPr>
                        <a:t>Confidentiality</a:t>
                      </a:r>
                      <a:endParaRPr lang="en-US" sz="12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kumimoji="0" lang="en-US" sz="1800" b="1" i="0" u="none" strike="noStrike" kern="1200" cap="none" spc="0" normalizeH="0" baseline="0" noProof="0" dirty="0">
                          <a:ln>
                            <a:noFill/>
                          </a:ln>
                          <a:solidFill>
                            <a:srgbClr val="C00000"/>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dirty="0">
                        <a:solidFill>
                          <a:srgbClr val="C00000"/>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kumimoji="0" lang="en-US" sz="1800" b="1" i="0" u="none" strike="noStrike" kern="1200" cap="none" spc="0" normalizeH="0" baseline="0" noProof="0" dirty="0">
                          <a:ln>
                            <a:noFill/>
                          </a:ln>
                          <a:solidFill>
                            <a:schemeClr val="accent6">
                              <a:lumMod val="75000"/>
                            </a:schemeClr>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r>
                        <a:rPr kumimoji="0" lang="en-US" sz="1800" b="1" i="0" u="none" strike="noStrike" kern="1200" cap="none" spc="0" normalizeH="0" baseline="30000" noProof="0" dirty="0">
                          <a:ln>
                            <a:noFill/>
                          </a:ln>
                          <a:solidFill>
                            <a:schemeClr val="accent1">
                              <a:lumMod val="75000"/>
                            </a:schemeClr>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baseline="30000" dirty="0">
                        <a:solidFill>
                          <a:schemeClr val="accent1">
                            <a:lumMod val="75000"/>
                          </a:schemeClr>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kumimoji="0" lang="en-US" sz="1800" b="1" i="0" u="none" strike="noStrike" kern="1200" cap="none" spc="0" normalizeH="0" baseline="0" noProof="0" dirty="0">
                          <a:ln>
                            <a:noFill/>
                          </a:ln>
                          <a:solidFill>
                            <a:srgbClr val="C00000"/>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dirty="0">
                        <a:solidFill>
                          <a:schemeClr val="accent6">
                            <a:lumMod val="75000"/>
                          </a:schemeClr>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31248101"/>
                  </a:ext>
                </a:extLst>
              </a:tr>
              <a:tr h="363340">
                <a:tc>
                  <a:txBody>
                    <a:bodyPr/>
                    <a:lstStyle/>
                    <a:p>
                      <a:pPr marL="0" marR="0" algn="ctr">
                        <a:spcBef>
                          <a:spcPts val="200"/>
                        </a:spcBef>
                        <a:spcAft>
                          <a:spcPts val="200"/>
                        </a:spcAft>
                      </a:pPr>
                      <a:r>
                        <a:rPr lang="en-US" sz="1200">
                          <a:effectLst/>
                        </a:rPr>
                        <a:t>Integrity</a:t>
                      </a:r>
                      <a:endParaRPr lang="en-US" sz="12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kumimoji="0" lang="en-US" sz="1800" b="1" i="0" u="none" strike="noStrike" kern="1200" cap="none" spc="0" normalizeH="0" baseline="0" noProof="0" dirty="0">
                          <a:ln>
                            <a:noFill/>
                          </a:ln>
                          <a:solidFill>
                            <a:srgbClr val="C00000"/>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dirty="0">
                        <a:solidFill>
                          <a:srgbClr val="C00000"/>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kumimoji="0" lang="en-US" sz="1800" b="1" i="0" u="none" strike="noStrike" kern="1200" cap="none" spc="0" normalizeH="0" baseline="0" noProof="0" dirty="0">
                          <a:ln>
                            <a:noFill/>
                          </a:ln>
                          <a:solidFill>
                            <a:schemeClr val="accent6">
                              <a:lumMod val="75000"/>
                            </a:schemeClr>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r>
                        <a:rPr kumimoji="0" lang="en-US" sz="1800" b="1" i="0" u="none" strike="noStrike" kern="1200" cap="none" spc="0" normalizeH="0" baseline="30000" noProof="0" dirty="0">
                          <a:ln>
                            <a:noFill/>
                          </a:ln>
                          <a:solidFill>
                            <a:schemeClr val="accent1">
                              <a:lumMod val="75000"/>
                            </a:schemeClr>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baseline="30000" dirty="0">
                        <a:solidFill>
                          <a:schemeClr val="accent1">
                            <a:lumMod val="75000"/>
                          </a:schemeClr>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kumimoji="0" lang="en-US" sz="1800" b="1" i="0" u="none" strike="noStrike" kern="1200" cap="none" spc="0" normalizeH="0" baseline="0" noProof="0" dirty="0">
                          <a:ln>
                            <a:noFill/>
                          </a:ln>
                          <a:solidFill>
                            <a:schemeClr val="accent6">
                              <a:lumMod val="75000"/>
                            </a:schemeClr>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dirty="0">
                        <a:solidFill>
                          <a:schemeClr val="accent6">
                            <a:lumMod val="75000"/>
                          </a:schemeClr>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28630863"/>
                  </a:ext>
                </a:extLst>
              </a:tr>
              <a:tr h="363340">
                <a:tc>
                  <a:txBody>
                    <a:bodyPr/>
                    <a:lstStyle/>
                    <a:p>
                      <a:pPr marL="0" marR="0" algn="ctr">
                        <a:spcBef>
                          <a:spcPts val="200"/>
                        </a:spcBef>
                        <a:spcAft>
                          <a:spcPts val="200"/>
                        </a:spcAft>
                      </a:pPr>
                      <a:r>
                        <a:rPr lang="en-US" sz="1200">
                          <a:effectLst/>
                        </a:rPr>
                        <a:t>Lightweight</a:t>
                      </a:r>
                      <a:endParaRPr lang="en-US" sz="12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lang="en-US" sz="1800" b="1" kern="1200" dirty="0">
                          <a:solidFill>
                            <a:schemeClr val="tx1">
                              <a:lumMod val="50000"/>
                              <a:lumOff val="50000"/>
                            </a:schemeClr>
                          </a:solidFill>
                          <a:effectLst/>
                          <a:latin typeface="+mn-lt"/>
                          <a:ea typeface="+mn-ea"/>
                          <a:cs typeface="+mn-cs"/>
                        </a:rPr>
                        <a:t>–</a:t>
                      </a:r>
                      <a:endParaRPr lang="en-US" sz="1800" b="1" dirty="0">
                        <a:solidFill>
                          <a:schemeClr val="tx1">
                            <a:lumMod val="50000"/>
                            <a:lumOff val="50000"/>
                          </a:schemeClr>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kumimoji="0" lang="en-US" sz="1800" b="1" i="0" u="none" strike="noStrike" kern="1200" cap="none" spc="0" normalizeH="0" baseline="0" noProof="0" dirty="0">
                          <a:ln>
                            <a:noFill/>
                          </a:ln>
                          <a:solidFill>
                            <a:schemeClr val="accent6">
                              <a:lumMod val="75000"/>
                            </a:schemeClr>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dirty="0">
                        <a:solidFill>
                          <a:schemeClr val="accent6">
                            <a:lumMod val="75000"/>
                          </a:schemeClr>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lang="en-US" sz="1800" b="1" dirty="0">
                          <a:solidFill>
                            <a:srgbClr val="C00000"/>
                          </a:solidFill>
                          <a:effectLst/>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dirty="0">
                        <a:solidFill>
                          <a:srgbClr val="C00000"/>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6579402"/>
                  </a:ext>
                </a:extLst>
              </a:tr>
              <a:tr h="491988">
                <a:tc>
                  <a:txBody>
                    <a:bodyPr/>
                    <a:lstStyle/>
                    <a:p>
                      <a:pPr marL="0" marR="0" algn="ctr">
                        <a:spcBef>
                          <a:spcPts val="200"/>
                        </a:spcBef>
                        <a:spcAft>
                          <a:spcPts val="200"/>
                        </a:spcAft>
                      </a:pPr>
                      <a:r>
                        <a:rPr lang="en-US" sz="1200">
                          <a:effectLst/>
                        </a:rPr>
                        <a:t>DoS Attack Resilient</a:t>
                      </a:r>
                      <a:endParaRPr lang="en-US" sz="12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kumimoji="0" lang="en-US" sz="1800" b="1" i="0" u="none" strike="noStrike" kern="1200" cap="none" spc="0" normalizeH="0" baseline="0" noProof="0" dirty="0">
                          <a:ln>
                            <a:noFill/>
                          </a:ln>
                          <a:solidFill>
                            <a:srgbClr val="C00000"/>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dirty="0">
                        <a:solidFill>
                          <a:srgbClr val="C00000"/>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kumimoji="0" lang="en-US" sz="1800" b="1" i="0" u="none" strike="noStrike" kern="1200" cap="none" spc="0" normalizeH="0" baseline="0" noProof="0" dirty="0">
                          <a:ln>
                            <a:noFill/>
                          </a:ln>
                          <a:solidFill>
                            <a:srgbClr val="C00000"/>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dirty="0">
                        <a:solidFill>
                          <a:srgbClr val="C00000"/>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kumimoji="0" lang="en-US" sz="1800" b="1" i="0" u="none" strike="noStrike" kern="1200" cap="none" spc="0" normalizeH="0" baseline="0" noProof="0" dirty="0">
                          <a:ln>
                            <a:noFill/>
                          </a:ln>
                          <a:solidFill>
                            <a:schemeClr val="accent6">
                              <a:lumMod val="75000"/>
                            </a:schemeClr>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dirty="0">
                        <a:solidFill>
                          <a:schemeClr val="accent6">
                            <a:lumMod val="75000"/>
                          </a:schemeClr>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6038688"/>
                  </a:ext>
                </a:extLst>
              </a:tr>
              <a:tr h="462586">
                <a:tc>
                  <a:txBody>
                    <a:bodyPr/>
                    <a:lstStyle/>
                    <a:p>
                      <a:pPr marL="0" marR="0" algn="ctr">
                        <a:spcBef>
                          <a:spcPts val="200"/>
                        </a:spcBef>
                        <a:spcAft>
                          <a:spcPts val="200"/>
                        </a:spcAft>
                      </a:pPr>
                      <a:r>
                        <a:rPr lang="en-US" sz="1200">
                          <a:effectLst/>
                        </a:rPr>
                        <a:t>Replay Attack Resilient</a:t>
                      </a:r>
                      <a:endParaRPr lang="en-US" sz="12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kumimoji="0" lang="en-US" sz="1800" b="1" i="0" u="none" strike="noStrike" kern="1200" cap="none" spc="0" normalizeH="0" baseline="0" noProof="0" dirty="0">
                          <a:ln>
                            <a:noFill/>
                          </a:ln>
                          <a:solidFill>
                            <a:srgbClr val="C00000"/>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dirty="0">
                        <a:solidFill>
                          <a:srgbClr val="C00000"/>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kumimoji="0" lang="en-US" sz="1800" b="1" i="0" u="none" strike="noStrike" kern="1200" cap="none" spc="0" normalizeH="0" baseline="0" noProof="0" dirty="0">
                          <a:ln>
                            <a:noFill/>
                          </a:ln>
                          <a:solidFill>
                            <a:srgbClr val="C00000"/>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dirty="0">
                        <a:solidFill>
                          <a:srgbClr val="C00000"/>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kumimoji="0" lang="en-US" sz="1800" b="1" i="0" u="none" strike="noStrike" kern="1200" cap="none" spc="0" normalizeH="0" baseline="0" noProof="0" dirty="0">
                          <a:ln>
                            <a:noFill/>
                          </a:ln>
                          <a:solidFill>
                            <a:schemeClr val="accent6">
                              <a:lumMod val="75000"/>
                            </a:schemeClr>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dirty="0">
                        <a:solidFill>
                          <a:schemeClr val="accent6">
                            <a:lumMod val="75000"/>
                          </a:schemeClr>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9324549"/>
                  </a:ext>
                </a:extLst>
              </a:tr>
              <a:tr h="444083">
                <a:tc>
                  <a:txBody>
                    <a:bodyPr/>
                    <a:lstStyle/>
                    <a:p>
                      <a:pPr marL="0" marR="0" algn="ctr">
                        <a:spcBef>
                          <a:spcPts val="200"/>
                        </a:spcBef>
                        <a:spcAft>
                          <a:spcPts val="200"/>
                        </a:spcAft>
                      </a:pPr>
                      <a:r>
                        <a:rPr lang="en-US" sz="1200" dirty="0">
                          <a:effectLst/>
                        </a:rPr>
                        <a:t>FDIA Attack</a:t>
                      </a:r>
                      <a:br>
                        <a:rPr lang="en-US" sz="1200" dirty="0">
                          <a:effectLst/>
                        </a:rPr>
                      </a:br>
                      <a:r>
                        <a:rPr lang="en-US" sz="1200" dirty="0">
                          <a:effectLst/>
                        </a:rPr>
                        <a:t>Resilient</a:t>
                      </a:r>
                      <a:endParaRPr lang="en-US" sz="12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kumimoji="0" lang="en-US" sz="1800" b="1" i="0" u="none" strike="noStrike" kern="1200" cap="none" spc="0" normalizeH="0" baseline="0" noProof="0" dirty="0">
                          <a:ln>
                            <a:noFill/>
                          </a:ln>
                          <a:solidFill>
                            <a:srgbClr val="C00000"/>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dirty="0">
                        <a:solidFill>
                          <a:srgbClr val="C00000"/>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kumimoji="0" lang="en-US" sz="1800" b="1" i="0" u="none" strike="noStrike" kern="1200" cap="none" spc="0" normalizeH="0" baseline="0" noProof="0" dirty="0">
                          <a:ln>
                            <a:noFill/>
                          </a:ln>
                          <a:solidFill>
                            <a:srgbClr val="C00000"/>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dirty="0">
                        <a:solidFill>
                          <a:srgbClr val="C00000"/>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kumimoji="0" lang="en-US" sz="1800" b="1" i="0" u="none" strike="noStrike" kern="1200" cap="none" spc="0" normalizeH="0" baseline="0" noProof="0" dirty="0">
                          <a:ln>
                            <a:noFill/>
                          </a:ln>
                          <a:solidFill>
                            <a:schemeClr val="accent6">
                              <a:lumMod val="75000"/>
                            </a:schemeClr>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dirty="0">
                        <a:solidFill>
                          <a:schemeClr val="accent6">
                            <a:lumMod val="75000"/>
                          </a:schemeClr>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067609"/>
                  </a:ext>
                </a:extLst>
              </a:tr>
            </a:tbl>
          </a:graphicData>
        </a:graphic>
      </p:graphicFrame>
      <p:sp>
        <p:nvSpPr>
          <p:cNvPr id="16" name="Content Placeholder 7">
            <a:extLst>
              <a:ext uri="{FF2B5EF4-FFF2-40B4-BE49-F238E27FC236}">
                <a16:creationId xmlns:a16="http://schemas.microsoft.com/office/drawing/2014/main" id="{D9004342-EA7A-0007-A743-F25CE704B05E}"/>
              </a:ext>
            </a:extLst>
          </p:cNvPr>
          <p:cNvSpPr>
            <a:spLocks noGrp="1"/>
          </p:cNvSpPr>
          <p:nvPr>
            <p:ph idx="1"/>
          </p:nvPr>
        </p:nvSpPr>
        <p:spPr>
          <a:xfrm>
            <a:off x="543560" y="1381760"/>
            <a:ext cx="5715000" cy="3886200"/>
          </a:xfrm>
        </p:spPr>
        <p:txBody>
          <a:bodyPr>
            <a:noAutofit/>
          </a:bodyPr>
          <a:lstStyle/>
          <a:p>
            <a:pPr marL="457200" indent="-457200" algn="just">
              <a:lnSpc>
                <a:spcPct val="100000"/>
              </a:lnSpc>
              <a:buFont typeface="Wingdings" panose="05000000000000000000" pitchFamily="2" charset="2"/>
              <a:buChar char="§"/>
            </a:pPr>
            <a:r>
              <a:rPr lang="en-US" sz="1800" dirty="0">
                <a:solidFill>
                  <a:schemeClr val="tx2">
                    <a:lumMod val="50000"/>
                  </a:schemeClr>
                </a:solidFill>
              </a:rPr>
              <a:t>Existing mechanisms are hard-coded</a:t>
            </a:r>
          </a:p>
          <a:p>
            <a:pPr marL="457200" indent="-457200" algn="just">
              <a:lnSpc>
                <a:spcPct val="100000"/>
              </a:lnSpc>
              <a:buFont typeface="Wingdings" panose="05000000000000000000" pitchFamily="2" charset="2"/>
              <a:buChar char="§"/>
            </a:pPr>
            <a:r>
              <a:rPr lang="en-US" sz="1800" dirty="0">
                <a:solidFill>
                  <a:schemeClr val="tx2">
                    <a:lumMod val="50000"/>
                  </a:schemeClr>
                </a:solidFill>
              </a:rPr>
              <a:t>No provisioning for different security features</a:t>
            </a:r>
          </a:p>
          <a:p>
            <a:pPr marL="457200" indent="-457200" algn="just">
              <a:lnSpc>
                <a:spcPct val="100000"/>
              </a:lnSpc>
              <a:buFont typeface="Wingdings" panose="05000000000000000000" pitchFamily="2" charset="2"/>
              <a:buChar char="§"/>
            </a:pPr>
            <a:r>
              <a:rPr lang="en-US" sz="1800" dirty="0">
                <a:solidFill>
                  <a:schemeClr val="tx2">
                    <a:lumMod val="50000"/>
                  </a:schemeClr>
                </a:solidFill>
              </a:rPr>
              <a:t>Existing mechanisms are complex</a:t>
            </a:r>
          </a:p>
          <a:p>
            <a:pPr marL="457200" indent="-457200" algn="just">
              <a:lnSpc>
                <a:spcPct val="100000"/>
              </a:lnSpc>
              <a:buFont typeface="Wingdings" panose="05000000000000000000" pitchFamily="2" charset="2"/>
              <a:buChar char="§"/>
            </a:pPr>
            <a:r>
              <a:rPr lang="en-US" sz="1800" dirty="0">
                <a:solidFill>
                  <a:schemeClr val="tx2">
                    <a:lumMod val="50000"/>
                  </a:schemeClr>
                </a:solidFill>
              </a:rPr>
              <a:t>Existing mechanisms are vulnerable to attacks</a:t>
            </a:r>
          </a:p>
          <a:p>
            <a:pPr marL="457200" indent="-457200" algn="just">
              <a:lnSpc>
                <a:spcPct val="100000"/>
              </a:lnSpc>
              <a:buFont typeface="Wingdings" panose="05000000000000000000" pitchFamily="2" charset="2"/>
              <a:buChar char="§"/>
            </a:pPr>
            <a:endParaRPr lang="en-US" sz="1800" dirty="0">
              <a:solidFill>
                <a:schemeClr val="tx2">
                  <a:lumMod val="50000"/>
                </a:schemeClr>
              </a:solidFill>
            </a:endParaRPr>
          </a:p>
        </p:txBody>
      </p:sp>
    </p:spTree>
    <p:extLst>
      <p:ext uri="{BB962C8B-B14F-4D97-AF65-F5344CB8AC3E}">
        <p14:creationId xmlns:p14="http://schemas.microsoft.com/office/powerpoint/2010/main" val="22384850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fauzisukiman\Desktop\template pp USM\page 2 n seterusnya\Header.jpg"/>
          <p:cNvPicPr>
            <a:picLocks noChangeAspect="1" noChangeArrowheads="1"/>
          </p:cNvPicPr>
          <p:nvPr/>
        </p:nvPicPr>
        <p:blipFill rotWithShape="1">
          <a:blip r:embed="rId4" cstate="print"/>
          <a:srcRect l="14375"/>
          <a:stretch/>
        </p:blipFill>
        <p:spPr bwMode="auto">
          <a:xfrm>
            <a:off x="1268881" y="0"/>
            <a:ext cx="10923119" cy="822960"/>
          </a:xfrm>
          <a:prstGeom prst="rect">
            <a:avLst/>
          </a:prstGeom>
          <a:noFill/>
        </p:spPr>
      </p:pic>
      <p:sp>
        <p:nvSpPr>
          <p:cNvPr id="6" name="Rectangle 5"/>
          <p:cNvSpPr/>
          <p:nvPr/>
        </p:nvSpPr>
        <p:spPr>
          <a:xfrm>
            <a:off x="1447800" y="76200"/>
            <a:ext cx="10363200" cy="707886"/>
          </a:xfrm>
          <a:prstGeom prst="rect">
            <a:avLst/>
          </a:prstGeom>
        </p:spPr>
        <p:txBody>
          <a:bodyPr wrap="square">
            <a:spAutoFit/>
          </a:bodyPr>
          <a:lstStyle/>
          <a:p>
            <a:r>
              <a:rPr lang="en-US" sz="4000" b="1" i="1" dirty="0">
                <a:solidFill>
                  <a:schemeClr val="bg1"/>
                </a:solidFill>
              </a:rPr>
              <a:t>Proposed Mechanism: Architecture</a:t>
            </a:r>
          </a:p>
        </p:txBody>
      </p:sp>
      <p:sp>
        <p:nvSpPr>
          <p:cNvPr id="8" name="Content Placeholder 7"/>
          <p:cNvSpPr>
            <a:spLocks noGrp="1"/>
          </p:cNvSpPr>
          <p:nvPr>
            <p:ph idx="1"/>
          </p:nvPr>
        </p:nvSpPr>
        <p:spPr>
          <a:xfrm>
            <a:off x="542544" y="1384918"/>
            <a:ext cx="6239256" cy="3796682"/>
          </a:xfrm>
        </p:spPr>
        <p:txBody>
          <a:bodyPr>
            <a:noAutofit/>
          </a:bodyPr>
          <a:lstStyle/>
          <a:p>
            <a:pPr marL="457200" indent="-457200" algn="just">
              <a:lnSpc>
                <a:spcPct val="100000"/>
              </a:lnSpc>
              <a:buFont typeface="Wingdings" panose="05000000000000000000" pitchFamily="2" charset="2"/>
              <a:buChar char="§"/>
            </a:pPr>
            <a:r>
              <a:rPr lang="en-US" sz="1600" b="1" dirty="0">
                <a:solidFill>
                  <a:srgbClr val="002060"/>
                </a:solidFill>
              </a:rPr>
              <a:t>Length: </a:t>
            </a:r>
            <a:r>
              <a:rPr lang="en-US" sz="1600" dirty="0">
                <a:solidFill>
                  <a:schemeClr val="tx2">
                    <a:lumMod val="50000"/>
                  </a:schemeClr>
                </a:solidFill>
              </a:rPr>
              <a:t>Determines ACB length</a:t>
            </a:r>
          </a:p>
          <a:p>
            <a:pPr marL="457200" indent="-457200" algn="just">
              <a:lnSpc>
                <a:spcPct val="100000"/>
              </a:lnSpc>
              <a:buFont typeface="Wingdings" panose="05000000000000000000" pitchFamily="2" charset="2"/>
              <a:buChar char="§"/>
            </a:pPr>
            <a:r>
              <a:rPr lang="en-US" sz="1600" b="1" dirty="0">
                <a:solidFill>
                  <a:srgbClr val="002060"/>
                </a:solidFill>
              </a:rPr>
              <a:t>Mode: </a:t>
            </a:r>
            <a:r>
              <a:rPr lang="en-US" sz="1600" dirty="0">
                <a:solidFill>
                  <a:schemeClr val="tx2">
                    <a:lumMod val="50000"/>
                  </a:schemeClr>
                </a:solidFill>
              </a:rPr>
              <a:t>Specifies operational mode (i.e., Mode=1 [authentication])</a:t>
            </a:r>
          </a:p>
          <a:p>
            <a:pPr marL="457200" indent="-457200" algn="just">
              <a:lnSpc>
                <a:spcPct val="100000"/>
              </a:lnSpc>
              <a:buFont typeface="Wingdings" panose="05000000000000000000" pitchFamily="2" charset="2"/>
              <a:buChar char="§"/>
            </a:pPr>
            <a:r>
              <a:rPr lang="en-US" sz="1600" b="1" dirty="0">
                <a:solidFill>
                  <a:srgbClr val="002060"/>
                </a:solidFill>
              </a:rPr>
              <a:t>SECS-Info: </a:t>
            </a:r>
            <a:r>
              <a:rPr lang="en-US" sz="1600" dirty="0">
                <a:solidFill>
                  <a:schemeClr val="tx2">
                    <a:lumMod val="50000"/>
                  </a:schemeClr>
                </a:solidFill>
              </a:rPr>
              <a:t>Reserved for future usage</a:t>
            </a:r>
          </a:p>
          <a:p>
            <a:pPr marL="457200" indent="-457200" algn="just">
              <a:lnSpc>
                <a:spcPct val="100000"/>
              </a:lnSpc>
              <a:buFont typeface="Wingdings" panose="05000000000000000000" pitchFamily="2" charset="2"/>
              <a:buChar char="§"/>
            </a:pPr>
            <a:r>
              <a:rPr lang="en-US" sz="1600" b="1" dirty="0">
                <a:solidFill>
                  <a:srgbClr val="002060"/>
                </a:solidFill>
              </a:rPr>
              <a:t>RPM:</a:t>
            </a:r>
            <a:r>
              <a:rPr lang="en-US" sz="1600" dirty="0">
                <a:solidFill>
                  <a:schemeClr val="tx2">
                    <a:lumMod val="50000"/>
                  </a:schemeClr>
                </a:solidFill>
              </a:rPr>
              <a:t> Identifies mode to be used for detecting replay attacks </a:t>
            </a:r>
          </a:p>
          <a:p>
            <a:pPr marL="457200" indent="-457200" algn="just">
              <a:lnSpc>
                <a:spcPct val="100000"/>
              </a:lnSpc>
              <a:buFont typeface="Wingdings" panose="05000000000000000000" pitchFamily="2" charset="2"/>
              <a:buChar char="§"/>
            </a:pPr>
            <a:r>
              <a:rPr lang="en-US" sz="1600" b="1" dirty="0" err="1">
                <a:solidFill>
                  <a:srgbClr val="002060"/>
                </a:solidFill>
              </a:rPr>
              <a:t>RPV</a:t>
            </a:r>
            <a:r>
              <a:rPr lang="en-US" sz="1600" b="1" dirty="0">
                <a:solidFill>
                  <a:srgbClr val="002060"/>
                </a:solidFill>
              </a:rPr>
              <a:t>:</a:t>
            </a:r>
            <a:r>
              <a:rPr lang="en-US" sz="1600" dirty="0">
                <a:solidFill>
                  <a:schemeClr val="tx2">
                    <a:lumMod val="50000"/>
                  </a:schemeClr>
                </a:solidFill>
              </a:rPr>
              <a:t> Used to store value to indicate the freshness of the message</a:t>
            </a:r>
          </a:p>
          <a:p>
            <a:pPr marL="457200" indent="-457200" algn="just">
              <a:lnSpc>
                <a:spcPct val="100000"/>
              </a:lnSpc>
              <a:buFont typeface="Wingdings" panose="05000000000000000000" pitchFamily="2" charset="2"/>
              <a:buChar char="§"/>
            </a:pPr>
            <a:r>
              <a:rPr lang="en-US" sz="1600" b="1" dirty="0">
                <a:solidFill>
                  <a:srgbClr val="002060"/>
                </a:solidFill>
              </a:rPr>
              <a:t>Algorithm: </a:t>
            </a:r>
            <a:r>
              <a:rPr lang="en-US" sz="1600" dirty="0">
                <a:solidFill>
                  <a:schemeClr val="tx2">
                    <a:lumMod val="50000"/>
                  </a:schemeClr>
                </a:solidFill>
              </a:rPr>
              <a:t>Determines algorithm to compute the hash</a:t>
            </a:r>
          </a:p>
          <a:p>
            <a:pPr marL="457200" indent="-457200" algn="just">
              <a:lnSpc>
                <a:spcPct val="100000"/>
              </a:lnSpc>
              <a:buFont typeface="Wingdings" panose="05000000000000000000" pitchFamily="2" charset="2"/>
              <a:buChar char="§"/>
            </a:pPr>
            <a:r>
              <a:rPr lang="en-US" sz="1600" b="1" dirty="0">
                <a:solidFill>
                  <a:srgbClr val="002060"/>
                </a:solidFill>
              </a:rPr>
              <a:t>Secret-Key ID: </a:t>
            </a:r>
            <a:r>
              <a:rPr lang="en-US" sz="1600" dirty="0">
                <a:solidFill>
                  <a:schemeClr val="tx2">
                    <a:lumMod val="50000"/>
                  </a:schemeClr>
                </a:solidFill>
              </a:rPr>
              <a:t>Identifies several keys on an active entity</a:t>
            </a:r>
          </a:p>
          <a:p>
            <a:pPr marL="457200" indent="-457200" algn="just">
              <a:lnSpc>
                <a:spcPct val="100000"/>
              </a:lnSpc>
              <a:buFont typeface="Wingdings" panose="05000000000000000000" pitchFamily="2" charset="2"/>
              <a:buChar char="§"/>
            </a:pPr>
            <a:r>
              <a:rPr lang="en-US" sz="1600" b="1" dirty="0">
                <a:solidFill>
                  <a:srgbClr val="002060"/>
                </a:solidFill>
              </a:rPr>
              <a:t>ACB Payload:</a:t>
            </a:r>
            <a:r>
              <a:rPr lang="en-US" sz="1600" dirty="0">
                <a:solidFill>
                  <a:schemeClr val="tx2">
                    <a:lumMod val="50000"/>
                  </a:schemeClr>
                </a:solidFill>
              </a:rPr>
              <a:t> Carries hash value or other control information</a:t>
            </a:r>
            <a:endParaRPr lang="en-US" sz="2000" dirty="0">
              <a:solidFill>
                <a:schemeClr val="tx2">
                  <a:lumMod val="50000"/>
                </a:schemeClr>
              </a:solidFill>
            </a:endParaRPr>
          </a:p>
        </p:txBody>
      </p:sp>
      <p:sp>
        <p:nvSpPr>
          <p:cNvPr id="2" name="Slide Number Placeholder 1"/>
          <p:cNvSpPr>
            <a:spLocks noGrp="1"/>
          </p:cNvSpPr>
          <p:nvPr>
            <p:ph type="sldNum" sz="quarter" idx="12"/>
          </p:nvPr>
        </p:nvSpPr>
        <p:spPr>
          <a:xfrm>
            <a:off x="9906000" y="6472826"/>
            <a:ext cx="2133600" cy="365125"/>
          </a:xfrm>
        </p:spPr>
        <p:txBody>
          <a:bodyPr/>
          <a:lstStyle/>
          <a:p>
            <a:fld id="{D4B39A3D-6E5B-421C-AA99-AA75690A48C6}" type="slidenum">
              <a:rPr lang="en-US" smtClean="0"/>
              <a:pPr/>
              <a:t>10</a:t>
            </a:fld>
            <a:endParaRPr lang="en-US" dirty="0"/>
          </a:p>
        </p:txBody>
      </p:sp>
      <p:pic>
        <p:nvPicPr>
          <p:cNvPr id="9" name="Picture 3"/>
          <p:cNvPicPr>
            <a:picLocks noChangeAspect="1" noChangeArrowheads="1"/>
          </p:cNvPicPr>
          <p:nvPr/>
        </p:nvPicPr>
        <p:blipFill>
          <a:blip r:embed="rId5" cstate="print">
            <a:clrChange>
              <a:clrFrom>
                <a:srgbClr val="FDFDFD"/>
              </a:clrFrom>
              <a:clrTo>
                <a:srgbClr val="FDFDFD">
                  <a:alpha val="0"/>
                </a:srgbClr>
              </a:clrTo>
            </a:clrChange>
          </a:blip>
          <a:srcRect/>
          <a:stretch>
            <a:fillRect/>
          </a:stretch>
        </p:blipFill>
        <p:spPr bwMode="auto">
          <a:xfrm>
            <a:off x="0" y="-1224"/>
            <a:ext cx="1268881" cy="824184"/>
          </a:xfrm>
          <a:prstGeom prst="rect">
            <a:avLst/>
          </a:prstGeom>
          <a:noFill/>
          <a:ln w="9525">
            <a:noFill/>
            <a:miter lim="800000"/>
            <a:headEnd/>
            <a:tailEnd/>
          </a:ln>
          <a:effectLst/>
        </p:spPr>
      </p:pic>
      <p:sp>
        <p:nvSpPr>
          <p:cNvPr id="5" name="Rectangle: Rounded Corners 4">
            <a:extLst>
              <a:ext uri="{FF2B5EF4-FFF2-40B4-BE49-F238E27FC236}">
                <a16:creationId xmlns:a16="http://schemas.microsoft.com/office/drawing/2014/main" id="{7D4641E1-9729-C987-72DE-2EA6C7F708AA}"/>
              </a:ext>
            </a:extLst>
          </p:cNvPr>
          <p:cNvSpPr/>
          <p:nvPr/>
        </p:nvSpPr>
        <p:spPr>
          <a:xfrm>
            <a:off x="9286516" y="5861756"/>
            <a:ext cx="2143484" cy="691444"/>
          </a:xfrm>
          <a:prstGeom prst="roundRect">
            <a:avLst/>
          </a:prstGeom>
          <a:solidFill>
            <a:schemeClr val="accent1">
              <a:lumMod val="60000"/>
              <a:lumOff val="40000"/>
              <a:alpha val="1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aphicFrame>
        <p:nvGraphicFramePr>
          <p:cNvPr id="7" name="Table 6">
            <a:extLst>
              <a:ext uri="{FF2B5EF4-FFF2-40B4-BE49-F238E27FC236}">
                <a16:creationId xmlns:a16="http://schemas.microsoft.com/office/drawing/2014/main" id="{770B443F-7CC3-518E-AB4C-92E01D25DD65}"/>
              </a:ext>
            </a:extLst>
          </p:cNvPr>
          <p:cNvGraphicFramePr>
            <a:graphicFrameLocks noGrp="1"/>
          </p:cNvGraphicFramePr>
          <p:nvPr>
            <p:extLst>
              <p:ext uri="{D42A27DB-BD31-4B8C-83A1-F6EECF244321}">
                <p14:modId xmlns:p14="http://schemas.microsoft.com/office/powerpoint/2010/main" val="4099565094"/>
              </p:ext>
            </p:extLst>
          </p:nvPr>
        </p:nvGraphicFramePr>
        <p:xfrm>
          <a:off x="9286516" y="5924488"/>
          <a:ext cx="2372084" cy="533400"/>
        </p:xfrm>
        <a:graphic>
          <a:graphicData uri="http://schemas.openxmlformats.org/drawingml/2006/table">
            <a:tbl>
              <a:tblPr bandRow="1">
                <a:tableStyleId>{5C22544A-7EE6-4342-B048-85BDC9FD1C3A}</a:tableStyleId>
              </a:tblPr>
              <a:tblGrid>
                <a:gridCol w="427874">
                  <a:extLst>
                    <a:ext uri="{9D8B030D-6E8A-4147-A177-3AD203B41FA5}">
                      <a16:colId xmlns:a16="http://schemas.microsoft.com/office/drawing/2014/main" val="4239127740"/>
                    </a:ext>
                  </a:extLst>
                </a:gridCol>
                <a:gridCol w="1944210">
                  <a:extLst>
                    <a:ext uri="{9D8B030D-6E8A-4147-A177-3AD203B41FA5}">
                      <a16:colId xmlns:a16="http://schemas.microsoft.com/office/drawing/2014/main" val="207009135"/>
                    </a:ext>
                  </a:extLst>
                </a:gridCol>
              </a:tblGrid>
              <a:tr h="131445">
                <a:tc>
                  <a:txBody>
                    <a:bodyPr/>
                    <a:lstStyle/>
                    <a:p>
                      <a:pPr marL="0" marR="0" algn="r">
                        <a:spcBef>
                          <a:spcPts val="0"/>
                        </a:spcBef>
                        <a:spcAft>
                          <a:spcPts val="0"/>
                        </a:spcAft>
                      </a:pPr>
                      <a:r>
                        <a:rPr lang="en-US" sz="1000" b="1" dirty="0">
                          <a:effectLst/>
                          <a:latin typeface="Times New Roman" panose="02020603050405020304" pitchFamily="18" charset="0"/>
                          <a:ea typeface="SimSun" panose="02010600030101010101" pitchFamily="2" charset="-122"/>
                          <a:cs typeface="Times New Roman" panose="02020603050405020304" pitchFamily="18" charset="0"/>
                        </a:rPr>
                        <a:t>ACB</a:t>
                      </a:r>
                    </a:p>
                  </a:txBody>
                  <a:tcPr marL="68580" marR="68580" marT="0" marB="0" anchor="ctr">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lgn="l">
                        <a:spcBef>
                          <a:spcPts val="0"/>
                        </a:spcBef>
                        <a:spcAft>
                          <a:spcPts val="0"/>
                        </a:spcAft>
                      </a:pPr>
                      <a:r>
                        <a:rPr lang="en-US" sz="1000" i="1" dirty="0">
                          <a:effectLst/>
                          <a:latin typeface="Times New Roman" panose="02020603050405020304" pitchFamily="18" charset="0"/>
                          <a:ea typeface="SimSun" panose="02010600030101010101" pitchFamily="2" charset="-122"/>
                          <a:cs typeface="Times New Roman" panose="02020603050405020304" pitchFamily="18" charset="0"/>
                        </a:rPr>
                        <a:t>Authentication Code Block</a:t>
                      </a:r>
                    </a:p>
                  </a:txBody>
                  <a:tcPr marL="68580" marR="68580" marT="0" marB="0"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55162556"/>
                  </a:ext>
                </a:extLst>
              </a:tr>
              <a:tr h="228600">
                <a:tc>
                  <a:txBody>
                    <a:bodyPr/>
                    <a:lstStyle/>
                    <a:p>
                      <a:pPr marL="0" marR="0" algn="r">
                        <a:spcBef>
                          <a:spcPts val="0"/>
                        </a:spcBef>
                        <a:spcAft>
                          <a:spcPts val="0"/>
                        </a:spcAft>
                      </a:pPr>
                      <a:r>
                        <a:rPr lang="en-US" sz="1000" b="1" dirty="0">
                          <a:effectLst/>
                          <a:latin typeface="Times New Roman" panose="02020603050405020304" pitchFamily="18" charset="0"/>
                          <a:ea typeface="SimSun" panose="02010600030101010101" pitchFamily="2" charset="-122"/>
                          <a:cs typeface="Times New Roman" panose="02020603050405020304" pitchFamily="18" charset="0"/>
                        </a:rPr>
                        <a:t>RPM</a:t>
                      </a:r>
                    </a:p>
                  </a:txBody>
                  <a:tcPr marL="68580" marR="68580" marT="0" marB="0" anchor="ctr">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i="1" dirty="0">
                          <a:effectLst/>
                          <a:latin typeface="Times New Roman" panose="02020603050405020304" pitchFamily="18" charset="0"/>
                          <a:ea typeface="SimSun" panose="02010600030101010101" pitchFamily="2" charset="-122"/>
                          <a:cs typeface="Times New Roman" panose="02020603050405020304" pitchFamily="18" charset="0"/>
                        </a:rPr>
                        <a:t>Replay Prevention Mode</a:t>
                      </a:r>
                    </a:p>
                  </a:txBody>
                  <a:tcPr marL="68580" marR="68580" marT="0" marB="0"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4912980"/>
                  </a:ext>
                </a:extLst>
              </a:tr>
              <a:tr h="76200">
                <a:tc>
                  <a:txBody>
                    <a:bodyPr/>
                    <a:lstStyle/>
                    <a:p>
                      <a:pPr marL="0" marR="0" algn="r">
                        <a:spcBef>
                          <a:spcPts val="0"/>
                        </a:spcBef>
                        <a:spcAft>
                          <a:spcPts val="0"/>
                        </a:spcAft>
                      </a:pPr>
                      <a:r>
                        <a:rPr lang="en-US" sz="1000" b="1" dirty="0" err="1">
                          <a:effectLst/>
                          <a:latin typeface="Times New Roman" panose="02020603050405020304" pitchFamily="18" charset="0"/>
                          <a:ea typeface="SimSun" panose="02010600030101010101" pitchFamily="2" charset="-122"/>
                          <a:cs typeface="Times New Roman" panose="02020603050405020304" pitchFamily="18" charset="0"/>
                        </a:rPr>
                        <a:t>RPV</a:t>
                      </a:r>
                      <a:endParaRPr lang="en-US" sz="1000" b="1"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i="1" dirty="0">
                          <a:effectLst/>
                          <a:latin typeface="Times New Roman" panose="02020603050405020304" pitchFamily="18" charset="0"/>
                          <a:ea typeface="SimSun" panose="02010600030101010101" pitchFamily="2" charset="-122"/>
                          <a:cs typeface="Times New Roman" panose="02020603050405020304" pitchFamily="18" charset="0"/>
                        </a:rPr>
                        <a:t>Replay Prevention Value</a:t>
                      </a:r>
                    </a:p>
                  </a:txBody>
                  <a:tcPr marL="68580" marR="68580" marT="0" marB="0"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37721580"/>
                  </a:ext>
                </a:extLst>
              </a:tr>
            </a:tbl>
          </a:graphicData>
        </a:graphic>
      </p:graphicFrame>
      <p:sp>
        <p:nvSpPr>
          <p:cNvPr id="13" name="TextBox 12">
            <a:extLst>
              <a:ext uri="{FF2B5EF4-FFF2-40B4-BE49-F238E27FC236}">
                <a16:creationId xmlns:a16="http://schemas.microsoft.com/office/drawing/2014/main" id="{FE82B247-38DC-CB77-2F7F-32C21459C480}"/>
              </a:ext>
            </a:extLst>
          </p:cNvPr>
          <p:cNvSpPr txBox="1"/>
          <p:nvPr/>
        </p:nvSpPr>
        <p:spPr>
          <a:xfrm>
            <a:off x="457200" y="1024096"/>
            <a:ext cx="6097508" cy="400110"/>
          </a:xfrm>
          <a:prstGeom prst="rect">
            <a:avLst/>
          </a:prstGeom>
          <a:noFill/>
        </p:spPr>
        <p:txBody>
          <a:bodyPr wrap="square">
            <a:spAutoFit/>
          </a:bodyPr>
          <a:lstStyle/>
          <a:p>
            <a:pPr marL="0" indent="0" algn="just">
              <a:lnSpc>
                <a:spcPct val="100000"/>
              </a:lnSpc>
              <a:buNone/>
            </a:pPr>
            <a:r>
              <a:rPr lang="en-US" sz="2000" b="1" dirty="0">
                <a:solidFill>
                  <a:srgbClr val="C00000"/>
                </a:solidFill>
              </a:rPr>
              <a:t>SECS/GEM Security Mechanism (SGSM)</a:t>
            </a:r>
          </a:p>
        </p:txBody>
      </p:sp>
      <p:pic>
        <p:nvPicPr>
          <p:cNvPr id="1043" name="Picture 1042">
            <a:extLst>
              <a:ext uri="{FF2B5EF4-FFF2-40B4-BE49-F238E27FC236}">
                <a16:creationId xmlns:a16="http://schemas.microsoft.com/office/drawing/2014/main" id="{B5A0F1BF-C001-B445-484E-32F64E92E3EB}"/>
              </a:ext>
            </a:extLst>
          </p:cNvPr>
          <p:cNvPicPr>
            <a:picLocks noChangeAspect="1"/>
          </p:cNvPicPr>
          <p:nvPr/>
        </p:nvPicPr>
        <p:blipFill>
          <a:blip r:embed="rId6"/>
          <a:stretch>
            <a:fillRect/>
          </a:stretch>
        </p:blipFill>
        <p:spPr>
          <a:xfrm>
            <a:off x="7039469" y="1357564"/>
            <a:ext cx="4804662" cy="3443036"/>
          </a:xfrm>
          <a:prstGeom prst="rect">
            <a:avLst/>
          </a:prstGeom>
        </p:spPr>
      </p:pic>
      <p:sp>
        <p:nvSpPr>
          <p:cNvPr id="1044" name="TextBox 1043">
            <a:extLst>
              <a:ext uri="{FF2B5EF4-FFF2-40B4-BE49-F238E27FC236}">
                <a16:creationId xmlns:a16="http://schemas.microsoft.com/office/drawing/2014/main" id="{6AC452B2-6C6B-6975-FA7C-C1C8C66186CF}"/>
              </a:ext>
            </a:extLst>
          </p:cNvPr>
          <p:cNvSpPr txBox="1"/>
          <p:nvPr/>
        </p:nvSpPr>
        <p:spPr>
          <a:xfrm>
            <a:off x="8437358" y="4898685"/>
            <a:ext cx="2008883" cy="253916"/>
          </a:xfrm>
          <a:prstGeom prst="rect">
            <a:avLst/>
          </a:prstGeom>
          <a:noFill/>
        </p:spPr>
        <p:txBody>
          <a:bodyPr wrap="none" rtlCol="0">
            <a:spAutoFit/>
          </a:bodyPr>
          <a:lstStyle/>
          <a:p>
            <a:r>
              <a:rPr lang="en-US" sz="1050" b="1" dirty="0"/>
              <a:t>Authentication Code Block (ACB)</a:t>
            </a:r>
          </a:p>
        </p:txBody>
      </p:sp>
    </p:spTree>
    <p:custDataLst>
      <p:tags r:id="rId1"/>
    </p:custDataLst>
    <p:extLst>
      <p:ext uri="{BB962C8B-B14F-4D97-AF65-F5344CB8AC3E}">
        <p14:creationId xmlns:p14="http://schemas.microsoft.com/office/powerpoint/2010/main" val="18433207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fauzisukiman\Desktop\template pp USM\page 2 n seterusnya\Header.jpg"/>
          <p:cNvPicPr>
            <a:picLocks noChangeAspect="1" noChangeArrowheads="1"/>
          </p:cNvPicPr>
          <p:nvPr/>
        </p:nvPicPr>
        <p:blipFill rotWithShape="1">
          <a:blip r:embed="rId4" cstate="print"/>
          <a:srcRect l="14375"/>
          <a:stretch/>
        </p:blipFill>
        <p:spPr bwMode="auto">
          <a:xfrm>
            <a:off x="1268881" y="0"/>
            <a:ext cx="10923119" cy="822960"/>
          </a:xfrm>
          <a:prstGeom prst="rect">
            <a:avLst/>
          </a:prstGeom>
          <a:noFill/>
        </p:spPr>
      </p:pic>
      <p:sp>
        <p:nvSpPr>
          <p:cNvPr id="6" name="Rectangle 5"/>
          <p:cNvSpPr/>
          <p:nvPr/>
        </p:nvSpPr>
        <p:spPr>
          <a:xfrm>
            <a:off x="1447800" y="76200"/>
            <a:ext cx="10363200" cy="707886"/>
          </a:xfrm>
          <a:prstGeom prst="rect">
            <a:avLst/>
          </a:prstGeom>
        </p:spPr>
        <p:txBody>
          <a:bodyPr wrap="square">
            <a:spAutoFit/>
          </a:bodyPr>
          <a:lstStyle/>
          <a:p>
            <a:r>
              <a:rPr lang="en-US" sz="4000" b="1" i="1" dirty="0">
                <a:solidFill>
                  <a:schemeClr val="bg1"/>
                </a:solidFill>
              </a:rPr>
              <a:t>SGSM – Architecture </a:t>
            </a:r>
          </a:p>
        </p:txBody>
      </p:sp>
      <p:sp>
        <p:nvSpPr>
          <p:cNvPr id="8" name="Content Placeholder 7"/>
          <p:cNvSpPr>
            <a:spLocks noGrp="1"/>
          </p:cNvSpPr>
          <p:nvPr>
            <p:ph idx="1"/>
          </p:nvPr>
        </p:nvSpPr>
        <p:spPr>
          <a:xfrm>
            <a:off x="533400" y="1371600"/>
            <a:ext cx="5943600" cy="3699161"/>
          </a:xfrm>
        </p:spPr>
        <p:txBody>
          <a:bodyPr>
            <a:noAutofit/>
          </a:bodyPr>
          <a:lstStyle/>
          <a:p>
            <a:pPr marL="0" indent="0" algn="just">
              <a:lnSpc>
                <a:spcPct val="100000"/>
              </a:lnSpc>
              <a:buNone/>
            </a:pPr>
            <a:r>
              <a:rPr lang="en-US" sz="1800" b="1" dirty="0">
                <a:solidFill>
                  <a:schemeClr val="accent1">
                    <a:lumMod val="75000"/>
                  </a:schemeClr>
                </a:solidFill>
              </a:rPr>
              <a:t>ACB Generation &amp; Initialization</a:t>
            </a:r>
          </a:p>
          <a:p>
            <a:pPr algn="just">
              <a:lnSpc>
                <a:spcPct val="100000"/>
              </a:lnSpc>
              <a:buFont typeface="Wingdings" panose="05000000000000000000" pitchFamily="2" charset="2"/>
              <a:buChar char="§"/>
            </a:pPr>
            <a:r>
              <a:rPr lang="en-US" sz="1600" dirty="0">
                <a:solidFill>
                  <a:schemeClr val="tx2">
                    <a:lumMod val="50000"/>
                  </a:schemeClr>
                </a:solidFill>
              </a:rPr>
              <a:t>Information such as RPM, Secret Key ID, mode, and algorithm required to generate ACB</a:t>
            </a:r>
          </a:p>
          <a:p>
            <a:pPr algn="just">
              <a:lnSpc>
                <a:spcPct val="100000"/>
              </a:lnSpc>
              <a:buFont typeface="Wingdings" panose="05000000000000000000" pitchFamily="2" charset="2"/>
              <a:buChar char="§"/>
            </a:pPr>
            <a:r>
              <a:rPr lang="en-US" sz="1600" dirty="0">
                <a:solidFill>
                  <a:schemeClr val="tx2">
                    <a:lumMod val="50000"/>
                  </a:schemeClr>
                </a:solidFill>
              </a:rPr>
              <a:t>Based on the key size, generate the ACB for authentication</a:t>
            </a:r>
          </a:p>
          <a:p>
            <a:pPr algn="just">
              <a:lnSpc>
                <a:spcPct val="100000"/>
              </a:lnSpc>
              <a:buFont typeface="Wingdings" panose="05000000000000000000" pitchFamily="2" charset="2"/>
              <a:buChar char="§"/>
            </a:pPr>
            <a:r>
              <a:rPr lang="en-US" sz="1600" dirty="0">
                <a:solidFill>
                  <a:schemeClr val="tx2">
                    <a:lumMod val="50000"/>
                  </a:schemeClr>
                </a:solidFill>
              </a:rPr>
              <a:t>Attach ACB to HSMS message</a:t>
            </a:r>
          </a:p>
          <a:p>
            <a:pPr marL="0" indent="0" algn="just">
              <a:lnSpc>
                <a:spcPct val="100000"/>
              </a:lnSpc>
              <a:buNone/>
            </a:pPr>
            <a:r>
              <a:rPr lang="en-US" sz="1800" b="1" dirty="0">
                <a:solidFill>
                  <a:schemeClr val="accent1">
                    <a:lumMod val="75000"/>
                  </a:schemeClr>
                </a:solidFill>
              </a:rPr>
              <a:t>Authentication &amp; Integrity</a:t>
            </a:r>
          </a:p>
          <a:p>
            <a:pPr algn="just">
              <a:lnSpc>
                <a:spcPct val="100000"/>
              </a:lnSpc>
              <a:buFont typeface="Wingdings" panose="05000000000000000000" pitchFamily="2" charset="2"/>
              <a:buChar char="§"/>
            </a:pPr>
            <a:r>
              <a:rPr lang="en-US" sz="1600" dirty="0">
                <a:solidFill>
                  <a:schemeClr val="tx2">
                    <a:lumMod val="50000"/>
                  </a:schemeClr>
                </a:solidFill>
              </a:rPr>
              <a:t>Select the HMAC algorithm (SHA1, SHA2, SHA3, etc.)</a:t>
            </a:r>
          </a:p>
          <a:p>
            <a:pPr algn="just">
              <a:lnSpc>
                <a:spcPct val="100000"/>
              </a:lnSpc>
              <a:buFont typeface="Wingdings" panose="05000000000000000000" pitchFamily="2" charset="2"/>
              <a:buChar char="§"/>
            </a:pPr>
            <a:r>
              <a:rPr lang="en-US" sz="1600" dirty="0">
                <a:solidFill>
                  <a:schemeClr val="tx2">
                    <a:lumMod val="50000"/>
                  </a:schemeClr>
                </a:solidFill>
              </a:rPr>
              <a:t>Fetch the key to hash messages (applies to an active entity only)</a:t>
            </a:r>
          </a:p>
          <a:p>
            <a:pPr algn="just">
              <a:lnSpc>
                <a:spcPct val="100000"/>
              </a:lnSpc>
              <a:buFont typeface="Wingdings" panose="05000000000000000000" pitchFamily="2" charset="2"/>
              <a:buChar char="§"/>
            </a:pPr>
            <a:r>
              <a:rPr lang="en-US" sz="1600" dirty="0">
                <a:solidFill>
                  <a:schemeClr val="tx2">
                    <a:lumMod val="50000"/>
                  </a:schemeClr>
                </a:solidFill>
              </a:rPr>
              <a:t>Timestamp generation (i.e., </a:t>
            </a:r>
            <a:r>
              <a:rPr lang="en-US" sz="1600" dirty="0" err="1">
                <a:solidFill>
                  <a:schemeClr val="tx2">
                    <a:lumMod val="50000"/>
                  </a:schemeClr>
                </a:solidFill>
              </a:rPr>
              <a:t>RPV</a:t>
            </a:r>
            <a:r>
              <a:rPr lang="en-US" sz="1600" dirty="0">
                <a:solidFill>
                  <a:schemeClr val="tx2">
                    <a:lumMod val="50000"/>
                  </a:schemeClr>
                </a:solidFill>
              </a:rPr>
              <a:t>)</a:t>
            </a:r>
          </a:p>
          <a:p>
            <a:pPr algn="just">
              <a:lnSpc>
                <a:spcPct val="100000"/>
              </a:lnSpc>
              <a:buFont typeface="Wingdings" panose="05000000000000000000" pitchFamily="2" charset="2"/>
              <a:buChar char="§"/>
            </a:pPr>
            <a:r>
              <a:rPr lang="en-US" sz="1600" dirty="0">
                <a:solidFill>
                  <a:schemeClr val="tx2">
                    <a:lumMod val="50000"/>
                  </a:schemeClr>
                </a:solidFill>
              </a:rPr>
              <a:t>Based on mode and algorithm, generate hash</a:t>
            </a:r>
          </a:p>
        </p:txBody>
      </p:sp>
      <p:sp>
        <p:nvSpPr>
          <p:cNvPr id="2" name="Slide Number Placeholder 1"/>
          <p:cNvSpPr>
            <a:spLocks noGrp="1"/>
          </p:cNvSpPr>
          <p:nvPr>
            <p:ph type="sldNum" sz="quarter" idx="12"/>
          </p:nvPr>
        </p:nvSpPr>
        <p:spPr>
          <a:xfrm>
            <a:off x="9906000" y="6472826"/>
            <a:ext cx="2133600" cy="365125"/>
          </a:xfrm>
        </p:spPr>
        <p:txBody>
          <a:bodyPr/>
          <a:lstStyle/>
          <a:p>
            <a:fld id="{D4B39A3D-6E5B-421C-AA99-AA75690A48C6}" type="slidenum">
              <a:rPr lang="en-US" smtClean="0"/>
              <a:pPr/>
              <a:t>11</a:t>
            </a:fld>
            <a:endParaRPr lang="en-US" dirty="0"/>
          </a:p>
        </p:txBody>
      </p:sp>
      <p:pic>
        <p:nvPicPr>
          <p:cNvPr id="9" name="Picture 3"/>
          <p:cNvPicPr>
            <a:picLocks noChangeAspect="1" noChangeArrowheads="1"/>
          </p:cNvPicPr>
          <p:nvPr/>
        </p:nvPicPr>
        <p:blipFill>
          <a:blip r:embed="rId5" cstate="print">
            <a:clrChange>
              <a:clrFrom>
                <a:srgbClr val="FDFDFD"/>
              </a:clrFrom>
              <a:clrTo>
                <a:srgbClr val="FDFDFD">
                  <a:alpha val="0"/>
                </a:srgbClr>
              </a:clrTo>
            </a:clrChange>
          </a:blip>
          <a:srcRect/>
          <a:stretch>
            <a:fillRect/>
          </a:stretch>
        </p:blipFill>
        <p:spPr bwMode="auto">
          <a:xfrm>
            <a:off x="0" y="-1224"/>
            <a:ext cx="1268881" cy="824184"/>
          </a:xfrm>
          <a:prstGeom prst="rect">
            <a:avLst/>
          </a:prstGeom>
          <a:noFill/>
          <a:ln w="9525">
            <a:noFill/>
            <a:miter lim="800000"/>
            <a:headEnd/>
            <a:tailEnd/>
          </a:ln>
          <a:effectLst/>
        </p:spPr>
      </p:pic>
      <p:grpSp>
        <p:nvGrpSpPr>
          <p:cNvPr id="57" name="Group 56">
            <a:extLst>
              <a:ext uri="{FF2B5EF4-FFF2-40B4-BE49-F238E27FC236}">
                <a16:creationId xmlns:a16="http://schemas.microsoft.com/office/drawing/2014/main" id="{D502244E-B4B2-E265-CAB9-EE6FB37790F4}"/>
              </a:ext>
            </a:extLst>
          </p:cNvPr>
          <p:cNvGrpSpPr/>
          <p:nvPr/>
        </p:nvGrpSpPr>
        <p:grpSpPr>
          <a:xfrm>
            <a:off x="7518879" y="1385057"/>
            <a:ext cx="3744641" cy="1528247"/>
            <a:chOff x="7913959" y="1385057"/>
            <a:chExt cx="3744641" cy="1528247"/>
          </a:xfrm>
        </p:grpSpPr>
        <p:grpSp>
          <p:nvGrpSpPr>
            <p:cNvPr id="3" name="Group 2">
              <a:extLst>
                <a:ext uri="{FF2B5EF4-FFF2-40B4-BE49-F238E27FC236}">
                  <a16:creationId xmlns:a16="http://schemas.microsoft.com/office/drawing/2014/main" id="{48F74F58-83CC-3C35-E89F-5CD32A321731}"/>
                </a:ext>
              </a:extLst>
            </p:cNvPr>
            <p:cNvGrpSpPr/>
            <p:nvPr/>
          </p:nvGrpSpPr>
          <p:grpSpPr>
            <a:xfrm>
              <a:off x="7913959" y="1385057"/>
              <a:ext cx="3744641" cy="1528247"/>
              <a:chOff x="519410" y="457200"/>
              <a:chExt cx="3442991" cy="1528247"/>
            </a:xfrm>
          </p:grpSpPr>
          <p:sp>
            <p:nvSpPr>
              <p:cNvPr id="4" name="Rectangle 3">
                <a:extLst>
                  <a:ext uri="{FF2B5EF4-FFF2-40B4-BE49-F238E27FC236}">
                    <a16:creationId xmlns:a16="http://schemas.microsoft.com/office/drawing/2014/main" id="{4BCBCBE1-5DD0-3104-014E-5F27DD326404}"/>
                  </a:ext>
                </a:extLst>
              </p:cNvPr>
              <p:cNvSpPr/>
              <p:nvPr/>
            </p:nvSpPr>
            <p:spPr>
              <a:xfrm>
                <a:off x="857330" y="457201"/>
                <a:ext cx="3105071" cy="152824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sp>
            <p:nvSpPr>
              <p:cNvPr id="5" name="Rectangle 4">
                <a:extLst>
                  <a:ext uri="{FF2B5EF4-FFF2-40B4-BE49-F238E27FC236}">
                    <a16:creationId xmlns:a16="http://schemas.microsoft.com/office/drawing/2014/main" id="{B1D8778A-84DF-C48E-C49C-B3553E3616D8}"/>
                  </a:ext>
                </a:extLst>
              </p:cNvPr>
              <p:cNvSpPr/>
              <p:nvPr/>
            </p:nvSpPr>
            <p:spPr>
              <a:xfrm rot="10800000">
                <a:off x="519410" y="457200"/>
                <a:ext cx="342901" cy="1528245"/>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en-US" sz="1400" b="1" dirty="0"/>
                  <a:t>Stage One</a:t>
                </a:r>
                <a:endParaRPr lang="en-MY" sz="1400" b="1" dirty="0"/>
              </a:p>
            </p:txBody>
          </p:sp>
          <p:grpSp>
            <p:nvGrpSpPr>
              <p:cNvPr id="7" name="Group 6">
                <a:extLst>
                  <a:ext uri="{FF2B5EF4-FFF2-40B4-BE49-F238E27FC236}">
                    <a16:creationId xmlns:a16="http://schemas.microsoft.com/office/drawing/2014/main" id="{6D8D6E2C-F0EF-2F48-195C-45019B80344C}"/>
                  </a:ext>
                </a:extLst>
              </p:cNvPr>
              <p:cNvGrpSpPr/>
              <p:nvPr/>
            </p:nvGrpSpPr>
            <p:grpSpPr>
              <a:xfrm>
                <a:off x="910393" y="1116023"/>
                <a:ext cx="2984626" cy="823576"/>
                <a:chOff x="7928367" y="2172867"/>
                <a:chExt cx="2984626" cy="823576"/>
              </a:xfrm>
            </p:grpSpPr>
            <p:sp>
              <p:nvSpPr>
                <p:cNvPr id="12" name="Rectangle 11">
                  <a:extLst>
                    <a:ext uri="{FF2B5EF4-FFF2-40B4-BE49-F238E27FC236}">
                      <a16:creationId xmlns:a16="http://schemas.microsoft.com/office/drawing/2014/main" id="{9735A98B-570C-64F8-E79F-E374B8CAA482}"/>
                    </a:ext>
                  </a:extLst>
                </p:cNvPr>
                <p:cNvSpPr/>
                <p:nvPr/>
              </p:nvSpPr>
              <p:spPr>
                <a:xfrm>
                  <a:off x="7928367" y="2172867"/>
                  <a:ext cx="2984626" cy="337216"/>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t>ACB Generation and Initialization</a:t>
                  </a:r>
                  <a:endParaRPr lang="en-MY" sz="1000" b="1" dirty="0"/>
                </a:p>
              </p:txBody>
            </p:sp>
            <p:sp>
              <p:nvSpPr>
                <p:cNvPr id="13" name="Rectangle 12">
                  <a:extLst>
                    <a:ext uri="{FF2B5EF4-FFF2-40B4-BE49-F238E27FC236}">
                      <a16:creationId xmlns:a16="http://schemas.microsoft.com/office/drawing/2014/main" id="{683026E8-A5A1-DD30-9866-010BAB8C48E5}"/>
                    </a:ext>
                  </a:extLst>
                </p:cNvPr>
                <p:cNvSpPr/>
                <p:nvPr/>
              </p:nvSpPr>
              <p:spPr>
                <a:xfrm>
                  <a:off x="7928367" y="2658452"/>
                  <a:ext cx="2160013" cy="337216"/>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t>SECS/GEM Message</a:t>
                  </a:r>
                  <a:endParaRPr lang="en-MY" sz="1000" b="1" dirty="0"/>
                </a:p>
              </p:txBody>
            </p:sp>
            <p:sp>
              <p:nvSpPr>
                <p:cNvPr id="14" name="Rectangle 13">
                  <a:extLst>
                    <a:ext uri="{FF2B5EF4-FFF2-40B4-BE49-F238E27FC236}">
                      <a16:creationId xmlns:a16="http://schemas.microsoft.com/office/drawing/2014/main" id="{D63FADAD-6A7F-8C3C-B712-4FC666234313}"/>
                    </a:ext>
                  </a:extLst>
                </p:cNvPr>
                <p:cNvSpPr/>
                <p:nvPr/>
              </p:nvSpPr>
              <p:spPr>
                <a:xfrm>
                  <a:off x="10088286" y="2659227"/>
                  <a:ext cx="824706" cy="337216"/>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ACB</a:t>
                  </a:r>
                  <a:endParaRPr lang="en-MY" sz="1000" b="1" dirty="0">
                    <a:solidFill>
                      <a:schemeClr val="tx1"/>
                    </a:solidFill>
                  </a:endParaRPr>
                </a:p>
              </p:txBody>
            </p:sp>
            <p:sp>
              <p:nvSpPr>
                <p:cNvPr id="15" name="Arrow: Right 14">
                  <a:extLst>
                    <a:ext uri="{FF2B5EF4-FFF2-40B4-BE49-F238E27FC236}">
                      <a16:creationId xmlns:a16="http://schemas.microsoft.com/office/drawing/2014/main" id="{8FC09F09-3779-DBE6-0D5A-4DA9F5792E5E}"/>
                    </a:ext>
                  </a:extLst>
                </p:cNvPr>
                <p:cNvSpPr/>
                <p:nvPr/>
              </p:nvSpPr>
              <p:spPr>
                <a:xfrm rot="5400000">
                  <a:off x="10303129" y="2498521"/>
                  <a:ext cx="148368" cy="171493"/>
                </a:xfrm>
                <a:prstGeom prst="rightArrow">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grpSp>
          <p:sp>
            <p:nvSpPr>
              <p:cNvPr id="10" name="TextBox 9">
                <a:extLst>
                  <a:ext uri="{FF2B5EF4-FFF2-40B4-BE49-F238E27FC236}">
                    <a16:creationId xmlns:a16="http://schemas.microsoft.com/office/drawing/2014/main" id="{486B2F3D-21EC-E578-9FA0-FF944BA41E7C}"/>
                  </a:ext>
                </a:extLst>
              </p:cNvPr>
              <p:cNvSpPr txBox="1"/>
              <p:nvPr/>
            </p:nvSpPr>
            <p:spPr>
              <a:xfrm>
                <a:off x="1892874" y="468051"/>
                <a:ext cx="2002361" cy="153864"/>
              </a:xfrm>
              <a:prstGeom prst="rect">
                <a:avLst/>
              </a:prstGeom>
              <a:noFill/>
            </p:spPr>
            <p:txBody>
              <a:bodyPr wrap="square" lIns="0" tIns="0" rIns="0" bIns="0" rtlCol="0">
                <a:spAutoFit/>
              </a:bodyPr>
              <a:lstStyle/>
              <a:p>
                <a:pPr algn="r"/>
                <a:r>
                  <a:rPr lang="en-US" sz="1000" b="1" dirty="0"/>
                  <a:t>ACB Generation and Initialization</a:t>
                </a:r>
                <a:endParaRPr lang="en-MY" sz="1000" b="1" dirty="0"/>
              </a:p>
            </p:txBody>
          </p:sp>
        </p:grpSp>
        <p:sp>
          <p:nvSpPr>
            <p:cNvPr id="16" name="Rectangle 15">
              <a:extLst>
                <a:ext uri="{FF2B5EF4-FFF2-40B4-BE49-F238E27FC236}">
                  <a16:creationId xmlns:a16="http://schemas.microsoft.com/office/drawing/2014/main" id="{BD5AC2F2-A73E-AAE7-A8F4-B1EE8FB313D5}"/>
                </a:ext>
              </a:extLst>
            </p:cNvPr>
            <p:cNvSpPr/>
            <p:nvPr/>
          </p:nvSpPr>
          <p:spPr>
            <a:xfrm>
              <a:off x="8339197" y="1578509"/>
              <a:ext cx="681916" cy="309625"/>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t>RPM</a:t>
              </a:r>
              <a:endParaRPr lang="en-MY" sz="1000" b="1" dirty="0"/>
            </a:p>
          </p:txBody>
        </p:sp>
        <p:sp>
          <p:nvSpPr>
            <p:cNvPr id="17" name="Rectangle 16">
              <a:extLst>
                <a:ext uri="{FF2B5EF4-FFF2-40B4-BE49-F238E27FC236}">
                  <a16:creationId xmlns:a16="http://schemas.microsoft.com/office/drawing/2014/main" id="{889DA550-8BF9-225A-EFC5-FAF9027B80CA}"/>
                </a:ext>
              </a:extLst>
            </p:cNvPr>
            <p:cNvSpPr/>
            <p:nvPr/>
          </p:nvSpPr>
          <p:spPr>
            <a:xfrm>
              <a:off x="9119471" y="1578266"/>
              <a:ext cx="879002" cy="309625"/>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t>Secret Key ID</a:t>
              </a:r>
              <a:endParaRPr lang="en-MY" sz="1000" b="1" dirty="0"/>
            </a:p>
          </p:txBody>
        </p:sp>
        <p:sp>
          <p:nvSpPr>
            <p:cNvPr id="18" name="Rectangle 17">
              <a:extLst>
                <a:ext uri="{FF2B5EF4-FFF2-40B4-BE49-F238E27FC236}">
                  <a16:creationId xmlns:a16="http://schemas.microsoft.com/office/drawing/2014/main" id="{2C84F059-BF55-4994-1D74-ED44F4778521}"/>
                </a:ext>
              </a:extLst>
            </p:cNvPr>
            <p:cNvSpPr/>
            <p:nvPr/>
          </p:nvSpPr>
          <p:spPr>
            <a:xfrm>
              <a:off x="10849422" y="1577664"/>
              <a:ext cx="731520" cy="309625"/>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t>Algorithm</a:t>
              </a:r>
              <a:endParaRPr lang="en-MY" sz="1050" b="1" dirty="0"/>
            </a:p>
          </p:txBody>
        </p:sp>
        <p:sp>
          <p:nvSpPr>
            <p:cNvPr id="19" name="Arrow: Right 18">
              <a:extLst>
                <a:ext uri="{FF2B5EF4-FFF2-40B4-BE49-F238E27FC236}">
                  <a16:creationId xmlns:a16="http://schemas.microsoft.com/office/drawing/2014/main" id="{4C0043E6-6D84-62D3-E27E-36D92D5259EC}"/>
                </a:ext>
              </a:extLst>
            </p:cNvPr>
            <p:cNvSpPr/>
            <p:nvPr/>
          </p:nvSpPr>
          <p:spPr>
            <a:xfrm rot="5400000">
              <a:off x="8601705" y="1871397"/>
              <a:ext cx="156899" cy="186518"/>
            </a:xfrm>
            <a:prstGeom prst="rightArrow">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0" name="Arrow: Right 19">
              <a:extLst>
                <a:ext uri="{FF2B5EF4-FFF2-40B4-BE49-F238E27FC236}">
                  <a16:creationId xmlns:a16="http://schemas.microsoft.com/office/drawing/2014/main" id="{E5C9DF97-DCE5-884F-1D0B-0B117CFC1FCD}"/>
                </a:ext>
              </a:extLst>
            </p:cNvPr>
            <p:cNvSpPr/>
            <p:nvPr/>
          </p:nvSpPr>
          <p:spPr>
            <a:xfrm rot="5400000">
              <a:off x="9479038" y="1869913"/>
              <a:ext cx="159867" cy="186518"/>
            </a:xfrm>
            <a:prstGeom prst="rightArrow">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1" name="Arrow: Right 20">
              <a:extLst>
                <a:ext uri="{FF2B5EF4-FFF2-40B4-BE49-F238E27FC236}">
                  <a16:creationId xmlns:a16="http://schemas.microsoft.com/office/drawing/2014/main" id="{B6AD66AC-F91A-CFF4-7F42-922056B4AF06}"/>
                </a:ext>
              </a:extLst>
            </p:cNvPr>
            <p:cNvSpPr/>
            <p:nvPr/>
          </p:nvSpPr>
          <p:spPr>
            <a:xfrm rot="5400000">
              <a:off x="11139410" y="1870526"/>
              <a:ext cx="156266" cy="186518"/>
            </a:xfrm>
            <a:prstGeom prst="rightArrow">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2" name="Rectangle 21">
              <a:extLst>
                <a:ext uri="{FF2B5EF4-FFF2-40B4-BE49-F238E27FC236}">
                  <a16:creationId xmlns:a16="http://schemas.microsoft.com/office/drawing/2014/main" id="{4390C57B-8587-E3C7-9309-AE8460DBA6DE}"/>
                </a:ext>
              </a:extLst>
            </p:cNvPr>
            <p:cNvSpPr/>
            <p:nvPr/>
          </p:nvSpPr>
          <p:spPr>
            <a:xfrm>
              <a:off x="10081870" y="1578352"/>
              <a:ext cx="681916" cy="309625"/>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t>Mode</a:t>
              </a:r>
              <a:endParaRPr lang="en-MY" sz="1000" b="1" dirty="0"/>
            </a:p>
          </p:txBody>
        </p:sp>
        <p:sp>
          <p:nvSpPr>
            <p:cNvPr id="23" name="Arrow: Right 22">
              <a:extLst>
                <a:ext uri="{FF2B5EF4-FFF2-40B4-BE49-F238E27FC236}">
                  <a16:creationId xmlns:a16="http://schemas.microsoft.com/office/drawing/2014/main" id="{B7E57AF8-89F0-D1AA-4C9B-1F41E4E9EEE7}"/>
                </a:ext>
              </a:extLst>
            </p:cNvPr>
            <p:cNvSpPr/>
            <p:nvPr/>
          </p:nvSpPr>
          <p:spPr>
            <a:xfrm rot="5400000">
              <a:off x="10345606" y="1868725"/>
              <a:ext cx="159867" cy="186518"/>
            </a:xfrm>
            <a:prstGeom prst="rightArrow">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grpSp>
      <p:grpSp>
        <p:nvGrpSpPr>
          <p:cNvPr id="58" name="Group 57">
            <a:extLst>
              <a:ext uri="{FF2B5EF4-FFF2-40B4-BE49-F238E27FC236}">
                <a16:creationId xmlns:a16="http://schemas.microsoft.com/office/drawing/2014/main" id="{B4FB3A63-881D-2589-6403-4C947F95E0BD}"/>
              </a:ext>
            </a:extLst>
          </p:cNvPr>
          <p:cNvGrpSpPr/>
          <p:nvPr/>
        </p:nvGrpSpPr>
        <p:grpSpPr>
          <a:xfrm>
            <a:off x="7516401" y="3048000"/>
            <a:ext cx="3747119" cy="1752600"/>
            <a:chOff x="7911481" y="3048000"/>
            <a:chExt cx="3747119" cy="1752600"/>
          </a:xfrm>
        </p:grpSpPr>
        <p:sp>
          <p:nvSpPr>
            <p:cNvPr id="24" name="Rectangle 23">
              <a:extLst>
                <a:ext uri="{FF2B5EF4-FFF2-40B4-BE49-F238E27FC236}">
                  <a16:creationId xmlns:a16="http://schemas.microsoft.com/office/drawing/2014/main" id="{8FBC12B0-7740-7A8C-4544-FFE71FC0D14D}"/>
                </a:ext>
              </a:extLst>
            </p:cNvPr>
            <p:cNvSpPr/>
            <p:nvPr/>
          </p:nvSpPr>
          <p:spPr>
            <a:xfrm>
              <a:off x="8281485" y="3051784"/>
              <a:ext cx="3377115" cy="174881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b="1" dirty="0"/>
            </a:p>
          </p:txBody>
        </p:sp>
        <p:grpSp>
          <p:nvGrpSpPr>
            <p:cNvPr id="25" name="Group 24">
              <a:extLst>
                <a:ext uri="{FF2B5EF4-FFF2-40B4-BE49-F238E27FC236}">
                  <a16:creationId xmlns:a16="http://schemas.microsoft.com/office/drawing/2014/main" id="{A87AE788-1673-154F-93E1-4819D730D2B6}"/>
                </a:ext>
              </a:extLst>
            </p:cNvPr>
            <p:cNvGrpSpPr/>
            <p:nvPr/>
          </p:nvGrpSpPr>
          <p:grpSpPr>
            <a:xfrm>
              <a:off x="8336720" y="3275327"/>
              <a:ext cx="3254239" cy="1497582"/>
              <a:chOff x="937447" y="2218641"/>
              <a:chExt cx="3254239" cy="1497582"/>
            </a:xfrm>
          </p:grpSpPr>
          <p:sp>
            <p:nvSpPr>
              <p:cNvPr id="26" name="Rectangle 25">
                <a:extLst>
                  <a:ext uri="{FF2B5EF4-FFF2-40B4-BE49-F238E27FC236}">
                    <a16:creationId xmlns:a16="http://schemas.microsoft.com/office/drawing/2014/main" id="{0ACEFDF6-0409-89F8-F3AD-201EBB7BE1D6}"/>
                  </a:ext>
                </a:extLst>
              </p:cNvPr>
              <p:cNvSpPr/>
              <p:nvPr/>
            </p:nvSpPr>
            <p:spPr>
              <a:xfrm>
                <a:off x="1965960" y="2220165"/>
                <a:ext cx="857218" cy="989862"/>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b="1" dirty="0">
                    <a:solidFill>
                      <a:schemeClr val="bg1"/>
                    </a:solidFill>
                  </a:rPr>
                  <a:t>SECS/GEM Message</a:t>
                </a:r>
                <a:endParaRPr lang="en-MY" sz="1050" b="1" dirty="0">
                  <a:solidFill>
                    <a:schemeClr val="bg1"/>
                  </a:solidFill>
                </a:endParaRPr>
              </a:p>
            </p:txBody>
          </p:sp>
          <p:grpSp>
            <p:nvGrpSpPr>
              <p:cNvPr id="27" name="Group 26">
                <a:extLst>
                  <a:ext uri="{FF2B5EF4-FFF2-40B4-BE49-F238E27FC236}">
                    <a16:creationId xmlns:a16="http://schemas.microsoft.com/office/drawing/2014/main" id="{50AD78B0-50DC-07B3-6245-AB5AA07EA42D}"/>
                  </a:ext>
                </a:extLst>
              </p:cNvPr>
              <p:cNvGrpSpPr/>
              <p:nvPr/>
            </p:nvGrpSpPr>
            <p:grpSpPr>
              <a:xfrm>
                <a:off x="2818941" y="2218641"/>
                <a:ext cx="1372745" cy="991767"/>
                <a:chOff x="4648200" y="3046833"/>
                <a:chExt cx="1372745" cy="991767"/>
              </a:xfrm>
            </p:grpSpPr>
            <p:sp>
              <p:nvSpPr>
                <p:cNvPr id="35" name="Rectangle 34">
                  <a:extLst>
                    <a:ext uri="{FF2B5EF4-FFF2-40B4-BE49-F238E27FC236}">
                      <a16:creationId xmlns:a16="http://schemas.microsoft.com/office/drawing/2014/main" id="{0768A0F5-E7F2-9C33-82E9-CFC8B3C78125}"/>
                    </a:ext>
                  </a:extLst>
                </p:cNvPr>
                <p:cNvSpPr/>
                <p:nvPr/>
              </p:nvSpPr>
              <p:spPr>
                <a:xfrm>
                  <a:off x="4648200" y="3048738"/>
                  <a:ext cx="1371601" cy="98986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sz="1000" b="1" dirty="0">
                    <a:solidFill>
                      <a:schemeClr val="bg1"/>
                    </a:solidFill>
                  </a:endParaRPr>
                </a:p>
              </p:txBody>
            </p:sp>
            <p:sp>
              <p:nvSpPr>
                <p:cNvPr id="36" name="TextBox 35">
                  <a:extLst>
                    <a:ext uri="{FF2B5EF4-FFF2-40B4-BE49-F238E27FC236}">
                      <a16:creationId xmlns:a16="http://schemas.microsoft.com/office/drawing/2014/main" id="{1DEA086F-304C-64BC-6D38-DB8E4121C3F9}"/>
                    </a:ext>
                  </a:extLst>
                </p:cNvPr>
                <p:cNvSpPr txBox="1"/>
                <p:nvPr/>
              </p:nvSpPr>
              <p:spPr>
                <a:xfrm>
                  <a:off x="5225797" y="3046833"/>
                  <a:ext cx="216406" cy="153888"/>
                </a:xfrm>
                <a:prstGeom prst="rect">
                  <a:avLst/>
                </a:prstGeom>
                <a:noFill/>
              </p:spPr>
              <p:txBody>
                <a:bodyPr wrap="none" lIns="0" tIns="0" rIns="0" bIns="0" rtlCol="0">
                  <a:spAutoFit/>
                </a:bodyPr>
                <a:lstStyle/>
                <a:p>
                  <a:r>
                    <a:rPr lang="en-US" sz="1000" b="1" dirty="0">
                      <a:solidFill>
                        <a:schemeClr val="bg1"/>
                      </a:solidFill>
                    </a:rPr>
                    <a:t>ACB</a:t>
                  </a:r>
                  <a:endParaRPr lang="en-MY" sz="1000" b="1" dirty="0">
                    <a:solidFill>
                      <a:schemeClr val="bg1"/>
                    </a:solidFill>
                  </a:endParaRPr>
                </a:p>
              </p:txBody>
            </p:sp>
            <p:sp>
              <p:nvSpPr>
                <p:cNvPr id="37" name="Rectangle 36">
                  <a:extLst>
                    <a:ext uri="{FF2B5EF4-FFF2-40B4-BE49-F238E27FC236}">
                      <a16:creationId xmlns:a16="http://schemas.microsoft.com/office/drawing/2014/main" id="{BCA837AD-899A-5958-B052-6F5F22BFD26E}"/>
                    </a:ext>
                  </a:extLst>
                </p:cNvPr>
                <p:cNvSpPr/>
                <p:nvPr/>
              </p:nvSpPr>
              <p:spPr>
                <a:xfrm>
                  <a:off x="4648200" y="3200721"/>
                  <a:ext cx="1371601" cy="15388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sz="1000" b="1" dirty="0">
                    <a:solidFill>
                      <a:schemeClr val="tx1"/>
                    </a:solidFill>
                  </a:endParaRPr>
                </a:p>
              </p:txBody>
            </p:sp>
            <p:sp>
              <p:nvSpPr>
                <p:cNvPr id="38" name="TextBox 37">
                  <a:extLst>
                    <a:ext uri="{FF2B5EF4-FFF2-40B4-BE49-F238E27FC236}">
                      <a16:creationId xmlns:a16="http://schemas.microsoft.com/office/drawing/2014/main" id="{56FC7F3B-97D8-6988-F3A9-0A61B5E850C7}"/>
                    </a:ext>
                  </a:extLst>
                </p:cNvPr>
                <p:cNvSpPr txBox="1"/>
                <p:nvPr/>
              </p:nvSpPr>
              <p:spPr>
                <a:xfrm>
                  <a:off x="4648964" y="3200817"/>
                  <a:ext cx="445006" cy="153888"/>
                </a:xfrm>
                <a:prstGeom prst="rect">
                  <a:avLst/>
                </a:prstGeom>
                <a:solidFill>
                  <a:schemeClr val="bg2">
                    <a:lumMod val="25000"/>
                  </a:schemeClr>
                </a:solidFill>
              </p:spPr>
              <p:txBody>
                <a:bodyPr wrap="square" lIns="0" tIns="0" rIns="0" bIns="0" rtlCol="0">
                  <a:spAutoFit/>
                </a:bodyPr>
                <a:lstStyle/>
                <a:p>
                  <a:pPr algn="ctr"/>
                  <a:r>
                    <a:rPr lang="en-US" sz="1000" b="1" dirty="0">
                      <a:solidFill>
                        <a:schemeClr val="bg1"/>
                      </a:solidFill>
                    </a:rPr>
                    <a:t>Length</a:t>
                  </a:r>
                  <a:endParaRPr lang="en-MY" sz="1000" b="1" dirty="0">
                    <a:solidFill>
                      <a:schemeClr val="bg1"/>
                    </a:solidFill>
                  </a:endParaRPr>
                </a:p>
              </p:txBody>
            </p:sp>
            <p:sp>
              <p:nvSpPr>
                <p:cNvPr id="39" name="TextBox 38">
                  <a:extLst>
                    <a:ext uri="{FF2B5EF4-FFF2-40B4-BE49-F238E27FC236}">
                      <a16:creationId xmlns:a16="http://schemas.microsoft.com/office/drawing/2014/main" id="{0F0C2A28-3B4C-E1B0-037B-3C9916DB1C53}"/>
                    </a:ext>
                  </a:extLst>
                </p:cNvPr>
                <p:cNvSpPr txBox="1"/>
                <p:nvPr/>
              </p:nvSpPr>
              <p:spPr>
                <a:xfrm>
                  <a:off x="5113024" y="3200817"/>
                  <a:ext cx="216406" cy="153888"/>
                </a:xfrm>
                <a:prstGeom prst="rect">
                  <a:avLst/>
                </a:prstGeom>
                <a:solidFill>
                  <a:schemeClr val="bg2">
                    <a:lumMod val="25000"/>
                  </a:schemeClr>
                </a:solidFill>
              </p:spPr>
              <p:txBody>
                <a:bodyPr wrap="square" lIns="0" tIns="0" rIns="0" bIns="0" rtlCol="0">
                  <a:spAutoFit/>
                </a:bodyPr>
                <a:lstStyle/>
                <a:p>
                  <a:pPr algn="ctr"/>
                  <a:r>
                    <a:rPr lang="en-US" sz="1000" b="1" dirty="0">
                      <a:solidFill>
                        <a:schemeClr val="bg1"/>
                      </a:solidFill>
                    </a:rPr>
                    <a:t>MD</a:t>
                  </a:r>
                  <a:endParaRPr lang="en-MY" sz="1000" b="1" dirty="0">
                    <a:solidFill>
                      <a:schemeClr val="bg1"/>
                    </a:solidFill>
                  </a:endParaRPr>
                </a:p>
              </p:txBody>
            </p:sp>
            <p:sp>
              <p:nvSpPr>
                <p:cNvPr id="40" name="TextBox 39">
                  <a:extLst>
                    <a:ext uri="{FF2B5EF4-FFF2-40B4-BE49-F238E27FC236}">
                      <a16:creationId xmlns:a16="http://schemas.microsoft.com/office/drawing/2014/main" id="{72F754A3-43D0-7A2B-8399-6345EAE686E0}"/>
                    </a:ext>
                  </a:extLst>
                </p:cNvPr>
                <p:cNvSpPr txBox="1"/>
                <p:nvPr/>
              </p:nvSpPr>
              <p:spPr>
                <a:xfrm>
                  <a:off x="5712637" y="3200817"/>
                  <a:ext cx="306701" cy="153888"/>
                </a:xfrm>
                <a:prstGeom prst="rect">
                  <a:avLst/>
                </a:prstGeom>
                <a:solidFill>
                  <a:schemeClr val="bg2">
                    <a:lumMod val="25000"/>
                  </a:schemeClr>
                </a:solidFill>
              </p:spPr>
              <p:txBody>
                <a:bodyPr wrap="square" lIns="0" tIns="0" rIns="0" bIns="0" rtlCol="0">
                  <a:spAutoFit/>
                </a:bodyPr>
                <a:lstStyle/>
                <a:p>
                  <a:pPr algn="ctr"/>
                  <a:r>
                    <a:rPr lang="en-US" sz="1000" b="1" dirty="0">
                      <a:solidFill>
                        <a:schemeClr val="bg1"/>
                      </a:solidFill>
                    </a:rPr>
                    <a:t>RPM</a:t>
                  </a:r>
                  <a:endParaRPr lang="en-MY" sz="1000" b="1" dirty="0">
                    <a:solidFill>
                      <a:schemeClr val="bg1"/>
                    </a:solidFill>
                  </a:endParaRPr>
                </a:p>
              </p:txBody>
            </p:sp>
            <p:sp>
              <p:nvSpPr>
                <p:cNvPr id="41" name="TextBox 40">
                  <a:extLst>
                    <a:ext uri="{FF2B5EF4-FFF2-40B4-BE49-F238E27FC236}">
                      <a16:creationId xmlns:a16="http://schemas.microsoft.com/office/drawing/2014/main" id="{CC558D00-1C5B-1547-ACAF-029E09F97A22}"/>
                    </a:ext>
                  </a:extLst>
                </p:cNvPr>
                <p:cNvSpPr txBox="1"/>
                <p:nvPr/>
              </p:nvSpPr>
              <p:spPr>
                <a:xfrm>
                  <a:off x="5348098" y="3200817"/>
                  <a:ext cx="343284" cy="153888"/>
                </a:xfrm>
                <a:prstGeom prst="rect">
                  <a:avLst/>
                </a:prstGeom>
                <a:solidFill>
                  <a:schemeClr val="bg2">
                    <a:lumMod val="25000"/>
                  </a:schemeClr>
                </a:solidFill>
              </p:spPr>
              <p:txBody>
                <a:bodyPr wrap="square" lIns="0" tIns="0" rIns="0" bIns="0" rtlCol="0">
                  <a:spAutoFit/>
                </a:bodyPr>
                <a:lstStyle/>
                <a:p>
                  <a:pPr algn="ctr"/>
                  <a:r>
                    <a:rPr lang="en-MY" sz="1000" b="1" dirty="0">
                      <a:solidFill>
                        <a:schemeClr val="bg1"/>
                      </a:solidFill>
                    </a:rPr>
                    <a:t>S-Info</a:t>
                  </a:r>
                </a:p>
              </p:txBody>
            </p:sp>
            <p:sp>
              <p:nvSpPr>
                <p:cNvPr id="42" name="Rectangle 41">
                  <a:extLst>
                    <a:ext uri="{FF2B5EF4-FFF2-40B4-BE49-F238E27FC236}">
                      <a16:creationId xmlns:a16="http://schemas.microsoft.com/office/drawing/2014/main" id="{1BAFE586-F9FE-8690-2F60-5F4E08C1FD9B}"/>
                    </a:ext>
                  </a:extLst>
                </p:cNvPr>
                <p:cNvSpPr/>
                <p:nvPr/>
              </p:nvSpPr>
              <p:spPr>
                <a:xfrm>
                  <a:off x="4649344" y="3377909"/>
                  <a:ext cx="1371601" cy="153888"/>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900" b="1" dirty="0">
                      <a:solidFill>
                        <a:schemeClr val="tx1"/>
                      </a:solidFill>
                    </a:rPr>
                    <a:t>RPV</a:t>
                  </a:r>
                  <a:endParaRPr lang="en-MY" sz="1000" b="1" dirty="0">
                    <a:solidFill>
                      <a:schemeClr val="tx1"/>
                    </a:solidFill>
                  </a:endParaRPr>
                </a:p>
              </p:txBody>
            </p:sp>
            <p:sp>
              <p:nvSpPr>
                <p:cNvPr id="43" name="Rectangle 42">
                  <a:extLst>
                    <a:ext uri="{FF2B5EF4-FFF2-40B4-BE49-F238E27FC236}">
                      <a16:creationId xmlns:a16="http://schemas.microsoft.com/office/drawing/2014/main" id="{6572BBA9-2CAD-AB34-A9A2-1541C6DFA871}"/>
                    </a:ext>
                  </a:extLst>
                </p:cNvPr>
                <p:cNvSpPr/>
                <p:nvPr/>
              </p:nvSpPr>
              <p:spPr>
                <a:xfrm>
                  <a:off x="5091039" y="3545317"/>
                  <a:ext cx="929403" cy="153888"/>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rPr>
                    <a:t>Secret Key-ID</a:t>
                  </a:r>
                  <a:endParaRPr lang="en-MY" sz="800" b="1" dirty="0">
                    <a:solidFill>
                      <a:schemeClr val="tx1"/>
                    </a:solidFill>
                  </a:endParaRPr>
                </a:p>
              </p:txBody>
            </p:sp>
            <p:sp>
              <p:nvSpPr>
                <p:cNvPr id="44" name="Rectangle 43">
                  <a:extLst>
                    <a:ext uri="{FF2B5EF4-FFF2-40B4-BE49-F238E27FC236}">
                      <a16:creationId xmlns:a16="http://schemas.microsoft.com/office/drawing/2014/main" id="{5962DC32-F1F4-7630-D253-6C7CF2269BFB}"/>
                    </a:ext>
                  </a:extLst>
                </p:cNvPr>
                <p:cNvSpPr/>
                <p:nvPr/>
              </p:nvSpPr>
              <p:spPr>
                <a:xfrm>
                  <a:off x="4649344" y="3714062"/>
                  <a:ext cx="1371601" cy="305488"/>
                </a:xfrm>
                <a:prstGeom prst="rect">
                  <a:avLst/>
                </a:prstGeom>
                <a:pattFill prst="pct10">
                  <a:fgClr>
                    <a:schemeClr val="accent2">
                      <a:lumMod val="75000"/>
                    </a:schemeClr>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tx1"/>
                      </a:solidFill>
                    </a:rPr>
                    <a:t>ACB Payload</a:t>
                  </a:r>
                </a:p>
              </p:txBody>
            </p:sp>
          </p:grpSp>
          <p:sp>
            <p:nvSpPr>
              <p:cNvPr id="28" name="Rectangle 27">
                <a:extLst>
                  <a:ext uri="{FF2B5EF4-FFF2-40B4-BE49-F238E27FC236}">
                    <a16:creationId xmlns:a16="http://schemas.microsoft.com/office/drawing/2014/main" id="{552F877E-6BA5-0B76-92AC-C02406BF3AE7}"/>
                  </a:ext>
                </a:extLst>
              </p:cNvPr>
              <p:cNvSpPr/>
              <p:nvPr/>
            </p:nvSpPr>
            <p:spPr>
              <a:xfrm>
                <a:off x="937447" y="2224412"/>
                <a:ext cx="881711" cy="27432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t>HMAC</a:t>
                </a:r>
                <a:endParaRPr lang="en-MY" sz="1000" b="1" dirty="0"/>
              </a:p>
            </p:txBody>
          </p:sp>
          <p:sp>
            <p:nvSpPr>
              <p:cNvPr id="29" name="Rectangle 28">
                <a:extLst>
                  <a:ext uri="{FF2B5EF4-FFF2-40B4-BE49-F238E27FC236}">
                    <a16:creationId xmlns:a16="http://schemas.microsoft.com/office/drawing/2014/main" id="{B6790F19-BAF7-D048-774D-FDB4C21D6A3A}"/>
                  </a:ext>
                </a:extLst>
              </p:cNvPr>
              <p:cNvSpPr/>
              <p:nvPr/>
            </p:nvSpPr>
            <p:spPr>
              <a:xfrm>
                <a:off x="937447" y="2586071"/>
                <a:ext cx="881710" cy="27432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t>Key-Lookup</a:t>
                </a:r>
                <a:endParaRPr lang="en-MY" sz="1000" b="1" dirty="0"/>
              </a:p>
            </p:txBody>
          </p:sp>
          <p:sp>
            <p:nvSpPr>
              <p:cNvPr id="30" name="Arrow: Right 29">
                <a:extLst>
                  <a:ext uri="{FF2B5EF4-FFF2-40B4-BE49-F238E27FC236}">
                    <a16:creationId xmlns:a16="http://schemas.microsoft.com/office/drawing/2014/main" id="{B2DD3399-D6CC-A81F-4BBA-42666C15E2CB}"/>
                  </a:ext>
                </a:extLst>
              </p:cNvPr>
              <p:cNvSpPr/>
              <p:nvPr/>
            </p:nvSpPr>
            <p:spPr>
              <a:xfrm>
                <a:off x="1819158" y="2286782"/>
                <a:ext cx="144824" cy="171493"/>
              </a:xfrm>
              <a:prstGeom prst="rightArrow">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1" name="Arrow: Right 30">
                <a:extLst>
                  <a:ext uri="{FF2B5EF4-FFF2-40B4-BE49-F238E27FC236}">
                    <a16:creationId xmlns:a16="http://schemas.microsoft.com/office/drawing/2014/main" id="{859EE793-F1E7-144D-D83E-5638A4669C0A}"/>
                  </a:ext>
                </a:extLst>
              </p:cNvPr>
              <p:cNvSpPr/>
              <p:nvPr/>
            </p:nvSpPr>
            <p:spPr>
              <a:xfrm>
                <a:off x="1817370" y="2628857"/>
                <a:ext cx="144824" cy="171493"/>
              </a:xfrm>
              <a:prstGeom prst="rightArrow">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2" name="Rectangle 31">
                <a:extLst>
                  <a:ext uri="{FF2B5EF4-FFF2-40B4-BE49-F238E27FC236}">
                    <a16:creationId xmlns:a16="http://schemas.microsoft.com/office/drawing/2014/main" id="{7343110B-D69F-856E-33FE-F8FD3981D2AE}"/>
                  </a:ext>
                </a:extLst>
              </p:cNvPr>
              <p:cNvSpPr/>
              <p:nvPr/>
            </p:nvSpPr>
            <p:spPr>
              <a:xfrm>
                <a:off x="937447" y="2931913"/>
                <a:ext cx="881709" cy="27432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t>TS-Lookup</a:t>
                </a:r>
                <a:endParaRPr lang="en-MY" sz="1000" b="1" dirty="0"/>
              </a:p>
            </p:txBody>
          </p:sp>
          <p:sp>
            <p:nvSpPr>
              <p:cNvPr id="33" name="Arrow: Right 32">
                <a:extLst>
                  <a:ext uri="{FF2B5EF4-FFF2-40B4-BE49-F238E27FC236}">
                    <a16:creationId xmlns:a16="http://schemas.microsoft.com/office/drawing/2014/main" id="{40AC3FFE-6ACB-8F8C-9736-CE56791DDBAA}"/>
                  </a:ext>
                </a:extLst>
              </p:cNvPr>
              <p:cNvSpPr/>
              <p:nvPr/>
            </p:nvSpPr>
            <p:spPr>
              <a:xfrm>
                <a:off x="1818238" y="2986288"/>
                <a:ext cx="144824" cy="171493"/>
              </a:xfrm>
              <a:prstGeom prst="rightArrow">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4" name="Rectangle 33">
                <a:extLst>
                  <a:ext uri="{FF2B5EF4-FFF2-40B4-BE49-F238E27FC236}">
                    <a16:creationId xmlns:a16="http://schemas.microsoft.com/office/drawing/2014/main" id="{8DE17421-8750-6982-A78A-1829043D217A}"/>
                  </a:ext>
                </a:extLst>
              </p:cNvPr>
              <p:cNvSpPr/>
              <p:nvPr/>
            </p:nvSpPr>
            <p:spPr>
              <a:xfrm>
                <a:off x="937447" y="3379007"/>
                <a:ext cx="3252631" cy="337216"/>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t>Message Integrity Check</a:t>
                </a:r>
                <a:endParaRPr lang="en-MY" sz="1000" b="1" dirty="0"/>
              </a:p>
            </p:txBody>
          </p:sp>
        </p:grpSp>
        <p:sp>
          <p:nvSpPr>
            <p:cNvPr id="45" name="TextBox 44">
              <a:extLst>
                <a:ext uri="{FF2B5EF4-FFF2-40B4-BE49-F238E27FC236}">
                  <a16:creationId xmlns:a16="http://schemas.microsoft.com/office/drawing/2014/main" id="{91F75037-33CB-CE4B-1A60-35B2494BDE5F}"/>
                </a:ext>
              </a:extLst>
            </p:cNvPr>
            <p:cNvSpPr txBox="1"/>
            <p:nvPr/>
          </p:nvSpPr>
          <p:spPr>
            <a:xfrm>
              <a:off x="8584419" y="3089033"/>
              <a:ext cx="2998422" cy="153888"/>
            </a:xfrm>
            <a:prstGeom prst="rect">
              <a:avLst/>
            </a:prstGeom>
            <a:noFill/>
          </p:spPr>
          <p:txBody>
            <a:bodyPr wrap="square" lIns="0" tIns="0" rIns="0" bIns="0" rtlCol="0">
              <a:spAutoFit/>
            </a:bodyPr>
            <a:lstStyle/>
            <a:p>
              <a:pPr algn="r"/>
              <a:r>
                <a:rPr lang="en-US" sz="1000" b="1" dirty="0"/>
                <a:t>Achieving Authentication &amp; Message Integrity</a:t>
              </a:r>
              <a:endParaRPr lang="en-MY" sz="1000" b="1" dirty="0"/>
            </a:p>
          </p:txBody>
        </p:sp>
        <p:sp>
          <p:nvSpPr>
            <p:cNvPr id="46" name="Rectangle 45">
              <a:extLst>
                <a:ext uri="{FF2B5EF4-FFF2-40B4-BE49-F238E27FC236}">
                  <a16:creationId xmlns:a16="http://schemas.microsoft.com/office/drawing/2014/main" id="{1ABDBC56-D686-726A-FA98-9CA1C2BB54F2}"/>
                </a:ext>
              </a:extLst>
            </p:cNvPr>
            <p:cNvSpPr/>
            <p:nvPr/>
          </p:nvSpPr>
          <p:spPr>
            <a:xfrm rot="10800000">
              <a:off x="7911481" y="3048000"/>
              <a:ext cx="372944" cy="17526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en-US" sz="1400" b="1" dirty="0"/>
                <a:t>Stage Two</a:t>
              </a:r>
              <a:endParaRPr lang="en-MY" sz="1400" b="1" dirty="0"/>
            </a:p>
          </p:txBody>
        </p:sp>
        <p:sp>
          <p:nvSpPr>
            <p:cNvPr id="47" name="TextBox 46">
              <a:extLst>
                <a:ext uri="{FF2B5EF4-FFF2-40B4-BE49-F238E27FC236}">
                  <a16:creationId xmlns:a16="http://schemas.microsoft.com/office/drawing/2014/main" id="{584C0C98-F3AD-D2FE-83FC-A00B7CCAD4DE}"/>
                </a:ext>
              </a:extLst>
            </p:cNvPr>
            <p:cNvSpPr txBox="1"/>
            <p:nvPr/>
          </p:nvSpPr>
          <p:spPr>
            <a:xfrm>
              <a:off x="10218469" y="3773851"/>
              <a:ext cx="425439" cy="153888"/>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a:defRPr sz="1000" b="1"/>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en-US" sz="700" dirty="0">
                  <a:solidFill>
                    <a:schemeClr val="tx1"/>
                  </a:solidFill>
                </a:rPr>
                <a:t>Algo</a:t>
              </a:r>
              <a:endParaRPr lang="en-MY" dirty="0">
                <a:solidFill>
                  <a:schemeClr val="tx1"/>
                </a:solidFill>
              </a:endParaRPr>
            </a:p>
          </p:txBody>
        </p:sp>
      </p:grpSp>
      <p:grpSp>
        <p:nvGrpSpPr>
          <p:cNvPr id="59" name="Group 58">
            <a:extLst>
              <a:ext uri="{FF2B5EF4-FFF2-40B4-BE49-F238E27FC236}">
                <a16:creationId xmlns:a16="http://schemas.microsoft.com/office/drawing/2014/main" id="{CF75A1AE-FFAD-D3E6-9CE7-2EB6CCF797BD}"/>
              </a:ext>
            </a:extLst>
          </p:cNvPr>
          <p:cNvGrpSpPr/>
          <p:nvPr/>
        </p:nvGrpSpPr>
        <p:grpSpPr>
          <a:xfrm>
            <a:off x="7512878" y="4876800"/>
            <a:ext cx="3750642" cy="1424945"/>
            <a:chOff x="7907958" y="4876800"/>
            <a:chExt cx="3750642" cy="1424945"/>
          </a:xfrm>
        </p:grpSpPr>
        <p:sp>
          <p:nvSpPr>
            <p:cNvPr id="48" name="Rectangle 47">
              <a:extLst>
                <a:ext uri="{FF2B5EF4-FFF2-40B4-BE49-F238E27FC236}">
                  <a16:creationId xmlns:a16="http://schemas.microsoft.com/office/drawing/2014/main" id="{0B8EBA27-CF3E-BB9B-CD2D-57C05E551294}"/>
                </a:ext>
              </a:extLst>
            </p:cNvPr>
            <p:cNvSpPr/>
            <p:nvPr/>
          </p:nvSpPr>
          <p:spPr>
            <a:xfrm>
              <a:off x="8281485" y="4876807"/>
              <a:ext cx="3377115" cy="142493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sp>
          <p:nvSpPr>
            <p:cNvPr id="49" name="Rectangle 48">
              <a:extLst>
                <a:ext uri="{FF2B5EF4-FFF2-40B4-BE49-F238E27FC236}">
                  <a16:creationId xmlns:a16="http://schemas.microsoft.com/office/drawing/2014/main" id="{C1BB495F-48A9-CADF-0785-95D08ED06911}"/>
                </a:ext>
              </a:extLst>
            </p:cNvPr>
            <p:cNvSpPr/>
            <p:nvPr/>
          </p:nvSpPr>
          <p:spPr>
            <a:xfrm>
              <a:off x="8331767" y="5126739"/>
              <a:ext cx="3252632" cy="337216"/>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t>Rule-based Mechanism</a:t>
              </a:r>
              <a:endParaRPr lang="en-MY" sz="1000" b="1" dirty="0"/>
            </a:p>
          </p:txBody>
        </p:sp>
        <p:sp>
          <p:nvSpPr>
            <p:cNvPr id="50" name="TextBox 49">
              <a:extLst>
                <a:ext uri="{FF2B5EF4-FFF2-40B4-BE49-F238E27FC236}">
                  <a16:creationId xmlns:a16="http://schemas.microsoft.com/office/drawing/2014/main" id="{224945EE-D99B-5B44-59E0-67D6A278272E}"/>
                </a:ext>
              </a:extLst>
            </p:cNvPr>
            <p:cNvSpPr txBox="1"/>
            <p:nvPr/>
          </p:nvSpPr>
          <p:spPr>
            <a:xfrm>
              <a:off x="9584049" y="4916897"/>
              <a:ext cx="2002361" cy="153864"/>
            </a:xfrm>
            <a:prstGeom prst="rect">
              <a:avLst/>
            </a:prstGeom>
            <a:noFill/>
          </p:spPr>
          <p:txBody>
            <a:bodyPr wrap="square" lIns="0" tIns="0" rIns="0" bIns="0" rtlCol="0">
              <a:spAutoFit/>
            </a:bodyPr>
            <a:lstStyle/>
            <a:p>
              <a:pPr algn="r"/>
              <a:r>
                <a:rPr lang="en-US" sz="1000" b="1" dirty="0"/>
                <a:t>Attack Prevention</a:t>
              </a:r>
              <a:endParaRPr lang="en-MY" sz="1000" b="1" dirty="0"/>
            </a:p>
          </p:txBody>
        </p:sp>
        <p:sp>
          <p:nvSpPr>
            <p:cNvPr id="51" name="Rectangle 50">
              <a:extLst>
                <a:ext uri="{FF2B5EF4-FFF2-40B4-BE49-F238E27FC236}">
                  <a16:creationId xmlns:a16="http://schemas.microsoft.com/office/drawing/2014/main" id="{85CD9009-8DA9-F309-CA68-6211D5FC339F}"/>
                </a:ext>
              </a:extLst>
            </p:cNvPr>
            <p:cNvSpPr/>
            <p:nvPr/>
          </p:nvSpPr>
          <p:spPr>
            <a:xfrm rot="10800000">
              <a:off x="7907958" y="4876800"/>
              <a:ext cx="372944" cy="142493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en-US" sz="1400" b="1" dirty="0"/>
                <a:t>Stage Three</a:t>
              </a:r>
              <a:endParaRPr lang="en-MY" sz="1400" b="1" dirty="0"/>
            </a:p>
          </p:txBody>
        </p:sp>
        <p:sp>
          <p:nvSpPr>
            <p:cNvPr id="52" name="Rectangle 51">
              <a:extLst>
                <a:ext uri="{FF2B5EF4-FFF2-40B4-BE49-F238E27FC236}">
                  <a16:creationId xmlns:a16="http://schemas.microsoft.com/office/drawing/2014/main" id="{1BF78CD5-E8F4-7BBE-EBF4-46D76CF0F68B}"/>
                </a:ext>
              </a:extLst>
            </p:cNvPr>
            <p:cNvSpPr/>
            <p:nvPr/>
          </p:nvSpPr>
          <p:spPr>
            <a:xfrm>
              <a:off x="8331768" y="5519836"/>
              <a:ext cx="1582653" cy="337216"/>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t>Legitimate Messages</a:t>
              </a:r>
              <a:endParaRPr lang="en-MY" sz="1000" b="1" dirty="0"/>
            </a:p>
          </p:txBody>
        </p:sp>
        <p:sp>
          <p:nvSpPr>
            <p:cNvPr id="53" name="Rectangle 52">
              <a:extLst>
                <a:ext uri="{FF2B5EF4-FFF2-40B4-BE49-F238E27FC236}">
                  <a16:creationId xmlns:a16="http://schemas.microsoft.com/office/drawing/2014/main" id="{46117517-EE03-F4E8-615D-34D47190EF03}"/>
                </a:ext>
              </a:extLst>
            </p:cNvPr>
            <p:cNvSpPr/>
            <p:nvPr/>
          </p:nvSpPr>
          <p:spPr>
            <a:xfrm>
              <a:off x="10004611" y="5519836"/>
              <a:ext cx="1582653" cy="337216"/>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t>Illegitimate Messages</a:t>
              </a:r>
              <a:endParaRPr lang="en-MY" sz="1000" b="1" dirty="0"/>
            </a:p>
          </p:txBody>
        </p:sp>
        <p:sp>
          <p:nvSpPr>
            <p:cNvPr id="54" name="Rectangle 53">
              <a:extLst>
                <a:ext uri="{FF2B5EF4-FFF2-40B4-BE49-F238E27FC236}">
                  <a16:creationId xmlns:a16="http://schemas.microsoft.com/office/drawing/2014/main" id="{3D9CCC18-DCA0-8F3C-59A1-14BB13300288}"/>
                </a:ext>
              </a:extLst>
            </p:cNvPr>
            <p:cNvSpPr/>
            <p:nvPr/>
          </p:nvSpPr>
          <p:spPr>
            <a:xfrm>
              <a:off x="8332837" y="5918809"/>
              <a:ext cx="1004866" cy="337216"/>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t>DoS Attack</a:t>
              </a:r>
              <a:endParaRPr lang="en-MY" sz="1000" b="1" dirty="0"/>
            </a:p>
          </p:txBody>
        </p:sp>
        <p:sp>
          <p:nvSpPr>
            <p:cNvPr id="55" name="Rectangle 54">
              <a:extLst>
                <a:ext uri="{FF2B5EF4-FFF2-40B4-BE49-F238E27FC236}">
                  <a16:creationId xmlns:a16="http://schemas.microsoft.com/office/drawing/2014/main" id="{D434CE01-2156-ACF7-85C1-0725EE4AD23B}"/>
                </a:ext>
              </a:extLst>
            </p:cNvPr>
            <p:cNvSpPr/>
            <p:nvPr/>
          </p:nvSpPr>
          <p:spPr>
            <a:xfrm>
              <a:off x="9452140" y="5918809"/>
              <a:ext cx="1004866" cy="337216"/>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t>FDIA Attack</a:t>
              </a:r>
              <a:endParaRPr lang="en-MY" sz="1000" b="1" dirty="0"/>
            </a:p>
          </p:txBody>
        </p:sp>
        <p:sp>
          <p:nvSpPr>
            <p:cNvPr id="56" name="Rectangle 55">
              <a:extLst>
                <a:ext uri="{FF2B5EF4-FFF2-40B4-BE49-F238E27FC236}">
                  <a16:creationId xmlns:a16="http://schemas.microsoft.com/office/drawing/2014/main" id="{E517A5BE-F209-43BA-4ADA-05788B7BC79C}"/>
                </a:ext>
              </a:extLst>
            </p:cNvPr>
            <p:cNvSpPr/>
            <p:nvPr/>
          </p:nvSpPr>
          <p:spPr>
            <a:xfrm>
              <a:off x="10587520" y="5918809"/>
              <a:ext cx="1004866" cy="337216"/>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t>Replay Attack</a:t>
              </a:r>
              <a:endParaRPr lang="en-MY" sz="1000" b="1" dirty="0"/>
            </a:p>
          </p:txBody>
        </p:sp>
      </p:grpSp>
      <p:grpSp>
        <p:nvGrpSpPr>
          <p:cNvPr id="1027" name="Group 1026">
            <a:extLst>
              <a:ext uri="{FF2B5EF4-FFF2-40B4-BE49-F238E27FC236}">
                <a16:creationId xmlns:a16="http://schemas.microsoft.com/office/drawing/2014/main" id="{9A6ED7E8-2088-2242-8E46-C6082FF22E8B}"/>
              </a:ext>
            </a:extLst>
          </p:cNvPr>
          <p:cNvGrpSpPr/>
          <p:nvPr/>
        </p:nvGrpSpPr>
        <p:grpSpPr>
          <a:xfrm>
            <a:off x="11277600" y="1768384"/>
            <a:ext cx="381000" cy="839607"/>
            <a:chOff x="11672680" y="1768384"/>
            <a:chExt cx="381000" cy="839607"/>
          </a:xfrm>
        </p:grpSpPr>
        <p:sp>
          <p:nvSpPr>
            <p:cNvPr id="60" name="Rectangle 59">
              <a:extLst>
                <a:ext uri="{FF2B5EF4-FFF2-40B4-BE49-F238E27FC236}">
                  <a16:creationId xmlns:a16="http://schemas.microsoft.com/office/drawing/2014/main" id="{F9D2CE42-8BB9-6221-BE17-6B6324C6C38C}"/>
                </a:ext>
              </a:extLst>
            </p:cNvPr>
            <p:cNvSpPr/>
            <p:nvPr/>
          </p:nvSpPr>
          <p:spPr>
            <a:xfrm rot="10800000">
              <a:off x="11833776" y="1768384"/>
              <a:ext cx="219904" cy="839607"/>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en-US" sz="1100" b="1" dirty="0"/>
                <a:t>Objective-II</a:t>
              </a:r>
              <a:endParaRPr lang="en-MY" sz="1100" b="1" dirty="0"/>
            </a:p>
          </p:txBody>
        </p:sp>
        <p:sp>
          <p:nvSpPr>
            <p:cNvPr id="61" name="Arrow: Right 60">
              <a:extLst>
                <a:ext uri="{FF2B5EF4-FFF2-40B4-BE49-F238E27FC236}">
                  <a16:creationId xmlns:a16="http://schemas.microsoft.com/office/drawing/2014/main" id="{62ADFB49-9738-98D6-ED82-9AAAA55AD49F}"/>
                </a:ext>
              </a:extLst>
            </p:cNvPr>
            <p:cNvSpPr/>
            <p:nvPr/>
          </p:nvSpPr>
          <p:spPr>
            <a:xfrm>
              <a:off x="11672680" y="2098579"/>
              <a:ext cx="148368" cy="186518"/>
            </a:xfrm>
            <a:prstGeom prst="rightArrow">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grpSp>
      <p:sp>
        <p:nvSpPr>
          <p:cNvPr id="62" name="Rectangle 61">
            <a:extLst>
              <a:ext uri="{FF2B5EF4-FFF2-40B4-BE49-F238E27FC236}">
                <a16:creationId xmlns:a16="http://schemas.microsoft.com/office/drawing/2014/main" id="{438DE240-0BB9-E1D4-F994-6BC9B5B6D333}"/>
              </a:ext>
            </a:extLst>
          </p:cNvPr>
          <p:cNvSpPr/>
          <p:nvPr/>
        </p:nvSpPr>
        <p:spPr>
          <a:xfrm rot="10800000">
            <a:off x="11424616" y="3418033"/>
            <a:ext cx="219904" cy="839607"/>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en-US" sz="1100" b="1" dirty="0"/>
              <a:t>Objective-I</a:t>
            </a:r>
            <a:endParaRPr lang="en-MY" sz="1100" b="1" dirty="0"/>
          </a:p>
        </p:txBody>
      </p:sp>
      <p:sp>
        <p:nvSpPr>
          <p:cNvPr id="63" name="Arrow: Right 62">
            <a:extLst>
              <a:ext uri="{FF2B5EF4-FFF2-40B4-BE49-F238E27FC236}">
                <a16:creationId xmlns:a16="http://schemas.microsoft.com/office/drawing/2014/main" id="{342FAD61-4C4C-4575-72CC-B62D486CCD34}"/>
              </a:ext>
            </a:extLst>
          </p:cNvPr>
          <p:cNvSpPr/>
          <p:nvPr/>
        </p:nvSpPr>
        <p:spPr>
          <a:xfrm>
            <a:off x="11263520" y="3748228"/>
            <a:ext cx="148368" cy="186518"/>
          </a:xfrm>
          <a:prstGeom prst="rightArrow">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024" name="Rectangle 1023">
            <a:extLst>
              <a:ext uri="{FF2B5EF4-FFF2-40B4-BE49-F238E27FC236}">
                <a16:creationId xmlns:a16="http://schemas.microsoft.com/office/drawing/2014/main" id="{A801F1CD-F0A0-B6C5-7257-9117900E907A}"/>
              </a:ext>
            </a:extLst>
          </p:cNvPr>
          <p:cNvSpPr/>
          <p:nvPr/>
        </p:nvSpPr>
        <p:spPr>
          <a:xfrm rot="10800000">
            <a:off x="11411888" y="5187168"/>
            <a:ext cx="219904" cy="839607"/>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en-US" sz="1100" b="1" dirty="0"/>
              <a:t>Objective-III</a:t>
            </a:r>
            <a:endParaRPr lang="en-MY" sz="1100" b="1" dirty="0"/>
          </a:p>
        </p:txBody>
      </p:sp>
      <p:sp>
        <p:nvSpPr>
          <p:cNvPr id="1025" name="Arrow: Right 1024">
            <a:extLst>
              <a:ext uri="{FF2B5EF4-FFF2-40B4-BE49-F238E27FC236}">
                <a16:creationId xmlns:a16="http://schemas.microsoft.com/office/drawing/2014/main" id="{F6C4BAAC-BF2D-221A-7EB2-34BDB3D57224}"/>
              </a:ext>
            </a:extLst>
          </p:cNvPr>
          <p:cNvSpPr/>
          <p:nvPr/>
        </p:nvSpPr>
        <p:spPr>
          <a:xfrm>
            <a:off x="11250792" y="5517363"/>
            <a:ext cx="148368" cy="186518"/>
          </a:xfrm>
          <a:prstGeom prst="rightArrow">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031" name="Rectangle 1030">
            <a:extLst>
              <a:ext uri="{FF2B5EF4-FFF2-40B4-BE49-F238E27FC236}">
                <a16:creationId xmlns:a16="http://schemas.microsoft.com/office/drawing/2014/main" id="{22B40F08-4B4C-74C1-C8A7-82EE8FC3E0F4}"/>
              </a:ext>
            </a:extLst>
          </p:cNvPr>
          <p:cNvSpPr/>
          <p:nvPr/>
        </p:nvSpPr>
        <p:spPr>
          <a:xfrm>
            <a:off x="10291968" y="2529810"/>
            <a:ext cx="896961" cy="337216"/>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solidFill>
                  <a:schemeClr val="tx1"/>
                </a:solidFill>
              </a:rPr>
              <a:t>ACB</a:t>
            </a:r>
            <a:endParaRPr lang="en-MY" sz="1000" b="1" dirty="0">
              <a:solidFill>
                <a:schemeClr val="tx1"/>
              </a:solidFill>
            </a:endParaRPr>
          </a:p>
        </p:txBody>
      </p:sp>
      <p:sp>
        <p:nvSpPr>
          <p:cNvPr id="1033" name="TextBox 1032">
            <a:extLst>
              <a:ext uri="{FF2B5EF4-FFF2-40B4-BE49-F238E27FC236}">
                <a16:creationId xmlns:a16="http://schemas.microsoft.com/office/drawing/2014/main" id="{BFE72BD6-751F-9F84-CC35-3151F180092C}"/>
              </a:ext>
            </a:extLst>
          </p:cNvPr>
          <p:cNvSpPr txBox="1"/>
          <p:nvPr/>
        </p:nvSpPr>
        <p:spPr>
          <a:xfrm>
            <a:off x="520148" y="5491971"/>
            <a:ext cx="6261652" cy="892552"/>
          </a:xfrm>
          <a:prstGeom prst="rect">
            <a:avLst/>
          </a:prstGeom>
          <a:noFill/>
        </p:spPr>
        <p:txBody>
          <a:bodyPr wrap="square">
            <a:spAutoFit/>
          </a:bodyPr>
          <a:lstStyle/>
          <a:p>
            <a:pPr marL="0" indent="0">
              <a:lnSpc>
                <a:spcPct val="100000"/>
              </a:lnSpc>
              <a:buNone/>
            </a:pPr>
            <a:r>
              <a:rPr lang="en-US" b="1" dirty="0">
                <a:solidFill>
                  <a:schemeClr val="accent1">
                    <a:lumMod val="75000"/>
                  </a:schemeClr>
                </a:solidFill>
              </a:rPr>
              <a:t>Attack Prevention</a:t>
            </a:r>
          </a:p>
          <a:p>
            <a:pPr marL="179388" indent="-179388">
              <a:lnSpc>
                <a:spcPct val="100000"/>
              </a:lnSpc>
              <a:buFont typeface="Wingdings" panose="05000000000000000000" pitchFamily="2" charset="2"/>
              <a:buChar char="§"/>
            </a:pPr>
            <a:r>
              <a:rPr lang="en-US" sz="1600" dirty="0">
                <a:solidFill>
                  <a:schemeClr val="tx2">
                    <a:lumMod val="50000"/>
                  </a:schemeClr>
                </a:solidFill>
              </a:rPr>
              <a:t>Analyze received messages and discard illegitimate messages</a:t>
            </a:r>
          </a:p>
          <a:p>
            <a:pPr marL="179388" indent="-179388">
              <a:lnSpc>
                <a:spcPct val="100000"/>
              </a:lnSpc>
              <a:buFont typeface="Wingdings" panose="05000000000000000000" pitchFamily="2" charset="2"/>
              <a:buChar char="§"/>
            </a:pPr>
            <a:r>
              <a:rPr lang="en-US" sz="1600" dirty="0">
                <a:solidFill>
                  <a:schemeClr val="tx2">
                    <a:lumMod val="50000"/>
                  </a:schemeClr>
                </a:solidFill>
              </a:rPr>
              <a:t>Detect and mitigate attacks</a:t>
            </a:r>
          </a:p>
        </p:txBody>
      </p:sp>
      <p:sp>
        <p:nvSpPr>
          <p:cNvPr id="1034" name="TextBox 1033">
            <a:extLst>
              <a:ext uri="{FF2B5EF4-FFF2-40B4-BE49-F238E27FC236}">
                <a16:creationId xmlns:a16="http://schemas.microsoft.com/office/drawing/2014/main" id="{5916D625-25C2-ECF4-32A9-E15E18844789}"/>
              </a:ext>
            </a:extLst>
          </p:cNvPr>
          <p:cNvSpPr txBox="1"/>
          <p:nvPr/>
        </p:nvSpPr>
        <p:spPr>
          <a:xfrm>
            <a:off x="457200" y="1024096"/>
            <a:ext cx="6635968" cy="400110"/>
          </a:xfrm>
          <a:prstGeom prst="rect">
            <a:avLst/>
          </a:prstGeom>
          <a:noFill/>
        </p:spPr>
        <p:txBody>
          <a:bodyPr wrap="square">
            <a:spAutoFit/>
          </a:bodyPr>
          <a:lstStyle/>
          <a:p>
            <a:pPr marL="0" indent="0" algn="just">
              <a:lnSpc>
                <a:spcPct val="100000"/>
              </a:lnSpc>
              <a:buNone/>
            </a:pPr>
            <a:r>
              <a:rPr lang="en-US" sz="2000" b="1" u="sng" dirty="0">
                <a:solidFill>
                  <a:srgbClr val="C00000"/>
                </a:solidFill>
              </a:rPr>
              <a:t>At Sender											</a:t>
            </a:r>
          </a:p>
        </p:txBody>
      </p:sp>
      <p:sp>
        <p:nvSpPr>
          <p:cNvPr id="1035" name="TextBox 1034">
            <a:extLst>
              <a:ext uri="{FF2B5EF4-FFF2-40B4-BE49-F238E27FC236}">
                <a16:creationId xmlns:a16="http://schemas.microsoft.com/office/drawing/2014/main" id="{3F23A5E9-CB20-5943-E4C2-DDD5D139E64A}"/>
              </a:ext>
            </a:extLst>
          </p:cNvPr>
          <p:cNvSpPr txBox="1"/>
          <p:nvPr/>
        </p:nvSpPr>
        <p:spPr>
          <a:xfrm>
            <a:off x="457200" y="5126007"/>
            <a:ext cx="6553200" cy="400110"/>
          </a:xfrm>
          <a:prstGeom prst="rect">
            <a:avLst/>
          </a:prstGeom>
          <a:noFill/>
        </p:spPr>
        <p:txBody>
          <a:bodyPr wrap="square">
            <a:spAutoFit/>
          </a:bodyPr>
          <a:lstStyle/>
          <a:p>
            <a:pPr marL="0" indent="0" algn="just">
              <a:lnSpc>
                <a:spcPct val="100000"/>
              </a:lnSpc>
              <a:buNone/>
            </a:pPr>
            <a:r>
              <a:rPr lang="en-US" sz="2000" b="1" u="sng" dirty="0">
                <a:solidFill>
                  <a:srgbClr val="C00000"/>
                </a:solidFill>
              </a:rPr>
              <a:t>At Receiver											</a:t>
            </a:r>
          </a:p>
        </p:txBody>
      </p:sp>
    </p:spTree>
    <p:custDataLst>
      <p:tags r:id="rId1"/>
    </p:custDataLst>
    <p:extLst>
      <p:ext uri="{BB962C8B-B14F-4D97-AF65-F5344CB8AC3E}">
        <p14:creationId xmlns:p14="http://schemas.microsoft.com/office/powerpoint/2010/main" val="3529979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
                                            <p:txEl>
                                              <p:pRg st="3" end="3"/>
                                            </p:txEl>
                                          </p:spTgt>
                                        </p:tgtEl>
                                        <p:attrNameLst>
                                          <p:attrName>style.visibility</p:attrName>
                                        </p:attrNameLst>
                                      </p:cBhvr>
                                      <p:to>
                                        <p:strVal val="visible"/>
                                      </p:to>
                                    </p:set>
                                  </p:childTnLst>
                                </p:cTn>
                              </p:par>
                              <p:par>
                                <p:cTn id="21" presetID="1" presetClass="entr" presetSubtype="0" fill="hold" grpId="1" nodeType="withEffect">
                                  <p:stCondLst>
                                    <p:cond delay="0"/>
                                  </p:stCondLst>
                                  <p:childTnLst>
                                    <p:set>
                                      <p:cBhvr>
                                        <p:cTn id="22" dur="1" fill="hold">
                                          <p:stCondLst>
                                            <p:cond delay="0"/>
                                          </p:stCondLst>
                                        </p:cTn>
                                        <p:tgtEl>
                                          <p:spTgt spid="1031"/>
                                        </p:tgtEl>
                                        <p:attrNameLst>
                                          <p:attrName>style.visibility</p:attrName>
                                        </p:attrNameLst>
                                      </p:cBhvr>
                                      <p:to>
                                        <p:strVal val="visible"/>
                                      </p:to>
                                    </p:set>
                                  </p:childTnLst>
                                </p:cTn>
                              </p:par>
                              <p:par>
                                <p:cTn id="23" presetID="21" presetClass="emph" presetSubtype="0" repeatCount="indefinite" fill="hold" grpId="0" nodeType="withEffect">
                                  <p:stCondLst>
                                    <p:cond delay="0"/>
                                  </p:stCondLst>
                                  <p:childTnLst>
                                    <p:animClr clrSpc="hsl" dir="cw">
                                      <p:cBhvr override="childStyle">
                                        <p:cTn id="24" dur="1000" fill="hold"/>
                                        <p:tgtEl>
                                          <p:spTgt spid="1031"/>
                                        </p:tgtEl>
                                        <p:attrNameLst>
                                          <p:attrName>style.color</p:attrName>
                                        </p:attrNameLst>
                                      </p:cBhvr>
                                      <p:by>
                                        <p:hsl h="7200000" s="0" l="0"/>
                                      </p:by>
                                    </p:animClr>
                                    <p:animClr clrSpc="hsl" dir="cw">
                                      <p:cBhvr>
                                        <p:cTn id="25" dur="1000" fill="hold"/>
                                        <p:tgtEl>
                                          <p:spTgt spid="1031"/>
                                        </p:tgtEl>
                                        <p:attrNameLst>
                                          <p:attrName>fillcolor</p:attrName>
                                        </p:attrNameLst>
                                      </p:cBhvr>
                                      <p:by>
                                        <p:hsl h="7200000" s="0" l="0"/>
                                      </p:by>
                                    </p:animClr>
                                    <p:animClr clrSpc="hsl" dir="cw">
                                      <p:cBhvr>
                                        <p:cTn id="26" dur="1000" fill="hold"/>
                                        <p:tgtEl>
                                          <p:spTgt spid="1031"/>
                                        </p:tgtEl>
                                        <p:attrNameLst>
                                          <p:attrName>stroke.color</p:attrName>
                                        </p:attrNameLst>
                                      </p:cBhvr>
                                      <p:by>
                                        <p:hsl h="7200000" s="0" l="0"/>
                                      </p:by>
                                    </p:animClr>
                                    <p:set>
                                      <p:cBhvr>
                                        <p:cTn id="27" dur="1000" fill="hold"/>
                                        <p:tgtEl>
                                          <p:spTgt spid="1031"/>
                                        </p:tgtEl>
                                        <p:attrNameLst>
                                          <p:attrName>fill.type</p:attrName>
                                        </p:attrNameLst>
                                      </p:cBhvr>
                                      <p:to>
                                        <p:strVal val="solid"/>
                                      </p:to>
                                    </p:set>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1027"/>
                                        </p:tgtEl>
                                        <p:attrNameLst>
                                          <p:attrName>style.visibility</p:attrName>
                                        </p:attrNameLst>
                                      </p:cBhvr>
                                      <p:to>
                                        <p:strVal val="visible"/>
                                      </p:to>
                                    </p:set>
                                    <p:anim calcmode="lin" valueType="num">
                                      <p:cBhvr additive="base">
                                        <p:cTn id="32" dur="500" fill="hold"/>
                                        <p:tgtEl>
                                          <p:spTgt spid="1027"/>
                                        </p:tgtEl>
                                        <p:attrNameLst>
                                          <p:attrName>ppt_x</p:attrName>
                                        </p:attrNameLst>
                                      </p:cBhvr>
                                      <p:tavLst>
                                        <p:tav tm="0">
                                          <p:val>
                                            <p:strVal val="#ppt_x"/>
                                          </p:val>
                                        </p:tav>
                                        <p:tav tm="100000">
                                          <p:val>
                                            <p:strVal val="#ppt_x"/>
                                          </p:val>
                                        </p:tav>
                                      </p:tavLst>
                                    </p:anim>
                                    <p:anim calcmode="lin" valueType="num">
                                      <p:cBhvr additive="base">
                                        <p:cTn id="33" dur="500" fill="hold"/>
                                        <p:tgtEl>
                                          <p:spTgt spid="1027"/>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58"/>
                                        </p:tgtEl>
                                        <p:attrNameLst>
                                          <p:attrName>style.visibility</p:attrName>
                                        </p:attrNameLst>
                                      </p:cBhvr>
                                      <p:to>
                                        <p:strVal val="visible"/>
                                      </p:to>
                                    </p:set>
                                  </p:childTnLst>
                                </p:cTn>
                              </p:par>
                              <p:par>
                                <p:cTn id="42" presetID="1" presetClass="entr" presetSubtype="0" fill="hold" grpId="0" nodeType="withEffect">
                                  <p:stCondLst>
                                    <p:cond delay="0"/>
                                  </p:stCondLst>
                                  <p:childTnLst>
                                    <p:set>
                                      <p:cBhvr>
                                        <p:cTn id="43" dur="1" fill="hold">
                                          <p:stCondLst>
                                            <p:cond delay="0"/>
                                          </p:stCondLst>
                                        </p:cTn>
                                        <p:tgtEl>
                                          <p:spTgt spid="8">
                                            <p:txEl>
                                              <p:pRg st="5" end="5"/>
                                            </p:txEl>
                                          </p:spTgt>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8">
                                            <p:txEl>
                                              <p:pRg st="6" end="6"/>
                                            </p:txEl>
                                          </p:spTgt>
                                        </p:tgtEl>
                                        <p:attrNameLst>
                                          <p:attrName>style.visibility</p:attrName>
                                        </p:attrNameLst>
                                      </p:cBhvr>
                                      <p:to>
                                        <p:strVal val="visible"/>
                                      </p:to>
                                    </p:set>
                                  </p:childTnLst>
                                </p:cTn>
                              </p:par>
                              <p:par>
                                <p:cTn id="46" presetID="1" presetClass="entr" presetSubtype="0" fill="hold" grpId="0" nodeType="withEffect">
                                  <p:stCondLst>
                                    <p:cond delay="0"/>
                                  </p:stCondLst>
                                  <p:childTnLst>
                                    <p:set>
                                      <p:cBhvr>
                                        <p:cTn id="47" dur="1" fill="hold">
                                          <p:stCondLst>
                                            <p:cond delay="0"/>
                                          </p:stCondLst>
                                        </p:cTn>
                                        <p:tgtEl>
                                          <p:spTgt spid="8">
                                            <p:txEl>
                                              <p:pRg st="7" end="7"/>
                                            </p:txEl>
                                          </p:spTgt>
                                        </p:tgtEl>
                                        <p:attrNameLst>
                                          <p:attrName>style.visibility</p:attrName>
                                        </p:attrNameLst>
                                      </p:cBhvr>
                                      <p:to>
                                        <p:strVal val="visible"/>
                                      </p:to>
                                    </p:set>
                                  </p:childTnLst>
                                </p:cTn>
                              </p:par>
                              <p:par>
                                <p:cTn id="48" presetID="1" presetClass="entr" presetSubtype="0" fill="hold" grpId="0" nodeType="withEffect">
                                  <p:stCondLst>
                                    <p:cond delay="0"/>
                                  </p:stCondLst>
                                  <p:childTnLst>
                                    <p:set>
                                      <p:cBhvr>
                                        <p:cTn id="49"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grpId="0" nodeType="clickEffect">
                                  <p:stCondLst>
                                    <p:cond delay="0"/>
                                  </p:stCondLst>
                                  <p:childTnLst>
                                    <p:set>
                                      <p:cBhvr>
                                        <p:cTn id="53" dur="1" fill="hold">
                                          <p:stCondLst>
                                            <p:cond delay="0"/>
                                          </p:stCondLst>
                                        </p:cTn>
                                        <p:tgtEl>
                                          <p:spTgt spid="63"/>
                                        </p:tgtEl>
                                        <p:attrNameLst>
                                          <p:attrName>style.visibility</p:attrName>
                                        </p:attrNameLst>
                                      </p:cBhvr>
                                      <p:to>
                                        <p:strVal val="visible"/>
                                      </p:to>
                                    </p:set>
                                    <p:anim calcmode="lin" valueType="num">
                                      <p:cBhvr additive="base">
                                        <p:cTn id="54" dur="500" fill="hold"/>
                                        <p:tgtEl>
                                          <p:spTgt spid="63"/>
                                        </p:tgtEl>
                                        <p:attrNameLst>
                                          <p:attrName>ppt_x</p:attrName>
                                        </p:attrNameLst>
                                      </p:cBhvr>
                                      <p:tavLst>
                                        <p:tav tm="0">
                                          <p:val>
                                            <p:strVal val="#ppt_x"/>
                                          </p:val>
                                        </p:tav>
                                        <p:tav tm="100000">
                                          <p:val>
                                            <p:strVal val="#ppt_x"/>
                                          </p:val>
                                        </p:tav>
                                      </p:tavLst>
                                    </p:anim>
                                    <p:anim calcmode="lin" valueType="num">
                                      <p:cBhvr additive="base">
                                        <p:cTn id="55" dur="500" fill="hold"/>
                                        <p:tgtEl>
                                          <p:spTgt spid="63"/>
                                        </p:tgtEl>
                                        <p:attrNameLst>
                                          <p:attrName>ppt_y</p:attrName>
                                        </p:attrNameLst>
                                      </p:cBhvr>
                                      <p:tavLst>
                                        <p:tav tm="0">
                                          <p:val>
                                            <p:strVal val="1+#ppt_h/2"/>
                                          </p:val>
                                        </p:tav>
                                        <p:tav tm="100000">
                                          <p:val>
                                            <p:strVal val="#ppt_y"/>
                                          </p:val>
                                        </p:tav>
                                      </p:tavLst>
                                    </p:anim>
                                  </p:childTnLst>
                                </p:cTn>
                              </p:par>
                              <p:par>
                                <p:cTn id="56" presetID="2" presetClass="entr" presetSubtype="4" fill="hold" grpId="0" nodeType="withEffect">
                                  <p:stCondLst>
                                    <p:cond delay="0"/>
                                  </p:stCondLst>
                                  <p:childTnLst>
                                    <p:set>
                                      <p:cBhvr>
                                        <p:cTn id="57" dur="1" fill="hold">
                                          <p:stCondLst>
                                            <p:cond delay="0"/>
                                          </p:stCondLst>
                                        </p:cTn>
                                        <p:tgtEl>
                                          <p:spTgt spid="62"/>
                                        </p:tgtEl>
                                        <p:attrNameLst>
                                          <p:attrName>style.visibility</p:attrName>
                                        </p:attrNameLst>
                                      </p:cBhvr>
                                      <p:to>
                                        <p:strVal val="visible"/>
                                      </p:to>
                                    </p:set>
                                    <p:anim calcmode="lin" valueType="num">
                                      <p:cBhvr additive="base">
                                        <p:cTn id="58" dur="500" fill="hold"/>
                                        <p:tgtEl>
                                          <p:spTgt spid="62"/>
                                        </p:tgtEl>
                                        <p:attrNameLst>
                                          <p:attrName>ppt_x</p:attrName>
                                        </p:attrNameLst>
                                      </p:cBhvr>
                                      <p:tavLst>
                                        <p:tav tm="0">
                                          <p:val>
                                            <p:strVal val="#ppt_x"/>
                                          </p:val>
                                        </p:tav>
                                        <p:tav tm="100000">
                                          <p:val>
                                            <p:strVal val="#ppt_x"/>
                                          </p:val>
                                        </p:tav>
                                      </p:tavLst>
                                    </p:anim>
                                    <p:anim calcmode="lin" valueType="num">
                                      <p:cBhvr additive="base">
                                        <p:cTn id="59" dur="500" fill="hold"/>
                                        <p:tgtEl>
                                          <p:spTgt spid="62"/>
                                        </p:tgtEl>
                                        <p:attrNameLst>
                                          <p:attrName>ppt_y</p:attrName>
                                        </p:attrNameLst>
                                      </p:cBhvr>
                                      <p:tavLst>
                                        <p:tav tm="0">
                                          <p:val>
                                            <p:strVal val="1+#ppt_h/2"/>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1035"/>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grpId="0" nodeType="clickEffect">
                                  <p:stCondLst>
                                    <p:cond delay="0"/>
                                  </p:stCondLst>
                                  <p:childTnLst>
                                    <p:set>
                                      <p:cBhvr>
                                        <p:cTn id="67" dur="1" fill="hold">
                                          <p:stCondLst>
                                            <p:cond delay="0"/>
                                          </p:stCondLst>
                                        </p:cTn>
                                        <p:tgtEl>
                                          <p:spTgt spid="1033"/>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nodeType="clickEffect">
                                  <p:stCondLst>
                                    <p:cond delay="0"/>
                                  </p:stCondLst>
                                  <p:childTnLst>
                                    <p:set>
                                      <p:cBhvr>
                                        <p:cTn id="71" dur="1" fill="hold">
                                          <p:stCondLst>
                                            <p:cond delay="0"/>
                                          </p:stCondLst>
                                        </p:cTn>
                                        <p:tgtEl>
                                          <p:spTgt spid="59"/>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2" presetClass="entr" presetSubtype="4" fill="hold" grpId="0" nodeType="clickEffect">
                                  <p:stCondLst>
                                    <p:cond delay="0"/>
                                  </p:stCondLst>
                                  <p:childTnLst>
                                    <p:set>
                                      <p:cBhvr>
                                        <p:cTn id="75" dur="1" fill="hold">
                                          <p:stCondLst>
                                            <p:cond delay="0"/>
                                          </p:stCondLst>
                                        </p:cTn>
                                        <p:tgtEl>
                                          <p:spTgt spid="1025"/>
                                        </p:tgtEl>
                                        <p:attrNameLst>
                                          <p:attrName>style.visibility</p:attrName>
                                        </p:attrNameLst>
                                      </p:cBhvr>
                                      <p:to>
                                        <p:strVal val="visible"/>
                                      </p:to>
                                    </p:set>
                                    <p:anim calcmode="lin" valueType="num">
                                      <p:cBhvr additive="base">
                                        <p:cTn id="76" dur="500" fill="hold"/>
                                        <p:tgtEl>
                                          <p:spTgt spid="1025"/>
                                        </p:tgtEl>
                                        <p:attrNameLst>
                                          <p:attrName>ppt_x</p:attrName>
                                        </p:attrNameLst>
                                      </p:cBhvr>
                                      <p:tavLst>
                                        <p:tav tm="0">
                                          <p:val>
                                            <p:strVal val="#ppt_x"/>
                                          </p:val>
                                        </p:tav>
                                        <p:tav tm="100000">
                                          <p:val>
                                            <p:strVal val="#ppt_x"/>
                                          </p:val>
                                        </p:tav>
                                      </p:tavLst>
                                    </p:anim>
                                    <p:anim calcmode="lin" valueType="num">
                                      <p:cBhvr additive="base">
                                        <p:cTn id="77" dur="500" fill="hold"/>
                                        <p:tgtEl>
                                          <p:spTgt spid="1025"/>
                                        </p:tgtEl>
                                        <p:attrNameLst>
                                          <p:attrName>ppt_y</p:attrName>
                                        </p:attrNameLst>
                                      </p:cBhvr>
                                      <p:tavLst>
                                        <p:tav tm="0">
                                          <p:val>
                                            <p:strVal val="1+#ppt_h/2"/>
                                          </p:val>
                                        </p:tav>
                                        <p:tav tm="100000">
                                          <p:val>
                                            <p:strVal val="#ppt_y"/>
                                          </p:val>
                                        </p:tav>
                                      </p:tavLst>
                                    </p:anim>
                                  </p:childTnLst>
                                </p:cTn>
                              </p:par>
                              <p:par>
                                <p:cTn id="78" presetID="2" presetClass="entr" presetSubtype="4" fill="hold" grpId="0" nodeType="withEffect">
                                  <p:stCondLst>
                                    <p:cond delay="0"/>
                                  </p:stCondLst>
                                  <p:childTnLst>
                                    <p:set>
                                      <p:cBhvr>
                                        <p:cTn id="79" dur="1" fill="hold">
                                          <p:stCondLst>
                                            <p:cond delay="0"/>
                                          </p:stCondLst>
                                        </p:cTn>
                                        <p:tgtEl>
                                          <p:spTgt spid="1024"/>
                                        </p:tgtEl>
                                        <p:attrNameLst>
                                          <p:attrName>style.visibility</p:attrName>
                                        </p:attrNameLst>
                                      </p:cBhvr>
                                      <p:to>
                                        <p:strVal val="visible"/>
                                      </p:to>
                                    </p:set>
                                    <p:anim calcmode="lin" valueType="num">
                                      <p:cBhvr additive="base">
                                        <p:cTn id="80" dur="500" fill="hold"/>
                                        <p:tgtEl>
                                          <p:spTgt spid="1024"/>
                                        </p:tgtEl>
                                        <p:attrNameLst>
                                          <p:attrName>ppt_x</p:attrName>
                                        </p:attrNameLst>
                                      </p:cBhvr>
                                      <p:tavLst>
                                        <p:tav tm="0">
                                          <p:val>
                                            <p:strVal val="#ppt_x"/>
                                          </p:val>
                                        </p:tav>
                                        <p:tav tm="100000">
                                          <p:val>
                                            <p:strVal val="#ppt_x"/>
                                          </p:val>
                                        </p:tav>
                                      </p:tavLst>
                                    </p:anim>
                                    <p:anim calcmode="lin" valueType="num">
                                      <p:cBhvr additive="base">
                                        <p:cTn id="81" dur="500" fill="hold"/>
                                        <p:tgtEl>
                                          <p:spTgt spid="10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P spid="62" grpId="0" animBg="1"/>
      <p:bldP spid="63" grpId="0" animBg="1"/>
      <p:bldP spid="1024" grpId="0" animBg="1"/>
      <p:bldP spid="1025" grpId="0" animBg="1"/>
      <p:bldP spid="1031" grpId="0" animBg="1"/>
      <p:bldP spid="1031" grpId="1" animBg="1"/>
      <p:bldP spid="1033" grpId="0"/>
      <p:bldP spid="1034" grpId="0"/>
      <p:bldP spid="103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fauzisukiman\Desktop\template pp USM\page 2 n seterusnya\Header.jpg"/>
          <p:cNvPicPr>
            <a:picLocks noChangeAspect="1" noChangeArrowheads="1"/>
          </p:cNvPicPr>
          <p:nvPr/>
        </p:nvPicPr>
        <p:blipFill rotWithShape="1">
          <a:blip r:embed="rId4" cstate="print"/>
          <a:srcRect l="14375"/>
          <a:stretch/>
        </p:blipFill>
        <p:spPr bwMode="auto">
          <a:xfrm>
            <a:off x="1268881" y="0"/>
            <a:ext cx="10923119" cy="822960"/>
          </a:xfrm>
          <a:prstGeom prst="rect">
            <a:avLst/>
          </a:prstGeom>
          <a:noFill/>
        </p:spPr>
      </p:pic>
      <p:sp>
        <p:nvSpPr>
          <p:cNvPr id="6" name="Rectangle 5"/>
          <p:cNvSpPr/>
          <p:nvPr/>
        </p:nvSpPr>
        <p:spPr>
          <a:xfrm>
            <a:off x="1447800" y="76200"/>
            <a:ext cx="10363200" cy="707886"/>
          </a:xfrm>
          <a:prstGeom prst="rect">
            <a:avLst/>
          </a:prstGeom>
        </p:spPr>
        <p:txBody>
          <a:bodyPr wrap="square">
            <a:spAutoFit/>
          </a:bodyPr>
          <a:lstStyle/>
          <a:p>
            <a:r>
              <a:rPr lang="en-US" sz="4000" b="1" i="1" dirty="0">
                <a:solidFill>
                  <a:schemeClr val="bg1"/>
                </a:solidFill>
              </a:rPr>
              <a:t>SGSM – Workflow </a:t>
            </a:r>
          </a:p>
        </p:txBody>
      </p:sp>
      <p:sp>
        <p:nvSpPr>
          <p:cNvPr id="2" name="Slide Number Placeholder 1"/>
          <p:cNvSpPr>
            <a:spLocks noGrp="1"/>
          </p:cNvSpPr>
          <p:nvPr>
            <p:ph type="sldNum" sz="quarter" idx="12"/>
          </p:nvPr>
        </p:nvSpPr>
        <p:spPr>
          <a:xfrm>
            <a:off x="9906000" y="6472826"/>
            <a:ext cx="2133600" cy="365125"/>
          </a:xfrm>
        </p:spPr>
        <p:txBody>
          <a:bodyPr/>
          <a:lstStyle/>
          <a:p>
            <a:fld id="{D4B39A3D-6E5B-421C-AA99-AA75690A48C6}" type="slidenum">
              <a:rPr lang="en-US" smtClean="0"/>
              <a:pPr/>
              <a:t>12</a:t>
            </a:fld>
            <a:endParaRPr lang="en-US" dirty="0"/>
          </a:p>
        </p:txBody>
      </p:sp>
      <p:pic>
        <p:nvPicPr>
          <p:cNvPr id="9" name="Picture 3"/>
          <p:cNvPicPr>
            <a:picLocks noChangeAspect="1" noChangeArrowheads="1"/>
          </p:cNvPicPr>
          <p:nvPr/>
        </p:nvPicPr>
        <p:blipFill>
          <a:blip r:embed="rId5" cstate="print">
            <a:clrChange>
              <a:clrFrom>
                <a:srgbClr val="FDFDFD"/>
              </a:clrFrom>
              <a:clrTo>
                <a:srgbClr val="FDFDFD">
                  <a:alpha val="0"/>
                </a:srgbClr>
              </a:clrTo>
            </a:clrChange>
          </a:blip>
          <a:srcRect/>
          <a:stretch>
            <a:fillRect/>
          </a:stretch>
        </p:blipFill>
        <p:spPr bwMode="auto">
          <a:xfrm>
            <a:off x="0" y="-1224"/>
            <a:ext cx="1268881" cy="824184"/>
          </a:xfrm>
          <a:prstGeom prst="rect">
            <a:avLst/>
          </a:prstGeom>
          <a:noFill/>
          <a:ln w="9525">
            <a:noFill/>
            <a:miter lim="800000"/>
            <a:headEnd/>
            <a:tailEnd/>
          </a:ln>
          <a:effectLst/>
        </p:spPr>
      </p:pic>
      <p:pic>
        <p:nvPicPr>
          <p:cNvPr id="4" name="Picture 3">
            <a:extLst>
              <a:ext uri="{FF2B5EF4-FFF2-40B4-BE49-F238E27FC236}">
                <a16:creationId xmlns:a16="http://schemas.microsoft.com/office/drawing/2014/main" id="{B123FA75-B10A-715F-958F-DF0D20F1B5AA}"/>
              </a:ext>
            </a:extLst>
          </p:cNvPr>
          <p:cNvPicPr>
            <a:picLocks noChangeAspect="1"/>
          </p:cNvPicPr>
          <p:nvPr/>
        </p:nvPicPr>
        <p:blipFill>
          <a:blip r:embed="rId6"/>
          <a:stretch>
            <a:fillRect/>
          </a:stretch>
        </p:blipFill>
        <p:spPr>
          <a:xfrm>
            <a:off x="829889" y="1066800"/>
            <a:ext cx="931023" cy="824185"/>
          </a:xfrm>
          <a:prstGeom prst="rect">
            <a:avLst/>
          </a:prstGeom>
        </p:spPr>
      </p:pic>
      <p:sp>
        <p:nvSpPr>
          <p:cNvPr id="7" name="Rectangle 6">
            <a:extLst>
              <a:ext uri="{FF2B5EF4-FFF2-40B4-BE49-F238E27FC236}">
                <a16:creationId xmlns:a16="http://schemas.microsoft.com/office/drawing/2014/main" id="{7AEE76C7-FB79-BA14-E714-1358C43B635C}"/>
              </a:ext>
            </a:extLst>
          </p:cNvPr>
          <p:cNvSpPr/>
          <p:nvPr/>
        </p:nvSpPr>
        <p:spPr>
          <a:xfrm>
            <a:off x="381001" y="2084463"/>
            <a:ext cx="1828800" cy="369093"/>
          </a:xfrm>
          <a:prstGeom prst="rect">
            <a:avLst/>
          </a:prstGeom>
          <a:ln w="12700">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sz="1200" b="1" dirty="0">
                <a:solidFill>
                  <a:schemeClr val="tx1"/>
                </a:solidFill>
              </a:rPr>
              <a:t>Process HSMS Message</a:t>
            </a:r>
          </a:p>
        </p:txBody>
      </p:sp>
      <p:sp>
        <p:nvSpPr>
          <p:cNvPr id="8" name="Rectangle 7">
            <a:extLst>
              <a:ext uri="{FF2B5EF4-FFF2-40B4-BE49-F238E27FC236}">
                <a16:creationId xmlns:a16="http://schemas.microsoft.com/office/drawing/2014/main" id="{D884C3C3-87BC-EFFE-E21B-AC5E1A68B0C9}"/>
              </a:ext>
            </a:extLst>
          </p:cNvPr>
          <p:cNvSpPr/>
          <p:nvPr/>
        </p:nvSpPr>
        <p:spPr>
          <a:xfrm>
            <a:off x="381000" y="2664116"/>
            <a:ext cx="1828800" cy="369093"/>
          </a:xfrm>
          <a:prstGeom prst="rect">
            <a:avLst/>
          </a:prstGeom>
          <a:ln w="12700">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sz="1200" b="1" dirty="0">
                <a:solidFill>
                  <a:schemeClr val="tx1"/>
                </a:solidFill>
              </a:rPr>
              <a:t>Generate ACB</a:t>
            </a:r>
          </a:p>
          <a:p>
            <a:pPr algn="ctr"/>
            <a:r>
              <a:rPr lang="en-US" sz="1200" b="1" dirty="0">
                <a:solidFill>
                  <a:schemeClr val="tx1"/>
                </a:solidFill>
              </a:rPr>
              <a:t>[Initialize it with all zeros]</a:t>
            </a:r>
          </a:p>
        </p:txBody>
      </p:sp>
      <p:sp>
        <p:nvSpPr>
          <p:cNvPr id="10" name="Rectangle 9">
            <a:extLst>
              <a:ext uri="{FF2B5EF4-FFF2-40B4-BE49-F238E27FC236}">
                <a16:creationId xmlns:a16="http://schemas.microsoft.com/office/drawing/2014/main" id="{531AE1E0-7AD6-1C55-69CB-94785C2BA6D3}"/>
              </a:ext>
            </a:extLst>
          </p:cNvPr>
          <p:cNvSpPr/>
          <p:nvPr/>
        </p:nvSpPr>
        <p:spPr>
          <a:xfrm>
            <a:off x="381000" y="3243769"/>
            <a:ext cx="1828800" cy="369093"/>
          </a:xfrm>
          <a:prstGeom prst="rect">
            <a:avLst/>
          </a:prstGeom>
          <a:ln w="12700">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sz="1200" b="1" dirty="0">
                <a:solidFill>
                  <a:schemeClr val="tx1"/>
                </a:solidFill>
              </a:rPr>
              <a:t>Set Mode = 1 [Authentication]</a:t>
            </a:r>
          </a:p>
        </p:txBody>
      </p:sp>
      <p:sp>
        <p:nvSpPr>
          <p:cNvPr id="11" name="Rectangle 10">
            <a:extLst>
              <a:ext uri="{FF2B5EF4-FFF2-40B4-BE49-F238E27FC236}">
                <a16:creationId xmlns:a16="http://schemas.microsoft.com/office/drawing/2014/main" id="{77D89BA5-B10C-2203-2D3B-526DDF75C587}"/>
              </a:ext>
            </a:extLst>
          </p:cNvPr>
          <p:cNvSpPr/>
          <p:nvPr/>
        </p:nvSpPr>
        <p:spPr>
          <a:xfrm>
            <a:off x="381000" y="3823422"/>
            <a:ext cx="1828800" cy="369093"/>
          </a:xfrm>
          <a:prstGeom prst="rect">
            <a:avLst/>
          </a:prstGeom>
          <a:ln w="12700">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sz="1200" b="1" dirty="0">
                <a:solidFill>
                  <a:schemeClr val="tx1"/>
                </a:solidFill>
              </a:rPr>
              <a:t>SET HMAC Algorithm</a:t>
            </a:r>
          </a:p>
        </p:txBody>
      </p:sp>
      <p:sp>
        <p:nvSpPr>
          <p:cNvPr id="12" name="Rectangle 11">
            <a:extLst>
              <a:ext uri="{FF2B5EF4-FFF2-40B4-BE49-F238E27FC236}">
                <a16:creationId xmlns:a16="http://schemas.microsoft.com/office/drawing/2014/main" id="{882C77A6-36BC-56FC-17D2-36DE97CB5A57}"/>
              </a:ext>
            </a:extLst>
          </p:cNvPr>
          <p:cNvSpPr/>
          <p:nvPr/>
        </p:nvSpPr>
        <p:spPr>
          <a:xfrm>
            <a:off x="381000" y="4425005"/>
            <a:ext cx="1828800" cy="369093"/>
          </a:xfrm>
          <a:prstGeom prst="rect">
            <a:avLst/>
          </a:prstGeom>
          <a:ln w="12700">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sz="1200" b="1" dirty="0">
                <a:solidFill>
                  <a:schemeClr val="tx1"/>
                </a:solidFill>
              </a:rPr>
              <a:t>SET Timestamp = Value</a:t>
            </a:r>
          </a:p>
        </p:txBody>
      </p:sp>
      <p:grpSp>
        <p:nvGrpSpPr>
          <p:cNvPr id="18" name="Group 17">
            <a:extLst>
              <a:ext uri="{FF2B5EF4-FFF2-40B4-BE49-F238E27FC236}">
                <a16:creationId xmlns:a16="http://schemas.microsoft.com/office/drawing/2014/main" id="{22CA4EFB-6821-B81B-45FF-0BCCA7015676}"/>
              </a:ext>
            </a:extLst>
          </p:cNvPr>
          <p:cNvGrpSpPr/>
          <p:nvPr/>
        </p:nvGrpSpPr>
        <p:grpSpPr>
          <a:xfrm>
            <a:off x="2705101" y="3767365"/>
            <a:ext cx="1295400" cy="914400"/>
            <a:chOff x="3200400" y="2514600"/>
            <a:chExt cx="1295400" cy="914400"/>
          </a:xfrm>
          <a:solidFill>
            <a:schemeClr val="accent1">
              <a:lumMod val="75000"/>
            </a:schemeClr>
          </a:solidFill>
        </p:grpSpPr>
        <p:sp>
          <p:nvSpPr>
            <p:cNvPr id="16" name="Diamond 15">
              <a:extLst>
                <a:ext uri="{FF2B5EF4-FFF2-40B4-BE49-F238E27FC236}">
                  <a16:creationId xmlns:a16="http://schemas.microsoft.com/office/drawing/2014/main" id="{7E5191EB-EAB8-5384-5361-BFD5F47C327B}"/>
                </a:ext>
              </a:extLst>
            </p:cNvPr>
            <p:cNvSpPr/>
            <p:nvPr/>
          </p:nvSpPr>
          <p:spPr>
            <a:xfrm>
              <a:off x="3200400" y="2514600"/>
              <a:ext cx="1295400" cy="914400"/>
            </a:xfrm>
            <a:prstGeom prst="diamon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17" name="TextBox 16">
              <a:extLst>
                <a:ext uri="{FF2B5EF4-FFF2-40B4-BE49-F238E27FC236}">
                  <a16:creationId xmlns:a16="http://schemas.microsoft.com/office/drawing/2014/main" id="{294AA514-1582-F28C-B42D-1E2FEE6CBD52}"/>
                </a:ext>
              </a:extLst>
            </p:cNvPr>
            <p:cNvSpPr txBox="1"/>
            <p:nvPr/>
          </p:nvSpPr>
          <p:spPr>
            <a:xfrm>
              <a:off x="3357420" y="2756356"/>
              <a:ext cx="981359" cy="430887"/>
            </a:xfrm>
            <a:prstGeom prst="rect">
              <a:avLst/>
            </a:prstGeom>
            <a:noFill/>
          </p:spPr>
          <p:txBody>
            <a:bodyPr wrap="none" rtlCol="0">
              <a:spAutoFit/>
            </a:bodyPr>
            <a:lstStyle/>
            <a:p>
              <a:pPr algn="ctr"/>
              <a:r>
                <a:rPr lang="en-US" sz="1100" b="1" dirty="0">
                  <a:solidFill>
                    <a:schemeClr val="bg1"/>
                  </a:solidFill>
                </a:rPr>
                <a:t>Is sender</a:t>
              </a:r>
              <a:br>
                <a:rPr lang="en-US" sz="1100" b="1" dirty="0">
                  <a:solidFill>
                    <a:schemeClr val="bg1"/>
                  </a:solidFill>
                </a:rPr>
              </a:br>
              <a:r>
                <a:rPr lang="en-US" sz="1100" b="1" dirty="0">
                  <a:solidFill>
                    <a:schemeClr val="bg1"/>
                  </a:solidFill>
                </a:rPr>
                <a:t>active entity?</a:t>
              </a:r>
            </a:p>
          </p:txBody>
        </p:sp>
      </p:grpSp>
      <p:sp>
        <p:nvSpPr>
          <p:cNvPr id="19" name="Rectangle 18">
            <a:extLst>
              <a:ext uri="{FF2B5EF4-FFF2-40B4-BE49-F238E27FC236}">
                <a16:creationId xmlns:a16="http://schemas.microsoft.com/office/drawing/2014/main" id="{01CBF70B-CAD0-71CB-C1CC-7CB81F97442A}"/>
              </a:ext>
            </a:extLst>
          </p:cNvPr>
          <p:cNvSpPr/>
          <p:nvPr/>
        </p:nvSpPr>
        <p:spPr>
          <a:xfrm>
            <a:off x="2438400" y="4930232"/>
            <a:ext cx="1828800" cy="369093"/>
          </a:xfrm>
          <a:prstGeom prst="rect">
            <a:avLst/>
          </a:prstGeom>
          <a:ln w="12700">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sz="1200" b="1" dirty="0">
                <a:solidFill>
                  <a:schemeClr val="tx1"/>
                </a:solidFill>
              </a:rPr>
              <a:t>Fetch secret-key </a:t>
            </a:r>
          </a:p>
          <a:p>
            <a:pPr algn="ctr"/>
            <a:r>
              <a:rPr lang="en-US" sz="1200" b="1" dirty="0">
                <a:solidFill>
                  <a:schemeClr val="tx1"/>
                </a:solidFill>
              </a:rPr>
              <a:t>from the table</a:t>
            </a:r>
          </a:p>
        </p:txBody>
      </p:sp>
      <p:sp>
        <p:nvSpPr>
          <p:cNvPr id="20" name="Rectangle 19">
            <a:extLst>
              <a:ext uri="{FF2B5EF4-FFF2-40B4-BE49-F238E27FC236}">
                <a16:creationId xmlns:a16="http://schemas.microsoft.com/office/drawing/2014/main" id="{6FB2A26A-5CE6-3B20-DC9F-1047C28E4EBE}"/>
              </a:ext>
            </a:extLst>
          </p:cNvPr>
          <p:cNvSpPr/>
          <p:nvPr/>
        </p:nvSpPr>
        <p:spPr>
          <a:xfrm>
            <a:off x="2438400" y="5506324"/>
            <a:ext cx="1828800" cy="369093"/>
          </a:xfrm>
          <a:prstGeom prst="rect">
            <a:avLst/>
          </a:prstGeom>
          <a:ln w="12700">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sz="1200" b="1" dirty="0">
                <a:solidFill>
                  <a:schemeClr val="tx1"/>
                </a:solidFill>
              </a:rPr>
              <a:t>Compute Hash</a:t>
            </a:r>
          </a:p>
          <a:p>
            <a:pPr algn="ctr"/>
            <a:r>
              <a:rPr lang="en-US" sz="1200" b="1" dirty="0">
                <a:solidFill>
                  <a:schemeClr val="tx1"/>
                </a:solidFill>
              </a:rPr>
              <a:t>Hash = H (msg+ACB), Key)</a:t>
            </a:r>
          </a:p>
        </p:txBody>
      </p:sp>
      <p:sp>
        <p:nvSpPr>
          <p:cNvPr id="21" name="Rectangle 20">
            <a:extLst>
              <a:ext uri="{FF2B5EF4-FFF2-40B4-BE49-F238E27FC236}">
                <a16:creationId xmlns:a16="http://schemas.microsoft.com/office/drawing/2014/main" id="{B0010E20-58DD-31F1-E56D-E917DB66F23F}"/>
              </a:ext>
            </a:extLst>
          </p:cNvPr>
          <p:cNvSpPr/>
          <p:nvPr/>
        </p:nvSpPr>
        <p:spPr>
          <a:xfrm>
            <a:off x="2438400" y="6107907"/>
            <a:ext cx="1828800" cy="369093"/>
          </a:xfrm>
          <a:prstGeom prst="rect">
            <a:avLst/>
          </a:prstGeom>
          <a:ln w="12700">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sz="1200" b="1" dirty="0">
                <a:solidFill>
                  <a:schemeClr val="tx1"/>
                </a:solidFill>
              </a:rPr>
              <a:t>Transmit the message</a:t>
            </a:r>
          </a:p>
        </p:txBody>
      </p:sp>
      <p:sp>
        <p:nvSpPr>
          <p:cNvPr id="22" name="Rectangle 21">
            <a:extLst>
              <a:ext uri="{FF2B5EF4-FFF2-40B4-BE49-F238E27FC236}">
                <a16:creationId xmlns:a16="http://schemas.microsoft.com/office/drawing/2014/main" id="{D9ACC3E6-3259-B5EC-AF4A-3B9E4DD67AFF}"/>
              </a:ext>
            </a:extLst>
          </p:cNvPr>
          <p:cNvSpPr/>
          <p:nvPr/>
        </p:nvSpPr>
        <p:spPr>
          <a:xfrm>
            <a:off x="4800601" y="1905000"/>
            <a:ext cx="1828800" cy="369093"/>
          </a:xfrm>
          <a:prstGeom prst="rect">
            <a:avLst/>
          </a:prstGeom>
          <a:ln w="12700">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sz="1200" b="1" dirty="0">
                <a:solidFill>
                  <a:schemeClr val="tx1"/>
                </a:solidFill>
              </a:rPr>
              <a:t>Receive HSMS message</a:t>
            </a:r>
          </a:p>
        </p:txBody>
      </p:sp>
      <p:sp>
        <p:nvSpPr>
          <p:cNvPr id="23" name="Rectangle 22">
            <a:extLst>
              <a:ext uri="{FF2B5EF4-FFF2-40B4-BE49-F238E27FC236}">
                <a16:creationId xmlns:a16="http://schemas.microsoft.com/office/drawing/2014/main" id="{85A82321-84D2-4079-D7DF-863385DC5A4F}"/>
              </a:ext>
            </a:extLst>
          </p:cNvPr>
          <p:cNvSpPr/>
          <p:nvPr/>
        </p:nvSpPr>
        <p:spPr>
          <a:xfrm>
            <a:off x="4800601" y="4419600"/>
            <a:ext cx="1828800" cy="369093"/>
          </a:xfrm>
          <a:prstGeom prst="rect">
            <a:avLst/>
          </a:prstGeom>
          <a:ln w="12700">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sz="1200" b="1" dirty="0">
                <a:solidFill>
                  <a:schemeClr val="tx1"/>
                </a:solidFill>
              </a:rPr>
              <a:t>Hash</a:t>
            </a:r>
            <a:r>
              <a:rPr lang="en-US" sz="1200" b="1" baseline="-25000" dirty="0">
                <a:solidFill>
                  <a:schemeClr val="tx1"/>
                </a:solidFill>
              </a:rPr>
              <a:t>1</a:t>
            </a:r>
            <a:r>
              <a:rPr lang="en-US" sz="1200" b="1" dirty="0">
                <a:solidFill>
                  <a:schemeClr val="tx1"/>
                </a:solidFill>
              </a:rPr>
              <a:t> = Extract Hash</a:t>
            </a:r>
          </a:p>
        </p:txBody>
      </p:sp>
      <p:grpSp>
        <p:nvGrpSpPr>
          <p:cNvPr id="24" name="Group 23">
            <a:extLst>
              <a:ext uri="{FF2B5EF4-FFF2-40B4-BE49-F238E27FC236}">
                <a16:creationId xmlns:a16="http://schemas.microsoft.com/office/drawing/2014/main" id="{D35CAA7D-A921-98D1-501B-849E5BCDA71E}"/>
              </a:ext>
            </a:extLst>
          </p:cNvPr>
          <p:cNvGrpSpPr/>
          <p:nvPr/>
        </p:nvGrpSpPr>
        <p:grpSpPr>
          <a:xfrm>
            <a:off x="5068164" y="2497070"/>
            <a:ext cx="1295400" cy="914400"/>
            <a:chOff x="3200400" y="2514600"/>
            <a:chExt cx="1295400" cy="914400"/>
          </a:xfrm>
          <a:solidFill>
            <a:schemeClr val="accent1">
              <a:lumMod val="75000"/>
            </a:schemeClr>
          </a:solidFill>
        </p:grpSpPr>
        <p:sp>
          <p:nvSpPr>
            <p:cNvPr id="25" name="Diamond 24">
              <a:extLst>
                <a:ext uri="{FF2B5EF4-FFF2-40B4-BE49-F238E27FC236}">
                  <a16:creationId xmlns:a16="http://schemas.microsoft.com/office/drawing/2014/main" id="{B2560028-4789-7F9B-508C-25CD7F7C81C0}"/>
                </a:ext>
              </a:extLst>
            </p:cNvPr>
            <p:cNvSpPr/>
            <p:nvPr/>
          </p:nvSpPr>
          <p:spPr>
            <a:xfrm>
              <a:off x="3200400" y="2514600"/>
              <a:ext cx="1295400" cy="914400"/>
            </a:xfrm>
            <a:prstGeom prst="diamon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26" name="TextBox 25">
              <a:extLst>
                <a:ext uri="{FF2B5EF4-FFF2-40B4-BE49-F238E27FC236}">
                  <a16:creationId xmlns:a16="http://schemas.microsoft.com/office/drawing/2014/main" id="{BC12A6D2-DCBF-03C2-0F78-468B0A1EAFDB}"/>
                </a:ext>
              </a:extLst>
            </p:cNvPr>
            <p:cNvSpPr txBox="1"/>
            <p:nvPr/>
          </p:nvSpPr>
          <p:spPr>
            <a:xfrm>
              <a:off x="3363837" y="2847426"/>
              <a:ext cx="968535" cy="261610"/>
            </a:xfrm>
            <a:prstGeom prst="rect">
              <a:avLst/>
            </a:prstGeom>
            <a:noFill/>
          </p:spPr>
          <p:txBody>
            <a:bodyPr wrap="none" rtlCol="0">
              <a:spAutoFit/>
            </a:bodyPr>
            <a:lstStyle/>
            <a:p>
              <a:pPr algn="ctr"/>
              <a:r>
                <a:rPr lang="en-US" sz="1100" b="1" dirty="0">
                  <a:solidFill>
                    <a:schemeClr val="bg1"/>
                  </a:solidFill>
                </a:rPr>
                <a:t>ACB Present?</a:t>
              </a:r>
            </a:p>
          </p:txBody>
        </p:sp>
      </p:grpSp>
      <p:sp>
        <p:nvSpPr>
          <p:cNvPr id="27" name="Rectangle 26">
            <a:extLst>
              <a:ext uri="{FF2B5EF4-FFF2-40B4-BE49-F238E27FC236}">
                <a16:creationId xmlns:a16="http://schemas.microsoft.com/office/drawing/2014/main" id="{1BDFEDE7-9980-F9EA-F19F-2493B9F2D337}"/>
              </a:ext>
            </a:extLst>
          </p:cNvPr>
          <p:cNvSpPr/>
          <p:nvPr/>
        </p:nvSpPr>
        <p:spPr>
          <a:xfrm>
            <a:off x="4800601" y="6107907"/>
            <a:ext cx="1828800" cy="369093"/>
          </a:xfrm>
          <a:prstGeom prst="rect">
            <a:avLst/>
          </a:prstGeom>
          <a:ln w="12700">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sz="1200" b="1" dirty="0">
                <a:solidFill>
                  <a:schemeClr val="tx1"/>
                </a:solidFill>
              </a:rPr>
              <a:t>Refill ACB with Zeros</a:t>
            </a:r>
          </a:p>
        </p:txBody>
      </p:sp>
      <p:grpSp>
        <p:nvGrpSpPr>
          <p:cNvPr id="28" name="Group 27">
            <a:extLst>
              <a:ext uri="{FF2B5EF4-FFF2-40B4-BE49-F238E27FC236}">
                <a16:creationId xmlns:a16="http://schemas.microsoft.com/office/drawing/2014/main" id="{0FB7BDA8-2694-AE5C-86A9-B4E7A7094773}"/>
              </a:ext>
            </a:extLst>
          </p:cNvPr>
          <p:cNvGrpSpPr/>
          <p:nvPr/>
        </p:nvGrpSpPr>
        <p:grpSpPr>
          <a:xfrm>
            <a:off x="7207309" y="2084463"/>
            <a:ext cx="1295400" cy="914400"/>
            <a:chOff x="3200400" y="2514600"/>
            <a:chExt cx="1295400" cy="914400"/>
          </a:xfrm>
          <a:solidFill>
            <a:schemeClr val="accent1">
              <a:lumMod val="75000"/>
            </a:schemeClr>
          </a:solidFill>
        </p:grpSpPr>
        <p:sp>
          <p:nvSpPr>
            <p:cNvPr id="29" name="Diamond 28">
              <a:extLst>
                <a:ext uri="{FF2B5EF4-FFF2-40B4-BE49-F238E27FC236}">
                  <a16:creationId xmlns:a16="http://schemas.microsoft.com/office/drawing/2014/main" id="{CD09AB92-0074-6AF5-1F7B-7A353AC33FCA}"/>
                </a:ext>
              </a:extLst>
            </p:cNvPr>
            <p:cNvSpPr/>
            <p:nvPr/>
          </p:nvSpPr>
          <p:spPr>
            <a:xfrm>
              <a:off x="3200400" y="2514600"/>
              <a:ext cx="1295400" cy="914400"/>
            </a:xfrm>
            <a:prstGeom prst="diamon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30" name="TextBox 29">
              <a:extLst>
                <a:ext uri="{FF2B5EF4-FFF2-40B4-BE49-F238E27FC236}">
                  <a16:creationId xmlns:a16="http://schemas.microsoft.com/office/drawing/2014/main" id="{8684AF9B-6999-1B89-4349-2F02BFB217B9}"/>
                </a:ext>
              </a:extLst>
            </p:cNvPr>
            <p:cNvSpPr txBox="1"/>
            <p:nvPr/>
          </p:nvSpPr>
          <p:spPr>
            <a:xfrm>
              <a:off x="3357420" y="2756356"/>
              <a:ext cx="981359" cy="430887"/>
            </a:xfrm>
            <a:prstGeom prst="rect">
              <a:avLst/>
            </a:prstGeom>
            <a:noFill/>
          </p:spPr>
          <p:txBody>
            <a:bodyPr wrap="none" rtlCol="0">
              <a:spAutoFit/>
            </a:bodyPr>
            <a:lstStyle/>
            <a:p>
              <a:pPr algn="ctr"/>
              <a:r>
                <a:rPr lang="en-US" sz="1100" b="1">
                  <a:solidFill>
                    <a:schemeClr val="bg1"/>
                  </a:solidFill>
                </a:rPr>
                <a:t>Is receiver</a:t>
              </a:r>
              <a:br>
                <a:rPr lang="en-US" sz="1100" b="1">
                  <a:solidFill>
                    <a:schemeClr val="bg1"/>
                  </a:solidFill>
                </a:rPr>
              </a:br>
              <a:r>
                <a:rPr lang="en-US" sz="1100" b="1">
                  <a:solidFill>
                    <a:schemeClr val="bg1"/>
                  </a:solidFill>
                </a:rPr>
                <a:t>active entity?</a:t>
              </a:r>
              <a:endParaRPr lang="en-US" sz="1100" b="1" dirty="0">
                <a:solidFill>
                  <a:schemeClr val="bg1"/>
                </a:solidFill>
              </a:endParaRPr>
            </a:p>
          </p:txBody>
        </p:sp>
      </p:grpSp>
      <p:sp>
        <p:nvSpPr>
          <p:cNvPr id="31" name="Rectangle 30">
            <a:extLst>
              <a:ext uri="{FF2B5EF4-FFF2-40B4-BE49-F238E27FC236}">
                <a16:creationId xmlns:a16="http://schemas.microsoft.com/office/drawing/2014/main" id="{B8947EBF-F7FD-24CE-2184-503075FDE47F}"/>
              </a:ext>
            </a:extLst>
          </p:cNvPr>
          <p:cNvSpPr/>
          <p:nvPr/>
        </p:nvSpPr>
        <p:spPr>
          <a:xfrm>
            <a:off x="6940608" y="3247330"/>
            <a:ext cx="1828800" cy="369093"/>
          </a:xfrm>
          <a:prstGeom prst="rect">
            <a:avLst/>
          </a:prstGeom>
          <a:ln w="12700">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sz="1200" b="1" dirty="0">
                <a:solidFill>
                  <a:schemeClr val="tx1"/>
                </a:solidFill>
              </a:rPr>
              <a:t>Fetch secret-key </a:t>
            </a:r>
          </a:p>
          <a:p>
            <a:pPr algn="ctr"/>
            <a:r>
              <a:rPr lang="en-US" sz="1200" b="1" dirty="0">
                <a:solidFill>
                  <a:schemeClr val="tx1"/>
                </a:solidFill>
              </a:rPr>
              <a:t>from the table</a:t>
            </a:r>
          </a:p>
        </p:txBody>
      </p:sp>
      <p:sp>
        <p:nvSpPr>
          <p:cNvPr id="32" name="Rectangle 31">
            <a:extLst>
              <a:ext uri="{FF2B5EF4-FFF2-40B4-BE49-F238E27FC236}">
                <a16:creationId xmlns:a16="http://schemas.microsoft.com/office/drawing/2014/main" id="{4BEF38D5-AD72-3484-DFA6-42E6C726444E}"/>
              </a:ext>
            </a:extLst>
          </p:cNvPr>
          <p:cNvSpPr/>
          <p:nvPr/>
        </p:nvSpPr>
        <p:spPr>
          <a:xfrm>
            <a:off x="6940608" y="3823422"/>
            <a:ext cx="1828800" cy="369093"/>
          </a:xfrm>
          <a:prstGeom prst="rect">
            <a:avLst/>
          </a:prstGeom>
          <a:ln w="12700">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sz="1200" b="1" dirty="0">
                <a:solidFill>
                  <a:schemeClr val="tx1"/>
                </a:solidFill>
              </a:rPr>
              <a:t>Compute Hash</a:t>
            </a:r>
          </a:p>
          <a:p>
            <a:pPr algn="ctr"/>
            <a:r>
              <a:rPr lang="en-US" sz="1200" b="1" dirty="0">
                <a:solidFill>
                  <a:schemeClr val="tx1"/>
                </a:solidFill>
              </a:rPr>
              <a:t>Hash = H (msg+ACB), Key)</a:t>
            </a:r>
          </a:p>
        </p:txBody>
      </p:sp>
      <p:grpSp>
        <p:nvGrpSpPr>
          <p:cNvPr id="34" name="Group 33">
            <a:extLst>
              <a:ext uri="{FF2B5EF4-FFF2-40B4-BE49-F238E27FC236}">
                <a16:creationId xmlns:a16="http://schemas.microsoft.com/office/drawing/2014/main" id="{B541F100-32D5-F75F-2563-9023439DDA7E}"/>
              </a:ext>
            </a:extLst>
          </p:cNvPr>
          <p:cNvGrpSpPr/>
          <p:nvPr/>
        </p:nvGrpSpPr>
        <p:grpSpPr>
          <a:xfrm>
            <a:off x="7207308" y="4435687"/>
            <a:ext cx="1295400" cy="914400"/>
            <a:chOff x="3200400" y="2514600"/>
            <a:chExt cx="1295400" cy="914400"/>
          </a:xfrm>
          <a:solidFill>
            <a:schemeClr val="accent1">
              <a:lumMod val="75000"/>
            </a:schemeClr>
          </a:solidFill>
        </p:grpSpPr>
        <p:sp>
          <p:nvSpPr>
            <p:cNvPr id="35" name="Diamond 34">
              <a:extLst>
                <a:ext uri="{FF2B5EF4-FFF2-40B4-BE49-F238E27FC236}">
                  <a16:creationId xmlns:a16="http://schemas.microsoft.com/office/drawing/2014/main" id="{7D6DF074-A955-06B0-1F0E-33754871CB00}"/>
                </a:ext>
              </a:extLst>
            </p:cNvPr>
            <p:cNvSpPr/>
            <p:nvPr/>
          </p:nvSpPr>
          <p:spPr>
            <a:xfrm>
              <a:off x="3200400" y="2514600"/>
              <a:ext cx="1295400" cy="914400"/>
            </a:xfrm>
            <a:prstGeom prst="diamon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36" name="TextBox 35">
              <a:extLst>
                <a:ext uri="{FF2B5EF4-FFF2-40B4-BE49-F238E27FC236}">
                  <a16:creationId xmlns:a16="http://schemas.microsoft.com/office/drawing/2014/main" id="{D32360A2-E96F-5CCD-F1BF-02CB0F0BDE1D}"/>
                </a:ext>
              </a:extLst>
            </p:cNvPr>
            <p:cNvSpPr txBox="1"/>
            <p:nvPr/>
          </p:nvSpPr>
          <p:spPr>
            <a:xfrm>
              <a:off x="3282080" y="2831263"/>
              <a:ext cx="1132041" cy="261610"/>
            </a:xfrm>
            <a:prstGeom prst="rect">
              <a:avLst/>
            </a:prstGeom>
            <a:noFill/>
          </p:spPr>
          <p:txBody>
            <a:bodyPr wrap="none" rtlCol="0">
              <a:spAutoFit/>
            </a:bodyPr>
            <a:lstStyle/>
            <a:p>
              <a:pPr algn="ctr"/>
              <a:r>
                <a:rPr lang="en-US" sz="1100" b="1" dirty="0">
                  <a:solidFill>
                    <a:schemeClr val="bg1"/>
                  </a:solidFill>
                </a:rPr>
                <a:t>Hash</a:t>
              </a:r>
              <a:r>
                <a:rPr lang="en-US" sz="1100" b="1" baseline="-25000" dirty="0">
                  <a:solidFill>
                    <a:schemeClr val="bg1"/>
                  </a:solidFill>
                </a:rPr>
                <a:t>1</a:t>
              </a:r>
              <a:r>
                <a:rPr lang="en-US" sz="1100" b="1" dirty="0">
                  <a:solidFill>
                    <a:schemeClr val="bg1"/>
                  </a:solidFill>
                </a:rPr>
                <a:t> == Hash</a:t>
              </a:r>
              <a:r>
                <a:rPr lang="en-US" sz="1100" b="1" baseline="-25000" dirty="0">
                  <a:solidFill>
                    <a:schemeClr val="bg1"/>
                  </a:solidFill>
                </a:rPr>
                <a:t>2</a:t>
              </a:r>
              <a:r>
                <a:rPr lang="en-US" sz="1100" b="1" dirty="0">
                  <a:solidFill>
                    <a:schemeClr val="bg1"/>
                  </a:solidFill>
                </a:rPr>
                <a:t>?</a:t>
              </a:r>
            </a:p>
          </p:txBody>
        </p:sp>
      </p:grpSp>
      <p:sp>
        <p:nvSpPr>
          <p:cNvPr id="37" name="Rectangle 36">
            <a:extLst>
              <a:ext uri="{FF2B5EF4-FFF2-40B4-BE49-F238E27FC236}">
                <a16:creationId xmlns:a16="http://schemas.microsoft.com/office/drawing/2014/main" id="{6F28EB19-6168-D7EB-570F-CF46B3B351D6}"/>
              </a:ext>
            </a:extLst>
          </p:cNvPr>
          <p:cNvSpPr/>
          <p:nvPr/>
        </p:nvSpPr>
        <p:spPr>
          <a:xfrm>
            <a:off x="6940608" y="6107907"/>
            <a:ext cx="1828800" cy="369093"/>
          </a:xfrm>
          <a:prstGeom prst="rect">
            <a:avLst/>
          </a:prstGeom>
          <a:ln w="12700">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sz="1200" b="1" dirty="0">
                <a:solidFill>
                  <a:schemeClr val="tx1"/>
                </a:solidFill>
              </a:rPr>
              <a:t>Process RPV</a:t>
            </a:r>
          </a:p>
        </p:txBody>
      </p:sp>
      <p:grpSp>
        <p:nvGrpSpPr>
          <p:cNvPr id="38" name="Group 37">
            <a:extLst>
              <a:ext uri="{FF2B5EF4-FFF2-40B4-BE49-F238E27FC236}">
                <a16:creationId xmlns:a16="http://schemas.microsoft.com/office/drawing/2014/main" id="{3BB6FE98-E77B-CB8A-0C66-F2B4BD820B77}"/>
              </a:ext>
            </a:extLst>
          </p:cNvPr>
          <p:cNvGrpSpPr/>
          <p:nvPr/>
        </p:nvGrpSpPr>
        <p:grpSpPr>
          <a:xfrm>
            <a:off x="9310132" y="2069507"/>
            <a:ext cx="1295400" cy="914400"/>
            <a:chOff x="3200400" y="2514600"/>
            <a:chExt cx="1295400" cy="914400"/>
          </a:xfrm>
          <a:solidFill>
            <a:schemeClr val="accent1">
              <a:lumMod val="75000"/>
            </a:schemeClr>
          </a:solidFill>
        </p:grpSpPr>
        <p:sp>
          <p:nvSpPr>
            <p:cNvPr id="39" name="Diamond 38">
              <a:extLst>
                <a:ext uri="{FF2B5EF4-FFF2-40B4-BE49-F238E27FC236}">
                  <a16:creationId xmlns:a16="http://schemas.microsoft.com/office/drawing/2014/main" id="{CFAE4305-BA6E-E510-9266-A155D8BC959F}"/>
                </a:ext>
              </a:extLst>
            </p:cNvPr>
            <p:cNvSpPr/>
            <p:nvPr/>
          </p:nvSpPr>
          <p:spPr>
            <a:xfrm>
              <a:off x="3200400" y="2514600"/>
              <a:ext cx="1295400" cy="914400"/>
            </a:xfrm>
            <a:prstGeom prst="diamon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40" name="TextBox 39">
              <a:extLst>
                <a:ext uri="{FF2B5EF4-FFF2-40B4-BE49-F238E27FC236}">
                  <a16:creationId xmlns:a16="http://schemas.microsoft.com/office/drawing/2014/main" id="{F21C6A4D-7A3F-A757-6D66-577A13AA75CC}"/>
                </a:ext>
              </a:extLst>
            </p:cNvPr>
            <p:cNvSpPr txBox="1"/>
            <p:nvPr/>
          </p:nvSpPr>
          <p:spPr>
            <a:xfrm>
              <a:off x="3326965" y="2835243"/>
              <a:ext cx="1042273" cy="261610"/>
            </a:xfrm>
            <a:prstGeom prst="rect">
              <a:avLst/>
            </a:prstGeom>
            <a:noFill/>
          </p:spPr>
          <p:txBody>
            <a:bodyPr wrap="none" rtlCol="0">
              <a:spAutoFit/>
            </a:bodyPr>
            <a:lstStyle/>
            <a:p>
              <a:pPr algn="ctr"/>
              <a:r>
                <a:rPr lang="en-US" sz="1100" b="1" dirty="0">
                  <a:solidFill>
                    <a:schemeClr val="bg1"/>
                  </a:solidFill>
                </a:rPr>
                <a:t>First message?</a:t>
              </a:r>
            </a:p>
          </p:txBody>
        </p:sp>
      </p:grpSp>
      <p:grpSp>
        <p:nvGrpSpPr>
          <p:cNvPr id="41" name="Group 40">
            <a:extLst>
              <a:ext uri="{FF2B5EF4-FFF2-40B4-BE49-F238E27FC236}">
                <a16:creationId xmlns:a16="http://schemas.microsoft.com/office/drawing/2014/main" id="{7F90FD53-5D62-8AF6-87A8-E6DF21990718}"/>
              </a:ext>
            </a:extLst>
          </p:cNvPr>
          <p:cNvGrpSpPr/>
          <p:nvPr/>
        </p:nvGrpSpPr>
        <p:grpSpPr>
          <a:xfrm>
            <a:off x="10376932" y="3155662"/>
            <a:ext cx="1295400" cy="914400"/>
            <a:chOff x="3200400" y="2514600"/>
            <a:chExt cx="1295400" cy="914400"/>
          </a:xfrm>
          <a:solidFill>
            <a:schemeClr val="accent1">
              <a:lumMod val="75000"/>
            </a:schemeClr>
          </a:solidFill>
        </p:grpSpPr>
        <p:sp>
          <p:nvSpPr>
            <p:cNvPr id="42" name="Diamond 41">
              <a:extLst>
                <a:ext uri="{FF2B5EF4-FFF2-40B4-BE49-F238E27FC236}">
                  <a16:creationId xmlns:a16="http://schemas.microsoft.com/office/drawing/2014/main" id="{063EB1D2-0503-6BC0-CA9D-F996E7988064}"/>
                </a:ext>
              </a:extLst>
            </p:cNvPr>
            <p:cNvSpPr/>
            <p:nvPr/>
          </p:nvSpPr>
          <p:spPr>
            <a:xfrm>
              <a:off x="3200400" y="2514600"/>
              <a:ext cx="1295400" cy="914400"/>
            </a:xfrm>
            <a:prstGeom prst="diamon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43" name="TextBox 42">
              <a:extLst>
                <a:ext uri="{FF2B5EF4-FFF2-40B4-BE49-F238E27FC236}">
                  <a16:creationId xmlns:a16="http://schemas.microsoft.com/office/drawing/2014/main" id="{2EE55705-3E19-F7FF-B8D1-F1E1206A66C4}"/>
                </a:ext>
              </a:extLst>
            </p:cNvPr>
            <p:cNvSpPr txBox="1"/>
            <p:nvPr/>
          </p:nvSpPr>
          <p:spPr>
            <a:xfrm>
              <a:off x="3469634" y="2831128"/>
              <a:ext cx="756937" cy="261610"/>
            </a:xfrm>
            <a:prstGeom prst="rect">
              <a:avLst/>
            </a:prstGeom>
            <a:grpFill/>
          </p:spPr>
          <p:txBody>
            <a:bodyPr wrap="none" rtlCol="0">
              <a:spAutoFit/>
            </a:bodyPr>
            <a:lstStyle/>
            <a:p>
              <a:pPr algn="ctr"/>
              <a:r>
                <a:rPr lang="en-US" sz="1100" b="1" dirty="0">
                  <a:solidFill>
                    <a:schemeClr val="bg1"/>
                  </a:solidFill>
                </a:rPr>
                <a:t>TS</a:t>
              </a:r>
              <a:r>
                <a:rPr lang="en-US" sz="1100" b="1" baseline="-25000" dirty="0">
                  <a:solidFill>
                    <a:schemeClr val="bg1"/>
                  </a:solidFill>
                </a:rPr>
                <a:t>1</a:t>
              </a:r>
              <a:r>
                <a:rPr lang="en-US" sz="1100" b="1" dirty="0">
                  <a:solidFill>
                    <a:schemeClr val="bg1"/>
                  </a:solidFill>
                </a:rPr>
                <a:t> &gt; TS</a:t>
              </a:r>
              <a:r>
                <a:rPr lang="en-US" sz="1100" b="1" baseline="-25000" dirty="0">
                  <a:solidFill>
                    <a:schemeClr val="bg1"/>
                  </a:solidFill>
                </a:rPr>
                <a:t>2</a:t>
              </a:r>
              <a:r>
                <a:rPr lang="en-US" sz="1100" b="1" dirty="0">
                  <a:solidFill>
                    <a:schemeClr val="bg1"/>
                  </a:solidFill>
                </a:rPr>
                <a:t>?</a:t>
              </a:r>
            </a:p>
          </p:txBody>
        </p:sp>
      </p:grpSp>
      <p:sp>
        <p:nvSpPr>
          <p:cNvPr id="44" name="Rectangle 43">
            <a:extLst>
              <a:ext uri="{FF2B5EF4-FFF2-40B4-BE49-F238E27FC236}">
                <a16:creationId xmlns:a16="http://schemas.microsoft.com/office/drawing/2014/main" id="{589F3F4F-FE75-66B4-A3EF-3E291EC553B2}"/>
              </a:ext>
            </a:extLst>
          </p:cNvPr>
          <p:cNvSpPr/>
          <p:nvPr/>
        </p:nvSpPr>
        <p:spPr>
          <a:xfrm>
            <a:off x="9043432" y="4425005"/>
            <a:ext cx="1828800" cy="369093"/>
          </a:xfrm>
          <a:prstGeom prst="rect">
            <a:avLst/>
          </a:prstGeom>
          <a:ln w="12700">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sz="1200" b="1" dirty="0">
                <a:solidFill>
                  <a:schemeClr val="tx1"/>
                </a:solidFill>
              </a:rPr>
              <a:t>TS</a:t>
            </a:r>
            <a:r>
              <a:rPr lang="en-US" sz="1200" b="1" baseline="-25000" dirty="0">
                <a:solidFill>
                  <a:schemeClr val="tx1"/>
                </a:solidFill>
              </a:rPr>
              <a:t>2</a:t>
            </a:r>
            <a:r>
              <a:rPr lang="en-US" sz="1200" b="1" dirty="0">
                <a:solidFill>
                  <a:schemeClr val="tx1"/>
                </a:solidFill>
              </a:rPr>
              <a:t> = new TS</a:t>
            </a:r>
            <a:r>
              <a:rPr lang="en-US" sz="1200" b="1" baseline="-25000" dirty="0">
                <a:solidFill>
                  <a:schemeClr val="tx1"/>
                </a:solidFill>
              </a:rPr>
              <a:t>1</a:t>
            </a:r>
            <a:r>
              <a:rPr lang="en-US" sz="1200" b="1" dirty="0">
                <a:solidFill>
                  <a:schemeClr val="tx1"/>
                </a:solidFill>
              </a:rPr>
              <a:t> value</a:t>
            </a:r>
          </a:p>
        </p:txBody>
      </p:sp>
      <p:sp>
        <p:nvSpPr>
          <p:cNvPr id="45" name="Rectangle 44">
            <a:extLst>
              <a:ext uri="{FF2B5EF4-FFF2-40B4-BE49-F238E27FC236}">
                <a16:creationId xmlns:a16="http://schemas.microsoft.com/office/drawing/2014/main" id="{3E966712-7E70-9C0E-4A94-6F3DEB1EAF5C}"/>
              </a:ext>
            </a:extLst>
          </p:cNvPr>
          <p:cNvSpPr/>
          <p:nvPr/>
        </p:nvSpPr>
        <p:spPr>
          <a:xfrm>
            <a:off x="9043432" y="6107907"/>
            <a:ext cx="1828800" cy="369093"/>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Accept Message</a:t>
            </a:r>
          </a:p>
        </p:txBody>
      </p:sp>
      <p:sp>
        <p:nvSpPr>
          <p:cNvPr id="46" name="Rectangle 45">
            <a:extLst>
              <a:ext uri="{FF2B5EF4-FFF2-40B4-BE49-F238E27FC236}">
                <a16:creationId xmlns:a16="http://schemas.microsoft.com/office/drawing/2014/main" id="{CF16C6F0-D9E3-3566-CBBC-ACF54C1282A0}"/>
              </a:ext>
            </a:extLst>
          </p:cNvPr>
          <p:cNvSpPr/>
          <p:nvPr/>
        </p:nvSpPr>
        <p:spPr>
          <a:xfrm>
            <a:off x="5286819" y="3759993"/>
            <a:ext cx="856361" cy="369093"/>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bg1"/>
                </a:solidFill>
              </a:rPr>
              <a:t>Discard Message</a:t>
            </a:r>
          </a:p>
        </p:txBody>
      </p:sp>
      <p:cxnSp>
        <p:nvCxnSpPr>
          <p:cNvPr id="48" name="Straight Arrow Connector 47">
            <a:extLst>
              <a:ext uri="{FF2B5EF4-FFF2-40B4-BE49-F238E27FC236}">
                <a16:creationId xmlns:a16="http://schemas.microsoft.com/office/drawing/2014/main" id="{D30B2D0B-21EF-5698-DC26-2A1AAE23FC27}"/>
              </a:ext>
            </a:extLst>
          </p:cNvPr>
          <p:cNvCxnSpPr>
            <a:stCxn id="7" idx="2"/>
            <a:endCxn id="8" idx="0"/>
          </p:cNvCxnSpPr>
          <p:nvPr/>
        </p:nvCxnSpPr>
        <p:spPr>
          <a:xfrm flipH="1">
            <a:off x="1295400" y="2453556"/>
            <a:ext cx="1" cy="21056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0B6AA877-FB78-7C55-F178-095275C7D2FA}"/>
              </a:ext>
            </a:extLst>
          </p:cNvPr>
          <p:cNvCxnSpPr>
            <a:stCxn id="8" idx="2"/>
            <a:endCxn id="10" idx="0"/>
          </p:cNvCxnSpPr>
          <p:nvPr/>
        </p:nvCxnSpPr>
        <p:spPr>
          <a:xfrm>
            <a:off x="1295400" y="3033209"/>
            <a:ext cx="0" cy="21056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87C73E69-E639-96B0-5D35-6D4A5A0DFE94}"/>
              </a:ext>
            </a:extLst>
          </p:cNvPr>
          <p:cNvCxnSpPr>
            <a:stCxn id="10" idx="2"/>
            <a:endCxn id="11" idx="0"/>
          </p:cNvCxnSpPr>
          <p:nvPr/>
        </p:nvCxnSpPr>
        <p:spPr>
          <a:xfrm>
            <a:off x="1295400" y="3612862"/>
            <a:ext cx="0" cy="21056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DFEE1BE9-589E-0A96-F662-CC315B216A46}"/>
              </a:ext>
            </a:extLst>
          </p:cNvPr>
          <p:cNvCxnSpPr>
            <a:stCxn id="11" idx="2"/>
            <a:endCxn id="12" idx="0"/>
          </p:cNvCxnSpPr>
          <p:nvPr/>
        </p:nvCxnSpPr>
        <p:spPr>
          <a:xfrm>
            <a:off x="1295400" y="4192515"/>
            <a:ext cx="0" cy="23249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6" name="Connector: Elbow 55">
            <a:extLst>
              <a:ext uri="{FF2B5EF4-FFF2-40B4-BE49-F238E27FC236}">
                <a16:creationId xmlns:a16="http://schemas.microsoft.com/office/drawing/2014/main" id="{C5C8ECF4-B410-37AA-FB30-3F5CD7F069C3}"/>
              </a:ext>
            </a:extLst>
          </p:cNvPr>
          <p:cNvCxnSpPr>
            <a:cxnSpLocks/>
            <a:stCxn id="12" idx="3"/>
            <a:endCxn id="16" idx="0"/>
          </p:cNvCxnSpPr>
          <p:nvPr/>
        </p:nvCxnSpPr>
        <p:spPr>
          <a:xfrm flipV="1">
            <a:off x="2209800" y="3767365"/>
            <a:ext cx="1143001" cy="842187"/>
          </a:xfrm>
          <a:prstGeom prst="bentConnector4">
            <a:avLst>
              <a:gd name="adj1" fmla="val 11667"/>
              <a:gd name="adj2" fmla="val 127144"/>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9DC7B828-79D1-E4AD-C72C-D26BD7CE892E}"/>
              </a:ext>
            </a:extLst>
          </p:cNvPr>
          <p:cNvCxnSpPr>
            <a:stCxn id="16" idx="2"/>
            <a:endCxn id="19" idx="0"/>
          </p:cNvCxnSpPr>
          <p:nvPr/>
        </p:nvCxnSpPr>
        <p:spPr>
          <a:xfrm flipH="1">
            <a:off x="3352800" y="4681765"/>
            <a:ext cx="1" cy="248467"/>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C85798D2-58A2-0B55-0B01-1EC45CC9E075}"/>
              </a:ext>
            </a:extLst>
          </p:cNvPr>
          <p:cNvCxnSpPr>
            <a:stCxn id="19" idx="2"/>
            <a:endCxn id="20" idx="0"/>
          </p:cNvCxnSpPr>
          <p:nvPr/>
        </p:nvCxnSpPr>
        <p:spPr>
          <a:xfrm>
            <a:off x="3352800" y="5299325"/>
            <a:ext cx="0" cy="206999"/>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90C491FC-D557-85D4-C7A0-DAEE1D783248}"/>
              </a:ext>
            </a:extLst>
          </p:cNvPr>
          <p:cNvCxnSpPr>
            <a:cxnSpLocks/>
            <a:stCxn id="20" idx="2"/>
            <a:endCxn id="21" idx="0"/>
          </p:cNvCxnSpPr>
          <p:nvPr/>
        </p:nvCxnSpPr>
        <p:spPr>
          <a:xfrm>
            <a:off x="3352800" y="5875417"/>
            <a:ext cx="0" cy="23249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025" name="Connector: Elbow 1024">
            <a:extLst>
              <a:ext uri="{FF2B5EF4-FFF2-40B4-BE49-F238E27FC236}">
                <a16:creationId xmlns:a16="http://schemas.microsoft.com/office/drawing/2014/main" id="{6E668ED7-F44F-C2BD-A894-B0F78B709149}"/>
              </a:ext>
            </a:extLst>
          </p:cNvPr>
          <p:cNvCxnSpPr>
            <a:cxnSpLocks/>
            <a:stCxn id="21" idx="3"/>
            <a:endCxn id="22" idx="1"/>
          </p:cNvCxnSpPr>
          <p:nvPr/>
        </p:nvCxnSpPr>
        <p:spPr>
          <a:xfrm flipV="1">
            <a:off x="4267200" y="2089547"/>
            <a:ext cx="533401" cy="4202907"/>
          </a:xfrm>
          <a:prstGeom prst="bentConnector3">
            <a:avLst>
              <a:gd name="adj1" fmla="val 50000"/>
            </a:avLst>
          </a:prstGeom>
          <a:ln>
            <a:solidFill>
              <a:schemeClr val="accent6">
                <a:lumMod val="60000"/>
                <a:lumOff val="40000"/>
              </a:schemeClr>
            </a:solidFill>
            <a:prstDash val="lgDashDotDot"/>
            <a:tailEnd type="triangle"/>
          </a:ln>
        </p:spPr>
        <p:style>
          <a:lnRef idx="1">
            <a:schemeClr val="accent1"/>
          </a:lnRef>
          <a:fillRef idx="0">
            <a:schemeClr val="accent1"/>
          </a:fillRef>
          <a:effectRef idx="0">
            <a:schemeClr val="accent1"/>
          </a:effectRef>
          <a:fontRef idx="minor">
            <a:schemeClr val="tx1"/>
          </a:fontRef>
        </p:style>
      </p:cxnSp>
      <p:cxnSp>
        <p:nvCxnSpPr>
          <p:cNvPr id="1031" name="Connector: Elbow 1030">
            <a:extLst>
              <a:ext uri="{FF2B5EF4-FFF2-40B4-BE49-F238E27FC236}">
                <a16:creationId xmlns:a16="http://schemas.microsoft.com/office/drawing/2014/main" id="{5712B063-1D81-6458-AFD2-98E39C1ADA06}"/>
              </a:ext>
            </a:extLst>
          </p:cNvPr>
          <p:cNvCxnSpPr>
            <a:stCxn id="22" idx="2"/>
            <a:endCxn id="25" idx="0"/>
          </p:cNvCxnSpPr>
          <p:nvPr/>
        </p:nvCxnSpPr>
        <p:spPr>
          <a:xfrm rot="16200000" flipH="1">
            <a:off x="5603944" y="2385149"/>
            <a:ext cx="222977" cy="86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35" name="Straight Arrow Connector 1034">
            <a:extLst>
              <a:ext uri="{FF2B5EF4-FFF2-40B4-BE49-F238E27FC236}">
                <a16:creationId xmlns:a16="http://schemas.microsoft.com/office/drawing/2014/main" id="{8ED11CB2-3AEC-D72E-C74B-CC5ABDC04EBB}"/>
              </a:ext>
            </a:extLst>
          </p:cNvPr>
          <p:cNvCxnSpPr>
            <a:stCxn id="23" idx="2"/>
            <a:endCxn id="27" idx="0"/>
          </p:cNvCxnSpPr>
          <p:nvPr/>
        </p:nvCxnSpPr>
        <p:spPr>
          <a:xfrm>
            <a:off x="5715001" y="4788693"/>
            <a:ext cx="0" cy="131921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038" name="Connector: Elbow 1037">
            <a:extLst>
              <a:ext uri="{FF2B5EF4-FFF2-40B4-BE49-F238E27FC236}">
                <a16:creationId xmlns:a16="http://schemas.microsoft.com/office/drawing/2014/main" id="{52017D34-019C-3EF5-4B82-81B19A21FF74}"/>
              </a:ext>
            </a:extLst>
          </p:cNvPr>
          <p:cNvCxnSpPr>
            <a:cxnSpLocks/>
            <a:stCxn id="27" idx="3"/>
            <a:endCxn id="29" idx="0"/>
          </p:cNvCxnSpPr>
          <p:nvPr/>
        </p:nvCxnSpPr>
        <p:spPr>
          <a:xfrm flipV="1">
            <a:off x="6629401" y="2084463"/>
            <a:ext cx="1225608" cy="4207991"/>
          </a:xfrm>
          <a:prstGeom prst="bentConnector4">
            <a:avLst>
              <a:gd name="adj1" fmla="val 7256"/>
              <a:gd name="adj2" fmla="val 105433"/>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041" name="Straight Arrow Connector 1040">
            <a:extLst>
              <a:ext uri="{FF2B5EF4-FFF2-40B4-BE49-F238E27FC236}">
                <a16:creationId xmlns:a16="http://schemas.microsoft.com/office/drawing/2014/main" id="{9E6162D8-5028-E666-FF47-B06F4EFACE6C}"/>
              </a:ext>
            </a:extLst>
          </p:cNvPr>
          <p:cNvCxnSpPr>
            <a:cxnSpLocks/>
            <a:stCxn id="29" idx="2"/>
            <a:endCxn id="31" idx="0"/>
          </p:cNvCxnSpPr>
          <p:nvPr/>
        </p:nvCxnSpPr>
        <p:spPr>
          <a:xfrm flipH="1">
            <a:off x="7855008" y="2998863"/>
            <a:ext cx="1" cy="248467"/>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043" name="Straight Arrow Connector 1042">
            <a:extLst>
              <a:ext uri="{FF2B5EF4-FFF2-40B4-BE49-F238E27FC236}">
                <a16:creationId xmlns:a16="http://schemas.microsoft.com/office/drawing/2014/main" id="{19A2B4DF-3168-4642-3050-C9F5E44D3FA6}"/>
              </a:ext>
            </a:extLst>
          </p:cNvPr>
          <p:cNvCxnSpPr>
            <a:stCxn id="31" idx="2"/>
            <a:endCxn id="32" idx="0"/>
          </p:cNvCxnSpPr>
          <p:nvPr/>
        </p:nvCxnSpPr>
        <p:spPr>
          <a:xfrm>
            <a:off x="7855008" y="3616423"/>
            <a:ext cx="0" cy="206999"/>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045" name="Straight Arrow Connector 1044">
            <a:extLst>
              <a:ext uri="{FF2B5EF4-FFF2-40B4-BE49-F238E27FC236}">
                <a16:creationId xmlns:a16="http://schemas.microsoft.com/office/drawing/2014/main" id="{D8581012-6095-704B-FDCC-6B9DBC481A4B}"/>
              </a:ext>
            </a:extLst>
          </p:cNvPr>
          <p:cNvCxnSpPr>
            <a:stCxn id="32" idx="2"/>
            <a:endCxn id="35" idx="0"/>
          </p:cNvCxnSpPr>
          <p:nvPr/>
        </p:nvCxnSpPr>
        <p:spPr>
          <a:xfrm>
            <a:off x="7855008" y="4192515"/>
            <a:ext cx="0" cy="243172"/>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050" name="Connector: Elbow 1049">
            <a:extLst>
              <a:ext uri="{FF2B5EF4-FFF2-40B4-BE49-F238E27FC236}">
                <a16:creationId xmlns:a16="http://schemas.microsoft.com/office/drawing/2014/main" id="{96C9DA6B-5FE1-1CF2-827B-0BE1B4086A4E}"/>
              </a:ext>
            </a:extLst>
          </p:cNvPr>
          <p:cNvCxnSpPr>
            <a:stCxn id="37" idx="3"/>
            <a:endCxn id="39" idx="0"/>
          </p:cNvCxnSpPr>
          <p:nvPr/>
        </p:nvCxnSpPr>
        <p:spPr>
          <a:xfrm flipV="1">
            <a:off x="8769408" y="2069507"/>
            <a:ext cx="1188424" cy="4222947"/>
          </a:xfrm>
          <a:prstGeom prst="bentConnector4">
            <a:avLst>
              <a:gd name="adj1" fmla="val 16338"/>
              <a:gd name="adj2" fmla="val 105413"/>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059" name="Rectangle 1058">
            <a:extLst>
              <a:ext uri="{FF2B5EF4-FFF2-40B4-BE49-F238E27FC236}">
                <a16:creationId xmlns:a16="http://schemas.microsoft.com/office/drawing/2014/main" id="{62A530F4-FAA5-5870-DB04-A4AB5EC0C0D4}"/>
              </a:ext>
            </a:extLst>
          </p:cNvPr>
          <p:cNvSpPr/>
          <p:nvPr/>
        </p:nvSpPr>
        <p:spPr>
          <a:xfrm>
            <a:off x="7426829" y="5574507"/>
            <a:ext cx="856361" cy="369093"/>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bg1"/>
                </a:solidFill>
              </a:rPr>
              <a:t>Discard Message</a:t>
            </a:r>
            <a:endParaRPr lang="en-US" sz="1200" b="1" dirty="0">
              <a:solidFill>
                <a:schemeClr val="bg1"/>
              </a:solidFill>
            </a:endParaRPr>
          </a:p>
        </p:txBody>
      </p:sp>
      <p:cxnSp>
        <p:nvCxnSpPr>
          <p:cNvPr id="1070" name="Connector: Elbow 1069">
            <a:extLst>
              <a:ext uri="{FF2B5EF4-FFF2-40B4-BE49-F238E27FC236}">
                <a16:creationId xmlns:a16="http://schemas.microsoft.com/office/drawing/2014/main" id="{B95C2821-25E8-61B8-CA86-2812093CFF0F}"/>
              </a:ext>
            </a:extLst>
          </p:cNvPr>
          <p:cNvCxnSpPr>
            <a:stCxn id="39" idx="3"/>
            <a:endCxn id="42" idx="0"/>
          </p:cNvCxnSpPr>
          <p:nvPr/>
        </p:nvCxnSpPr>
        <p:spPr>
          <a:xfrm>
            <a:off x="10605532" y="2526707"/>
            <a:ext cx="419100" cy="628955"/>
          </a:xfrm>
          <a:prstGeom prst="bentConnector2">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072" name="Straight Arrow Connector 1071">
            <a:extLst>
              <a:ext uri="{FF2B5EF4-FFF2-40B4-BE49-F238E27FC236}">
                <a16:creationId xmlns:a16="http://schemas.microsoft.com/office/drawing/2014/main" id="{402C46BE-34FC-B054-A5BF-749D064371A8}"/>
              </a:ext>
            </a:extLst>
          </p:cNvPr>
          <p:cNvCxnSpPr>
            <a:stCxn id="39" idx="2"/>
            <a:endCxn id="44" idx="0"/>
          </p:cNvCxnSpPr>
          <p:nvPr/>
        </p:nvCxnSpPr>
        <p:spPr>
          <a:xfrm>
            <a:off x="9957832" y="2983907"/>
            <a:ext cx="0" cy="144109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074" name="Straight Arrow Connector 1073">
            <a:extLst>
              <a:ext uri="{FF2B5EF4-FFF2-40B4-BE49-F238E27FC236}">
                <a16:creationId xmlns:a16="http://schemas.microsoft.com/office/drawing/2014/main" id="{40C9C81C-2ADF-DC80-0155-44E54F30DBAF}"/>
              </a:ext>
            </a:extLst>
          </p:cNvPr>
          <p:cNvCxnSpPr>
            <a:stCxn id="44" idx="2"/>
            <a:endCxn id="45" idx="0"/>
          </p:cNvCxnSpPr>
          <p:nvPr/>
        </p:nvCxnSpPr>
        <p:spPr>
          <a:xfrm>
            <a:off x="9957832" y="4794098"/>
            <a:ext cx="0" cy="1313809"/>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075" name="Rectangle 1074">
            <a:extLst>
              <a:ext uri="{FF2B5EF4-FFF2-40B4-BE49-F238E27FC236}">
                <a16:creationId xmlns:a16="http://schemas.microsoft.com/office/drawing/2014/main" id="{DF583664-E68A-BEEC-8D63-A420B86F1AF6}"/>
              </a:ext>
            </a:extLst>
          </p:cNvPr>
          <p:cNvSpPr/>
          <p:nvPr/>
        </p:nvSpPr>
        <p:spPr>
          <a:xfrm>
            <a:off x="10829502" y="5257800"/>
            <a:ext cx="856361" cy="369093"/>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bg1"/>
                </a:solidFill>
              </a:rPr>
              <a:t>Discard Message</a:t>
            </a:r>
          </a:p>
        </p:txBody>
      </p:sp>
      <p:cxnSp>
        <p:nvCxnSpPr>
          <p:cNvPr id="1077" name="Connector: Elbow 1076">
            <a:extLst>
              <a:ext uri="{FF2B5EF4-FFF2-40B4-BE49-F238E27FC236}">
                <a16:creationId xmlns:a16="http://schemas.microsoft.com/office/drawing/2014/main" id="{84D59399-24B8-3EBA-03FC-72CAC220D125}"/>
              </a:ext>
            </a:extLst>
          </p:cNvPr>
          <p:cNvCxnSpPr>
            <a:stCxn id="42" idx="2"/>
            <a:endCxn id="44" idx="3"/>
          </p:cNvCxnSpPr>
          <p:nvPr/>
        </p:nvCxnSpPr>
        <p:spPr>
          <a:xfrm rot="5400000">
            <a:off x="10678687" y="4263607"/>
            <a:ext cx="539490" cy="1524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90" name="Connector: Elbow 1089">
            <a:extLst>
              <a:ext uri="{FF2B5EF4-FFF2-40B4-BE49-F238E27FC236}">
                <a16:creationId xmlns:a16="http://schemas.microsoft.com/office/drawing/2014/main" id="{2225BEB6-85CD-E390-CFD5-6089F997B9AE}"/>
              </a:ext>
            </a:extLst>
          </p:cNvPr>
          <p:cNvCxnSpPr>
            <a:stCxn id="25" idx="1"/>
            <a:endCxn id="23" idx="1"/>
          </p:cNvCxnSpPr>
          <p:nvPr/>
        </p:nvCxnSpPr>
        <p:spPr>
          <a:xfrm rot="10800000" flipV="1">
            <a:off x="4800602" y="2954269"/>
            <a:ext cx="267563" cy="1649877"/>
          </a:xfrm>
          <a:prstGeom prst="bentConnector3">
            <a:avLst>
              <a:gd name="adj1" fmla="val 149839"/>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94" name="Straight Arrow Connector 1093">
            <a:extLst>
              <a:ext uri="{FF2B5EF4-FFF2-40B4-BE49-F238E27FC236}">
                <a16:creationId xmlns:a16="http://schemas.microsoft.com/office/drawing/2014/main" id="{FC055036-7153-F6FC-D18D-680770C686E6}"/>
              </a:ext>
            </a:extLst>
          </p:cNvPr>
          <p:cNvCxnSpPr>
            <a:stCxn id="25" idx="2"/>
            <a:endCxn id="46" idx="0"/>
          </p:cNvCxnSpPr>
          <p:nvPr/>
        </p:nvCxnSpPr>
        <p:spPr>
          <a:xfrm flipH="1">
            <a:off x="5715000" y="3411470"/>
            <a:ext cx="864" cy="3485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96" name="Connector: Elbow 1095">
            <a:extLst>
              <a:ext uri="{FF2B5EF4-FFF2-40B4-BE49-F238E27FC236}">
                <a16:creationId xmlns:a16="http://schemas.microsoft.com/office/drawing/2014/main" id="{DFFF0B3E-A408-6A7F-0647-64DD07213BAC}"/>
              </a:ext>
            </a:extLst>
          </p:cNvPr>
          <p:cNvCxnSpPr>
            <a:stCxn id="36" idx="1"/>
            <a:endCxn id="37" idx="1"/>
          </p:cNvCxnSpPr>
          <p:nvPr/>
        </p:nvCxnSpPr>
        <p:spPr>
          <a:xfrm rot="10800000" flipV="1">
            <a:off x="6940608" y="4883154"/>
            <a:ext cx="348380" cy="1409299"/>
          </a:xfrm>
          <a:prstGeom prst="bentConnector3">
            <a:avLst>
              <a:gd name="adj1" fmla="val 14101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101" name="Straight Arrow Connector 1100">
            <a:extLst>
              <a:ext uri="{FF2B5EF4-FFF2-40B4-BE49-F238E27FC236}">
                <a16:creationId xmlns:a16="http://schemas.microsoft.com/office/drawing/2014/main" id="{C645923E-7D21-1EBF-46C9-2F4EFCEF4170}"/>
              </a:ext>
            </a:extLst>
          </p:cNvPr>
          <p:cNvCxnSpPr>
            <a:stCxn id="35" idx="2"/>
            <a:endCxn id="1059" idx="0"/>
          </p:cNvCxnSpPr>
          <p:nvPr/>
        </p:nvCxnSpPr>
        <p:spPr>
          <a:xfrm>
            <a:off x="7855008" y="5350087"/>
            <a:ext cx="2" cy="2244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03" name="Connector: Elbow 1102">
            <a:extLst>
              <a:ext uri="{FF2B5EF4-FFF2-40B4-BE49-F238E27FC236}">
                <a16:creationId xmlns:a16="http://schemas.microsoft.com/office/drawing/2014/main" id="{04F3C2FE-C281-2807-40EF-63AC5E2F7B71}"/>
              </a:ext>
            </a:extLst>
          </p:cNvPr>
          <p:cNvCxnSpPr>
            <a:stCxn id="42" idx="3"/>
            <a:endCxn id="1075" idx="3"/>
          </p:cNvCxnSpPr>
          <p:nvPr/>
        </p:nvCxnSpPr>
        <p:spPr>
          <a:xfrm>
            <a:off x="11672332" y="3612862"/>
            <a:ext cx="13531" cy="1829485"/>
          </a:xfrm>
          <a:prstGeom prst="bentConnector3">
            <a:avLst>
              <a:gd name="adj1" fmla="val 1789454"/>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105" name="TextBox 1104">
            <a:extLst>
              <a:ext uri="{FF2B5EF4-FFF2-40B4-BE49-F238E27FC236}">
                <a16:creationId xmlns:a16="http://schemas.microsoft.com/office/drawing/2014/main" id="{995D1467-15A0-2E04-B9EB-D0C993C2FC7C}"/>
              </a:ext>
            </a:extLst>
          </p:cNvPr>
          <p:cNvSpPr txBox="1"/>
          <p:nvPr/>
        </p:nvSpPr>
        <p:spPr>
          <a:xfrm>
            <a:off x="4753022" y="2725551"/>
            <a:ext cx="367408" cy="246221"/>
          </a:xfrm>
          <a:prstGeom prst="rect">
            <a:avLst/>
          </a:prstGeom>
          <a:noFill/>
        </p:spPr>
        <p:txBody>
          <a:bodyPr wrap="none" rtlCol="0">
            <a:spAutoFit/>
          </a:bodyPr>
          <a:lstStyle/>
          <a:p>
            <a:r>
              <a:rPr lang="en-US" sz="1000" b="1" i="1" dirty="0">
                <a:solidFill>
                  <a:schemeClr val="accent2">
                    <a:lumMod val="75000"/>
                  </a:schemeClr>
                </a:solidFill>
              </a:rPr>
              <a:t>Yes</a:t>
            </a:r>
          </a:p>
        </p:txBody>
      </p:sp>
      <p:sp>
        <p:nvSpPr>
          <p:cNvPr id="1106" name="TextBox 1105">
            <a:extLst>
              <a:ext uri="{FF2B5EF4-FFF2-40B4-BE49-F238E27FC236}">
                <a16:creationId xmlns:a16="http://schemas.microsoft.com/office/drawing/2014/main" id="{F77608EB-AA73-FFB9-ACC3-E37EAA74BD1E}"/>
              </a:ext>
            </a:extLst>
          </p:cNvPr>
          <p:cNvSpPr txBox="1"/>
          <p:nvPr/>
        </p:nvSpPr>
        <p:spPr>
          <a:xfrm>
            <a:off x="3979803" y="4007969"/>
            <a:ext cx="336952" cy="246221"/>
          </a:xfrm>
          <a:prstGeom prst="rect">
            <a:avLst/>
          </a:prstGeom>
          <a:noFill/>
        </p:spPr>
        <p:txBody>
          <a:bodyPr wrap="none" rtlCol="0">
            <a:spAutoFit/>
          </a:bodyPr>
          <a:lstStyle/>
          <a:p>
            <a:r>
              <a:rPr lang="en-US" sz="1000" b="1" i="1" dirty="0">
                <a:solidFill>
                  <a:schemeClr val="accent2">
                    <a:lumMod val="75000"/>
                  </a:schemeClr>
                </a:solidFill>
              </a:rPr>
              <a:t>No</a:t>
            </a:r>
          </a:p>
        </p:txBody>
      </p:sp>
      <p:cxnSp>
        <p:nvCxnSpPr>
          <p:cNvPr id="1109" name="Connector: Elbow 1108">
            <a:extLst>
              <a:ext uri="{FF2B5EF4-FFF2-40B4-BE49-F238E27FC236}">
                <a16:creationId xmlns:a16="http://schemas.microsoft.com/office/drawing/2014/main" id="{AFCA6E52-0471-213E-4323-556EE48A73D3}"/>
              </a:ext>
            </a:extLst>
          </p:cNvPr>
          <p:cNvCxnSpPr>
            <a:stCxn id="16" idx="3"/>
            <a:endCxn id="20" idx="3"/>
          </p:cNvCxnSpPr>
          <p:nvPr/>
        </p:nvCxnSpPr>
        <p:spPr>
          <a:xfrm>
            <a:off x="4000501" y="4224565"/>
            <a:ext cx="266699" cy="1466306"/>
          </a:xfrm>
          <a:prstGeom prst="bentConnector3">
            <a:avLst>
              <a:gd name="adj1" fmla="val 157143"/>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111" name="TextBox 1110">
            <a:extLst>
              <a:ext uri="{FF2B5EF4-FFF2-40B4-BE49-F238E27FC236}">
                <a16:creationId xmlns:a16="http://schemas.microsoft.com/office/drawing/2014/main" id="{64F87B29-3CAC-5F25-BA48-F58BF57346C9}"/>
              </a:ext>
            </a:extLst>
          </p:cNvPr>
          <p:cNvSpPr txBox="1"/>
          <p:nvPr/>
        </p:nvSpPr>
        <p:spPr>
          <a:xfrm>
            <a:off x="5702384" y="3431876"/>
            <a:ext cx="336952" cy="246221"/>
          </a:xfrm>
          <a:prstGeom prst="rect">
            <a:avLst/>
          </a:prstGeom>
          <a:noFill/>
        </p:spPr>
        <p:txBody>
          <a:bodyPr wrap="none" rtlCol="0">
            <a:spAutoFit/>
          </a:bodyPr>
          <a:lstStyle/>
          <a:p>
            <a:r>
              <a:rPr lang="en-US" sz="1000" b="1" i="1" dirty="0">
                <a:solidFill>
                  <a:schemeClr val="accent2">
                    <a:lumMod val="75000"/>
                  </a:schemeClr>
                </a:solidFill>
              </a:rPr>
              <a:t>No</a:t>
            </a:r>
          </a:p>
        </p:txBody>
      </p:sp>
      <p:sp>
        <p:nvSpPr>
          <p:cNvPr id="1112" name="TextBox 1111">
            <a:extLst>
              <a:ext uri="{FF2B5EF4-FFF2-40B4-BE49-F238E27FC236}">
                <a16:creationId xmlns:a16="http://schemas.microsoft.com/office/drawing/2014/main" id="{B7152C86-B5A6-CAF3-5352-C46B83C7E515}"/>
              </a:ext>
            </a:extLst>
          </p:cNvPr>
          <p:cNvSpPr txBox="1"/>
          <p:nvPr/>
        </p:nvSpPr>
        <p:spPr>
          <a:xfrm>
            <a:off x="7863930" y="5302492"/>
            <a:ext cx="336952" cy="246221"/>
          </a:xfrm>
          <a:prstGeom prst="rect">
            <a:avLst/>
          </a:prstGeom>
          <a:noFill/>
        </p:spPr>
        <p:txBody>
          <a:bodyPr wrap="none" rtlCol="0">
            <a:spAutoFit/>
          </a:bodyPr>
          <a:lstStyle/>
          <a:p>
            <a:r>
              <a:rPr lang="en-US" sz="1000" b="1" i="1" dirty="0">
                <a:solidFill>
                  <a:schemeClr val="accent2">
                    <a:lumMod val="75000"/>
                  </a:schemeClr>
                </a:solidFill>
              </a:rPr>
              <a:t>No</a:t>
            </a:r>
          </a:p>
        </p:txBody>
      </p:sp>
      <p:sp>
        <p:nvSpPr>
          <p:cNvPr id="1113" name="TextBox 1112">
            <a:extLst>
              <a:ext uri="{FF2B5EF4-FFF2-40B4-BE49-F238E27FC236}">
                <a16:creationId xmlns:a16="http://schemas.microsoft.com/office/drawing/2014/main" id="{3327B099-9E3D-16DD-7E20-3057238D638C}"/>
              </a:ext>
            </a:extLst>
          </p:cNvPr>
          <p:cNvSpPr txBox="1"/>
          <p:nvPr/>
        </p:nvSpPr>
        <p:spPr>
          <a:xfrm>
            <a:off x="3518792" y="4637171"/>
            <a:ext cx="367408" cy="246221"/>
          </a:xfrm>
          <a:prstGeom prst="rect">
            <a:avLst/>
          </a:prstGeom>
          <a:noFill/>
        </p:spPr>
        <p:txBody>
          <a:bodyPr wrap="none" rtlCol="0">
            <a:spAutoFit/>
          </a:bodyPr>
          <a:lstStyle/>
          <a:p>
            <a:r>
              <a:rPr lang="en-US" sz="1000" b="1" i="1" dirty="0">
                <a:solidFill>
                  <a:schemeClr val="accent2">
                    <a:lumMod val="75000"/>
                  </a:schemeClr>
                </a:solidFill>
              </a:rPr>
              <a:t>Yes</a:t>
            </a:r>
          </a:p>
        </p:txBody>
      </p:sp>
      <p:sp>
        <p:nvSpPr>
          <p:cNvPr id="1114" name="TextBox 1113">
            <a:extLst>
              <a:ext uri="{FF2B5EF4-FFF2-40B4-BE49-F238E27FC236}">
                <a16:creationId xmlns:a16="http://schemas.microsoft.com/office/drawing/2014/main" id="{1302DD1D-0113-0791-7F02-BFD9987097DB}"/>
              </a:ext>
            </a:extLst>
          </p:cNvPr>
          <p:cNvSpPr txBox="1"/>
          <p:nvPr/>
        </p:nvSpPr>
        <p:spPr>
          <a:xfrm>
            <a:off x="6886990" y="4659176"/>
            <a:ext cx="367408" cy="246221"/>
          </a:xfrm>
          <a:prstGeom prst="rect">
            <a:avLst/>
          </a:prstGeom>
          <a:noFill/>
        </p:spPr>
        <p:txBody>
          <a:bodyPr wrap="none" rtlCol="0">
            <a:spAutoFit/>
          </a:bodyPr>
          <a:lstStyle/>
          <a:p>
            <a:r>
              <a:rPr lang="en-US" sz="1000" b="1" i="1" dirty="0">
                <a:solidFill>
                  <a:schemeClr val="accent2">
                    <a:lumMod val="75000"/>
                  </a:schemeClr>
                </a:solidFill>
              </a:rPr>
              <a:t>Yes</a:t>
            </a:r>
          </a:p>
        </p:txBody>
      </p:sp>
      <p:sp>
        <p:nvSpPr>
          <p:cNvPr id="1115" name="TextBox 1114">
            <a:extLst>
              <a:ext uri="{FF2B5EF4-FFF2-40B4-BE49-F238E27FC236}">
                <a16:creationId xmlns:a16="http://schemas.microsoft.com/office/drawing/2014/main" id="{E56B3CC3-3FA4-F44A-AA9F-C7D1C17C6407}"/>
              </a:ext>
            </a:extLst>
          </p:cNvPr>
          <p:cNvSpPr txBox="1"/>
          <p:nvPr/>
        </p:nvSpPr>
        <p:spPr>
          <a:xfrm>
            <a:off x="9919732" y="2999985"/>
            <a:ext cx="367408" cy="246221"/>
          </a:xfrm>
          <a:prstGeom prst="rect">
            <a:avLst/>
          </a:prstGeom>
          <a:noFill/>
        </p:spPr>
        <p:txBody>
          <a:bodyPr wrap="none" rtlCol="0">
            <a:spAutoFit/>
          </a:bodyPr>
          <a:lstStyle/>
          <a:p>
            <a:r>
              <a:rPr lang="en-US" sz="1000" b="1" i="1" dirty="0">
                <a:solidFill>
                  <a:schemeClr val="accent2">
                    <a:lumMod val="75000"/>
                  </a:schemeClr>
                </a:solidFill>
              </a:rPr>
              <a:t>Yes</a:t>
            </a:r>
          </a:p>
        </p:txBody>
      </p:sp>
      <p:sp>
        <p:nvSpPr>
          <p:cNvPr id="1116" name="TextBox 1115">
            <a:extLst>
              <a:ext uri="{FF2B5EF4-FFF2-40B4-BE49-F238E27FC236}">
                <a16:creationId xmlns:a16="http://schemas.microsoft.com/office/drawing/2014/main" id="{019BCD89-D42C-3373-E716-04C906304154}"/>
              </a:ext>
            </a:extLst>
          </p:cNvPr>
          <p:cNvSpPr txBox="1"/>
          <p:nvPr/>
        </p:nvSpPr>
        <p:spPr>
          <a:xfrm>
            <a:off x="10646463" y="2295441"/>
            <a:ext cx="336952" cy="246221"/>
          </a:xfrm>
          <a:prstGeom prst="rect">
            <a:avLst/>
          </a:prstGeom>
          <a:noFill/>
        </p:spPr>
        <p:txBody>
          <a:bodyPr wrap="none" rtlCol="0">
            <a:spAutoFit/>
          </a:bodyPr>
          <a:lstStyle/>
          <a:p>
            <a:r>
              <a:rPr lang="en-US" sz="1000" b="1" i="1" dirty="0">
                <a:solidFill>
                  <a:schemeClr val="accent2">
                    <a:lumMod val="75000"/>
                  </a:schemeClr>
                </a:solidFill>
              </a:rPr>
              <a:t>No</a:t>
            </a:r>
          </a:p>
        </p:txBody>
      </p:sp>
      <p:sp>
        <p:nvSpPr>
          <p:cNvPr id="1117" name="TextBox 1116">
            <a:extLst>
              <a:ext uri="{FF2B5EF4-FFF2-40B4-BE49-F238E27FC236}">
                <a16:creationId xmlns:a16="http://schemas.microsoft.com/office/drawing/2014/main" id="{88B3B5E7-0C5A-8F6F-32FF-69C139F1F9F1}"/>
              </a:ext>
            </a:extLst>
          </p:cNvPr>
          <p:cNvSpPr txBox="1"/>
          <p:nvPr/>
        </p:nvSpPr>
        <p:spPr>
          <a:xfrm>
            <a:off x="11626448" y="3372414"/>
            <a:ext cx="336952" cy="246221"/>
          </a:xfrm>
          <a:prstGeom prst="rect">
            <a:avLst/>
          </a:prstGeom>
          <a:noFill/>
        </p:spPr>
        <p:txBody>
          <a:bodyPr wrap="none" rtlCol="0">
            <a:spAutoFit/>
          </a:bodyPr>
          <a:lstStyle/>
          <a:p>
            <a:r>
              <a:rPr lang="en-US" sz="1000" b="1" i="1" dirty="0">
                <a:solidFill>
                  <a:schemeClr val="accent2">
                    <a:lumMod val="75000"/>
                  </a:schemeClr>
                </a:solidFill>
              </a:rPr>
              <a:t>No</a:t>
            </a:r>
          </a:p>
        </p:txBody>
      </p:sp>
      <p:sp>
        <p:nvSpPr>
          <p:cNvPr id="1118" name="TextBox 1117">
            <a:extLst>
              <a:ext uri="{FF2B5EF4-FFF2-40B4-BE49-F238E27FC236}">
                <a16:creationId xmlns:a16="http://schemas.microsoft.com/office/drawing/2014/main" id="{7D61F3B0-B5C9-F8F9-6D50-E6CA0CE59260}"/>
              </a:ext>
            </a:extLst>
          </p:cNvPr>
          <p:cNvSpPr txBox="1"/>
          <p:nvPr/>
        </p:nvSpPr>
        <p:spPr>
          <a:xfrm>
            <a:off x="10969879" y="4135294"/>
            <a:ext cx="367408" cy="246221"/>
          </a:xfrm>
          <a:prstGeom prst="rect">
            <a:avLst/>
          </a:prstGeom>
          <a:noFill/>
        </p:spPr>
        <p:txBody>
          <a:bodyPr wrap="none" rtlCol="0">
            <a:spAutoFit/>
          </a:bodyPr>
          <a:lstStyle/>
          <a:p>
            <a:r>
              <a:rPr lang="en-US" sz="1000" b="1" i="1" dirty="0">
                <a:solidFill>
                  <a:schemeClr val="accent2">
                    <a:lumMod val="75000"/>
                  </a:schemeClr>
                </a:solidFill>
              </a:rPr>
              <a:t>Yes</a:t>
            </a:r>
          </a:p>
        </p:txBody>
      </p:sp>
      <p:pic>
        <p:nvPicPr>
          <p:cNvPr id="1119" name="Picture 1118">
            <a:extLst>
              <a:ext uri="{FF2B5EF4-FFF2-40B4-BE49-F238E27FC236}">
                <a16:creationId xmlns:a16="http://schemas.microsoft.com/office/drawing/2014/main" id="{5328D6FF-CD1C-2248-5623-7394C7F2E2D7}"/>
              </a:ext>
            </a:extLst>
          </p:cNvPr>
          <p:cNvPicPr>
            <a:picLocks noChangeAspect="1"/>
          </p:cNvPicPr>
          <p:nvPr/>
        </p:nvPicPr>
        <p:blipFill>
          <a:blip r:embed="rId7"/>
          <a:stretch>
            <a:fillRect/>
          </a:stretch>
        </p:blipFill>
        <p:spPr>
          <a:xfrm>
            <a:off x="5330909" y="1003954"/>
            <a:ext cx="742950" cy="819150"/>
          </a:xfrm>
          <a:prstGeom prst="rect">
            <a:avLst/>
          </a:prstGeom>
        </p:spPr>
      </p:pic>
      <p:cxnSp>
        <p:nvCxnSpPr>
          <p:cNvPr id="1121" name="Straight Arrow Connector 1120">
            <a:extLst>
              <a:ext uri="{FF2B5EF4-FFF2-40B4-BE49-F238E27FC236}">
                <a16:creationId xmlns:a16="http://schemas.microsoft.com/office/drawing/2014/main" id="{7891E994-9B25-EFFD-E9C4-3B8811ACF5D1}"/>
              </a:ext>
            </a:extLst>
          </p:cNvPr>
          <p:cNvCxnSpPr>
            <a:stCxn id="4" idx="2"/>
            <a:endCxn id="7" idx="0"/>
          </p:cNvCxnSpPr>
          <p:nvPr/>
        </p:nvCxnSpPr>
        <p:spPr>
          <a:xfrm>
            <a:off x="1295401" y="1890985"/>
            <a:ext cx="0" cy="19347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124" name="Connector: Elbow 1123">
            <a:extLst>
              <a:ext uri="{FF2B5EF4-FFF2-40B4-BE49-F238E27FC236}">
                <a16:creationId xmlns:a16="http://schemas.microsoft.com/office/drawing/2014/main" id="{D58FA5B2-A512-04A3-FB36-0D0D59463441}"/>
              </a:ext>
            </a:extLst>
          </p:cNvPr>
          <p:cNvCxnSpPr>
            <a:stCxn id="29" idx="3"/>
            <a:endCxn id="32" idx="3"/>
          </p:cNvCxnSpPr>
          <p:nvPr/>
        </p:nvCxnSpPr>
        <p:spPr>
          <a:xfrm>
            <a:off x="8502709" y="2541663"/>
            <a:ext cx="266699" cy="1466306"/>
          </a:xfrm>
          <a:prstGeom prst="bentConnector3">
            <a:avLst>
              <a:gd name="adj1" fmla="val 15000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128" name="TextBox 1127">
            <a:extLst>
              <a:ext uri="{FF2B5EF4-FFF2-40B4-BE49-F238E27FC236}">
                <a16:creationId xmlns:a16="http://schemas.microsoft.com/office/drawing/2014/main" id="{3F630682-B7E3-1A28-0695-0579E00984BE}"/>
              </a:ext>
            </a:extLst>
          </p:cNvPr>
          <p:cNvSpPr txBox="1"/>
          <p:nvPr/>
        </p:nvSpPr>
        <p:spPr>
          <a:xfrm>
            <a:off x="7845232" y="2942491"/>
            <a:ext cx="367408" cy="246221"/>
          </a:xfrm>
          <a:prstGeom prst="rect">
            <a:avLst/>
          </a:prstGeom>
          <a:noFill/>
        </p:spPr>
        <p:txBody>
          <a:bodyPr wrap="none" rtlCol="0">
            <a:spAutoFit/>
          </a:bodyPr>
          <a:lstStyle/>
          <a:p>
            <a:r>
              <a:rPr lang="en-US" sz="1000" b="1" i="1" dirty="0">
                <a:solidFill>
                  <a:schemeClr val="accent2">
                    <a:lumMod val="75000"/>
                  </a:schemeClr>
                </a:solidFill>
              </a:rPr>
              <a:t>Yes</a:t>
            </a:r>
          </a:p>
        </p:txBody>
      </p:sp>
      <p:sp>
        <p:nvSpPr>
          <p:cNvPr id="1129" name="TextBox 1128">
            <a:extLst>
              <a:ext uri="{FF2B5EF4-FFF2-40B4-BE49-F238E27FC236}">
                <a16:creationId xmlns:a16="http://schemas.microsoft.com/office/drawing/2014/main" id="{5ED20864-596E-8C05-6663-E373FD5E7EBA}"/>
              </a:ext>
            </a:extLst>
          </p:cNvPr>
          <p:cNvSpPr txBox="1"/>
          <p:nvPr/>
        </p:nvSpPr>
        <p:spPr>
          <a:xfrm>
            <a:off x="8460795" y="2317105"/>
            <a:ext cx="336952" cy="246221"/>
          </a:xfrm>
          <a:prstGeom prst="rect">
            <a:avLst/>
          </a:prstGeom>
          <a:noFill/>
        </p:spPr>
        <p:txBody>
          <a:bodyPr wrap="none" rtlCol="0">
            <a:spAutoFit/>
          </a:bodyPr>
          <a:lstStyle/>
          <a:p>
            <a:r>
              <a:rPr lang="en-US" sz="1000" b="1" i="1" dirty="0">
                <a:solidFill>
                  <a:schemeClr val="accent2">
                    <a:lumMod val="75000"/>
                  </a:schemeClr>
                </a:solidFill>
              </a:rPr>
              <a:t>No</a:t>
            </a:r>
          </a:p>
        </p:txBody>
      </p:sp>
    </p:spTree>
    <p:custDataLst>
      <p:tags r:id="rId1"/>
    </p:custDataLst>
    <p:extLst>
      <p:ext uri="{BB962C8B-B14F-4D97-AF65-F5344CB8AC3E}">
        <p14:creationId xmlns:p14="http://schemas.microsoft.com/office/powerpoint/2010/main" val="19268462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fauzisukiman\Desktop\template pp USM\page 2 n seterusnya\Header.jpg"/>
          <p:cNvPicPr>
            <a:picLocks noChangeAspect="1" noChangeArrowheads="1"/>
          </p:cNvPicPr>
          <p:nvPr/>
        </p:nvPicPr>
        <p:blipFill rotWithShape="1">
          <a:blip r:embed="rId4" cstate="print"/>
          <a:srcRect l="14375"/>
          <a:stretch/>
        </p:blipFill>
        <p:spPr bwMode="auto">
          <a:xfrm>
            <a:off x="1268881" y="0"/>
            <a:ext cx="10923119" cy="822960"/>
          </a:xfrm>
          <a:prstGeom prst="rect">
            <a:avLst/>
          </a:prstGeom>
          <a:noFill/>
        </p:spPr>
      </p:pic>
      <p:sp>
        <p:nvSpPr>
          <p:cNvPr id="6" name="Rectangle 5"/>
          <p:cNvSpPr/>
          <p:nvPr/>
        </p:nvSpPr>
        <p:spPr>
          <a:xfrm>
            <a:off x="1447800" y="76200"/>
            <a:ext cx="10363200" cy="707886"/>
          </a:xfrm>
          <a:prstGeom prst="rect">
            <a:avLst/>
          </a:prstGeom>
        </p:spPr>
        <p:txBody>
          <a:bodyPr wrap="square">
            <a:spAutoFit/>
          </a:bodyPr>
          <a:lstStyle/>
          <a:p>
            <a:r>
              <a:rPr lang="en-US" sz="4000" b="1" i="1" dirty="0">
                <a:solidFill>
                  <a:schemeClr val="bg1"/>
                </a:solidFill>
              </a:rPr>
              <a:t>Experimental Setup: Testbed</a:t>
            </a:r>
          </a:p>
        </p:txBody>
      </p:sp>
      <p:sp>
        <p:nvSpPr>
          <p:cNvPr id="2" name="Slide Number Placeholder 1"/>
          <p:cNvSpPr>
            <a:spLocks noGrp="1"/>
          </p:cNvSpPr>
          <p:nvPr>
            <p:ph type="sldNum" sz="quarter" idx="12"/>
          </p:nvPr>
        </p:nvSpPr>
        <p:spPr>
          <a:xfrm>
            <a:off x="9906000" y="6472826"/>
            <a:ext cx="2133600" cy="365125"/>
          </a:xfrm>
        </p:spPr>
        <p:txBody>
          <a:bodyPr/>
          <a:lstStyle/>
          <a:p>
            <a:fld id="{D4B39A3D-6E5B-421C-AA99-AA75690A48C6}" type="slidenum">
              <a:rPr lang="en-US" smtClean="0"/>
              <a:pPr/>
              <a:t>13</a:t>
            </a:fld>
            <a:endParaRPr lang="en-US" dirty="0"/>
          </a:p>
        </p:txBody>
      </p:sp>
      <p:pic>
        <p:nvPicPr>
          <p:cNvPr id="9" name="Picture 3"/>
          <p:cNvPicPr>
            <a:picLocks noChangeAspect="1" noChangeArrowheads="1"/>
          </p:cNvPicPr>
          <p:nvPr/>
        </p:nvPicPr>
        <p:blipFill>
          <a:blip r:embed="rId5" cstate="print">
            <a:clrChange>
              <a:clrFrom>
                <a:srgbClr val="FDFDFD"/>
              </a:clrFrom>
              <a:clrTo>
                <a:srgbClr val="FDFDFD">
                  <a:alpha val="0"/>
                </a:srgbClr>
              </a:clrTo>
            </a:clrChange>
          </a:blip>
          <a:srcRect/>
          <a:stretch>
            <a:fillRect/>
          </a:stretch>
        </p:blipFill>
        <p:spPr bwMode="auto">
          <a:xfrm>
            <a:off x="0" y="-1224"/>
            <a:ext cx="1268881" cy="824184"/>
          </a:xfrm>
          <a:prstGeom prst="rect">
            <a:avLst/>
          </a:prstGeom>
          <a:noFill/>
          <a:ln w="9525">
            <a:noFill/>
            <a:miter lim="800000"/>
            <a:headEnd/>
            <a:tailEnd/>
          </a:ln>
          <a:effectLst/>
        </p:spPr>
      </p:pic>
      <p:pic>
        <p:nvPicPr>
          <p:cNvPr id="10" name="Picture 9">
            <a:extLst>
              <a:ext uri="{FF2B5EF4-FFF2-40B4-BE49-F238E27FC236}">
                <a16:creationId xmlns:a16="http://schemas.microsoft.com/office/drawing/2014/main" id="{D3187752-C02F-9441-3457-3D6E29F8C8EA}"/>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029999" y="1371600"/>
            <a:ext cx="5334000" cy="3423031"/>
          </a:xfrm>
          <a:prstGeom prst="rect">
            <a:avLst/>
          </a:prstGeom>
          <a:noFill/>
          <a:ln>
            <a:solidFill>
              <a:schemeClr val="tx1"/>
            </a:solidFill>
          </a:ln>
        </p:spPr>
      </p:pic>
      <p:grpSp>
        <p:nvGrpSpPr>
          <p:cNvPr id="18" name="Group 17">
            <a:extLst>
              <a:ext uri="{FF2B5EF4-FFF2-40B4-BE49-F238E27FC236}">
                <a16:creationId xmlns:a16="http://schemas.microsoft.com/office/drawing/2014/main" id="{9CB99E80-DAAC-BC7E-DE25-27A3E6DB82C0}"/>
              </a:ext>
            </a:extLst>
          </p:cNvPr>
          <p:cNvGrpSpPr/>
          <p:nvPr/>
        </p:nvGrpSpPr>
        <p:grpSpPr>
          <a:xfrm>
            <a:off x="7536161" y="1447800"/>
            <a:ext cx="3744642" cy="1115058"/>
            <a:chOff x="7913958" y="1400175"/>
            <a:chExt cx="3744642" cy="1115058"/>
          </a:xfrm>
        </p:grpSpPr>
        <p:grpSp>
          <p:nvGrpSpPr>
            <p:cNvPr id="3" name="Group 2">
              <a:extLst>
                <a:ext uri="{FF2B5EF4-FFF2-40B4-BE49-F238E27FC236}">
                  <a16:creationId xmlns:a16="http://schemas.microsoft.com/office/drawing/2014/main" id="{3A9421C3-4E4D-524E-EC14-804EAC28FAE3}"/>
                </a:ext>
              </a:extLst>
            </p:cNvPr>
            <p:cNvGrpSpPr/>
            <p:nvPr/>
          </p:nvGrpSpPr>
          <p:grpSpPr>
            <a:xfrm>
              <a:off x="7913958" y="1400175"/>
              <a:ext cx="3744642" cy="1115058"/>
              <a:chOff x="6506061" y="3488840"/>
              <a:chExt cx="3744642" cy="1115058"/>
            </a:xfrm>
          </p:grpSpPr>
          <p:sp>
            <p:nvSpPr>
              <p:cNvPr id="4" name="Rectangle 3">
                <a:extLst>
                  <a:ext uri="{FF2B5EF4-FFF2-40B4-BE49-F238E27FC236}">
                    <a16:creationId xmlns:a16="http://schemas.microsoft.com/office/drawing/2014/main" id="{C0394D9B-988F-8736-828F-F12E11BBE42E}"/>
                  </a:ext>
                </a:extLst>
              </p:cNvPr>
              <p:cNvSpPr/>
              <p:nvPr/>
            </p:nvSpPr>
            <p:spPr>
              <a:xfrm>
                <a:off x="6858267" y="3488840"/>
                <a:ext cx="3392436" cy="111505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dirty="0"/>
              </a:p>
            </p:txBody>
          </p:sp>
          <p:sp>
            <p:nvSpPr>
              <p:cNvPr id="5" name="TextBox 4">
                <a:extLst>
                  <a:ext uri="{FF2B5EF4-FFF2-40B4-BE49-F238E27FC236}">
                    <a16:creationId xmlns:a16="http://schemas.microsoft.com/office/drawing/2014/main" id="{C718C3A9-2996-35BF-C28F-235D52C701D5}"/>
                  </a:ext>
                </a:extLst>
              </p:cNvPr>
              <p:cNvSpPr txBox="1"/>
              <p:nvPr/>
            </p:nvSpPr>
            <p:spPr>
              <a:xfrm>
                <a:off x="7711574" y="3529013"/>
                <a:ext cx="2469373" cy="153888"/>
              </a:xfrm>
              <a:prstGeom prst="rect">
                <a:avLst/>
              </a:prstGeom>
              <a:noFill/>
            </p:spPr>
            <p:txBody>
              <a:bodyPr wrap="square" lIns="0" tIns="0" rIns="0" bIns="0" rtlCol="0">
                <a:spAutoFit/>
              </a:bodyPr>
              <a:lstStyle/>
              <a:p>
                <a:pPr algn="r"/>
                <a:r>
                  <a:rPr lang="en-US" sz="1000" b="1" dirty="0"/>
                  <a:t>Testbed Design and Performance Evaluation </a:t>
                </a:r>
                <a:endParaRPr lang="en-MY" sz="1000" b="1" dirty="0"/>
              </a:p>
            </p:txBody>
          </p:sp>
          <p:sp>
            <p:nvSpPr>
              <p:cNvPr id="7" name="Rectangle 6">
                <a:extLst>
                  <a:ext uri="{FF2B5EF4-FFF2-40B4-BE49-F238E27FC236}">
                    <a16:creationId xmlns:a16="http://schemas.microsoft.com/office/drawing/2014/main" id="{871BA3B6-C9DD-7766-D6EF-E537E7394AF1}"/>
                  </a:ext>
                </a:extLst>
              </p:cNvPr>
              <p:cNvSpPr/>
              <p:nvPr/>
            </p:nvSpPr>
            <p:spPr>
              <a:xfrm rot="10800000">
                <a:off x="6506061" y="3488840"/>
                <a:ext cx="372944" cy="1115058"/>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en-US" sz="1400" b="1" dirty="0"/>
                  <a:t>Stage Four</a:t>
                </a:r>
                <a:endParaRPr lang="en-MY" sz="1400" b="1" dirty="0"/>
              </a:p>
            </p:txBody>
          </p:sp>
        </p:grpSp>
        <p:sp>
          <p:nvSpPr>
            <p:cNvPr id="8" name="Rectangle 7">
              <a:extLst>
                <a:ext uri="{FF2B5EF4-FFF2-40B4-BE49-F238E27FC236}">
                  <a16:creationId xmlns:a16="http://schemas.microsoft.com/office/drawing/2014/main" id="{E5EAE740-6CEF-016E-522E-B76802223009}"/>
                </a:ext>
              </a:extLst>
            </p:cNvPr>
            <p:cNvSpPr/>
            <p:nvPr/>
          </p:nvSpPr>
          <p:spPr>
            <a:xfrm>
              <a:off x="8341335" y="1644617"/>
              <a:ext cx="1580515" cy="337216"/>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t>Normal Scenarios</a:t>
              </a:r>
              <a:endParaRPr lang="en-MY" sz="1000" b="1" dirty="0"/>
            </a:p>
          </p:txBody>
        </p:sp>
        <p:sp>
          <p:nvSpPr>
            <p:cNvPr id="11" name="Rectangle 10">
              <a:extLst>
                <a:ext uri="{FF2B5EF4-FFF2-40B4-BE49-F238E27FC236}">
                  <a16:creationId xmlns:a16="http://schemas.microsoft.com/office/drawing/2014/main" id="{4DB98F44-ED58-8C2D-CFA2-C1722A7E35D9}"/>
                </a:ext>
              </a:extLst>
            </p:cNvPr>
            <p:cNvSpPr/>
            <p:nvPr/>
          </p:nvSpPr>
          <p:spPr>
            <a:xfrm>
              <a:off x="9998472" y="2095467"/>
              <a:ext cx="522359" cy="337216"/>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b="1" dirty="0"/>
                <a:t>DoS</a:t>
              </a:r>
            </a:p>
          </p:txBody>
        </p:sp>
        <p:sp>
          <p:nvSpPr>
            <p:cNvPr id="12" name="Rectangle 11">
              <a:extLst>
                <a:ext uri="{FF2B5EF4-FFF2-40B4-BE49-F238E27FC236}">
                  <a16:creationId xmlns:a16="http://schemas.microsoft.com/office/drawing/2014/main" id="{FD5F9449-B2D5-1B7B-C023-6238D36C21D5}"/>
                </a:ext>
              </a:extLst>
            </p:cNvPr>
            <p:cNvSpPr/>
            <p:nvPr/>
          </p:nvSpPr>
          <p:spPr>
            <a:xfrm>
              <a:off x="9998473" y="1644617"/>
              <a:ext cx="1601738" cy="337216"/>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b="1" dirty="0"/>
                <a:t>Attack Scenarios</a:t>
              </a:r>
              <a:endParaRPr lang="en-MY" sz="1000" b="1" dirty="0"/>
            </a:p>
          </p:txBody>
        </p:sp>
        <p:sp>
          <p:nvSpPr>
            <p:cNvPr id="13" name="Rectangle 12">
              <a:extLst>
                <a:ext uri="{FF2B5EF4-FFF2-40B4-BE49-F238E27FC236}">
                  <a16:creationId xmlns:a16="http://schemas.microsoft.com/office/drawing/2014/main" id="{C496704F-75D4-BC5D-FF06-C83AFB5D56F7}"/>
                </a:ext>
              </a:extLst>
            </p:cNvPr>
            <p:cNvSpPr/>
            <p:nvPr/>
          </p:nvSpPr>
          <p:spPr>
            <a:xfrm>
              <a:off x="10554000" y="2097649"/>
              <a:ext cx="504249" cy="337216"/>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b="1" dirty="0"/>
                <a:t>Replay</a:t>
              </a:r>
            </a:p>
          </p:txBody>
        </p:sp>
        <p:sp>
          <p:nvSpPr>
            <p:cNvPr id="14" name="Rectangle 13">
              <a:extLst>
                <a:ext uri="{FF2B5EF4-FFF2-40B4-BE49-F238E27FC236}">
                  <a16:creationId xmlns:a16="http://schemas.microsoft.com/office/drawing/2014/main" id="{62FF05CF-171C-AC2E-EA81-84E6C2CB59BB}"/>
                </a:ext>
              </a:extLst>
            </p:cNvPr>
            <p:cNvSpPr/>
            <p:nvPr/>
          </p:nvSpPr>
          <p:spPr>
            <a:xfrm>
              <a:off x="11095961" y="2097649"/>
              <a:ext cx="504249" cy="337216"/>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b="1" dirty="0"/>
                <a:t>FDIA </a:t>
              </a:r>
            </a:p>
          </p:txBody>
        </p:sp>
        <p:sp>
          <p:nvSpPr>
            <p:cNvPr id="15" name="Rectangle 14">
              <a:extLst>
                <a:ext uri="{FF2B5EF4-FFF2-40B4-BE49-F238E27FC236}">
                  <a16:creationId xmlns:a16="http://schemas.microsoft.com/office/drawing/2014/main" id="{B533938A-62B1-57E9-A5B4-292B3E812142}"/>
                </a:ext>
              </a:extLst>
            </p:cNvPr>
            <p:cNvSpPr/>
            <p:nvPr/>
          </p:nvSpPr>
          <p:spPr>
            <a:xfrm>
              <a:off x="8339196" y="2097649"/>
              <a:ext cx="742561" cy="337216"/>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b="1" dirty="0"/>
                <a:t>Processing</a:t>
              </a:r>
            </a:p>
            <a:p>
              <a:pPr algn="ctr"/>
              <a:r>
                <a:rPr lang="en-US" sz="1000" b="1" dirty="0"/>
                <a:t>Time</a:t>
              </a:r>
              <a:endParaRPr lang="en-MY" sz="1000" b="1" dirty="0"/>
            </a:p>
          </p:txBody>
        </p:sp>
        <p:sp>
          <p:nvSpPr>
            <p:cNvPr id="16" name="Rectangle 15">
              <a:extLst>
                <a:ext uri="{FF2B5EF4-FFF2-40B4-BE49-F238E27FC236}">
                  <a16:creationId xmlns:a16="http://schemas.microsoft.com/office/drawing/2014/main" id="{0B975D26-5956-256E-0C2A-0C481B4B9122}"/>
                </a:ext>
              </a:extLst>
            </p:cNvPr>
            <p:cNvSpPr/>
            <p:nvPr/>
          </p:nvSpPr>
          <p:spPr>
            <a:xfrm>
              <a:off x="9119470" y="2097649"/>
              <a:ext cx="802380" cy="337216"/>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1000" b="1" dirty="0"/>
                <a:t>Control</a:t>
              </a:r>
            </a:p>
            <a:p>
              <a:pPr algn="ctr"/>
              <a:r>
                <a:rPr lang="en-US" sz="1000" b="1" dirty="0"/>
                <a:t>Overhead</a:t>
              </a:r>
              <a:endParaRPr lang="en-MY" sz="1000" b="1" dirty="0"/>
            </a:p>
          </p:txBody>
        </p:sp>
      </p:grpSp>
      <p:sp>
        <p:nvSpPr>
          <p:cNvPr id="19" name="Rectangle 18">
            <a:extLst>
              <a:ext uri="{FF2B5EF4-FFF2-40B4-BE49-F238E27FC236}">
                <a16:creationId xmlns:a16="http://schemas.microsoft.com/office/drawing/2014/main" id="{8BA6E86B-B702-4C21-A7C5-854AFE428B93}"/>
              </a:ext>
            </a:extLst>
          </p:cNvPr>
          <p:cNvSpPr/>
          <p:nvPr/>
        </p:nvSpPr>
        <p:spPr>
          <a:xfrm rot="10800000">
            <a:off x="11438696" y="1611936"/>
            <a:ext cx="219904" cy="839607"/>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eaVert" rtlCol="0" anchor="ctr"/>
          <a:lstStyle/>
          <a:p>
            <a:pPr algn="ctr"/>
            <a:r>
              <a:rPr lang="en-US" sz="1100" b="1" dirty="0"/>
              <a:t>Objective-IV</a:t>
            </a:r>
            <a:endParaRPr lang="en-MY" sz="1100" b="1" dirty="0"/>
          </a:p>
        </p:txBody>
      </p:sp>
      <p:sp>
        <p:nvSpPr>
          <p:cNvPr id="20" name="Arrow: Right 19">
            <a:extLst>
              <a:ext uri="{FF2B5EF4-FFF2-40B4-BE49-F238E27FC236}">
                <a16:creationId xmlns:a16="http://schemas.microsoft.com/office/drawing/2014/main" id="{5682C944-B0DD-ED32-3930-CAACFC827969}"/>
              </a:ext>
            </a:extLst>
          </p:cNvPr>
          <p:cNvSpPr/>
          <p:nvPr/>
        </p:nvSpPr>
        <p:spPr>
          <a:xfrm>
            <a:off x="11277600" y="1942131"/>
            <a:ext cx="148368" cy="186518"/>
          </a:xfrm>
          <a:prstGeom prst="rightArrow">
            <a:avLst/>
          </a:prstGeom>
          <a:noFill/>
          <a:ln>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22" name="TextBox 21">
            <a:extLst>
              <a:ext uri="{FF2B5EF4-FFF2-40B4-BE49-F238E27FC236}">
                <a16:creationId xmlns:a16="http://schemas.microsoft.com/office/drawing/2014/main" id="{B647536A-8B99-CC82-4ABC-68EA8949C4BA}"/>
              </a:ext>
            </a:extLst>
          </p:cNvPr>
          <p:cNvSpPr txBox="1"/>
          <p:nvPr/>
        </p:nvSpPr>
        <p:spPr>
          <a:xfrm>
            <a:off x="3239502" y="4876800"/>
            <a:ext cx="755015" cy="307777"/>
          </a:xfrm>
          <a:prstGeom prst="rect">
            <a:avLst/>
          </a:prstGeom>
          <a:noFill/>
        </p:spPr>
        <p:txBody>
          <a:bodyPr wrap="none" rtlCol="0">
            <a:spAutoFit/>
          </a:bodyPr>
          <a:lstStyle/>
          <a:p>
            <a:r>
              <a:rPr lang="en-US" sz="1400" b="1" dirty="0"/>
              <a:t>Testbed</a:t>
            </a:r>
          </a:p>
        </p:txBody>
      </p:sp>
    </p:spTree>
    <p:custDataLst>
      <p:tags r:id="rId1"/>
    </p:custDataLst>
    <p:extLst>
      <p:ext uri="{BB962C8B-B14F-4D97-AF65-F5344CB8AC3E}">
        <p14:creationId xmlns:p14="http://schemas.microsoft.com/office/powerpoint/2010/main" val="28735600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ppt_x"/>
                                          </p:val>
                                        </p:tav>
                                        <p:tav tm="100000">
                                          <p:val>
                                            <p:strVal val="#ppt_x"/>
                                          </p:val>
                                        </p:tav>
                                      </p:tavLst>
                                    </p:anim>
                                    <p:anim calcmode="lin" valueType="num">
                                      <p:cBhvr additive="base">
                                        <p:cTn id="8" dur="500" fill="hold"/>
                                        <p:tgtEl>
                                          <p:spTgt spid="2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anim calcmode="lin" valueType="num">
                                      <p:cBhvr additive="base">
                                        <p:cTn id="11" dur="500" fill="hold"/>
                                        <p:tgtEl>
                                          <p:spTgt spid="19"/>
                                        </p:tgtEl>
                                        <p:attrNameLst>
                                          <p:attrName>ppt_x</p:attrName>
                                        </p:attrNameLst>
                                      </p:cBhvr>
                                      <p:tavLst>
                                        <p:tav tm="0">
                                          <p:val>
                                            <p:strVal val="#ppt_x"/>
                                          </p:val>
                                        </p:tav>
                                        <p:tav tm="100000">
                                          <p:val>
                                            <p:strVal val="#ppt_x"/>
                                          </p:val>
                                        </p:tav>
                                      </p:tavLst>
                                    </p:anim>
                                    <p:anim calcmode="lin" valueType="num">
                                      <p:cBhvr additive="base">
                                        <p:cTn id="12" dur="500" fill="hold"/>
                                        <p:tgtEl>
                                          <p:spTgt spid="19"/>
                                        </p:tgtEl>
                                        <p:attrNameLst>
                                          <p:attrName>ppt_y</p:attrName>
                                        </p:attrNameLst>
                                      </p:cBhvr>
                                      <p:tavLst>
                                        <p:tav tm="0">
                                          <p:val>
                                            <p:strVal val="1+#ppt_h/2"/>
                                          </p:val>
                                        </p:tav>
                                        <p:tav tm="100000">
                                          <p:val>
                                            <p:strVal val="#ppt_y"/>
                                          </p:val>
                                        </p:tav>
                                      </p:tavLst>
                                    </p:anim>
                                  </p:childTnLst>
                                </p:cTn>
                              </p:par>
                              <p:par>
                                <p:cTn id="13" presetID="26" presetClass="emph" presetSubtype="0" fill="hold" grpId="1" nodeType="withEffect">
                                  <p:stCondLst>
                                    <p:cond delay="0"/>
                                  </p:stCondLst>
                                  <p:childTnLst>
                                    <p:animEffect transition="out" filter="fade">
                                      <p:cBhvr>
                                        <p:cTn id="14" dur="500" tmFilter="0, 0; .2, .5; .8, .5; 1, 0"/>
                                        <p:tgtEl>
                                          <p:spTgt spid="19"/>
                                        </p:tgtEl>
                                      </p:cBhvr>
                                    </p:animEffect>
                                    <p:animScale>
                                      <p:cBhvr>
                                        <p:cTn id="15" dur="250" autoRev="1" fill="hold"/>
                                        <p:tgtEl>
                                          <p:spTgt spid="19"/>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19" grpId="1" animBg="1"/>
      <p:bldP spid="2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fauzisukiman\Desktop\template pp USM\page 2 n seterusnya\Header.jpg"/>
          <p:cNvPicPr>
            <a:picLocks noChangeAspect="1" noChangeArrowheads="1"/>
          </p:cNvPicPr>
          <p:nvPr/>
        </p:nvPicPr>
        <p:blipFill rotWithShape="1">
          <a:blip r:embed="rId4" cstate="print"/>
          <a:srcRect l="14375"/>
          <a:stretch/>
        </p:blipFill>
        <p:spPr bwMode="auto">
          <a:xfrm>
            <a:off x="1268881" y="0"/>
            <a:ext cx="10923119" cy="822960"/>
          </a:xfrm>
          <a:prstGeom prst="rect">
            <a:avLst/>
          </a:prstGeom>
          <a:noFill/>
        </p:spPr>
      </p:pic>
      <p:sp>
        <p:nvSpPr>
          <p:cNvPr id="6" name="Rectangle 5"/>
          <p:cNvSpPr/>
          <p:nvPr/>
        </p:nvSpPr>
        <p:spPr>
          <a:xfrm>
            <a:off x="1447800" y="76200"/>
            <a:ext cx="10363200" cy="707886"/>
          </a:xfrm>
          <a:prstGeom prst="rect">
            <a:avLst/>
          </a:prstGeom>
        </p:spPr>
        <p:txBody>
          <a:bodyPr wrap="square">
            <a:spAutoFit/>
          </a:bodyPr>
          <a:lstStyle/>
          <a:p>
            <a:r>
              <a:rPr lang="en-US" sz="4000" b="1" i="1" dirty="0">
                <a:solidFill>
                  <a:schemeClr val="bg1"/>
                </a:solidFill>
              </a:rPr>
              <a:t>Experimental Setup: Evaluation Strategies</a:t>
            </a:r>
          </a:p>
        </p:txBody>
      </p:sp>
      <p:sp>
        <p:nvSpPr>
          <p:cNvPr id="2" name="Slide Number Placeholder 1"/>
          <p:cNvSpPr>
            <a:spLocks noGrp="1"/>
          </p:cNvSpPr>
          <p:nvPr>
            <p:ph type="sldNum" sz="quarter" idx="12"/>
          </p:nvPr>
        </p:nvSpPr>
        <p:spPr>
          <a:xfrm>
            <a:off x="9906000" y="6472826"/>
            <a:ext cx="2133600" cy="365125"/>
          </a:xfrm>
        </p:spPr>
        <p:txBody>
          <a:bodyPr/>
          <a:lstStyle/>
          <a:p>
            <a:fld id="{D4B39A3D-6E5B-421C-AA99-AA75690A48C6}" type="slidenum">
              <a:rPr lang="en-US" smtClean="0"/>
              <a:pPr/>
              <a:t>14</a:t>
            </a:fld>
            <a:endParaRPr lang="en-US" dirty="0"/>
          </a:p>
        </p:txBody>
      </p:sp>
      <p:pic>
        <p:nvPicPr>
          <p:cNvPr id="9" name="Picture 3"/>
          <p:cNvPicPr>
            <a:picLocks noChangeAspect="1" noChangeArrowheads="1"/>
          </p:cNvPicPr>
          <p:nvPr/>
        </p:nvPicPr>
        <p:blipFill>
          <a:blip r:embed="rId5" cstate="print">
            <a:clrChange>
              <a:clrFrom>
                <a:srgbClr val="FDFDFD"/>
              </a:clrFrom>
              <a:clrTo>
                <a:srgbClr val="FDFDFD">
                  <a:alpha val="0"/>
                </a:srgbClr>
              </a:clrTo>
            </a:clrChange>
          </a:blip>
          <a:srcRect/>
          <a:stretch>
            <a:fillRect/>
          </a:stretch>
        </p:blipFill>
        <p:spPr bwMode="auto">
          <a:xfrm>
            <a:off x="0" y="-1224"/>
            <a:ext cx="1268881" cy="824184"/>
          </a:xfrm>
          <a:prstGeom prst="rect">
            <a:avLst/>
          </a:prstGeom>
          <a:noFill/>
          <a:ln w="9525">
            <a:noFill/>
            <a:miter lim="800000"/>
            <a:headEnd/>
            <a:tailEnd/>
          </a:ln>
          <a:effectLst/>
        </p:spPr>
      </p:pic>
      <p:sp>
        <p:nvSpPr>
          <p:cNvPr id="4" name="Rectangle 3">
            <a:extLst>
              <a:ext uri="{FF2B5EF4-FFF2-40B4-BE49-F238E27FC236}">
                <a16:creationId xmlns:a16="http://schemas.microsoft.com/office/drawing/2014/main" id="{4F656A6E-A938-A761-73B0-3BF55DEE4C31}"/>
              </a:ext>
            </a:extLst>
          </p:cNvPr>
          <p:cNvSpPr/>
          <p:nvPr/>
        </p:nvSpPr>
        <p:spPr>
          <a:xfrm>
            <a:off x="6248400" y="1143000"/>
            <a:ext cx="1828800" cy="457200"/>
          </a:xfrm>
          <a:prstGeom prst="rect">
            <a:avLst/>
          </a:prstGeom>
          <a:no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Evaluation Strategy</a:t>
            </a:r>
          </a:p>
        </p:txBody>
      </p:sp>
      <p:sp>
        <p:nvSpPr>
          <p:cNvPr id="5" name="Rectangle 4">
            <a:extLst>
              <a:ext uri="{FF2B5EF4-FFF2-40B4-BE49-F238E27FC236}">
                <a16:creationId xmlns:a16="http://schemas.microsoft.com/office/drawing/2014/main" id="{928D8746-0A67-7957-5E29-B2C668A450D4}"/>
              </a:ext>
            </a:extLst>
          </p:cNvPr>
          <p:cNvSpPr/>
          <p:nvPr/>
        </p:nvSpPr>
        <p:spPr>
          <a:xfrm>
            <a:off x="3485536" y="2133600"/>
            <a:ext cx="1828800" cy="457200"/>
          </a:xfrm>
          <a:prstGeom prst="rect">
            <a:avLst/>
          </a:prstGeom>
          <a:solidFill>
            <a:schemeClr val="accent6">
              <a:lumMod val="40000"/>
              <a:lumOff val="60000"/>
            </a:schemeClr>
          </a:solidFill>
          <a:ln>
            <a:solidFill>
              <a:schemeClr val="accent5">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Normal Scenario</a:t>
            </a:r>
          </a:p>
        </p:txBody>
      </p:sp>
      <p:sp>
        <p:nvSpPr>
          <p:cNvPr id="7" name="Rectangle 6">
            <a:extLst>
              <a:ext uri="{FF2B5EF4-FFF2-40B4-BE49-F238E27FC236}">
                <a16:creationId xmlns:a16="http://schemas.microsoft.com/office/drawing/2014/main" id="{A876E5B2-EE7A-AB84-26AD-E77BFC74413A}"/>
              </a:ext>
            </a:extLst>
          </p:cNvPr>
          <p:cNvSpPr/>
          <p:nvPr/>
        </p:nvSpPr>
        <p:spPr>
          <a:xfrm>
            <a:off x="9372602" y="2133600"/>
            <a:ext cx="1828800" cy="457200"/>
          </a:xfrm>
          <a:prstGeom prst="rect">
            <a:avLst/>
          </a:prstGeom>
          <a:solidFill>
            <a:schemeClr val="accent2">
              <a:lumMod val="40000"/>
              <a:lumOff val="60000"/>
            </a:schemeClr>
          </a:solidFill>
          <a:ln>
            <a:solidFill>
              <a:schemeClr val="accent2">
                <a:lumMod val="40000"/>
                <a:lumOff val="6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Attack Scenario</a:t>
            </a:r>
          </a:p>
        </p:txBody>
      </p:sp>
      <p:sp>
        <p:nvSpPr>
          <p:cNvPr id="8" name="Rectangle 7">
            <a:extLst>
              <a:ext uri="{FF2B5EF4-FFF2-40B4-BE49-F238E27FC236}">
                <a16:creationId xmlns:a16="http://schemas.microsoft.com/office/drawing/2014/main" id="{C98996A5-D8FE-4B49-BA70-10312AE6FB9D}"/>
              </a:ext>
            </a:extLst>
          </p:cNvPr>
          <p:cNvSpPr/>
          <p:nvPr/>
        </p:nvSpPr>
        <p:spPr>
          <a:xfrm>
            <a:off x="1619865" y="3048000"/>
            <a:ext cx="1885950" cy="457200"/>
          </a:xfrm>
          <a:prstGeom prst="rect">
            <a:avLst/>
          </a:prstGeom>
          <a:no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Processing Time</a:t>
            </a:r>
          </a:p>
        </p:txBody>
      </p:sp>
      <p:sp>
        <p:nvSpPr>
          <p:cNvPr id="11" name="Rectangle 10">
            <a:extLst>
              <a:ext uri="{FF2B5EF4-FFF2-40B4-BE49-F238E27FC236}">
                <a16:creationId xmlns:a16="http://schemas.microsoft.com/office/drawing/2014/main" id="{83B807D2-C48E-0C96-D71E-6A00685097BE}"/>
              </a:ext>
            </a:extLst>
          </p:cNvPr>
          <p:cNvSpPr/>
          <p:nvPr/>
        </p:nvSpPr>
        <p:spPr>
          <a:xfrm>
            <a:off x="5029201" y="3048000"/>
            <a:ext cx="1905000" cy="457200"/>
          </a:xfrm>
          <a:prstGeom prst="rect">
            <a:avLst/>
          </a:prstGeom>
          <a:no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Control Overhead</a:t>
            </a:r>
          </a:p>
        </p:txBody>
      </p:sp>
      <p:sp>
        <p:nvSpPr>
          <p:cNvPr id="12" name="Rectangle 11">
            <a:extLst>
              <a:ext uri="{FF2B5EF4-FFF2-40B4-BE49-F238E27FC236}">
                <a16:creationId xmlns:a16="http://schemas.microsoft.com/office/drawing/2014/main" id="{3250B4A2-56CF-7F32-DCC1-130B37E7A355}"/>
              </a:ext>
            </a:extLst>
          </p:cNvPr>
          <p:cNvSpPr/>
          <p:nvPr/>
        </p:nvSpPr>
        <p:spPr>
          <a:xfrm>
            <a:off x="1629390" y="3799975"/>
            <a:ext cx="1885950" cy="457200"/>
          </a:xfrm>
          <a:prstGeom prst="rect">
            <a:avLst/>
          </a:prstGeom>
          <a:no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SGSM (HMAC variants)</a:t>
            </a:r>
          </a:p>
        </p:txBody>
      </p:sp>
      <p:sp>
        <p:nvSpPr>
          <p:cNvPr id="13" name="Rectangle 12">
            <a:extLst>
              <a:ext uri="{FF2B5EF4-FFF2-40B4-BE49-F238E27FC236}">
                <a16:creationId xmlns:a16="http://schemas.microsoft.com/office/drawing/2014/main" id="{E36DFCED-E6D5-F953-0C4A-71955250F093}"/>
              </a:ext>
            </a:extLst>
          </p:cNvPr>
          <p:cNvSpPr/>
          <p:nvPr/>
        </p:nvSpPr>
        <p:spPr>
          <a:xfrm>
            <a:off x="1619865" y="4551950"/>
            <a:ext cx="1885950" cy="457200"/>
          </a:xfrm>
          <a:prstGeom prst="rect">
            <a:avLst/>
          </a:prstGeom>
          <a:no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Secured SECS/GEM</a:t>
            </a:r>
          </a:p>
        </p:txBody>
      </p:sp>
      <p:sp>
        <p:nvSpPr>
          <p:cNvPr id="14" name="Rectangle 13">
            <a:extLst>
              <a:ext uri="{FF2B5EF4-FFF2-40B4-BE49-F238E27FC236}">
                <a16:creationId xmlns:a16="http://schemas.microsoft.com/office/drawing/2014/main" id="{ACBB01C9-52FB-5D73-7AC5-3FC2BDCA82DA}"/>
              </a:ext>
            </a:extLst>
          </p:cNvPr>
          <p:cNvSpPr/>
          <p:nvPr/>
        </p:nvSpPr>
        <p:spPr>
          <a:xfrm>
            <a:off x="1629390" y="5303925"/>
            <a:ext cx="1885950" cy="457200"/>
          </a:xfrm>
          <a:prstGeom prst="rect">
            <a:avLst/>
          </a:prstGeom>
          <a:no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SECS/GEMsec</a:t>
            </a:r>
          </a:p>
        </p:txBody>
      </p:sp>
      <p:sp>
        <p:nvSpPr>
          <p:cNvPr id="15" name="Rectangle 14">
            <a:extLst>
              <a:ext uri="{FF2B5EF4-FFF2-40B4-BE49-F238E27FC236}">
                <a16:creationId xmlns:a16="http://schemas.microsoft.com/office/drawing/2014/main" id="{22F398D6-D363-DB0B-47D3-7F1A1B50BB6A}"/>
              </a:ext>
            </a:extLst>
          </p:cNvPr>
          <p:cNvSpPr/>
          <p:nvPr/>
        </p:nvSpPr>
        <p:spPr>
          <a:xfrm>
            <a:off x="1629390" y="6055900"/>
            <a:ext cx="1885950" cy="457200"/>
          </a:xfrm>
          <a:prstGeom prst="rect">
            <a:avLst/>
          </a:prstGeom>
          <a:no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Total Processing</a:t>
            </a:r>
          </a:p>
          <a:p>
            <a:pPr algn="ctr"/>
            <a:r>
              <a:rPr lang="en-US" sz="1400" b="1" dirty="0">
                <a:solidFill>
                  <a:schemeClr val="tx1"/>
                </a:solidFill>
              </a:rPr>
              <a:t>Overhead</a:t>
            </a:r>
          </a:p>
        </p:txBody>
      </p:sp>
      <p:sp>
        <p:nvSpPr>
          <p:cNvPr id="16" name="Rectangle 15">
            <a:extLst>
              <a:ext uri="{FF2B5EF4-FFF2-40B4-BE49-F238E27FC236}">
                <a16:creationId xmlns:a16="http://schemas.microsoft.com/office/drawing/2014/main" id="{92C06B50-0E13-2442-61C4-DF47072E6D38}"/>
              </a:ext>
            </a:extLst>
          </p:cNvPr>
          <p:cNvSpPr/>
          <p:nvPr/>
        </p:nvSpPr>
        <p:spPr>
          <a:xfrm>
            <a:off x="5029201" y="3810000"/>
            <a:ext cx="1905000" cy="457200"/>
          </a:xfrm>
          <a:prstGeom prst="rect">
            <a:avLst/>
          </a:prstGeom>
          <a:no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SGSM (HMAC variants)</a:t>
            </a:r>
          </a:p>
        </p:txBody>
      </p:sp>
      <p:sp>
        <p:nvSpPr>
          <p:cNvPr id="17" name="Rectangle 16">
            <a:extLst>
              <a:ext uri="{FF2B5EF4-FFF2-40B4-BE49-F238E27FC236}">
                <a16:creationId xmlns:a16="http://schemas.microsoft.com/office/drawing/2014/main" id="{9915988D-6C24-C065-77FA-E77621D9C2CC}"/>
              </a:ext>
            </a:extLst>
          </p:cNvPr>
          <p:cNvSpPr/>
          <p:nvPr/>
        </p:nvSpPr>
        <p:spPr>
          <a:xfrm>
            <a:off x="5029201" y="4572000"/>
            <a:ext cx="1905000" cy="457200"/>
          </a:xfrm>
          <a:prstGeom prst="rect">
            <a:avLst/>
          </a:prstGeom>
          <a:no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Other Mechanisms</a:t>
            </a:r>
          </a:p>
        </p:txBody>
      </p:sp>
      <p:sp>
        <p:nvSpPr>
          <p:cNvPr id="18" name="Rectangle 17">
            <a:extLst>
              <a:ext uri="{FF2B5EF4-FFF2-40B4-BE49-F238E27FC236}">
                <a16:creationId xmlns:a16="http://schemas.microsoft.com/office/drawing/2014/main" id="{1C919B45-39DE-04A7-CE99-1CA22F2179E0}"/>
              </a:ext>
            </a:extLst>
          </p:cNvPr>
          <p:cNvSpPr/>
          <p:nvPr/>
        </p:nvSpPr>
        <p:spPr>
          <a:xfrm>
            <a:off x="9353552" y="3048000"/>
            <a:ext cx="2000248" cy="457200"/>
          </a:xfrm>
          <a:prstGeom prst="rect">
            <a:avLst/>
          </a:prstGeom>
          <a:no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DoS Attack</a:t>
            </a:r>
          </a:p>
          <a:p>
            <a:pPr algn="ctr"/>
            <a:r>
              <a:rPr lang="en-US" sz="1400" b="1" dirty="0">
                <a:solidFill>
                  <a:schemeClr val="tx1"/>
                </a:solidFill>
              </a:rPr>
              <a:t>Prevention Success Rate</a:t>
            </a:r>
          </a:p>
        </p:txBody>
      </p:sp>
      <p:sp>
        <p:nvSpPr>
          <p:cNvPr id="19" name="Rectangle 18">
            <a:extLst>
              <a:ext uri="{FF2B5EF4-FFF2-40B4-BE49-F238E27FC236}">
                <a16:creationId xmlns:a16="http://schemas.microsoft.com/office/drawing/2014/main" id="{D11C6DAC-F7E5-845E-8016-7F2CB6FCF4F5}"/>
              </a:ext>
            </a:extLst>
          </p:cNvPr>
          <p:cNvSpPr/>
          <p:nvPr/>
        </p:nvSpPr>
        <p:spPr>
          <a:xfrm>
            <a:off x="9353552" y="3810000"/>
            <a:ext cx="2000248" cy="457200"/>
          </a:xfrm>
          <a:prstGeom prst="rect">
            <a:avLst/>
          </a:prstGeom>
          <a:no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FDIA Attack</a:t>
            </a:r>
          </a:p>
          <a:p>
            <a:pPr algn="ctr"/>
            <a:r>
              <a:rPr lang="en-US" sz="1400" b="1" dirty="0">
                <a:solidFill>
                  <a:schemeClr val="tx1"/>
                </a:solidFill>
              </a:rPr>
              <a:t>Prevention Success Rate</a:t>
            </a:r>
          </a:p>
        </p:txBody>
      </p:sp>
      <p:sp>
        <p:nvSpPr>
          <p:cNvPr id="20" name="Rectangle 19">
            <a:extLst>
              <a:ext uri="{FF2B5EF4-FFF2-40B4-BE49-F238E27FC236}">
                <a16:creationId xmlns:a16="http://schemas.microsoft.com/office/drawing/2014/main" id="{C4C5572D-C680-5797-8685-140CE45CE789}"/>
              </a:ext>
            </a:extLst>
          </p:cNvPr>
          <p:cNvSpPr/>
          <p:nvPr/>
        </p:nvSpPr>
        <p:spPr>
          <a:xfrm>
            <a:off x="9353552" y="4572000"/>
            <a:ext cx="2000248" cy="457200"/>
          </a:xfrm>
          <a:prstGeom prst="rect">
            <a:avLst/>
          </a:prstGeom>
          <a:no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tx1"/>
                </a:solidFill>
              </a:rPr>
              <a:t>Replay Attack</a:t>
            </a:r>
          </a:p>
          <a:p>
            <a:pPr algn="ctr"/>
            <a:r>
              <a:rPr lang="en-US" sz="1400" b="1" dirty="0">
                <a:solidFill>
                  <a:schemeClr val="tx1"/>
                </a:solidFill>
              </a:rPr>
              <a:t>Prevention Success Rate</a:t>
            </a:r>
          </a:p>
        </p:txBody>
      </p:sp>
      <p:cxnSp>
        <p:nvCxnSpPr>
          <p:cNvPr id="22" name="Connector: Elbow 21">
            <a:extLst>
              <a:ext uri="{FF2B5EF4-FFF2-40B4-BE49-F238E27FC236}">
                <a16:creationId xmlns:a16="http://schemas.microsoft.com/office/drawing/2014/main" id="{ABB8B1B1-9395-9040-9E7E-062B99780C5C}"/>
              </a:ext>
            </a:extLst>
          </p:cNvPr>
          <p:cNvCxnSpPr>
            <a:cxnSpLocks/>
            <a:stCxn id="4" idx="2"/>
            <a:endCxn id="5" idx="0"/>
          </p:cNvCxnSpPr>
          <p:nvPr/>
        </p:nvCxnSpPr>
        <p:spPr>
          <a:xfrm rot="5400000">
            <a:off x="5514668" y="485468"/>
            <a:ext cx="533400" cy="2762864"/>
          </a:xfrm>
          <a:prstGeom prst="bentConnector3">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Connector: Elbow 23">
            <a:extLst>
              <a:ext uri="{FF2B5EF4-FFF2-40B4-BE49-F238E27FC236}">
                <a16:creationId xmlns:a16="http://schemas.microsoft.com/office/drawing/2014/main" id="{910818DB-C8CD-3F43-5C98-1714421D8548}"/>
              </a:ext>
            </a:extLst>
          </p:cNvPr>
          <p:cNvCxnSpPr>
            <a:stCxn id="4" idx="2"/>
            <a:endCxn id="7" idx="0"/>
          </p:cNvCxnSpPr>
          <p:nvPr/>
        </p:nvCxnSpPr>
        <p:spPr>
          <a:xfrm rot="16200000" flipH="1">
            <a:off x="8458201" y="304799"/>
            <a:ext cx="533400" cy="3124202"/>
          </a:xfrm>
          <a:prstGeom prst="bentConnector3">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4CAEB384-445C-864D-F31E-0321196E1742}"/>
              </a:ext>
            </a:extLst>
          </p:cNvPr>
          <p:cNvCxnSpPr>
            <a:cxnSpLocks/>
            <a:stCxn id="5" idx="2"/>
            <a:endCxn id="8" idx="0"/>
          </p:cNvCxnSpPr>
          <p:nvPr/>
        </p:nvCxnSpPr>
        <p:spPr>
          <a:xfrm rot="5400000">
            <a:off x="3252788" y="1900852"/>
            <a:ext cx="457200" cy="1837096"/>
          </a:xfrm>
          <a:prstGeom prst="bentConnector3">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Connector: Elbow 27">
            <a:extLst>
              <a:ext uri="{FF2B5EF4-FFF2-40B4-BE49-F238E27FC236}">
                <a16:creationId xmlns:a16="http://schemas.microsoft.com/office/drawing/2014/main" id="{12C8C717-FD2A-F8D9-F56D-7CDB4AD35E50}"/>
              </a:ext>
            </a:extLst>
          </p:cNvPr>
          <p:cNvCxnSpPr>
            <a:cxnSpLocks/>
            <a:stCxn id="5" idx="2"/>
            <a:endCxn id="11" idx="0"/>
          </p:cNvCxnSpPr>
          <p:nvPr/>
        </p:nvCxnSpPr>
        <p:spPr>
          <a:xfrm rot="16200000" flipH="1">
            <a:off x="4962218" y="2028517"/>
            <a:ext cx="457200" cy="1581765"/>
          </a:xfrm>
          <a:prstGeom prst="bentConnector3">
            <a:avLst>
              <a:gd name="adj1" fmla="val 50000"/>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Connector: Elbow 29">
            <a:extLst>
              <a:ext uri="{FF2B5EF4-FFF2-40B4-BE49-F238E27FC236}">
                <a16:creationId xmlns:a16="http://schemas.microsoft.com/office/drawing/2014/main" id="{F208F9EA-8EBA-A4E4-F1FB-2AB5788E8B5F}"/>
              </a:ext>
            </a:extLst>
          </p:cNvPr>
          <p:cNvCxnSpPr>
            <a:cxnSpLocks/>
            <a:stCxn id="7" idx="1"/>
            <a:endCxn id="18" idx="1"/>
          </p:cNvCxnSpPr>
          <p:nvPr/>
        </p:nvCxnSpPr>
        <p:spPr>
          <a:xfrm rot="10800000" flipV="1">
            <a:off x="9353552" y="2362200"/>
            <a:ext cx="19050" cy="914400"/>
          </a:xfrm>
          <a:prstGeom prst="bentConnector3">
            <a:avLst>
              <a:gd name="adj1" fmla="val 123750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Connector: Elbow 31">
            <a:extLst>
              <a:ext uri="{FF2B5EF4-FFF2-40B4-BE49-F238E27FC236}">
                <a16:creationId xmlns:a16="http://schemas.microsoft.com/office/drawing/2014/main" id="{57336327-9B42-E117-2954-243535C7336F}"/>
              </a:ext>
            </a:extLst>
          </p:cNvPr>
          <p:cNvCxnSpPr>
            <a:cxnSpLocks/>
            <a:stCxn id="18" idx="1"/>
            <a:endCxn id="19" idx="1"/>
          </p:cNvCxnSpPr>
          <p:nvPr/>
        </p:nvCxnSpPr>
        <p:spPr>
          <a:xfrm rot="10800000" flipV="1">
            <a:off x="9353552" y="3276600"/>
            <a:ext cx="12700" cy="762000"/>
          </a:xfrm>
          <a:prstGeom prst="bentConnector3">
            <a:avLst>
              <a:gd name="adj1" fmla="val 1800000"/>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Connector: Elbow 33">
            <a:extLst>
              <a:ext uri="{FF2B5EF4-FFF2-40B4-BE49-F238E27FC236}">
                <a16:creationId xmlns:a16="http://schemas.microsoft.com/office/drawing/2014/main" id="{BB85460A-1D28-02D0-F808-E4FCD1717E97}"/>
              </a:ext>
            </a:extLst>
          </p:cNvPr>
          <p:cNvCxnSpPr>
            <a:cxnSpLocks/>
            <a:stCxn id="19" idx="1"/>
            <a:endCxn id="20" idx="1"/>
          </p:cNvCxnSpPr>
          <p:nvPr/>
        </p:nvCxnSpPr>
        <p:spPr>
          <a:xfrm rot="10800000" flipV="1">
            <a:off x="9353552" y="4038600"/>
            <a:ext cx="12700" cy="762000"/>
          </a:xfrm>
          <a:prstGeom prst="bentConnector3">
            <a:avLst>
              <a:gd name="adj1" fmla="val 1800000"/>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Connector: Elbow 38">
            <a:extLst>
              <a:ext uri="{FF2B5EF4-FFF2-40B4-BE49-F238E27FC236}">
                <a16:creationId xmlns:a16="http://schemas.microsoft.com/office/drawing/2014/main" id="{C77C31C6-0E46-2B67-F9C4-5337F29206E1}"/>
              </a:ext>
            </a:extLst>
          </p:cNvPr>
          <p:cNvCxnSpPr>
            <a:stCxn id="11" idx="1"/>
            <a:endCxn id="16" idx="1"/>
          </p:cNvCxnSpPr>
          <p:nvPr/>
        </p:nvCxnSpPr>
        <p:spPr>
          <a:xfrm rot="10800000" flipV="1">
            <a:off x="5029201" y="3276600"/>
            <a:ext cx="12700" cy="762000"/>
          </a:xfrm>
          <a:prstGeom prst="bentConnector3">
            <a:avLst>
              <a:gd name="adj1" fmla="val 1800000"/>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21112F91-696C-1B61-102E-A7F9A248537E}"/>
              </a:ext>
            </a:extLst>
          </p:cNvPr>
          <p:cNvCxnSpPr>
            <a:stCxn id="16" idx="1"/>
            <a:endCxn id="17" idx="1"/>
          </p:cNvCxnSpPr>
          <p:nvPr/>
        </p:nvCxnSpPr>
        <p:spPr>
          <a:xfrm rot="10800000" flipV="1">
            <a:off x="5029201" y="4038600"/>
            <a:ext cx="12700" cy="762000"/>
          </a:xfrm>
          <a:prstGeom prst="bentConnector3">
            <a:avLst>
              <a:gd name="adj1" fmla="val 1800000"/>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3" name="Connector: Elbow 42">
            <a:extLst>
              <a:ext uri="{FF2B5EF4-FFF2-40B4-BE49-F238E27FC236}">
                <a16:creationId xmlns:a16="http://schemas.microsoft.com/office/drawing/2014/main" id="{4EB2C131-EEC5-5CB7-3A6F-6EB9C5851315}"/>
              </a:ext>
            </a:extLst>
          </p:cNvPr>
          <p:cNvCxnSpPr>
            <a:stCxn id="8" idx="1"/>
            <a:endCxn id="12" idx="1"/>
          </p:cNvCxnSpPr>
          <p:nvPr/>
        </p:nvCxnSpPr>
        <p:spPr>
          <a:xfrm rot="10800000" flipH="1" flipV="1">
            <a:off x="1619864" y="3276599"/>
            <a:ext cx="9525" cy="751975"/>
          </a:xfrm>
          <a:prstGeom prst="bentConnector3">
            <a:avLst>
              <a:gd name="adj1" fmla="val -2324997"/>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Connector: Elbow 44">
            <a:extLst>
              <a:ext uri="{FF2B5EF4-FFF2-40B4-BE49-F238E27FC236}">
                <a16:creationId xmlns:a16="http://schemas.microsoft.com/office/drawing/2014/main" id="{58B1421D-CF94-3122-410B-D3524BE2EE23}"/>
              </a:ext>
            </a:extLst>
          </p:cNvPr>
          <p:cNvCxnSpPr>
            <a:stCxn id="12" idx="1"/>
            <a:endCxn id="13" idx="1"/>
          </p:cNvCxnSpPr>
          <p:nvPr/>
        </p:nvCxnSpPr>
        <p:spPr>
          <a:xfrm rot="10800000" flipV="1">
            <a:off x="1619866" y="4028574"/>
            <a:ext cx="9525" cy="751975"/>
          </a:xfrm>
          <a:prstGeom prst="bentConnector3">
            <a:avLst>
              <a:gd name="adj1" fmla="val 2424997"/>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Connector: Elbow 46">
            <a:extLst>
              <a:ext uri="{FF2B5EF4-FFF2-40B4-BE49-F238E27FC236}">
                <a16:creationId xmlns:a16="http://schemas.microsoft.com/office/drawing/2014/main" id="{EC6B1A9D-4F76-C655-922B-31C88FD884FC}"/>
              </a:ext>
            </a:extLst>
          </p:cNvPr>
          <p:cNvCxnSpPr>
            <a:stCxn id="13" idx="1"/>
            <a:endCxn id="14" idx="1"/>
          </p:cNvCxnSpPr>
          <p:nvPr/>
        </p:nvCxnSpPr>
        <p:spPr>
          <a:xfrm rot="10800000" flipH="1" flipV="1">
            <a:off x="1619864" y="4780549"/>
            <a:ext cx="9525" cy="751975"/>
          </a:xfrm>
          <a:prstGeom prst="bentConnector3">
            <a:avLst>
              <a:gd name="adj1" fmla="val -2324997"/>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Connector: Elbow 50">
            <a:extLst>
              <a:ext uri="{FF2B5EF4-FFF2-40B4-BE49-F238E27FC236}">
                <a16:creationId xmlns:a16="http://schemas.microsoft.com/office/drawing/2014/main" id="{F2AAAD2A-56AC-B203-053A-BE40AA3AAFB2}"/>
              </a:ext>
            </a:extLst>
          </p:cNvPr>
          <p:cNvCxnSpPr>
            <a:stCxn id="14" idx="1"/>
            <a:endCxn id="15" idx="1"/>
          </p:cNvCxnSpPr>
          <p:nvPr/>
        </p:nvCxnSpPr>
        <p:spPr>
          <a:xfrm rot="10800000" flipV="1">
            <a:off x="1629390" y="5532524"/>
            <a:ext cx="12700" cy="751975"/>
          </a:xfrm>
          <a:prstGeom prst="bentConnector3">
            <a:avLst>
              <a:gd name="adj1" fmla="val 1908748"/>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3" name="Double Brace 22">
            <a:extLst>
              <a:ext uri="{FF2B5EF4-FFF2-40B4-BE49-F238E27FC236}">
                <a16:creationId xmlns:a16="http://schemas.microsoft.com/office/drawing/2014/main" id="{90599B3A-A379-611B-6E05-E4CAE7054CB9}"/>
              </a:ext>
            </a:extLst>
          </p:cNvPr>
          <p:cNvSpPr/>
          <p:nvPr/>
        </p:nvSpPr>
        <p:spPr>
          <a:xfrm>
            <a:off x="3564192" y="3571374"/>
            <a:ext cx="1199536" cy="914400"/>
          </a:xfrm>
          <a:prstGeom prst="bracePair">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r>
              <a:rPr lang="en-US" sz="900" dirty="0">
                <a:latin typeface="Consolas" panose="020B0609020204030204" pitchFamily="49" charset="0"/>
              </a:rPr>
              <a:t>1. SHA-1</a:t>
            </a:r>
          </a:p>
          <a:p>
            <a:r>
              <a:rPr lang="en-US" sz="900" dirty="0">
                <a:latin typeface="Consolas" panose="020B0609020204030204" pitchFamily="49" charset="0"/>
              </a:rPr>
              <a:t>2. SHA256</a:t>
            </a:r>
          </a:p>
          <a:p>
            <a:r>
              <a:rPr lang="en-US" sz="900" dirty="0">
                <a:latin typeface="Consolas" panose="020B0609020204030204" pitchFamily="49" charset="0"/>
              </a:rPr>
              <a:t>3. SHA512</a:t>
            </a:r>
          </a:p>
          <a:p>
            <a:r>
              <a:rPr lang="en-US" sz="900" dirty="0">
                <a:latin typeface="Consolas" panose="020B0609020204030204" pitchFamily="49" charset="0"/>
              </a:rPr>
              <a:t>4. SHA3-256</a:t>
            </a:r>
          </a:p>
          <a:p>
            <a:r>
              <a:rPr lang="en-US" sz="900" dirty="0">
                <a:latin typeface="Consolas" panose="020B0609020204030204" pitchFamily="49" charset="0"/>
              </a:rPr>
              <a:t>5. SHA3-512</a:t>
            </a:r>
          </a:p>
        </p:txBody>
      </p:sp>
      <p:sp>
        <p:nvSpPr>
          <p:cNvPr id="25" name="Double Brace 24">
            <a:extLst>
              <a:ext uri="{FF2B5EF4-FFF2-40B4-BE49-F238E27FC236}">
                <a16:creationId xmlns:a16="http://schemas.microsoft.com/office/drawing/2014/main" id="{A4BF1AF2-05E6-EA98-E20B-3A47CAB00A12}"/>
              </a:ext>
            </a:extLst>
          </p:cNvPr>
          <p:cNvSpPr/>
          <p:nvPr/>
        </p:nvSpPr>
        <p:spPr>
          <a:xfrm>
            <a:off x="6980597" y="4572000"/>
            <a:ext cx="1622912" cy="457200"/>
          </a:xfrm>
          <a:prstGeom prst="bracePair">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r>
              <a:rPr lang="en-US" sz="900" dirty="0">
                <a:latin typeface="Consolas" panose="020B0609020204030204" pitchFamily="49" charset="0"/>
              </a:rPr>
              <a:t>1. Standard SECS/GEM</a:t>
            </a:r>
          </a:p>
          <a:p>
            <a:r>
              <a:rPr lang="en-US" sz="900" dirty="0">
                <a:latin typeface="Consolas" panose="020B0609020204030204" pitchFamily="49" charset="0"/>
              </a:rPr>
              <a:t>2. SECS/GEMsec</a:t>
            </a:r>
          </a:p>
          <a:p>
            <a:r>
              <a:rPr lang="en-US" sz="900" dirty="0">
                <a:latin typeface="Consolas" panose="020B0609020204030204" pitchFamily="49" charset="0"/>
              </a:rPr>
              <a:t>3. Secured SECS/GEM</a:t>
            </a:r>
          </a:p>
        </p:txBody>
      </p:sp>
    </p:spTree>
    <p:custDataLst>
      <p:tags r:id="rId1"/>
    </p:custDataLst>
    <p:extLst>
      <p:ext uri="{BB962C8B-B14F-4D97-AF65-F5344CB8AC3E}">
        <p14:creationId xmlns:p14="http://schemas.microsoft.com/office/powerpoint/2010/main" val="14775613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9"/>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1"/>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7"/>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5"/>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3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8"/>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32"/>
                                        </p:tgtEl>
                                        <p:attrNameLst>
                                          <p:attrName>style.visibility</p:attrName>
                                        </p:attrNameLst>
                                      </p:cBhvr>
                                      <p:to>
                                        <p:strVal val="visible"/>
                                      </p:to>
                                    </p:set>
                                  </p:childTnLst>
                                </p:cTn>
                              </p:par>
                              <p:par>
                                <p:cTn id="65" presetID="1" presetClass="entr" presetSubtype="0" fill="hold" grpId="0" nodeType="withEffect">
                                  <p:stCondLst>
                                    <p:cond delay="0"/>
                                  </p:stCondLst>
                                  <p:childTnLst>
                                    <p:set>
                                      <p:cBhvr>
                                        <p:cTn id="66" dur="1" fill="hold">
                                          <p:stCondLst>
                                            <p:cond delay="0"/>
                                          </p:stCondLst>
                                        </p:cTn>
                                        <p:tgtEl>
                                          <p:spTgt spid="19"/>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34"/>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3" grpId="0" animBg="1"/>
      <p:bldP spid="2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fauzisukiman\Desktop\template pp USM\page 2 n seterusnya\Header.jpg"/>
          <p:cNvPicPr>
            <a:picLocks noChangeAspect="1" noChangeArrowheads="1"/>
          </p:cNvPicPr>
          <p:nvPr/>
        </p:nvPicPr>
        <p:blipFill rotWithShape="1">
          <a:blip r:embed="rId4" cstate="print"/>
          <a:srcRect l="14375"/>
          <a:stretch/>
        </p:blipFill>
        <p:spPr bwMode="auto">
          <a:xfrm>
            <a:off x="1268881" y="0"/>
            <a:ext cx="10923119" cy="822960"/>
          </a:xfrm>
          <a:prstGeom prst="rect">
            <a:avLst/>
          </a:prstGeom>
          <a:noFill/>
        </p:spPr>
      </p:pic>
      <p:sp>
        <p:nvSpPr>
          <p:cNvPr id="6" name="Rectangle 5"/>
          <p:cNvSpPr/>
          <p:nvPr/>
        </p:nvSpPr>
        <p:spPr>
          <a:xfrm>
            <a:off x="1447800" y="76200"/>
            <a:ext cx="10363200" cy="707886"/>
          </a:xfrm>
          <a:prstGeom prst="rect">
            <a:avLst/>
          </a:prstGeom>
        </p:spPr>
        <p:txBody>
          <a:bodyPr wrap="square">
            <a:spAutoFit/>
          </a:bodyPr>
          <a:lstStyle/>
          <a:p>
            <a:r>
              <a:rPr lang="en-US" sz="4000" b="1" i="1" dirty="0">
                <a:solidFill>
                  <a:schemeClr val="bg1"/>
                </a:solidFill>
              </a:rPr>
              <a:t>Results: Processing Time</a:t>
            </a:r>
          </a:p>
        </p:txBody>
      </p:sp>
      <p:sp>
        <p:nvSpPr>
          <p:cNvPr id="2" name="Slide Number Placeholder 1"/>
          <p:cNvSpPr>
            <a:spLocks noGrp="1"/>
          </p:cNvSpPr>
          <p:nvPr>
            <p:ph type="sldNum" sz="quarter" idx="12"/>
          </p:nvPr>
        </p:nvSpPr>
        <p:spPr>
          <a:xfrm>
            <a:off x="9906000" y="6472826"/>
            <a:ext cx="2133600" cy="365125"/>
          </a:xfrm>
        </p:spPr>
        <p:txBody>
          <a:bodyPr/>
          <a:lstStyle/>
          <a:p>
            <a:fld id="{D4B39A3D-6E5B-421C-AA99-AA75690A48C6}" type="slidenum">
              <a:rPr lang="en-US" smtClean="0"/>
              <a:pPr/>
              <a:t>15</a:t>
            </a:fld>
            <a:endParaRPr lang="en-US" dirty="0"/>
          </a:p>
        </p:txBody>
      </p:sp>
      <p:pic>
        <p:nvPicPr>
          <p:cNvPr id="9" name="Picture 3"/>
          <p:cNvPicPr>
            <a:picLocks noChangeAspect="1" noChangeArrowheads="1"/>
          </p:cNvPicPr>
          <p:nvPr/>
        </p:nvPicPr>
        <p:blipFill>
          <a:blip r:embed="rId5" cstate="print">
            <a:clrChange>
              <a:clrFrom>
                <a:srgbClr val="FDFDFD"/>
              </a:clrFrom>
              <a:clrTo>
                <a:srgbClr val="FDFDFD">
                  <a:alpha val="0"/>
                </a:srgbClr>
              </a:clrTo>
            </a:clrChange>
          </a:blip>
          <a:srcRect/>
          <a:stretch>
            <a:fillRect/>
          </a:stretch>
        </p:blipFill>
        <p:spPr bwMode="auto">
          <a:xfrm>
            <a:off x="0" y="-1224"/>
            <a:ext cx="1268881" cy="824184"/>
          </a:xfrm>
          <a:prstGeom prst="rect">
            <a:avLst/>
          </a:prstGeom>
          <a:noFill/>
          <a:ln w="9525">
            <a:noFill/>
            <a:miter lim="800000"/>
            <a:headEnd/>
            <a:tailEnd/>
          </a:ln>
          <a:effectLst/>
        </p:spPr>
      </p:pic>
      <p:sp>
        <p:nvSpPr>
          <p:cNvPr id="3" name="TextBox 2">
            <a:extLst>
              <a:ext uri="{FF2B5EF4-FFF2-40B4-BE49-F238E27FC236}">
                <a16:creationId xmlns:a16="http://schemas.microsoft.com/office/drawing/2014/main" id="{0FACB260-AB7C-0A07-7C0F-134517E53D59}"/>
              </a:ext>
            </a:extLst>
          </p:cNvPr>
          <p:cNvSpPr txBox="1"/>
          <p:nvPr/>
        </p:nvSpPr>
        <p:spPr>
          <a:xfrm>
            <a:off x="1608521" y="1068308"/>
            <a:ext cx="3183757" cy="369332"/>
          </a:xfrm>
          <a:prstGeom prst="rect">
            <a:avLst/>
          </a:prstGeom>
          <a:noFill/>
        </p:spPr>
        <p:txBody>
          <a:bodyPr wrap="none" rtlCol="0">
            <a:spAutoFit/>
          </a:bodyPr>
          <a:lstStyle/>
          <a:p>
            <a:r>
              <a:rPr lang="en-US" b="1" dirty="0">
                <a:solidFill>
                  <a:schemeClr val="accent2">
                    <a:lumMod val="75000"/>
                  </a:schemeClr>
                </a:solidFill>
              </a:rPr>
              <a:t>Processing Time (at the sender)</a:t>
            </a:r>
          </a:p>
        </p:txBody>
      </p:sp>
      <p:graphicFrame>
        <p:nvGraphicFramePr>
          <p:cNvPr id="10" name="Chart 9">
            <a:extLst>
              <a:ext uri="{FF2B5EF4-FFF2-40B4-BE49-F238E27FC236}">
                <a16:creationId xmlns:a16="http://schemas.microsoft.com/office/drawing/2014/main" id="{250A0ADD-3CEA-46A5-A528-46EFF2826F14}"/>
              </a:ext>
            </a:extLst>
          </p:cNvPr>
          <p:cNvGraphicFramePr/>
          <p:nvPr/>
        </p:nvGraphicFramePr>
        <p:xfrm>
          <a:off x="533400" y="1652270"/>
          <a:ext cx="5413248" cy="3910330"/>
        </p:xfrm>
        <a:graphic>
          <a:graphicData uri="http://schemas.openxmlformats.org/drawingml/2006/chart">
            <c:chart xmlns:c="http://schemas.openxmlformats.org/drawingml/2006/chart" xmlns:r="http://schemas.openxmlformats.org/officeDocument/2006/relationships" r:id="rId6"/>
          </a:graphicData>
        </a:graphic>
      </p:graphicFrame>
      <p:sp>
        <p:nvSpPr>
          <p:cNvPr id="13" name="TextBox 12">
            <a:extLst>
              <a:ext uri="{FF2B5EF4-FFF2-40B4-BE49-F238E27FC236}">
                <a16:creationId xmlns:a16="http://schemas.microsoft.com/office/drawing/2014/main" id="{801E8CAF-F5A0-28D4-D5E2-312921C497B0}"/>
              </a:ext>
            </a:extLst>
          </p:cNvPr>
          <p:cNvSpPr txBox="1"/>
          <p:nvPr/>
        </p:nvSpPr>
        <p:spPr>
          <a:xfrm>
            <a:off x="7361621" y="1078468"/>
            <a:ext cx="3299301" cy="369332"/>
          </a:xfrm>
          <a:prstGeom prst="rect">
            <a:avLst/>
          </a:prstGeom>
          <a:noFill/>
        </p:spPr>
        <p:txBody>
          <a:bodyPr wrap="none" rtlCol="0">
            <a:spAutoFit/>
          </a:bodyPr>
          <a:lstStyle/>
          <a:p>
            <a:r>
              <a:rPr lang="en-US" b="1" dirty="0">
                <a:solidFill>
                  <a:schemeClr val="accent2">
                    <a:lumMod val="75000"/>
                  </a:schemeClr>
                </a:solidFill>
              </a:rPr>
              <a:t>Processing Time (at the receiver)</a:t>
            </a:r>
          </a:p>
        </p:txBody>
      </p:sp>
      <p:pic>
        <p:nvPicPr>
          <p:cNvPr id="5" name="Picture 4">
            <a:extLst>
              <a:ext uri="{FF2B5EF4-FFF2-40B4-BE49-F238E27FC236}">
                <a16:creationId xmlns:a16="http://schemas.microsoft.com/office/drawing/2014/main" id="{21D3BF76-ECEA-F999-3728-F42973DB279F}"/>
              </a:ext>
            </a:extLst>
          </p:cNvPr>
          <p:cNvPicPr>
            <a:picLocks noChangeAspect="1"/>
          </p:cNvPicPr>
          <p:nvPr/>
        </p:nvPicPr>
        <p:blipFill>
          <a:blip r:embed="rId7"/>
          <a:stretch>
            <a:fillRect/>
          </a:stretch>
        </p:blipFill>
        <p:spPr>
          <a:xfrm>
            <a:off x="2738436" y="5672029"/>
            <a:ext cx="923925" cy="800100"/>
          </a:xfrm>
          <a:prstGeom prst="rect">
            <a:avLst/>
          </a:prstGeom>
        </p:spPr>
      </p:pic>
      <p:pic>
        <p:nvPicPr>
          <p:cNvPr id="8" name="Picture 7">
            <a:extLst>
              <a:ext uri="{FF2B5EF4-FFF2-40B4-BE49-F238E27FC236}">
                <a16:creationId xmlns:a16="http://schemas.microsoft.com/office/drawing/2014/main" id="{9BD18695-2099-3E59-A992-1B329490C1E1}"/>
              </a:ext>
            </a:extLst>
          </p:cNvPr>
          <p:cNvPicPr>
            <a:picLocks noChangeAspect="1"/>
          </p:cNvPicPr>
          <p:nvPr/>
        </p:nvPicPr>
        <p:blipFill>
          <a:blip r:embed="rId8"/>
          <a:stretch>
            <a:fillRect/>
          </a:stretch>
        </p:blipFill>
        <p:spPr>
          <a:xfrm>
            <a:off x="8580501" y="5653676"/>
            <a:ext cx="742950" cy="819150"/>
          </a:xfrm>
          <a:prstGeom prst="rect">
            <a:avLst/>
          </a:prstGeom>
        </p:spPr>
      </p:pic>
      <p:graphicFrame>
        <p:nvGraphicFramePr>
          <p:cNvPr id="4" name="Chart 3">
            <a:extLst>
              <a:ext uri="{FF2B5EF4-FFF2-40B4-BE49-F238E27FC236}">
                <a16:creationId xmlns:a16="http://schemas.microsoft.com/office/drawing/2014/main" id="{413E17E8-E295-4E07-95EB-5559FEA2B1D7}"/>
              </a:ext>
            </a:extLst>
          </p:cNvPr>
          <p:cNvGraphicFramePr>
            <a:graphicFrameLocks/>
          </p:cNvGraphicFramePr>
          <p:nvPr>
            <p:extLst>
              <p:ext uri="{D42A27DB-BD31-4B8C-83A1-F6EECF244321}">
                <p14:modId xmlns:p14="http://schemas.microsoft.com/office/powerpoint/2010/main" val="1002485533"/>
              </p:ext>
            </p:extLst>
          </p:nvPr>
        </p:nvGraphicFramePr>
        <p:xfrm>
          <a:off x="6185344" y="1652269"/>
          <a:ext cx="5473256" cy="3910329"/>
        </p:xfrm>
        <a:graphic>
          <a:graphicData uri="http://schemas.openxmlformats.org/drawingml/2006/chart">
            <c:chart xmlns:c="http://schemas.openxmlformats.org/drawingml/2006/chart" xmlns:r="http://schemas.openxmlformats.org/officeDocument/2006/relationships" r:id="rId9"/>
          </a:graphicData>
        </a:graphic>
      </p:graphicFrame>
    </p:spTree>
    <p:custDataLst>
      <p:tags r:id="rId1"/>
    </p:custDataLst>
    <p:extLst>
      <p:ext uri="{BB962C8B-B14F-4D97-AF65-F5344CB8AC3E}">
        <p14:creationId xmlns:p14="http://schemas.microsoft.com/office/powerpoint/2010/main" val="381343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Graphic spid="10" grpId="0">
        <p:bldAsOne/>
      </p:bldGraphic>
      <p:bldP spid="13" grpId="0"/>
      <p:bldGraphic spid="4" grpId="0">
        <p:bldAsOne/>
      </p:bldGraphic>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fauzisukiman\Desktop\template pp USM\page 2 n seterusnya\Header.jpg"/>
          <p:cNvPicPr>
            <a:picLocks noChangeAspect="1" noChangeArrowheads="1"/>
          </p:cNvPicPr>
          <p:nvPr/>
        </p:nvPicPr>
        <p:blipFill rotWithShape="1">
          <a:blip r:embed="rId4" cstate="print"/>
          <a:srcRect l="14375"/>
          <a:stretch/>
        </p:blipFill>
        <p:spPr bwMode="auto">
          <a:xfrm>
            <a:off x="1268881" y="0"/>
            <a:ext cx="10923119" cy="822960"/>
          </a:xfrm>
          <a:prstGeom prst="rect">
            <a:avLst/>
          </a:prstGeom>
          <a:noFill/>
        </p:spPr>
      </p:pic>
      <p:sp>
        <p:nvSpPr>
          <p:cNvPr id="6" name="Rectangle 5"/>
          <p:cNvSpPr/>
          <p:nvPr/>
        </p:nvSpPr>
        <p:spPr>
          <a:xfrm>
            <a:off x="1447800" y="76200"/>
            <a:ext cx="10744200" cy="707886"/>
          </a:xfrm>
          <a:prstGeom prst="rect">
            <a:avLst/>
          </a:prstGeom>
        </p:spPr>
        <p:txBody>
          <a:bodyPr wrap="square">
            <a:spAutoFit/>
          </a:bodyPr>
          <a:lstStyle/>
          <a:p>
            <a:r>
              <a:rPr lang="en-US" sz="4000" b="1" i="1" dirty="0">
                <a:solidFill>
                  <a:schemeClr val="bg1"/>
                </a:solidFill>
              </a:rPr>
              <a:t>Results: Processing Time 									</a:t>
            </a:r>
            <a:r>
              <a:rPr lang="en-US" b="1" i="1" dirty="0">
                <a:solidFill>
                  <a:schemeClr val="bg1"/>
                </a:solidFill>
              </a:rPr>
              <a:t>(cont.)</a:t>
            </a:r>
            <a:r>
              <a:rPr lang="en-US" sz="4000" b="1" i="1" dirty="0">
                <a:solidFill>
                  <a:schemeClr val="bg1"/>
                </a:solidFill>
              </a:rPr>
              <a:t>	</a:t>
            </a:r>
          </a:p>
        </p:txBody>
      </p:sp>
      <p:sp>
        <p:nvSpPr>
          <p:cNvPr id="2" name="Slide Number Placeholder 1"/>
          <p:cNvSpPr>
            <a:spLocks noGrp="1"/>
          </p:cNvSpPr>
          <p:nvPr>
            <p:ph type="sldNum" sz="quarter" idx="12"/>
          </p:nvPr>
        </p:nvSpPr>
        <p:spPr>
          <a:xfrm>
            <a:off x="9906000" y="6472826"/>
            <a:ext cx="2133600" cy="365125"/>
          </a:xfrm>
        </p:spPr>
        <p:txBody>
          <a:bodyPr/>
          <a:lstStyle/>
          <a:p>
            <a:fld id="{D4B39A3D-6E5B-421C-AA99-AA75690A48C6}" type="slidenum">
              <a:rPr lang="en-US" smtClean="0"/>
              <a:pPr/>
              <a:t>16</a:t>
            </a:fld>
            <a:endParaRPr lang="en-US" dirty="0"/>
          </a:p>
        </p:txBody>
      </p:sp>
      <p:pic>
        <p:nvPicPr>
          <p:cNvPr id="9" name="Picture 3"/>
          <p:cNvPicPr>
            <a:picLocks noChangeAspect="1" noChangeArrowheads="1"/>
          </p:cNvPicPr>
          <p:nvPr/>
        </p:nvPicPr>
        <p:blipFill>
          <a:blip r:embed="rId5" cstate="print">
            <a:clrChange>
              <a:clrFrom>
                <a:srgbClr val="FDFDFD"/>
              </a:clrFrom>
              <a:clrTo>
                <a:srgbClr val="FDFDFD">
                  <a:alpha val="0"/>
                </a:srgbClr>
              </a:clrTo>
            </a:clrChange>
          </a:blip>
          <a:srcRect/>
          <a:stretch>
            <a:fillRect/>
          </a:stretch>
        </p:blipFill>
        <p:spPr bwMode="auto">
          <a:xfrm>
            <a:off x="0" y="-1224"/>
            <a:ext cx="1268881" cy="824184"/>
          </a:xfrm>
          <a:prstGeom prst="rect">
            <a:avLst/>
          </a:prstGeom>
          <a:noFill/>
          <a:ln w="9525">
            <a:noFill/>
            <a:miter lim="800000"/>
            <a:headEnd/>
            <a:tailEnd/>
          </a:ln>
          <a:effectLst/>
        </p:spPr>
      </p:pic>
      <p:sp>
        <p:nvSpPr>
          <p:cNvPr id="3" name="TextBox 2">
            <a:extLst>
              <a:ext uri="{FF2B5EF4-FFF2-40B4-BE49-F238E27FC236}">
                <a16:creationId xmlns:a16="http://schemas.microsoft.com/office/drawing/2014/main" id="{0FACB260-AB7C-0A07-7C0F-134517E53D59}"/>
              </a:ext>
            </a:extLst>
          </p:cNvPr>
          <p:cNvSpPr txBox="1"/>
          <p:nvPr/>
        </p:nvSpPr>
        <p:spPr>
          <a:xfrm>
            <a:off x="2317625" y="1066800"/>
            <a:ext cx="7556749" cy="369332"/>
          </a:xfrm>
          <a:prstGeom prst="rect">
            <a:avLst/>
          </a:prstGeom>
          <a:noFill/>
        </p:spPr>
        <p:txBody>
          <a:bodyPr wrap="none" rtlCol="0">
            <a:spAutoFit/>
          </a:bodyPr>
          <a:lstStyle/>
          <a:p>
            <a:r>
              <a:rPr lang="en-US" b="1" dirty="0">
                <a:solidFill>
                  <a:schemeClr val="accent2">
                    <a:lumMod val="75000"/>
                  </a:schemeClr>
                </a:solidFill>
              </a:rPr>
              <a:t>Processing Time: Standard vs. SGSM vs. Secured SECS/GEM vs. SECS/GEMsec</a:t>
            </a:r>
          </a:p>
        </p:txBody>
      </p:sp>
      <p:graphicFrame>
        <p:nvGraphicFramePr>
          <p:cNvPr id="10" name="Chart 9">
            <a:extLst>
              <a:ext uri="{FF2B5EF4-FFF2-40B4-BE49-F238E27FC236}">
                <a16:creationId xmlns:a16="http://schemas.microsoft.com/office/drawing/2014/main" id="{BC957854-78BF-4C54-AEB2-1D337E78D89A}"/>
              </a:ext>
            </a:extLst>
          </p:cNvPr>
          <p:cNvGraphicFramePr/>
          <p:nvPr>
            <p:extLst>
              <p:ext uri="{D42A27DB-BD31-4B8C-83A1-F6EECF244321}">
                <p14:modId xmlns:p14="http://schemas.microsoft.com/office/powerpoint/2010/main" val="2050358907"/>
              </p:ext>
            </p:extLst>
          </p:nvPr>
        </p:nvGraphicFramePr>
        <p:xfrm>
          <a:off x="533400" y="1676400"/>
          <a:ext cx="5410201" cy="3886200"/>
        </p:xfrm>
        <a:graphic>
          <a:graphicData uri="http://schemas.openxmlformats.org/drawingml/2006/chart">
            <c:chart xmlns:c="http://schemas.openxmlformats.org/drawingml/2006/chart" xmlns:r="http://schemas.openxmlformats.org/officeDocument/2006/relationships" r:id="rId6"/>
          </a:graphicData>
        </a:graphic>
      </p:graphicFrame>
      <p:pic>
        <p:nvPicPr>
          <p:cNvPr id="8" name="Picture 7">
            <a:extLst>
              <a:ext uri="{FF2B5EF4-FFF2-40B4-BE49-F238E27FC236}">
                <a16:creationId xmlns:a16="http://schemas.microsoft.com/office/drawing/2014/main" id="{340DC56C-E98E-FF4E-2649-DCC493117667}"/>
              </a:ext>
            </a:extLst>
          </p:cNvPr>
          <p:cNvPicPr>
            <a:picLocks noChangeAspect="1"/>
          </p:cNvPicPr>
          <p:nvPr/>
        </p:nvPicPr>
        <p:blipFill>
          <a:blip r:embed="rId7"/>
          <a:stretch>
            <a:fillRect/>
          </a:stretch>
        </p:blipFill>
        <p:spPr>
          <a:xfrm>
            <a:off x="2776537" y="5672726"/>
            <a:ext cx="923925" cy="800100"/>
          </a:xfrm>
          <a:prstGeom prst="rect">
            <a:avLst/>
          </a:prstGeom>
        </p:spPr>
      </p:pic>
      <p:graphicFrame>
        <p:nvGraphicFramePr>
          <p:cNvPr id="14" name="Chart 13">
            <a:extLst>
              <a:ext uri="{FF2B5EF4-FFF2-40B4-BE49-F238E27FC236}">
                <a16:creationId xmlns:a16="http://schemas.microsoft.com/office/drawing/2014/main" id="{1450E3D3-C990-46FD-2564-3E092379AF82}"/>
              </a:ext>
            </a:extLst>
          </p:cNvPr>
          <p:cNvGraphicFramePr/>
          <p:nvPr>
            <p:extLst>
              <p:ext uri="{D42A27DB-BD31-4B8C-83A1-F6EECF244321}">
                <p14:modId xmlns:p14="http://schemas.microsoft.com/office/powerpoint/2010/main" val="3007227349"/>
              </p:ext>
            </p:extLst>
          </p:nvPr>
        </p:nvGraphicFramePr>
        <p:xfrm>
          <a:off x="6252929" y="1676400"/>
          <a:ext cx="5413248" cy="3886200"/>
        </p:xfrm>
        <a:graphic>
          <a:graphicData uri="http://schemas.openxmlformats.org/drawingml/2006/chart">
            <c:chart xmlns:c="http://schemas.openxmlformats.org/drawingml/2006/chart" xmlns:r="http://schemas.openxmlformats.org/officeDocument/2006/relationships" r:id="rId8"/>
          </a:graphicData>
        </a:graphic>
      </p:graphicFrame>
      <p:pic>
        <p:nvPicPr>
          <p:cNvPr id="15" name="Picture 14">
            <a:extLst>
              <a:ext uri="{FF2B5EF4-FFF2-40B4-BE49-F238E27FC236}">
                <a16:creationId xmlns:a16="http://schemas.microsoft.com/office/drawing/2014/main" id="{C5FB87AE-D9A6-79FF-6A1D-A0DF53BB3FF3}"/>
              </a:ext>
            </a:extLst>
          </p:cNvPr>
          <p:cNvPicPr>
            <a:picLocks noChangeAspect="1"/>
          </p:cNvPicPr>
          <p:nvPr/>
        </p:nvPicPr>
        <p:blipFill>
          <a:blip r:embed="rId9"/>
          <a:stretch>
            <a:fillRect/>
          </a:stretch>
        </p:blipFill>
        <p:spPr>
          <a:xfrm>
            <a:off x="8588078" y="5653676"/>
            <a:ext cx="742950" cy="819150"/>
          </a:xfrm>
          <a:prstGeom prst="rect">
            <a:avLst/>
          </a:prstGeom>
        </p:spPr>
      </p:pic>
    </p:spTree>
    <p:custDataLst>
      <p:tags r:id="rId1"/>
    </p:custDataLst>
    <p:extLst>
      <p:ext uri="{BB962C8B-B14F-4D97-AF65-F5344CB8AC3E}">
        <p14:creationId xmlns:p14="http://schemas.microsoft.com/office/powerpoint/2010/main" val="1915036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Graphic spid="10" grpId="0">
        <p:bldAsOne/>
      </p:bldGraphic>
      <p:bldGraphic spid="14" grpId="0">
        <p:bldAsOne/>
      </p:bldGraphic>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fauzisukiman\Desktop\template pp USM\page 2 n seterusnya\Header.jpg"/>
          <p:cNvPicPr>
            <a:picLocks noChangeAspect="1" noChangeArrowheads="1"/>
          </p:cNvPicPr>
          <p:nvPr/>
        </p:nvPicPr>
        <p:blipFill rotWithShape="1">
          <a:blip r:embed="rId3" cstate="print"/>
          <a:srcRect l="14375"/>
          <a:stretch/>
        </p:blipFill>
        <p:spPr bwMode="auto">
          <a:xfrm>
            <a:off x="1268881" y="0"/>
            <a:ext cx="10923119" cy="822960"/>
          </a:xfrm>
          <a:prstGeom prst="rect">
            <a:avLst/>
          </a:prstGeom>
          <a:noFill/>
        </p:spPr>
      </p:pic>
      <p:sp>
        <p:nvSpPr>
          <p:cNvPr id="6" name="Rectangle 5"/>
          <p:cNvSpPr/>
          <p:nvPr/>
        </p:nvSpPr>
        <p:spPr>
          <a:xfrm>
            <a:off x="1447800" y="76200"/>
            <a:ext cx="10744200" cy="707886"/>
          </a:xfrm>
          <a:prstGeom prst="rect">
            <a:avLst/>
          </a:prstGeom>
        </p:spPr>
        <p:txBody>
          <a:bodyPr wrap="square">
            <a:spAutoFit/>
          </a:bodyPr>
          <a:lstStyle/>
          <a:p>
            <a:r>
              <a:rPr lang="en-US" sz="4000" b="1" i="1" dirty="0">
                <a:solidFill>
                  <a:schemeClr val="bg1"/>
                </a:solidFill>
              </a:rPr>
              <a:t>Results: Processing Time 									</a:t>
            </a:r>
            <a:r>
              <a:rPr lang="en-US" b="1" i="1" dirty="0">
                <a:solidFill>
                  <a:schemeClr val="bg1"/>
                </a:solidFill>
              </a:rPr>
              <a:t>(cont.)</a:t>
            </a:r>
            <a:endParaRPr lang="en-US" sz="4000" b="1" i="1" dirty="0">
              <a:solidFill>
                <a:schemeClr val="bg1"/>
              </a:solidFill>
            </a:endParaRPr>
          </a:p>
        </p:txBody>
      </p:sp>
      <p:sp>
        <p:nvSpPr>
          <p:cNvPr id="2" name="Slide Number Placeholder 1"/>
          <p:cNvSpPr>
            <a:spLocks noGrp="1"/>
          </p:cNvSpPr>
          <p:nvPr>
            <p:ph type="sldNum" sz="quarter" idx="12"/>
          </p:nvPr>
        </p:nvSpPr>
        <p:spPr>
          <a:xfrm>
            <a:off x="9906000" y="6472826"/>
            <a:ext cx="2133600" cy="365125"/>
          </a:xfrm>
        </p:spPr>
        <p:txBody>
          <a:bodyPr/>
          <a:lstStyle/>
          <a:p>
            <a:fld id="{D4B39A3D-6E5B-421C-AA99-AA75690A48C6}" type="slidenum">
              <a:rPr lang="en-US" smtClean="0"/>
              <a:pPr/>
              <a:t>17</a:t>
            </a:fld>
            <a:endParaRPr lang="en-US" dirty="0"/>
          </a:p>
        </p:txBody>
      </p:sp>
      <p:pic>
        <p:nvPicPr>
          <p:cNvPr id="9" name="Picture 3"/>
          <p:cNvPicPr>
            <a:picLocks noChangeAspect="1" noChangeArrowheads="1"/>
          </p:cNvPicPr>
          <p:nvPr/>
        </p:nvPicPr>
        <p:blipFill>
          <a:blip r:embed="rId4" cstate="print">
            <a:clrChange>
              <a:clrFrom>
                <a:srgbClr val="FDFDFD"/>
              </a:clrFrom>
              <a:clrTo>
                <a:srgbClr val="FDFDFD">
                  <a:alpha val="0"/>
                </a:srgbClr>
              </a:clrTo>
            </a:clrChange>
          </a:blip>
          <a:srcRect/>
          <a:stretch>
            <a:fillRect/>
          </a:stretch>
        </p:blipFill>
        <p:spPr bwMode="auto">
          <a:xfrm>
            <a:off x="0" y="-1224"/>
            <a:ext cx="1268881" cy="824184"/>
          </a:xfrm>
          <a:prstGeom prst="rect">
            <a:avLst/>
          </a:prstGeom>
          <a:noFill/>
          <a:ln w="9525">
            <a:noFill/>
            <a:miter lim="800000"/>
            <a:headEnd/>
            <a:tailEnd/>
          </a:ln>
          <a:effectLst/>
        </p:spPr>
      </p:pic>
      <p:graphicFrame>
        <p:nvGraphicFramePr>
          <p:cNvPr id="11" name="Chart 10">
            <a:extLst>
              <a:ext uri="{FF2B5EF4-FFF2-40B4-BE49-F238E27FC236}">
                <a16:creationId xmlns:a16="http://schemas.microsoft.com/office/drawing/2014/main" id="{C587510C-D355-4627-A2A6-D213CA1F44E5}"/>
              </a:ext>
            </a:extLst>
          </p:cNvPr>
          <p:cNvGraphicFramePr/>
          <p:nvPr>
            <p:extLst>
              <p:ext uri="{D42A27DB-BD31-4B8C-83A1-F6EECF244321}">
                <p14:modId xmlns:p14="http://schemas.microsoft.com/office/powerpoint/2010/main" val="1885411587"/>
              </p:ext>
            </p:extLst>
          </p:nvPr>
        </p:nvGraphicFramePr>
        <p:xfrm>
          <a:off x="2231072" y="1530535"/>
          <a:ext cx="7729855" cy="4946465"/>
        </p:xfrm>
        <a:graphic>
          <a:graphicData uri="http://schemas.openxmlformats.org/drawingml/2006/chart">
            <c:chart xmlns:c="http://schemas.openxmlformats.org/drawingml/2006/chart" xmlns:r="http://schemas.openxmlformats.org/officeDocument/2006/relationships" r:id="rId5"/>
          </a:graphicData>
        </a:graphic>
      </p:graphicFrame>
      <p:sp>
        <p:nvSpPr>
          <p:cNvPr id="7" name="TextBox 6">
            <a:extLst>
              <a:ext uri="{FF2B5EF4-FFF2-40B4-BE49-F238E27FC236}">
                <a16:creationId xmlns:a16="http://schemas.microsoft.com/office/drawing/2014/main" id="{A845241C-7DE0-FC19-6BA8-61CA2B0536B6}"/>
              </a:ext>
            </a:extLst>
          </p:cNvPr>
          <p:cNvSpPr txBox="1"/>
          <p:nvPr/>
        </p:nvSpPr>
        <p:spPr>
          <a:xfrm>
            <a:off x="2296737" y="1007184"/>
            <a:ext cx="7609263" cy="369332"/>
          </a:xfrm>
          <a:prstGeom prst="rect">
            <a:avLst/>
          </a:prstGeom>
          <a:noFill/>
        </p:spPr>
        <p:txBody>
          <a:bodyPr wrap="none" rtlCol="0">
            <a:spAutoFit/>
          </a:bodyPr>
          <a:lstStyle/>
          <a:p>
            <a:r>
              <a:rPr lang="en-US" b="1" dirty="0">
                <a:solidFill>
                  <a:schemeClr val="accent2">
                    <a:lumMod val="75000"/>
                  </a:schemeClr>
                </a:solidFill>
              </a:rPr>
              <a:t>Total Processing Time: SGSM(SHA256) vs. Secured SECS/GEM vs. SECS/GEMsec</a:t>
            </a:r>
          </a:p>
        </p:txBody>
      </p:sp>
    </p:spTree>
    <p:extLst>
      <p:ext uri="{BB962C8B-B14F-4D97-AF65-F5344CB8AC3E}">
        <p14:creationId xmlns:p14="http://schemas.microsoft.com/office/powerpoint/2010/main" val="40258234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fauzisukiman\Desktop\template pp USM\page 2 n seterusnya\Header.jpg"/>
          <p:cNvPicPr>
            <a:picLocks noChangeAspect="1" noChangeArrowheads="1"/>
          </p:cNvPicPr>
          <p:nvPr/>
        </p:nvPicPr>
        <p:blipFill rotWithShape="1">
          <a:blip r:embed="rId4" cstate="print"/>
          <a:srcRect l="14375"/>
          <a:stretch/>
        </p:blipFill>
        <p:spPr bwMode="auto">
          <a:xfrm>
            <a:off x="1268881" y="0"/>
            <a:ext cx="10923119" cy="822960"/>
          </a:xfrm>
          <a:prstGeom prst="rect">
            <a:avLst/>
          </a:prstGeom>
          <a:noFill/>
        </p:spPr>
      </p:pic>
      <p:sp>
        <p:nvSpPr>
          <p:cNvPr id="6" name="Rectangle 5"/>
          <p:cNvSpPr/>
          <p:nvPr/>
        </p:nvSpPr>
        <p:spPr>
          <a:xfrm>
            <a:off x="1447800" y="76200"/>
            <a:ext cx="10363200" cy="707886"/>
          </a:xfrm>
          <a:prstGeom prst="rect">
            <a:avLst/>
          </a:prstGeom>
        </p:spPr>
        <p:txBody>
          <a:bodyPr wrap="square">
            <a:spAutoFit/>
          </a:bodyPr>
          <a:lstStyle/>
          <a:p>
            <a:r>
              <a:rPr lang="en-US" sz="4000" b="1" i="1" dirty="0">
                <a:solidFill>
                  <a:schemeClr val="bg1"/>
                </a:solidFill>
              </a:rPr>
              <a:t>Results: Control Overhead</a:t>
            </a:r>
          </a:p>
        </p:txBody>
      </p:sp>
      <p:sp>
        <p:nvSpPr>
          <p:cNvPr id="2" name="Slide Number Placeholder 1"/>
          <p:cNvSpPr>
            <a:spLocks noGrp="1"/>
          </p:cNvSpPr>
          <p:nvPr>
            <p:ph type="sldNum" sz="quarter" idx="12"/>
          </p:nvPr>
        </p:nvSpPr>
        <p:spPr>
          <a:xfrm>
            <a:off x="9906000" y="6472826"/>
            <a:ext cx="2133600" cy="365125"/>
          </a:xfrm>
        </p:spPr>
        <p:txBody>
          <a:bodyPr/>
          <a:lstStyle/>
          <a:p>
            <a:fld id="{D4B39A3D-6E5B-421C-AA99-AA75690A48C6}" type="slidenum">
              <a:rPr lang="en-US" smtClean="0"/>
              <a:pPr/>
              <a:t>18</a:t>
            </a:fld>
            <a:endParaRPr lang="en-US" dirty="0"/>
          </a:p>
        </p:txBody>
      </p:sp>
      <p:pic>
        <p:nvPicPr>
          <p:cNvPr id="9" name="Picture 3"/>
          <p:cNvPicPr>
            <a:picLocks noChangeAspect="1" noChangeArrowheads="1"/>
          </p:cNvPicPr>
          <p:nvPr/>
        </p:nvPicPr>
        <p:blipFill>
          <a:blip r:embed="rId5" cstate="print">
            <a:clrChange>
              <a:clrFrom>
                <a:srgbClr val="FDFDFD"/>
              </a:clrFrom>
              <a:clrTo>
                <a:srgbClr val="FDFDFD">
                  <a:alpha val="0"/>
                </a:srgbClr>
              </a:clrTo>
            </a:clrChange>
          </a:blip>
          <a:srcRect/>
          <a:stretch>
            <a:fillRect/>
          </a:stretch>
        </p:blipFill>
        <p:spPr bwMode="auto">
          <a:xfrm>
            <a:off x="0" y="-1224"/>
            <a:ext cx="1268881" cy="824184"/>
          </a:xfrm>
          <a:prstGeom prst="rect">
            <a:avLst/>
          </a:prstGeom>
          <a:noFill/>
          <a:ln w="9525">
            <a:noFill/>
            <a:miter lim="800000"/>
            <a:headEnd/>
            <a:tailEnd/>
          </a:ln>
          <a:effectLst/>
        </p:spPr>
      </p:pic>
      <p:sp>
        <p:nvSpPr>
          <p:cNvPr id="3" name="TextBox 2">
            <a:extLst>
              <a:ext uri="{FF2B5EF4-FFF2-40B4-BE49-F238E27FC236}">
                <a16:creationId xmlns:a16="http://schemas.microsoft.com/office/drawing/2014/main" id="{0FACB260-AB7C-0A07-7C0F-134517E53D59}"/>
              </a:ext>
            </a:extLst>
          </p:cNvPr>
          <p:cNvSpPr txBox="1"/>
          <p:nvPr/>
        </p:nvSpPr>
        <p:spPr>
          <a:xfrm>
            <a:off x="7885909" y="1012644"/>
            <a:ext cx="3015056" cy="338554"/>
          </a:xfrm>
          <a:prstGeom prst="rect">
            <a:avLst/>
          </a:prstGeom>
          <a:noFill/>
        </p:spPr>
        <p:txBody>
          <a:bodyPr wrap="none" rtlCol="0">
            <a:spAutoFit/>
          </a:bodyPr>
          <a:lstStyle/>
          <a:p>
            <a:r>
              <a:rPr lang="en-US" sz="1600" b="1" dirty="0">
                <a:solidFill>
                  <a:schemeClr val="accent2">
                    <a:lumMod val="75000"/>
                  </a:schemeClr>
                </a:solidFill>
              </a:rPr>
              <a:t>SGSM(SHA256) Control overhead</a:t>
            </a:r>
          </a:p>
        </p:txBody>
      </p:sp>
      <p:graphicFrame>
        <p:nvGraphicFramePr>
          <p:cNvPr id="5" name="Table 4">
            <a:extLst>
              <a:ext uri="{FF2B5EF4-FFF2-40B4-BE49-F238E27FC236}">
                <a16:creationId xmlns:a16="http://schemas.microsoft.com/office/drawing/2014/main" id="{C1F4E8AB-C192-CDE7-6F61-A98DA2BC350B}"/>
              </a:ext>
            </a:extLst>
          </p:cNvPr>
          <p:cNvGraphicFramePr>
            <a:graphicFrameLocks noGrp="1"/>
          </p:cNvGraphicFramePr>
          <p:nvPr>
            <p:extLst>
              <p:ext uri="{D42A27DB-BD31-4B8C-83A1-F6EECF244321}">
                <p14:modId xmlns:p14="http://schemas.microsoft.com/office/powerpoint/2010/main" val="1898536112"/>
              </p:ext>
            </p:extLst>
          </p:nvPr>
        </p:nvGraphicFramePr>
        <p:xfrm>
          <a:off x="6463028" y="1390072"/>
          <a:ext cx="5195572" cy="1736793"/>
        </p:xfrm>
        <a:graphic>
          <a:graphicData uri="http://schemas.openxmlformats.org/drawingml/2006/table">
            <a:tbl>
              <a:tblPr firstRow="1" firstCol="1" bandRow="1">
                <a:tableStyleId>{5C22544A-7EE6-4342-B048-85BDC9FD1C3A}</a:tableStyleId>
              </a:tblPr>
              <a:tblGrid>
                <a:gridCol w="1107929">
                  <a:extLst>
                    <a:ext uri="{9D8B030D-6E8A-4147-A177-3AD203B41FA5}">
                      <a16:colId xmlns:a16="http://schemas.microsoft.com/office/drawing/2014/main" val="2905471569"/>
                    </a:ext>
                  </a:extLst>
                </a:gridCol>
                <a:gridCol w="720154">
                  <a:extLst>
                    <a:ext uri="{9D8B030D-6E8A-4147-A177-3AD203B41FA5}">
                      <a16:colId xmlns:a16="http://schemas.microsoft.com/office/drawing/2014/main" val="2163750978"/>
                    </a:ext>
                  </a:extLst>
                </a:gridCol>
                <a:gridCol w="830946">
                  <a:extLst>
                    <a:ext uri="{9D8B030D-6E8A-4147-A177-3AD203B41FA5}">
                      <a16:colId xmlns:a16="http://schemas.microsoft.com/office/drawing/2014/main" val="3668893723"/>
                    </a:ext>
                  </a:extLst>
                </a:gridCol>
                <a:gridCol w="775551">
                  <a:extLst>
                    <a:ext uri="{9D8B030D-6E8A-4147-A177-3AD203B41FA5}">
                      <a16:colId xmlns:a16="http://schemas.microsoft.com/office/drawing/2014/main" val="2212806644"/>
                    </a:ext>
                  </a:extLst>
                </a:gridCol>
                <a:gridCol w="775551">
                  <a:extLst>
                    <a:ext uri="{9D8B030D-6E8A-4147-A177-3AD203B41FA5}">
                      <a16:colId xmlns:a16="http://schemas.microsoft.com/office/drawing/2014/main" val="3866820378"/>
                    </a:ext>
                  </a:extLst>
                </a:gridCol>
                <a:gridCol w="985441">
                  <a:extLst>
                    <a:ext uri="{9D8B030D-6E8A-4147-A177-3AD203B41FA5}">
                      <a16:colId xmlns:a16="http://schemas.microsoft.com/office/drawing/2014/main" val="2537463787"/>
                    </a:ext>
                  </a:extLst>
                </a:gridCol>
              </a:tblGrid>
              <a:tr h="413273">
                <a:tc>
                  <a:txBody>
                    <a:bodyPr/>
                    <a:lstStyle/>
                    <a:p>
                      <a:pPr marL="0" marR="0" algn="ctr">
                        <a:lnSpc>
                          <a:spcPts val="1200"/>
                        </a:lnSpc>
                        <a:spcBef>
                          <a:spcPts val="300"/>
                        </a:spcBef>
                        <a:spcAft>
                          <a:spcPts val="300"/>
                        </a:spcAft>
                      </a:pPr>
                      <a:r>
                        <a:rPr lang="en-US" sz="1200" spc="-10" dirty="0">
                          <a:effectLst/>
                        </a:rPr>
                        <a:t>Message</a:t>
                      </a:r>
                      <a:br>
                        <a:rPr lang="en-US" sz="1200" spc="-10" dirty="0">
                          <a:effectLst/>
                        </a:rPr>
                      </a:br>
                      <a:r>
                        <a:rPr lang="en-US" sz="1200" spc="-10" dirty="0">
                          <a:effectLst/>
                        </a:rPr>
                        <a:t>Type</a:t>
                      </a:r>
                      <a:endParaRPr lang="en-US" sz="1000" spc="-10" dirty="0">
                        <a:effectLst/>
                        <a:latin typeface="Times New Roman" panose="02020603050405020304" pitchFamily="18" charset="0"/>
                        <a:ea typeface="Times New Roman" panose="02020603050405020304" pitchFamily="18" charset="0"/>
                        <a:cs typeface="TimesLTStd-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ts val="1200"/>
                        </a:lnSpc>
                        <a:spcBef>
                          <a:spcPts val="300"/>
                        </a:spcBef>
                        <a:spcAft>
                          <a:spcPts val="300"/>
                        </a:spcAft>
                      </a:pPr>
                      <a:r>
                        <a:rPr lang="en-US" sz="1200" spc="-10" dirty="0">
                          <a:effectLst/>
                        </a:rPr>
                        <a:t>HSMS</a:t>
                      </a:r>
                      <a:br>
                        <a:rPr lang="en-US" sz="1200" spc="-10" dirty="0">
                          <a:effectLst/>
                        </a:rPr>
                      </a:br>
                      <a:r>
                        <a:rPr lang="en-US" sz="1200" spc="-10" dirty="0">
                          <a:effectLst/>
                        </a:rPr>
                        <a:t>(header)</a:t>
                      </a:r>
                      <a:endParaRPr lang="en-US" sz="1000" spc="-10" dirty="0">
                        <a:effectLst/>
                        <a:latin typeface="Times New Roman" panose="02020603050405020304" pitchFamily="18" charset="0"/>
                        <a:ea typeface="Times New Roman" panose="02020603050405020304" pitchFamily="18" charset="0"/>
                        <a:cs typeface="TimesLTStd-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ts val="1200"/>
                        </a:lnSpc>
                        <a:spcBef>
                          <a:spcPts val="300"/>
                        </a:spcBef>
                        <a:spcAft>
                          <a:spcPts val="300"/>
                        </a:spcAft>
                      </a:pPr>
                      <a:r>
                        <a:rPr lang="en-US" sz="1200" spc="-10" dirty="0">
                          <a:effectLst/>
                        </a:rPr>
                        <a:t>Payload</a:t>
                      </a:r>
                      <a:br>
                        <a:rPr lang="en-US" sz="1200" spc="-10" dirty="0">
                          <a:effectLst/>
                        </a:rPr>
                      </a:br>
                      <a:r>
                        <a:rPr lang="en-US" sz="1200" spc="-10" dirty="0">
                          <a:effectLst/>
                        </a:rPr>
                        <a:t>(bytes)</a:t>
                      </a:r>
                      <a:endParaRPr lang="en-US" sz="1000" spc="-10" dirty="0">
                        <a:effectLst/>
                        <a:latin typeface="Times New Roman" panose="02020603050405020304" pitchFamily="18" charset="0"/>
                        <a:ea typeface="Times New Roman" panose="02020603050405020304" pitchFamily="18" charset="0"/>
                        <a:cs typeface="TimesLTStd-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ts val="1200"/>
                        </a:lnSpc>
                        <a:spcBef>
                          <a:spcPts val="300"/>
                        </a:spcBef>
                        <a:spcAft>
                          <a:spcPts val="300"/>
                        </a:spcAft>
                      </a:pPr>
                      <a:r>
                        <a:rPr lang="en-US" sz="1200" spc="-10" dirty="0">
                          <a:effectLst/>
                        </a:rPr>
                        <a:t>SGSM</a:t>
                      </a:r>
                      <a:br>
                        <a:rPr lang="en-US" sz="1200" spc="-10" dirty="0">
                          <a:effectLst/>
                        </a:rPr>
                      </a:br>
                      <a:r>
                        <a:rPr lang="en-US" sz="1200" spc="-10" dirty="0">
                          <a:effectLst/>
                        </a:rPr>
                        <a:t>Overhead</a:t>
                      </a:r>
                      <a:endParaRPr lang="en-US" sz="1000" spc="-10" dirty="0">
                        <a:effectLst/>
                        <a:latin typeface="Times New Roman" panose="02020603050405020304" pitchFamily="18" charset="0"/>
                        <a:ea typeface="Times New Roman" panose="02020603050405020304" pitchFamily="18" charset="0"/>
                        <a:cs typeface="TimesLTStd-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ts val="1200"/>
                        </a:lnSpc>
                        <a:spcBef>
                          <a:spcPts val="300"/>
                        </a:spcBef>
                        <a:spcAft>
                          <a:spcPts val="300"/>
                        </a:spcAft>
                      </a:pPr>
                      <a:r>
                        <a:rPr lang="en-US" sz="1200" spc="-10" dirty="0">
                          <a:effectLst/>
                        </a:rPr>
                        <a:t>Total</a:t>
                      </a:r>
                      <a:br>
                        <a:rPr lang="en-US" sz="1200" spc="-10" dirty="0">
                          <a:effectLst/>
                        </a:rPr>
                      </a:br>
                      <a:r>
                        <a:rPr lang="en-US" sz="1200" spc="-10" dirty="0">
                          <a:effectLst/>
                        </a:rPr>
                        <a:t>Size</a:t>
                      </a:r>
                      <a:endParaRPr lang="en-US" sz="1000" spc="-10" dirty="0">
                        <a:effectLst/>
                        <a:latin typeface="Times New Roman" panose="02020603050405020304" pitchFamily="18" charset="0"/>
                        <a:ea typeface="Times New Roman" panose="02020603050405020304" pitchFamily="18" charset="0"/>
                        <a:cs typeface="TimesLTStd-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ts val="1200"/>
                        </a:lnSpc>
                        <a:spcBef>
                          <a:spcPts val="300"/>
                        </a:spcBef>
                        <a:spcAft>
                          <a:spcPts val="300"/>
                        </a:spcAft>
                      </a:pPr>
                      <a:r>
                        <a:rPr lang="en-US" sz="1200" spc="-10" dirty="0">
                          <a:effectLst/>
                        </a:rPr>
                        <a:t>Control</a:t>
                      </a:r>
                      <a:br>
                        <a:rPr lang="en-US" sz="1200" spc="-10" dirty="0">
                          <a:effectLst/>
                        </a:rPr>
                      </a:br>
                      <a:r>
                        <a:rPr lang="en-US" sz="1200" spc="-10" dirty="0">
                          <a:effectLst/>
                        </a:rPr>
                        <a:t>Overhead </a:t>
                      </a:r>
                      <a:endParaRPr lang="en-US" sz="1000" spc="-10" dirty="0">
                        <a:effectLst/>
                        <a:latin typeface="Times New Roman" panose="02020603050405020304" pitchFamily="18" charset="0"/>
                        <a:ea typeface="Times New Roman" panose="02020603050405020304" pitchFamily="18" charset="0"/>
                        <a:cs typeface="TimesLTStd-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57236411"/>
                  </a:ext>
                </a:extLst>
              </a:tr>
              <a:tr h="330880">
                <a:tc>
                  <a:txBody>
                    <a:bodyPr/>
                    <a:lstStyle/>
                    <a:p>
                      <a:pPr marL="0" marR="0" algn="ctr">
                        <a:lnSpc>
                          <a:spcPts val="1200"/>
                        </a:lnSpc>
                        <a:spcBef>
                          <a:spcPts val="300"/>
                        </a:spcBef>
                        <a:spcAft>
                          <a:spcPts val="300"/>
                        </a:spcAft>
                      </a:pPr>
                      <a:r>
                        <a:rPr lang="en-US" sz="1200" spc="-10" dirty="0">
                          <a:effectLst/>
                        </a:rPr>
                        <a:t>Control </a:t>
                      </a:r>
                      <a:br>
                        <a:rPr lang="en-US" sz="1200" spc="-10" dirty="0">
                          <a:effectLst/>
                        </a:rPr>
                      </a:br>
                      <a:r>
                        <a:rPr lang="en-US" sz="1200" spc="-10" dirty="0">
                          <a:effectLst/>
                        </a:rPr>
                        <a:t>Message</a:t>
                      </a:r>
                      <a:endParaRPr lang="en-US" sz="1000" spc="-10" dirty="0">
                        <a:effectLst/>
                        <a:latin typeface="Times New Roman" panose="02020603050405020304" pitchFamily="18" charset="0"/>
                        <a:ea typeface="Times New Roman" panose="02020603050405020304" pitchFamily="18" charset="0"/>
                        <a:cs typeface="TimesLTStd-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ts val="1200"/>
                        </a:lnSpc>
                        <a:spcBef>
                          <a:spcPts val="300"/>
                        </a:spcBef>
                        <a:spcAft>
                          <a:spcPts val="300"/>
                        </a:spcAft>
                      </a:pPr>
                      <a:r>
                        <a:rPr lang="en-US" sz="1200" spc="-10" dirty="0">
                          <a:effectLst/>
                        </a:rPr>
                        <a:t>14</a:t>
                      </a:r>
                      <a:endParaRPr lang="en-US" sz="1000" spc="-10" dirty="0">
                        <a:effectLst/>
                        <a:latin typeface="Times New Roman" panose="02020603050405020304" pitchFamily="18" charset="0"/>
                        <a:ea typeface="Times New Roman" panose="02020603050405020304" pitchFamily="18" charset="0"/>
                        <a:cs typeface="TimesLTStd-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ts val="1200"/>
                        </a:lnSpc>
                        <a:spcBef>
                          <a:spcPts val="300"/>
                        </a:spcBef>
                        <a:spcAft>
                          <a:spcPts val="300"/>
                        </a:spcAft>
                      </a:pPr>
                      <a:r>
                        <a:rPr lang="en-US" sz="1200" spc="-10" dirty="0">
                          <a:effectLst/>
                        </a:rPr>
                        <a:t>0</a:t>
                      </a:r>
                      <a:endParaRPr lang="en-US" sz="1000" spc="-10" dirty="0">
                        <a:effectLst/>
                        <a:latin typeface="Times New Roman" panose="02020603050405020304" pitchFamily="18" charset="0"/>
                        <a:ea typeface="Times New Roman" panose="02020603050405020304" pitchFamily="18" charset="0"/>
                        <a:cs typeface="TimesLTStd-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ts val="1200"/>
                        </a:lnSpc>
                        <a:spcBef>
                          <a:spcPts val="300"/>
                        </a:spcBef>
                        <a:spcAft>
                          <a:spcPts val="300"/>
                        </a:spcAft>
                      </a:pPr>
                      <a:r>
                        <a:rPr lang="en-US" sz="1200" spc="-10" dirty="0">
                          <a:effectLst/>
                        </a:rPr>
                        <a:t>48</a:t>
                      </a:r>
                      <a:endParaRPr lang="en-US" sz="1000" spc="-10" dirty="0">
                        <a:effectLst/>
                        <a:latin typeface="Times New Roman" panose="02020603050405020304" pitchFamily="18" charset="0"/>
                        <a:ea typeface="Times New Roman" panose="02020603050405020304" pitchFamily="18" charset="0"/>
                        <a:cs typeface="TimesLTStd-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ts val="1200"/>
                        </a:lnSpc>
                        <a:spcBef>
                          <a:spcPts val="300"/>
                        </a:spcBef>
                        <a:spcAft>
                          <a:spcPts val="300"/>
                        </a:spcAft>
                      </a:pPr>
                      <a:r>
                        <a:rPr lang="en-US" sz="1200" spc="-10">
                          <a:effectLst/>
                        </a:rPr>
                        <a:t>62</a:t>
                      </a:r>
                      <a:endParaRPr lang="en-US" sz="1000" spc="-10">
                        <a:effectLst/>
                        <a:latin typeface="Times New Roman" panose="02020603050405020304" pitchFamily="18" charset="0"/>
                        <a:ea typeface="Times New Roman" panose="02020603050405020304" pitchFamily="18" charset="0"/>
                        <a:cs typeface="TimesLTStd-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ts val="1200"/>
                        </a:lnSpc>
                        <a:spcBef>
                          <a:spcPts val="300"/>
                        </a:spcBef>
                        <a:spcAft>
                          <a:spcPts val="300"/>
                        </a:spcAft>
                      </a:pPr>
                      <a:r>
                        <a:rPr lang="en-US" sz="1200" spc="-10">
                          <a:effectLst/>
                        </a:rPr>
                        <a:t>77.419%</a:t>
                      </a:r>
                      <a:endParaRPr lang="en-US" sz="1000" spc="-10">
                        <a:effectLst/>
                        <a:latin typeface="Times New Roman" panose="02020603050405020304" pitchFamily="18" charset="0"/>
                        <a:ea typeface="Times New Roman" panose="02020603050405020304" pitchFamily="18" charset="0"/>
                        <a:cs typeface="TimesLTStd-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5084939"/>
                  </a:ext>
                </a:extLst>
              </a:tr>
              <a:tr h="330880">
                <a:tc>
                  <a:txBody>
                    <a:bodyPr/>
                    <a:lstStyle/>
                    <a:p>
                      <a:pPr marL="0" marR="0" algn="ctr">
                        <a:lnSpc>
                          <a:spcPts val="1200"/>
                        </a:lnSpc>
                        <a:spcBef>
                          <a:spcPts val="300"/>
                        </a:spcBef>
                        <a:spcAft>
                          <a:spcPts val="300"/>
                        </a:spcAft>
                      </a:pPr>
                      <a:r>
                        <a:rPr lang="en-US" sz="1200" spc="-10">
                          <a:effectLst/>
                        </a:rPr>
                        <a:t>Data Message</a:t>
                      </a:r>
                      <a:br>
                        <a:rPr lang="en-US" sz="1200" spc="-10">
                          <a:effectLst/>
                        </a:rPr>
                      </a:br>
                      <a:r>
                        <a:rPr lang="en-US" sz="1200" spc="-10">
                          <a:effectLst/>
                        </a:rPr>
                        <a:t>(1KB)</a:t>
                      </a:r>
                      <a:endParaRPr lang="en-US" sz="1000" spc="-10">
                        <a:effectLst/>
                        <a:latin typeface="Times New Roman" panose="02020603050405020304" pitchFamily="18" charset="0"/>
                        <a:ea typeface="Times New Roman" panose="02020603050405020304" pitchFamily="18" charset="0"/>
                        <a:cs typeface="TimesLTStd-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ts val="1200"/>
                        </a:lnSpc>
                        <a:spcBef>
                          <a:spcPts val="300"/>
                        </a:spcBef>
                        <a:spcAft>
                          <a:spcPts val="300"/>
                        </a:spcAft>
                      </a:pPr>
                      <a:r>
                        <a:rPr lang="en-US" sz="1200" spc="-10" dirty="0">
                          <a:effectLst/>
                        </a:rPr>
                        <a:t>14</a:t>
                      </a:r>
                      <a:endParaRPr lang="en-US" sz="1000" spc="-10" dirty="0">
                        <a:effectLst/>
                        <a:latin typeface="Times New Roman" panose="02020603050405020304" pitchFamily="18" charset="0"/>
                        <a:ea typeface="Times New Roman" panose="02020603050405020304" pitchFamily="18" charset="0"/>
                        <a:cs typeface="TimesLTStd-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ts val="1200"/>
                        </a:lnSpc>
                        <a:spcBef>
                          <a:spcPts val="300"/>
                        </a:spcBef>
                        <a:spcAft>
                          <a:spcPts val="300"/>
                        </a:spcAft>
                      </a:pPr>
                      <a:r>
                        <a:rPr lang="en-US" sz="1200" spc="-10">
                          <a:effectLst/>
                        </a:rPr>
                        <a:t>1024</a:t>
                      </a:r>
                      <a:endParaRPr lang="en-US" sz="1000" spc="-10">
                        <a:effectLst/>
                        <a:latin typeface="Times New Roman" panose="02020603050405020304" pitchFamily="18" charset="0"/>
                        <a:ea typeface="Times New Roman" panose="02020603050405020304" pitchFamily="18" charset="0"/>
                        <a:cs typeface="TimesLTStd-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ts val="1200"/>
                        </a:lnSpc>
                        <a:spcBef>
                          <a:spcPts val="300"/>
                        </a:spcBef>
                        <a:spcAft>
                          <a:spcPts val="300"/>
                        </a:spcAft>
                      </a:pPr>
                      <a:r>
                        <a:rPr lang="en-US" sz="1200" spc="-10" dirty="0">
                          <a:effectLst/>
                        </a:rPr>
                        <a:t>48</a:t>
                      </a:r>
                      <a:endParaRPr lang="en-US" sz="1000" spc="-10" dirty="0">
                        <a:effectLst/>
                        <a:latin typeface="Times New Roman" panose="02020603050405020304" pitchFamily="18" charset="0"/>
                        <a:ea typeface="Times New Roman" panose="02020603050405020304" pitchFamily="18" charset="0"/>
                        <a:cs typeface="TimesLTStd-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ts val="1200"/>
                        </a:lnSpc>
                        <a:spcBef>
                          <a:spcPts val="300"/>
                        </a:spcBef>
                        <a:spcAft>
                          <a:spcPts val="300"/>
                        </a:spcAft>
                      </a:pPr>
                      <a:r>
                        <a:rPr lang="en-US" sz="1200" spc="-10">
                          <a:effectLst/>
                        </a:rPr>
                        <a:t>1086</a:t>
                      </a:r>
                      <a:endParaRPr lang="en-US" sz="1000" spc="-10">
                        <a:effectLst/>
                        <a:latin typeface="Times New Roman" panose="02020603050405020304" pitchFamily="18" charset="0"/>
                        <a:ea typeface="Times New Roman" panose="02020603050405020304" pitchFamily="18" charset="0"/>
                        <a:cs typeface="TimesLTStd-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ts val="1200"/>
                        </a:lnSpc>
                        <a:spcBef>
                          <a:spcPts val="300"/>
                        </a:spcBef>
                        <a:spcAft>
                          <a:spcPts val="300"/>
                        </a:spcAft>
                      </a:pPr>
                      <a:r>
                        <a:rPr lang="en-US" sz="1200" spc="-10">
                          <a:effectLst/>
                        </a:rPr>
                        <a:t>4.420%</a:t>
                      </a:r>
                      <a:endParaRPr lang="en-US" sz="1000" spc="-10">
                        <a:effectLst/>
                        <a:latin typeface="Times New Roman" panose="02020603050405020304" pitchFamily="18" charset="0"/>
                        <a:ea typeface="Times New Roman" panose="02020603050405020304" pitchFamily="18" charset="0"/>
                        <a:cs typeface="TimesLTStd-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4762200"/>
                  </a:ext>
                </a:extLst>
              </a:tr>
              <a:tr h="330880">
                <a:tc>
                  <a:txBody>
                    <a:bodyPr/>
                    <a:lstStyle/>
                    <a:p>
                      <a:pPr marL="0" marR="0" algn="ctr">
                        <a:lnSpc>
                          <a:spcPts val="1200"/>
                        </a:lnSpc>
                        <a:spcBef>
                          <a:spcPts val="300"/>
                        </a:spcBef>
                        <a:spcAft>
                          <a:spcPts val="300"/>
                        </a:spcAft>
                      </a:pPr>
                      <a:r>
                        <a:rPr lang="en-US" sz="1200" spc="-10">
                          <a:effectLst/>
                        </a:rPr>
                        <a:t>Data Message (1MB)</a:t>
                      </a:r>
                      <a:endParaRPr lang="en-US" sz="1000" spc="-10">
                        <a:effectLst/>
                        <a:latin typeface="Times New Roman" panose="02020603050405020304" pitchFamily="18" charset="0"/>
                        <a:ea typeface="Times New Roman" panose="02020603050405020304" pitchFamily="18" charset="0"/>
                        <a:cs typeface="TimesLTStd-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ts val="1200"/>
                        </a:lnSpc>
                        <a:spcBef>
                          <a:spcPts val="300"/>
                        </a:spcBef>
                        <a:spcAft>
                          <a:spcPts val="300"/>
                        </a:spcAft>
                      </a:pPr>
                      <a:r>
                        <a:rPr lang="en-US" sz="1200" spc="-10" dirty="0">
                          <a:effectLst/>
                        </a:rPr>
                        <a:t>14</a:t>
                      </a:r>
                      <a:endParaRPr lang="en-US" sz="1000" spc="-10" dirty="0">
                        <a:effectLst/>
                        <a:latin typeface="Times New Roman" panose="02020603050405020304" pitchFamily="18" charset="0"/>
                        <a:ea typeface="Times New Roman" panose="02020603050405020304" pitchFamily="18" charset="0"/>
                        <a:cs typeface="TimesLTStd-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ts val="1200"/>
                        </a:lnSpc>
                        <a:spcBef>
                          <a:spcPts val="300"/>
                        </a:spcBef>
                        <a:spcAft>
                          <a:spcPts val="300"/>
                        </a:spcAft>
                      </a:pPr>
                      <a:r>
                        <a:rPr lang="en-US" sz="1200" spc="-10" dirty="0">
                          <a:effectLst/>
                        </a:rPr>
                        <a:t>1048576</a:t>
                      </a:r>
                      <a:endParaRPr lang="en-US" sz="1000" spc="-10" dirty="0">
                        <a:effectLst/>
                        <a:latin typeface="Times New Roman" panose="02020603050405020304" pitchFamily="18" charset="0"/>
                        <a:ea typeface="Times New Roman" panose="02020603050405020304" pitchFamily="18" charset="0"/>
                        <a:cs typeface="TimesLTStd-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ts val="1200"/>
                        </a:lnSpc>
                        <a:spcBef>
                          <a:spcPts val="300"/>
                        </a:spcBef>
                        <a:spcAft>
                          <a:spcPts val="300"/>
                        </a:spcAft>
                      </a:pPr>
                      <a:r>
                        <a:rPr lang="en-US" sz="1200" spc="-10">
                          <a:effectLst/>
                        </a:rPr>
                        <a:t>48</a:t>
                      </a:r>
                      <a:endParaRPr lang="en-US" sz="1000" spc="-10">
                        <a:effectLst/>
                        <a:latin typeface="Times New Roman" panose="02020603050405020304" pitchFamily="18" charset="0"/>
                        <a:ea typeface="Times New Roman" panose="02020603050405020304" pitchFamily="18" charset="0"/>
                        <a:cs typeface="TimesLTStd-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ts val="1200"/>
                        </a:lnSpc>
                        <a:spcBef>
                          <a:spcPts val="300"/>
                        </a:spcBef>
                        <a:spcAft>
                          <a:spcPts val="300"/>
                        </a:spcAft>
                      </a:pPr>
                      <a:r>
                        <a:rPr lang="en-US" sz="1200" spc="-10" dirty="0">
                          <a:effectLst/>
                        </a:rPr>
                        <a:t>1048638</a:t>
                      </a:r>
                      <a:endParaRPr lang="en-US" sz="1000" spc="-10" dirty="0">
                        <a:effectLst/>
                        <a:latin typeface="Times New Roman" panose="02020603050405020304" pitchFamily="18" charset="0"/>
                        <a:ea typeface="Times New Roman" panose="02020603050405020304" pitchFamily="18" charset="0"/>
                        <a:cs typeface="TimesLTStd-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ts val="1200"/>
                        </a:lnSpc>
                        <a:spcBef>
                          <a:spcPts val="300"/>
                        </a:spcBef>
                        <a:spcAft>
                          <a:spcPts val="300"/>
                        </a:spcAft>
                      </a:pPr>
                      <a:r>
                        <a:rPr lang="en-US" sz="1200" spc="-10" dirty="0">
                          <a:effectLst/>
                        </a:rPr>
                        <a:t>0.005%</a:t>
                      </a:r>
                      <a:endParaRPr lang="en-US" sz="1000" spc="-10" dirty="0">
                        <a:effectLst/>
                        <a:latin typeface="Times New Roman" panose="02020603050405020304" pitchFamily="18" charset="0"/>
                        <a:ea typeface="Times New Roman" panose="02020603050405020304" pitchFamily="18" charset="0"/>
                        <a:cs typeface="TimesLTStd-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24357398"/>
                  </a:ext>
                </a:extLst>
              </a:tr>
              <a:tr h="330880">
                <a:tc>
                  <a:txBody>
                    <a:bodyPr/>
                    <a:lstStyle/>
                    <a:p>
                      <a:pPr marL="0" marR="0" algn="ctr">
                        <a:lnSpc>
                          <a:spcPts val="1200"/>
                        </a:lnSpc>
                        <a:spcBef>
                          <a:spcPts val="300"/>
                        </a:spcBef>
                        <a:spcAft>
                          <a:spcPts val="300"/>
                        </a:spcAft>
                      </a:pPr>
                      <a:r>
                        <a:rPr lang="en-US" sz="1200" spc="-10" dirty="0">
                          <a:effectLst/>
                        </a:rPr>
                        <a:t>Data Message</a:t>
                      </a:r>
                      <a:br>
                        <a:rPr lang="en-US" sz="1200" spc="-10" dirty="0">
                          <a:effectLst/>
                        </a:rPr>
                      </a:br>
                      <a:r>
                        <a:rPr lang="en-US" sz="1200" spc="-10" dirty="0">
                          <a:effectLst/>
                        </a:rPr>
                        <a:t>(10MB)</a:t>
                      </a:r>
                      <a:endParaRPr lang="en-US" sz="1000" spc="-10" dirty="0">
                        <a:effectLst/>
                        <a:latin typeface="Times New Roman" panose="02020603050405020304" pitchFamily="18" charset="0"/>
                        <a:ea typeface="Times New Roman" panose="02020603050405020304" pitchFamily="18" charset="0"/>
                        <a:cs typeface="TimesLTStd-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ts val="1200"/>
                        </a:lnSpc>
                        <a:spcBef>
                          <a:spcPts val="300"/>
                        </a:spcBef>
                        <a:spcAft>
                          <a:spcPts val="300"/>
                        </a:spcAft>
                      </a:pPr>
                      <a:r>
                        <a:rPr lang="en-US" sz="1200" spc="-10" dirty="0">
                          <a:effectLst/>
                        </a:rPr>
                        <a:t>14</a:t>
                      </a:r>
                      <a:endParaRPr lang="en-US" sz="1000" spc="-10" dirty="0">
                        <a:effectLst/>
                        <a:latin typeface="Times New Roman" panose="02020603050405020304" pitchFamily="18" charset="0"/>
                        <a:ea typeface="Times New Roman" panose="02020603050405020304" pitchFamily="18" charset="0"/>
                        <a:cs typeface="TimesLTStd-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ts val="1200"/>
                        </a:lnSpc>
                        <a:spcBef>
                          <a:spcPts val="300"/>
                        </a:spcBef>
                        <a:spcAft>
                          <a:spcPts val="300"/>
                        </a:spcAft>
                      </a:pPr>
                      <a:r>
                        <a:rPr lang="en-US" sz="1200" spc="-10">
                          <a:effectLst/>
                        </a:rPr>
                        <a:t>10485760</a:t>
                      </a:r>
                      <a:endParaRPr lang="en-US" sz="1000" spc="-10">
                        <a:effectLst/>
                        <a:latin typeface="Times New Roman" panose="02020603050405020304" pitchFamily="18" charset="0"/>
                        <a:ea typeface="Times New Roman" panose="02020603050405020304" pitchFamily="18" charset="0"/>
                        <a:cs typeface="TimesLTStd-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ts val="1200"/>
                        </a:lnSpc>
                        <a:spcBef>
                          <a:spcPts val="300"/>
                        </a:spcBef>
                        <a:spcAft>
                          <a:spcPts val="300"/>
                        </a:spcAft>
                      </a:pPr>
                      <a:r>
                        <a:rPr lang="en-US" sz="1200" spc="-10" dirty="0">
                          <a:effectLst/>
                        </a:rPr>
                        <a:t>48</a:t>
                      </a:r>
                      <a:endParaRPr lang="en-US" sz="1000" spc="-10" dirty="0">
                        <a:effectLst/>
                        <a:latin typeface="Times New Roman" panose="02020603050405020304" pitchFamily="18" charset="0"/>
                        <a:ea typeface="Times New Roman" panose="02020603050405020304" pitchFamily="18" charset="0"/>
                        <a:cs typeface="TimesLTStd-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ts val="1200"/>
                        </a:lnSpc>
                        <a:spcBef>
                          <a:spcPts val="300"/>
                        </a:spcBef>
                        <a:spcAft>
                          <a:spcPts val="300"/>
                        </a:spcAft>
                      </a:pPr>
                      <a:r>
                        <a:rPr lang="en-US" sz="1200" spc="-10" dirty="0">
                          <a:effectLst/>
                        </a:rPr>
                        <a:t>10485822</a:t>
                      </a:r>
                      <a:endParaRPr lang="en-US" sz="1000" spc="-10" dirty="0">
                        <a:effectLst/>
                        <a:latin typeface="Times New Roman" panose="02020603050405020304" pitchFamily="18" charset="0"/>
                        <a:ea typeface="Times New Roman" panose="02020603050405020304" pitchFamily="18" charset="0"/>
                        <a:cs typeface="TimesLTStd-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ts val="1200"/>
                        </a:lnSpc>
                        <a:spcBef>
                          <a:spcPts val="300"/>
                        </a:spcBef>
                        <a:spcAft>
                          <a:spcPts val="300"/>
                        </a:spcAft>
                      </a:pPr>
                      <a:r>
                        <a:rPr lang="en-US" sz="1200" spc="-10" dirty="0">
                          <a:effectLst/>
                        </a:rPr>
                        <a:t>0.000%</a:t>
                      </a:r>
                      <a:endParaRPr lang="en-US" sz="1000" spc="-10" dirty="0">
                        <a:effectLst/>
                        <a:latin typeface="Times New Roman" panose="02020603050405020304" pitchFamily="18" charset="0"/>
                        <a:ea typeface="Times New Roman" panose="02020603050405020304" pitchFamily="18" charset="0"/>
                        <a:cs typeface="TimesLTStd-Roman"/>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36204360"/>
                  </a:ext>
                </a:extLst>
              </a:tr>
            </a:tbl>
          </a:graphicData>
        </a:graphic>
      </p:graphicFrame>
      <p:graphicFrame>
        <p:nvGraphicFramePr>
          <p:cNvPr id="7" name="Table 6">
            <a:extLst>
              <a:ext uri="{FF2B5EF4-FFF2-40B4-BE49-F238E27FC236}">
                <a16:creationId xmlns:a16="http://schemas.microsoft.com/office/drawing/2014/main" id="{E73C049B-A1EE-0487-9A7F-E0E72AE5A364}"/>
              </a:ext>
            </a:extLst>
          </p:cNvPr>
          <p:cNvGraphicFramePr>
            <a:graphicFrameLocks noGrp="1"/>
          </p:cNvGraphicFramePr>
          <p:nvPr>
            <p:extLst>
              <p:ext uri="{D42A27DB-BD31-4B8C-83A1-F6EECF244321}">
                <p14:modId xmlns:p14="http://schemas.microsoft.com/office/powerpoint/2010/main" val="2344537838"/>
              </p:ext>
            </p:extLst>
          </p:nvPr>
        </p:nvGraphicFramePr>
        <p:xfrm>
          <a:off x="6463029" y="4346678"/>
          <a:ext cx="5195572" cy="1977922"/>
        </p:xfrm>
        <a:graphic>
          <a:graphicData uri="http://schemas.openxmlformats.org/drawingml/2006/table">
            <a:tbl>
              <a:tblPr firstRow="1" firstCol="1" bandRow="1">
                <a:tableStyleId>{5C22544A-7EE6-4342-B048-85BDC9FD1C3A}</a:tableStyleId>
              </a:tblPr>
              <a:tblGrid>
                <a:gridCol w="1411227">
                  <a:extLst>
                    <a:ext uri="{9D8B030D-6E8A-4147-A177-3AD203B41FA5}">
                      <a16:colId xmlns:a16="http://schemas.microsoft.com/office/drawing/2014/main" val="1556529072"/>
                    </a:ext>
                  </a:extLst>
                </a:gridCol>
                <a:gridCol w="947636">
                  <a:extLst>
                    <a:ext uri="{9D8B030D-6E8A-4147-A177-3AD203B41FA5}">
                      <a16:colId xmlns:a16="http://schemas.microsoft.com/office/drawing/2014/main" val="2498104279"/>
                    </a:ext>
                  </a:extLst>
                </a:gridCol>
                <a:gridCol w="948876">
                  <a:extLst>
                    <a:ext uri="{9D8B030D-6E8A-4147-A177-3AD203B41FA5}">
                      <a16:colId xmlns:a16="http://schemas.microsoft.com/office/drawing/2014/main" val="2288522657"/>
                    </a:ext>
                  </a:extLst>
                </a:gridCol>
                <a:gridCol w="948876">
                  <a:extLst>
                    <a:ext uri="{9D8B030D-6E8A-4147-A177-3AD203B41FA5}">
                      <a16:colId xmlns:a16="http://schemas.microsoft.com/office/drawing/2014/main" val="3485033385"/>
                    </a:ext>
                  </a:extLst>
                </a:gridCol>
                <a:gridCol w="938957">
                  <a:extLst>
                    <a:ext uri="{9D8B030D-6E8A-4147-A177-3AD203B41FA5}">
                      <a16:colId xmlns:a16="http://schemas.microsoft.com/office/drawing/2014/main" val="3590270524"/>
                    </a:ext>
                  </a:extLst>
                </a:gridCol>
              </a:tblGrid>
              <a:tr h="574043">
                <a:tc rowSpan="2">
                  <a:txBody>
                    <a:bodyPr/>
                    <a:lstStyle/>
                    <a:p>
                      <a:pPr marL="0" marR="0" algn="ctr">
                        <a:lnSpc>
                          <a:spcPct val="115000"/>
                        </a:lnSpc>
                        <a:spcBef>
                          <a:spcPts val="300"/>
                        </a:spcBef>
                        <a:spcAft>
                          <a:spcPts val="300"/>
                        </a:spcAft>
                      </a:pPr>
                      <a:r>
                        <a:rPr lang="en-US" sz="1200" dirty="0">
                          <a:effectLst/>
                        </a:rPr>
                        <a:t>Protocol</a:t>
                      </a:r>
                      <a:endParaRPr lang="en-US" sz="1200" dirty="0">
                        <a:effectLst/>
                        <a:latin typeface="Times New Roman" panose="02020603050405020304" pitchFamily="18" charset="0"/>
                        <a:ea typeface="SimSun" panose="02010600030101010101" pitchFamily="2" charset="-122"/>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marL="0" marR="0" algn="ctr">
                        <a:lnSpc>
                          <a:spcPct val="115000"/>
                        </a:lnSpc>
                        <a:spcBef>
                          <a:spcPts val="300"/>
                        </a:spcBef>
                        <a:spcAft>
                          <a:spcPts val="300"/>
                        </a:spcAft>
                      </a:pPr>
                      <a:r>
                        <a:rPr lang="en-US" sz="1200" dirty="0">
                          <a:effectLst/>
                        </a:rPr>
                        <a:t>Control Message</a:t>
                      </a:r>
                      <a:br>
                        <a:rPr lang="en-US" sz="1200" dirty="0">
                          <a:effectLst/>
                        </a:rPr>
                      </a:br>
                      <a:r>
                        <a:rPr lang="en-US" sz="1200" dirty="0">
                          <a:effectLst/>
                        </a:rPr>
                        <a:t>(10 bytes)</a:t>
                      </a:r>
                      <a:endParaRPr lang="en-US" sz="1200" dirty="0">
                        <a:effectLst/>
                        <a:latin typeface="Times New Roman" panose="02020603050405020304" pitchFamily="18" charset="0"/>
                        <a:ea typeface="SimSun" panose="02010600030101010101" pitchFamily="2" charset="-122"/>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gridSpan="2">
                  <a:txBody>
                    <a:bodyPr/>
                    <a:lstStyle/>
                    <a:p>
                      <a:pPr marL="0" marR="0" algn="ctr">
                        <a:lnSpc>
                          <a:spcPct val="115000"/>
                        </a:lnSpc>
                        <a:spcBef>
                          <a:spcPts val="300"/>
                        </a:spcBef>
                        <a:spcAft>
                          <a:spcPts val="300"/>
                        </a:spcAft>
                      </a:pPr>
                      <a:r>
                        <a:rPr lang="en-US" sz="1200" dirty="0">
                          <a:effectLst/>
                        </a:rPr>
                        <a:t>Data Message </a:t>
                      </a:r>
                      <a:br>
                        <a:rPr lang="en-US" sz="1200" dirty="0">
                          <a:effectLst/>
                        </a:rPr>
                      </a:br>
                      <a:r>
                        <a:rPr lang="en-US" sz="1200" dirty="0">
                          <a:effectLst/>
                        </a:rPr>
                        <a:t>(100 bytes)</a:t>
                      </a:r>
                      <a:endParaRPr lang="en-US" sz="1200" dirty="0">
                        <a:effectLst/>
                        <a:latin typeface="Times New Roman" panose="02020603050405020304" pitchFamily="18" charset="0"/>
                        <a:ea typeface="SimSun" panose="02010600030101010101" pitchFamily="2" charset="-122"/>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extLst>
                  <a:ext uri="{0D108BD9-81ED-4DB2-BD59-A6C34878D82A}">
                    <a16:rowId xmlns:a16="http://schemas.microsoft.com/office/drawing/2014/main" val="2654475686"/>
                  </a:ext>
                </a:extLst>
              </a:tr>
              <a:tr h="277672">
                <a:tc vMerge="1">
                  <a:txBody>
                    <a:bodyPr/>
                    <a:lstStyle/>
                    <a:p>
                      <a:endParaRPr lang="en-US"/>
                    </a:p>
                  </a:txBody>
                  <a:tcPr/>
                </a:tc>
                <a:tc>
                  <a:txBody>
                    <a:bodyPr/>
                    <a:lstStyle/>
                    <a:p>
                      <a:pPr marL="0" marR="0" algn="ctr">
                        <a:lnSpc>
                          <a:spcPct val="115000"/>
                        </a:lnSpc>
                        <a:spcBef>
                          <a:spcPts val="300"/>
                        </a:spcBef>
                        <a:spcAft>
                          <a:spcPts val="300"/>
                        </a:spcAft>
                      </a:pPr>
                      <a:r>
                        <a:rPr lang="en-US" sz="1200">
                          <a:effectLst/>
                        </a:rPr>
                        <a:t>Actual</a:t>
                      </a:r>
                      <a:endParaRPr lang="en-US" sz="1200">
                        <a:effectLst/>
                        <a:latin typeface="Times New Roman" panose="02020603050405020304" pitchFamily="18" charset="0"/>
                        <a:ea typeface="SimSun" panose="02010600030101010101" pitchFamily="2" charset="-122"/>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300"/>
                        </a:spcBef>
                        <a:spcAft>
                          <a:spcPts val="300"/>
                        </a:spcAft>
                      </a:pPr>
                      <a:r>
                        <a:rPr lang="en-US" sz="1200">
                          <a:effectLst/>
                        </a:rPr>
                        <a:t>Overhead</a:t>
                      </a:r>
                      <a:endParaRPr lang="en-US" sz="1200">
                        <a:effectLst/>
                        <a:latin typeface="Times New Roman" panose="02020603050405020304" pitchFamily="18" charset="0"/>
                        <a:ea typeface="SimSun" panose="02010600030101010101" pitchFamily="2" charset="-122"/>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300"/>
                        </a:spcBef>
                        <a:spcAft>
                          <a:spcPts val="300"/>
                        </a:spcAft>
                      </a:pPr>
                      <a:r>
                        <a:rPr lang="en-US" sz="1200">
                          <a:effectLst/>
                        </a:rPr>
                        <a:t>Actual</a:t>
                      </a:r>
                      <a:endParaRPr lang="en-US" sz="1200">
                        <a:effectLst/>
                        <a:latin typeface="Times New Roman" panose="02020603050405020304" pitchFamily="18" charset="0"/>
                        <a:ea typeface="SimSun" panose="02010600030101010101" pitchFamily="2" charset="-122"/>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300"/>
                        </a:spcBef>
                        <a:spcAft>
                          <a:spcPts val="300"/>
                        </a:spcAft>
                      </a:pPr>
                      <a:r>
                        <a:rPr lang="en-US" sz="1200">
                          <a:effectLst/>
                        </a:rPr>
                        <a:t>Overhead</a:t>
                      </a:r>
                      <a:endParaRPr lang="en-US" sz="1200">
                        <a:effectLst/>
                        <a:latin typeface="Times New Roman" panose="02020603050405020304" pitchFamily="18" charset="0"/>
                        <a:ea typeface="SimSun" panose="02010600030101010101" pitchFamily="2" charset="-122"/>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84721199"/>
                  </a:ext>
                </a:extLst>
              </a:tr>
              <a:tr h="293191">
                <a:tc>
                  <a:txBody>
                    <a:bodyPr/>
                    <a:lstStyle/>
                    <a:p>
                      <a:pPr marL="0" marR="0" algn="ctr">
                        <a:lnSpc>
                          <a:spcPct val="115000"/>
                        </a:lnSpc>
                        <a:spcBef>
                          <a:spcPts val="300"/>
                        </a:spcBef>
                        <a:spcAft>
                          <a:spcPts val="300"/>
                        </a:spcAft>
                      </a:pPr>
                      <a:r>
                        <a:rPr lang="en-US" sz="1200" dirty="0">
                          <a:effectLst/>
                        </a:rPr>
                        <a:t>Standard SECS/GEM</a:t>
                      </a:r>
                      <a:endParaRPr lang="en-US" sz="1200" dirty="0">
                        <a:effectLst/>
                        <a:latin typeface="Times New Roman" panose="02020603050405020304" pitchFamily="18" charset="0"/>
                        <a:ea typeface="SimSun" panose="02010600030101010101" pitchFamily="2" charset="-122"/>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300"/>
                        </a:spcBef>
                        <a:spcAft>
                          <a:spcPts val="300"/>
                        </a:spcAft>
                      </a:pPr>
                      <a:r>
                        <a:rPr lang="en-US" sz="1200" dirty="0">
                          <a:effectLst/>
                        </a:rPr>
                        <a:t>14</a:t>
                      </a:r>
                      <a:endParaRPr lang="en-US" sz="1200" dirty="0">
                        <a:effectLst/>
                        <a:latin typeface="Times New Roman" panose="02020603050405020304" pitchFamily="18" charset="0"/>
                        <a:ea typeface="SimSun" panose="02010600030101010101" pitchFamily="2" charset="-122"/>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300"/>
                        </a:spcBef>
                        <a:spcAft>
                          <a:spcPts val="300"/>
                        </a:spcAft>
                      </a:pPr>
                      <a:r>
                        <a:rPr lang="en-US" sz="1200" dirty="0">
                          <a:effectLst/>
                        </a:rPr>
                        <a:t>0</a:t>
                      </a:r>
                      <a:endParaRPr lang="en-US" sz="1200" dirty="0">
                        <a:effectLst/>
                        <a:latin typeface="Times New Roman" panose="02020603050405020304" pitchFamily="18" charset="0"/>
                        <a:ea typeface="SimSun" panose="02010600030101010101" pitchFamily="2" charset="-122"/>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300"/>
                        </a:spcBef>
                        <a:spcAft>
                          <a:spcPts val="300"/>
                        </a:spcAft>
                      </a:pPr>
                      <a:r>
                        <a:rPr lang="en-US" sz="1200">
                          <a:effectLst/>
                        </a:rPr>
                        <a:t>114</a:t>
                      </a:r>
                      <a:endParaRPr lang="en-US" sz="1200">
                        <a:effectLst/>
                        <a:latin typeface="Times New Roman" panose="02020603050405020304" pitchFamily="18" charset="0"/>
                        <a:ea typeface="SimSun" panose="02010600030101010101" pitchFamily="2" charset="-122"/>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300"/>
                        </a:spcBef>
                        <a:spcAft>
                          <a:spcPts val="300"/>
                        </a:spcAft>
                      </a:pPr>
                      <a:r>
                        <a:rPr lang="en-US" sz="1200">
                          <a:effectLst/>
                        </a:rPr>
                        <a:t>0</a:t>
                      </a:r>
                      <a:endParaRPr lang="en-US" sz="1200">
                        <a:effectLst/>
                        <a:latin typeface="Times New Roman" panose="02020603050405020304" pitchFamily="18" charset="0"/>
                        <a:ea typeface="SimSun" panose="02010600030101010101" pitchFamily="2" charset="-122"/>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07285142"/>
                  </a:ext>
                </a:extLst>
              </a:tr>
              <a:tr h="277672">
                <a:tc>
                  <a:txBody>
                    <a:bodyPr/>
                    <a:lstStyle/>
                    <a:p>
                      <a:pPr marL="0" marR="0" algn="ctr">
                        <a:lnSpc>
                          <a:spcPct val="115000"/>
                        </a:lnSpc>
                        <a:spcBef>
                          <a:spcPts val="300"/>
                        </a:spcBef>
                        <a:spcAft>
                          <a:spcPts val="300"/>
                        </a:spcAft>
                      </a:pPr>
                      <a:r>
                        <a:rPr lang="en-US" sz="1200" dirty="0">
                          <a:effectLst/>
                        </a:rPr>
                        <a:t>SECS/GEMsec</a:t>
                      </a:r>
                      <a:endParaRPr lang="en-US" sz="1200" dirty="0">
                        <a:effectLst/>
                        <a:latin typeface="Times New Roman" panose="02020603050405020304" pitchFamily="18" charset="0"/>
                        <a:ea typeface="SimSun" panose="02010600030101010101" pitchFamily="2" charset="-122"/>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300"/>
                        </a:spcBef>
                        <a:spcAft>
                          <a:spcPts val="300"/>
                        </a:spcAft>
                      </a:pPr>
                      <a:r>
                        <a:rPr lang="en-US" sz="1200" dirty="0">
                          <a:effectLst/>
                        </a:rPr>
                        <a:t>14</a:t>
                      </a:r>
                      <a:endParaRPr lang="en-US" sz="1200" dirty="0">
                        <a:effectLst/>
                        <a:latin typeface="Times New Roman" panose="02020603050405020304" pitchFamily="18" charset="0"/>
                        <a:ea typeface="SimSun" panose="02010600030101010101" pitchFamily="2" charset="-122"/>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300"/>
                        </a:spcBef>
                        <a:spcAft>
                          <a:spcPts val="300"/>
                        </a:spcAft>
                      </a:pPr>
                      <a:r>
                        <a:rPr lang="en-US" sz="1200" dirty="0">
                          <a:effectLst/>
                        </a:rPr>
                        <a:t>512</a:t>
                      </a:r>
                      <a:endParaRPr lang="en-US" sz="1200" dirty="0">
                        <a:effectLst/>
                        <a:latin typeface="Times New Roman" panose="02020603050405020304" pitchFamily="18" charset="0"/>
                        <a:ea typeface="SimSun" panose="02010600030101010101" pitchFamily="2" charset="-122"/>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300"/>
                        </a:spcBef>
                        <a:spcAft>
                          <a:spcPts val="300"/>
                        </a:spcAft>
                      </a:pPr>
                      <a:r>
                        <a:rPr lang="en-US" sz="1200" dirty="0">
                          <a:effectLst/>
                        </a:rPr>
                        <a:t>612</a:t>
                      </a:r>
                      <a:endParaRPr lang="en-US" sz="1200" dirty="0">
                        <a:effectLst/>
                        <a:latin typeface="Times New Roman" panose="02020603050405020304" pitchFamily="18" charset="0"/>
                        <a:ea typeface="SimSun" panose="02010600030101010101" pitchFamily="2" charset="-122"/>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300"/>
                        </a:spcBef>
                        <a:spcAft>
                          <a:spcPts val="300"/>
                        </a:spcAft>
                      </a:pPr>
                      <a:r>
                        <a:rPr lang="en-US" sz="1200">
                          <a:effectLst/>
                        </a:rPr>
                        <a:t>512</a:t>
                      </a:r>
                      <a:endParaRPr lang="en-US" sz="1200">
                        <a:effectLst/>
                        <a:latin typeface="Times New Roman" panose="02020603050405020304" pitchFamily="18" charset="0"/>
                        <a:ea typeface="SimSun" panose="02010600030101010101" pitchFamily="2" charset="-122"/>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52110975"/>
                  </a:ext>
                </a:extLst>
              </a:tr>
              <a:tr h="277672">
                <a:tc>
                  <a:txBody>
                    <a:bodyPr/>
                    <a:lstStyle/>
                    <a:p>
                      <a:pPr marL="0" marR="0" algn="ctr">
                        <a:lnSpc>
                          <a:spcPct val="115000"/>
                        </a:lnSpc>
                        <a:spcBef>
                          <a:spcPts val="300"/>
                        </a:spcBef>
                        <a:spcAft>
                          <a:spcPts val="300"/>
                        </a:spcAft>
                      </a:pPr>
                      <a:r>
                        <a:rPr lang="en-US" sz="1200">
                          <a:effectLst/>
                        </a:rPr>
                        <a:t>Secured SECS/GEM</a:t>
                      </a:r>
                      <a:endParaRPr lang="en-US" sz="1200">
                        <a:effectLst/>
                        <a:latin typeface="Times New Roman" panose="02020603050405020304" pitchFamily="18" charset="0"/>
                        <a:ea typeface="SimSun" panose="02010600030101010101" pitchFamily="2" charset="-122"/>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300"/>
                        </a:spcBef>
                        <a:spcAft>
                          <a:spcPts val="300"/>
                        </a:spcAft>
                      </a:pPr>
                      <a:r>
                        <a:rPr lang="en-US" sz="1200" dirty="0">
                          <a:effectLst/>
                        </a:rPr>
                        <a:t>14</a:t>
                      </a:r>
                      <a:endParaRPr lang="en-US" sz="1200" dirty="0">
                        <a:effectLst/>
                        <a:latin typeface="Times New Roman" panose="02020603050405020304" pitchFamily="18" charset="0"/>
                        <a:ea typeface="SimSun" panose="02010600030101010101" pitchFamily="2" charset="-122"/>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300"/>
                        </a:spcBef>
                        <a:spcAft>
                          <a:spcPts val="300"/>
                        </a:spcAft>
                      </a:pPr>
                      <a:r>
                        <a:rPr lang="en-US" sz="1200">
                          <a:effectLst/>
                        </a:rPr>
                        <a:t>0</a:t>
                      </a:r>
                      <a:endParaRPr lang="en-US" sz="1200">
                        <a:effectLst/>
                        <a:latin typeface="Times New Roman" panose="02020603050405020304" pitchFamily="18" charset="0"/>
                        <a:ea typeface="SimSun" panose="02010600030101010101" pitchFamily="2" charset="-122"/>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300"/>
                        </a:spcBef>
                        <a:spcAft>
                          <a:spcPts val="300"/>
                        </a:spcAft>
                      </a:pPr>
                      <a:r>
                        <a:rPr lang="en-US" sz="1200" dirty="0">
                          <a:effectLst/>
                        </a:rPr>
                        <a:t>132</a:t>
                      </a:r>
                      <a:endParaRPr lang="en-US" sz="1200" dirty="0">
                        <a:effectLst/>
                        <a:latin typeface="Times New Roman" panose="02020603050405020304" pitchFamily="18" charset="0"/>
                        <a:ea typeface="SimSun" panose="02010600030101010101" pitchFamily="2" charset="-122"/>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300"/>
                        </a:spcBef>
                        <a:spcAft>
                          <a:spcPts val="300"/>
                        </a:spcAft>
                      </a:pPr>
                      <a:r>
                        <a:rPr lang="en-US" sz="1200" dirty="0">
                          <a:effectLst/>
                        </a:rPr>
                        <a:t>32</a:t>
                      </a:r>
                      <a:endParaRPr lang="en-US" sz="1200" dirty="0">
                        <a:effectLst/>
                        <a:latin typeface="Times New Roman" panose="02020603050405020304" pitchFamily="18" charset="0"/>
                        <a:ea typeface="SimSun" panose="02010600030101010101" pitchFamily="2" charset="-122"/>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9339279"/>
                  </a:ext>
                </a:extLst>
              </a:tr>
              <a:tr h="277672">
                <a:tc>
                  <a:txBody>
                    <a:bodyPr/>
                    <a:lstStyle/>
                    <a:p>
                      <a:pPr marL="0" marR="0" algn="ctr">
                        <a:lnSpc>
                          <a:spcPct val="115000"/>
                        </a:lnSpc>
                        <a:spcBef>
                          <a:spcPts val="300"/>
                        </a:spcBef>
                        <a:spcAft>
                          <a:spcPts val="300"/>
                        </a:spcAft>
                      </a:pPr>
                      <a:r>
                        <a:rPr lang="en-US" sz="1200" dirty="0">
                          <a:effectLst/>
                        </a:rPr>
                        <a:t>SGSM</a:t>
                      </a:r>
                      <a:endParaRPr lang="en-US" sz="1200" dirty="0">
                        <a:effectLst/>
                        <a:latin typeface="Times New Roman" panose="02020603050405020304" pitchFamily="18" charset="0"/>
                        <a:ea typeface="SimSun" panose="02010600030101010101" pitchFamily="2" charset="-122"/>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300"/>
                        </a:spcBef>
                        <a:spcAft>
                          <a:spcPts val="300"/>
                        </a:spcAft>
                      </a:pPr>
                      <a:r>
                        <a:rPr lang="en-US" sz="1200" dirty="0">
                          <a:effectLst/>
                        </a:rPr>
                        <a:t>14</a:t>
                      </a:r>
                      <a:endParaRPr lang="en-US" sz="1200" dirty="0">
                        <a:effectLst/>
                        <a:latin typeface="Times New Roman" panose="02020603050405020304" pitchFamily="18" charset="0"/>
                        <a:ea typeface="SimSun" panose="02010600030101010101" pitchFamily="2" charset="-122"/>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300"/>
                        </a:spcBef>
                        <a:spcAft>
                          <a:spcPts val="300"/>
                        </a:spcAft>
                      </a:pPr>
                      <a:r>
                        <a:rPr lang="en-US" sz="1200" dirty="0">
                          <a:effectLst/>
                        </a:rPr>
                        <a:t>48</a:t>
                      </a:r>
                      <a:endParaRPr lang="en-US" sz="1200" dirty="0">
                        <a:effectLst/>
                        <a:latin typeface="Times New Roman" panose="02020603050405020304" pitchFamily="18" charset="0"/>
                        <a:ea typeface="SimSun" panose="02010600030101010101" pitchFamily="2" charset="-122"/>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300"/>
                        </a:spcBef>
                        <a:spcAft>
                          <a:spcPts val="300"/>
                        </a:spcAft>
                      </a:pPr>
                      <a:r>
                        <a:rPr lang="en-US" sz="1200" dirty="0">
                          <a:effectLst/>
                        </a:rPr>
                        <a:t>148</a:t>
                      </a:r>
                      <a:endParaRPr lang="en-US" sz="1200" dirty="0">
                        <a:effectLst/>
                        <a:latin typeface="Times New Roman" panose="02020603050405020304" pitchFamily="18" charset="0"/>
                        <a:ea typeface="SimSun" panose="02010600030101010101" pitchFamily="2" charset="-122"/>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15000"/>
                        </a:lnSpc>
                        <a:spcBef>
                          <a:spcPts val="300"/>
                        </a:spcBef>
                        <a:spcAft>
                          <a:spcPts val="300"/>
                        </a:spcAft>
                      </a:pPr>
                      <a:r>
                        <a:rPr lang="en-US" sz="1200" dirty="0">
                          <a:effectLst/>
                        </a:rPr>
                        <a:t>48</a:t>
                      </a:r>
                      <a:endParaRPr lang="en-US" sz="1200" dirty="0">
                        <a:effectLst/>
                        <a:latin typeface="Times New Roman" panose="02020603050405020304" pitchFamily="18" charset="0"/>
                        <a:ea typeface="SimSun" panose="02010600030101010101" pitchFamily="2" charset="-122"/>
                        <a:cs typeface="Arial" panose="020B060402020202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53148021"/>
                  </a:ext>
                </a:extLst>
              </a:tr>
            </a:tbl>
          </a:graphicData>
        </a:graphic>
      </p:graphicFrame>
      <p:sp>
        <p:nvSpPr>
          <p:cNvPr id="10" name="TextBox 9">
            <a:extLst>
              <a:ext uri="{FF2B5EF4-FFF2-40B4-BE49-F238E27FC236}">
                <a16:creationId xmlns:a16="http://schemas.microsoft.com/office/drawing/2014/main" id="{1B706F85-0C30-3D30-AFE0-EBD7F383DA06}"/>
              </a:ext>
            </a:extLst>
          </p:cNvPr>
          <p:cNvSpPr txBox="1"/>
          <p:nvPr/>
        </p:nvSpPr>
        <p:spPr>
          <a:xfrm>
            <a:off x="7772400" y="4008124"/>
            <a:ext cx="2991588" cy="338554"/>
          </a:xfrm>
          <a:prstGeom prst="rect">
            <a:avLst/>
          </a:prstGeom>
          <a:noFill/>
        </p:spPr>
        <p:txBody>
          <a:bodyPr wrap="none" rtlCol="0">
            <a:spAutoFit/>
          </a:bodyPr>
          <a:lstStyle/>
          <a:p>
            <a:r>
              <a:rPr lang="en-US" sz="1600" b="1" dirty="0">
                <a:solidFill>
                  <a:schemeClr val="accent2">
                    <a:lumMod val="75000"/>
                  </a:schemeClr>
                </a:solidFill>
              </a:rPr>
              <a:t>Comparison of Control Overhead</a:t>
            </a:r>
          </a:p>
        </p:txBody>
      </p:sp>
      <p:graphicFrame>
        <p:nvGraphicFramePr>
          <p:cNvPr id="11" name="Chart 10" descr="Total Payload and Control Overhead Comparison of &#10;HSMS(256)&#10;SECS/GEMsec&#10;Secured SECS/GEM">
            <a:extLst>
              <a:ext uri="{FF2B5EF4-FFF2-40B4-BE49-F238E27FC236}">
                <a16:creationId xmlns:a16="http://schemas.microsoft.com/office/drawing/2014/main" id="{4C7A21A8-4CAF-4F99-BA7A-373565B1254E}"/>
              </a:ext>
            </a:extLst>
          </p:cNvPr>
          <p:cNvGraphicFramePr/>
          <p:nvPr>
            <p:extLst>
              <p:ext uri="{D42A27DB-BD31-4B8C-83A1-F6EECF244321}">
                <p14:modId xmlns:p14="http://schemas.microsoft.com/office/powerpoint/2010/main" val="541812786"/>
              </p:ext>
            </p:extLst>
          </p:nvPr>
        </p:nvGraphicFramePr>
        <p:xfrm>
          <a:off x="540327" y="1389317"/>
          <a:ext cx="5576571" cy="4935283"/>
        </p:xfrm>
        <a:graphic>
          <a:graphicData uri="http://schemas.openxmlformats.org/drawingml/2006/chart">
            <c:chart xmlns:c="http://schemas.openxmlformats.org/drawingml/2006/chart" xmlns:r="http://schemas.openxmlformats.org/officeDocument/2006/relationships" r:id="rId6"/>
          </a:graphicData>
        </a:graphic>
      </p:graphicFrame>
      <p:sp>
        <p:nvSpPr>
          <p:cNvPr id="4" name="TextBox 3">
            <a:extLst>
              <a:ext uri="{FF2B5EF4-FFF2-40B4-BE49-F238E27FC236}">
                <a16:creationId xmlns:a16="http://schemas.microsoft.com/office/drawing/2014/main" id="{54A00929-98C5-0DF6-7677-805415667162}"/>
              </a:ext>
            </a:extLst>
          </p:cNvPr>
          <p:cNvSpPr txBox="1"/>
          <p:nvPr/>
        </p:nvSpPr>
        <p:spPr>
          <a:xfrm>
            <a:off x="1121629" y="1017806"/>
            <a:ext cx="4664034" cy="338554"/>
          </a:xfrm>
          <a:prstGeom prst="rect">
            <a:avLst/>
          </a:prstGeom>
          <a:noFill/>
        </p:spPr>
        <p:txBody>
          <a:bodyPr wrap="none" rtlCol="0">
            <a:spAutoFit/>
          </a:bodyPr>
          <a:lstStyle/>
          <a:p>
            <a:r>
              <a:rPr lang="en-US" sz="1600" b="1" dirty="0">
                <a:solidFill>
                  <a:schemeClr val="accent2">
                    <a:lumMod val="75000"/>
                  </a:schemeClr>
                </a:solidFill>
              </a:rPr>
              <a:t>Control overhead (SGSM) with growing message size</a:t>
            </a:r>
          </a:p>
        </p:txBody>
      </p:sp>
      <p:grpSp>
        <p:nvGrpSpPr>
          <p:cNvPr id="14" name="Group 13">
            <a:extLst>
              <a:ext uri="{FF2B5EF4-FFF2-40B4-BE49-F238E27FC236}">
                <a16:creationId xmlns:a16="http://schemas.microsoft.com/office/drawing/2014/main" id="{6BBD4645-F593-94CB-565B-B8BFE6C9F512}"/>
              </a:ext>
            </a:extLst>
          </p:cNvPr>
          <p:cNvGrpSpPr/>
          <p:nvPr/>
        </p:nvGrpSpPr>
        <p:grpSpPr>
          <a:xfrm>
            <a:off x="7926548" y="3217455"/>
            <a:ext cx="3041490" cy="546392"/>
            <a:chOff x="7926548" y="3217455"/>
            <a:chExt cx="3041490" cy="546392"/>
          </a:xfrm>
        </p:grpSpPr>
        <p:sp>
          <p:nvSpPr>
            <p:cNvPr id="8" name="TextBox 7">
              <a:extLst>
                <a:ext uri="{FF2B5EF4-FFF2-40B4-BE49-F238E27FC236}">
                  <a16:creationId xmlns:a16="http://schemas.microsoft.com/office/drawing/2014/main" id="{F11C749F-9EA4-F709-4DC6-8DCC3A1F5D90}"/>
                </a:ext>
              </a:extLst>
            </p:cNvPr>
            <p:cNvSpPr txBox="1"/>
            <p:nvPr/>
          </p:nvSpPr>
          <p:spPr>
            <a:xfrm>
              <a:off x="7926548" y="3217455"/>
              <a:ext cx="2970052" cy="261610"/>
            </a:xfrm>
            <a:prstGeom prst="rect">
              <a:avLst/>
            </a:prstGeom>
            <a:noFill/>
          </p:spPr>
          <p:txBody>
            <a:bodyPr wrap="square" rtlCol="0">
              <a:spAutoFit/>
            </a:bodyPr>
            <a:lstStyle/>
            <a:p>
              <a:r>
                <a:rPr lang="en-US" sz="1000" b="1" dirty="0">
                  <a:latin typeface="Consolas" panose="020B0609020204030204" pitchFamily="49" charset="0"/>
                </a:rPr>
                <a:t>SGSM Overhead	 = ACB Header</a:t>
              </a:r>
              <a:r>
                <a:rPr lang="en-US" sz="1100" b="1" dirty="0">
                  <a:latin typeface="Consolas" panose="020B0609020204030204" pitchFamily="49" charset="0"/>
                </a:rPr>
                <a:t> </a:t>
              </a:r>
              <a:r>
                <a:rPr lang="en-US" sz="1000" b="1" dirty="0">
                  <a:latin typeface="Consolas" panose="020B0609020204030204" pitchFamily="49" charset="0"/>
                </a:rPr>
                <a:t>+ Hash size</a:t>
              </a:r>
            </a:p>
          </p:txBody>
        </p:sp>
        <p:sp>
          <p:nvSpPr>
            <p:cNvPr id="12" name="TextBox 11">
              <a:extLst>
                <a:ext uri="{FF2B5EF4-FFF2-40B4-BE49-F238E27FC236}">
                  <a16:creationId xmlns:a16="http://schemas.microsoft.com/office/drawing/2014/main" id="{84A6BCA0-76AA-38D0-FFCD-EDEAF10FC090}"/>
                </a:ext>
              </a:extLst>
            </p:cNvPr>
            <p:cNvSpPr txBox="1"/>
            <p:nvPr/>
          </p:nvSpPr>
          <p:spPr>
            <a:xfrm>
              <a:off x="7997986" y="3365681"/>
              <a:ext cx="2970052" cy="246221"/>
            </a:xfrm>
            <a:prstGeom prst="rect">
              <a:avLst/>
            </a:prstGeom>
            <a:noFill/>
          </p:spPr>
          <p:txBody>
            <a:bodyPr wrap="square" rtlCol="0">
              <a:spAutoFit/>
            </a:bodyPr>
            <a:lstStyle/>
            <a:p>
              <a:r>
                <a:rPr lang="en-US" sz="1000" b="1" dirty="0">
                  <a:latin typeface="Consolas" panose="020B0609020204030204" pitchFamily="49" charset="0"/>
                </a:rPr>
                <a:t>		= 	16 	+    32</a:t>
              </a:r>
            </a:p>
          </p:txBody>
        </p:sp>
        <p:sp>
          <p:nvSpPr>
            <p:cNvPr id="13" name="TextBox 12">
              <a:extLst>
                <a:ext uri="{FF2B5EF4-FFF2-40B4-BE49-F238E27FC236}">
                  <a16:creationId xmlns:a16="http://schemas.microsoft.com/office/drawing/2014/main" id="{D0181D37-757B-916A-E8C4-C4934094B648}"/>
                </a:ext>
              </a:extLst>
            </p:cNvPr>
            <p:cNvSpPr txBox="1"/>
            <p:nvPr/>
          </p:nvSpPr>
          <p:spPr>
            <a:xfrm>
              <a:off x="7997431" y="3517626"/>
              <a:ext cx="2782492" cy="246221"/>
            </a:xfrm>
            <a:prstGeom prst="rect">
              <a:avLst/>
            </a:prstGeom>
            <a:noFill/>
          </p:spPr>
          <p:txBody>
            <a:bodyPr wrap="square" rtlCol="0">
              <a:spAutoFit/>
            </a:bodyPr>
            <a:lstStyle/>
            <a:p>
              <a:r>
                <a:rPr lang="en-US" sz="1000" b="1" dirty="0">
                  <a:latin typeface="Consolas" panose="020B0609020204030204" pitchFamily="49" charset="0"/>
                </a:rPr>
                <a:t>		= 	48</a:t>
              </a:r>
            </a:p>
          </p:txBody>
        </p:sp>
      </p:grpSp>
    </p:spTree>
    <p:custDataLst>
      <p:tags r:id="rId1"/>
    </p:custDataLst>
    <p:extLst>
      <p:ext uri="{BB962C8B-B14F-4D97-AF65-F5344CB8AC3E}">
        <p14:creationId xmlns:p14="http://schemas.microsoft.com/office/powerpoint/2010/main" val="3285059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0" grpId="0"/>
      <p:bldGraphic spid="11" grpId="0">
        <p:bldAsOne/>
      </p:bldGraphic>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Rounded Corners 6">
            <a:extLst>
              <a:ext uri="{FF2B5EF4-FFF2-40B4-BE49-F238E27FC236}">
                <a16:creationId xmlns:a16="http://schemas.microsoft.com/office/drawing/2014/main" id="{4F6B2322-980E-B671-5F59-564375301A5C}"/>
              </a:ext>
            </a:extLst>
          </p:cNvPr>
          <p:cNvSpPr/>
          <p:nvPr/>
        </p:nvSpPr>
        <p:spPr>
          <a:xfrm>
            <a:off x="9168840" y="5506964"/>
            <a:ext cx="2492069" cy="1046236"/>
          </a:xfrm>
          <a:prstGeom prst="roundRect">
            <a:avLst/>
          </a:prstGeom>
          <a:solidFill>
            <a:schemeClr val="accent1">
              <a:lumMod val="60000"/>
              <a:lumOff val="40000"/>
              <a:alpha val="1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26" name="Picture 2" descr="C:\Users\fauzisukiman\Desktop\template pp USM\page 2 n seterusnya\Header.jpg"/>
          <p:cNvPicPr>
            <a:picLocks noChangeAspect="1" noChangeArrowheads="1"/>
          </p:cNvPicPr>
          <p:nvPr/>
        </p:nvPicPr>
        <p:blipFill rotWithShape="1">
          <a:blip r:embed="rId4" cstate="print"/>
          <a:srcRect l="14375"/>
          <a:stretch/>
        </p:blipFill>
        <p:spPr bwMode="auto">
          <a:xfrm>
            <a:off x="1268881" y="0"/>
            <a:ext cx="10923119" cy="822960"/>
          </a:xfrm>
          <a:prstGeom prst="rect">
            <a:avLst/>
          </a:prstGeom>
          <a:noFill/>
        </p:spPr>
      </p:pic>
      <p:sp>
        <p:nvSpPr>
          <p:cNvPr id="6" name="Rectangle 5"/>
          <p:cNvSpPr/>
          <p:nvPr/>
        </p:nvSpPr>
        <p:spPr>
          <a:xfrm>
            <a:off x="1447800" y="76200"/>
            <a:ext cx="10363200" cy="707886"/>
          </a:xfrm>
          <a:prstGeom prst="rect">
            <a:avLst/>
          </a:prstGeom>
        </p:spPr>
        <p:txBody>
          <a:bodyPr wrap="square">
            <a:spAutoFit/>
          </a:bodyPr>
          <a:lstStyle/>
          <a:p>
            <a:r>
              <a:rPr lang="en-US" sz="4000" b="1" i="1" dirty="0">
                <a:solidFill>
                  <a:schemeClr val="bg1"/>
                </a:solidFill>
              </a:rPr>
              <a:t>Results: Security Analysis</a:t>
            </a:r>
          </a:p>
        </p:txBody>
      </p:sp>
      <p:sp>
        <p:nvSpPr>
          <p:cNvPr id="2" name="Slide Number Placeholder 1"/>
          <p:cNvSpPr>
            <a:spLocks noGrp="1"/>
          </p:cNvSpPr>
          <p:nvPr>
            <p:ph type="sldNum" sz="quarter" idx="12"/>
          </p:nvPr>
        </p:nvSpPr>
        <p:spPr>
          <a:xfrm>
            <a:off x="9906000" y="6472826"/>
            <a:ext cx="2133600" cy="365125"/>
          </a:xfrm>
        </p:spPr>
        <p:txBody>
          <a:bodyPr/>
          <a:lstStyle/>
          <a:p>
            <a:fld id="{D4B39A3D-6E5B-421C-AA99-AA75690A48C6}" type="slidenum">
              <a:rPr lang="en-US" smtClean="0"/>
              <a:pPr/>
              <a:t>19</a:t>
            </a:fld>
            <a:endParaRPr lang="en-US" dirty="0"/>
          </a:p>
        </p:txBody>
      </p:sp>
      <p:pic>
        <p:nvPicPr>
          <p:cNvPr id="9" name="Picture 3"/>
          <p:cNvPicPr>
            <a:picLocks noChangeAspect="1" noChangeArrowheads="1"/>
          </p:cNvPicPr>
          <p:nvPr/>
        </p:nvPicPr>
        <p:blipFill>
          <a:blip r:embed="rId5" cstate="print">
            <a:clrChange>
              <a:clrFrom>
                <a:srgbClr val="FDFDFD"/>
              </a:clrFrom>
              <a:clrTo>
                <a:srgbClr val="FDFDFD">
                  <a:alpha val="0"/>
                </a:srgbClr>
              </a:clrTo>
            </a:clrChange>
          </a:blip>
          <a:srcRect/>
          <a:stretch>
            <a:fillRect/>
          </a:stretch>
        </p:blipFill>
        <p:spPr bwMode="auto">
          <a:xfrm>
            <a:off x="0" y="-1224"/>
            <a:ext cx="1268881" cy="824184"/>
          </a:xfrm>
          <a:prstGeom prst="rect">
            <a:avLst/>
          </a:prstGeom>
          <a:noFill/>
          <a:ln w="9525">
            <a:noFill/>
            <a:miter lim="800000"/>
            <a:headEnd/>
            <a:tailEnd/>
          </a:ln>
          <a:effectLst/>
        </p:spPr>
      </p:pic>
      <p:sp>
        <p:nvSpPr>
          <p:cNvPr id="3" name="TextBox 2">
            <a:extLst>
              <a:ext uri="{FF2B5EF4-FFF2-40B4-BE49-F238E27FC236}">
                <a16:creationId xmlns:a16="http://schemas.microsoft.com/office/drawing/2014/main" id="{0FACB260-AB7C-0A07-7C0F-134517E53D59}"/>
              </a:ext>
            </a:extLst>
          </p:cNvPr>
          <p:cNvSpPr txBox="1"/>
          <p:nvPr/>
        </p:nvSpPr>
        <p:spPr>
          <a:xfrm>
            <a:off x="4265114" y="986104"/>
            <a:ext cx="3661772" cy="369332"/>
          </a:xfrm>
          <a:prstGeom prst="rect">
            <a:avLst/>
          </a:prstGeom>
          <a:noFill/>
        </p:spPr>
        <p:txBody>
          <a:bodyPr wrap="none" rtlCol="0">
            <a:spAutoFit/>
          </a:bodyPr>
          <a:lstStyle/>
          <a:p>
            <a:r>
              <a:rPr lang="en-US" b="1" dirty="0">
                <a:solidFill>
                  <a:schemeClr val="accent2">
                    <a:lumMod val="75000"/>
                  </a:schemeClr>
                </a:solidFill>
              </a:rPr>
              <a:t>Summarized results of Cyber-attacks</a:t>
            </a: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95B4C3D3-66F7-FE7D-7C0C-1CFEC64527E8}"/>
                  </a:ext>
                </a:extLst>
              </p:cNvPr>
              <p:cNvGraphicFramePr>
                <a:graphicFrameLocks noGrp="1"/>
              </p:cNvGraphicFramePr>
              <p:nvPr/>
            </p:nvGraphicFramePr>
            <p:xfrm>
              <a:off x="9168840" y="5537471"/>
              <a:ext cx="2718360" cy="935355"/>
            </p:xfrm>
            <a:graphic>
              <a:graphicData uri="http://schemas.openxmlformats.org/drawingml/2006/table">
                <a:tbl>
                  <a:tblPr bandRow="1">
                    <a:tableStyleId>{5C22544A-7EE6-4342-B048-85BDC9FD1C3A}</a:tableStyleId>
                  </a:tblPr>
                  <a:tblGrid>
                    <a:gridCol w="490335">
                      <a:extLst>
                        <a:ext uri="{9D8B030D-6E8A-4147-A177-3AD203B41FA5}">
                          <a16:colId xmlns:a16="http://schemas.microsoft.com/office/drawing/2014/main" val="4239127740"/>
                        </a:ext>
                      </a:extLst>
                    </a:gridCol>
                    <a:gridCol w="2228025">
                      <a:extLst>
                        <a:ext uri="{9D8B030D-6E8A-4147-A177-3AD203B41FA5}">
                          <a16:colId xmlns:a16="http://schemas.microsoft.com/office/drawing/2014/main" val="207009135"/>
                        </a:ext>
                      </a:extLst>
                    </a:gridCol>
                  </a:tblGrid>
                  <a:tr h="401955">
                    <a:tc gridSpan="2">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200">
                                    <a:effectLst/>
                                    <a:latin typeface="Cambria Math" panose="02040503050406030204" pitchFamily="18" charset="0"/>
                                  </a:rPr>
                                  <m:t>𝐴𝑃𝑆𝑅</m:t>
                                </m:r>
                                <m:r>
                                  <a:rPr lang="en-US" sz="1200">
                                    <a:effectLst/>
                                    <a:latin typeface="Cambria Math" panose="02040503050406030204" pitchFamily="18" charset="0"/>
                                  </a:rPr>
                                  <m:t>=1− </m:t>
                                </m:r>
                                <m:f>
                                  <m:fPr>
                                    <m:ctrlPr>
                                      <a:rPr lang="en-US" sz="1200" i="1">
                                        <a:effectLst/>
                                        <a:latin typeface="Cambria Math" panose="02040503050406030204" pitchFamily="18" charset="0"/>
                                      </a:rPr>
                                    </m:ctrlPr>
                                  </m:fPr>
                                  <m:num>
                                    <m:r>
                                      <a:rPr lang="en-US" sz="1200">
                                        <a:effectLst/>
                                        <a:latin typeface="Cambria Math" panose="02040503050406030204" pitchFamily="18" charset="0"/>
                                      </a:rPr>
                                      <m:t>𝐹</m:t>
                                    </m:r>
                                  </m:num>
                                  <m:den>
                                    <m:r>
                                      <a:rPr lang="en-US" sz="1200">
                                        <a:effectLst/>
                                        <a:latin typeface="Cambria Math" panose="02040503050406030204" pitchFamily="18" charset="0"/>
                                      </a:rPr>
                                      <m:t>𝑁</m:t>
                                    </m:r>
                                  </m:den>
                                </m:f>
                              </m:oMath>
                            </m:oMathPara>
                          </a14:m>
                          <a:endParaRPr lang="en-US" sz="12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hMerge="1">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200">
                                    <a:effectLst/>
                                    <a:latin typeface="Cambria Math" panose="02040503050406030204" pitchFamily="18" charset="0"/>
                                  </a:rPr>
                                  <m:t>𝐴𝑃𝑆𝑅</m:t>
                                </m:r>
                                <m:r>
                                  <a:rPr lang="en-US" sz="1200">
                                    <a:effectLst/>
                                    <a:latin typeface="Cambria Math" panose="02040503050406030204" pitchFamily="18" charset="0"/>
                                  </a:rPr>
                                  <m:t>=1− </m:t>
                                </m:r>
                                <m:f>
                                  <m:fPr>
                                    <m:ctrlPr>
                                      <a:rPr lang="en-US" sz="1200" i="1">
                                        <a:effectLst/>
                                        <a:latin typeface="Cambria Math" panose="02040503050406030204" pitchFamily="18" charset="0"/>
                                      </a:rPr>
                                    </m:ctrlPr>
                                  </m:fPr>
                                  <m:num>
                                    <m:r>
                                      <a:rPr lang="en-US" sz="1200">
                                        <a:effectLst/>
                                        <a:latin typeface="Cambria Math" panose="02040503050406030204" pitchFamily="18" charset="0"/>
                                      </a:rPr>
                                      <m:t>𝐹</m:t>
                                    </m:r>
                                  </m:num>
                                  <m:den>
                                    <m:r>
                                      <a:rPr lang="en-US" sz="1200">
                                        <a:effectLst/>
                                        <a:latin typeface="Cambria Math" panose="02040503050406030204" pitchFamily="18" charset="0"/>
                                      </a:rPr>
                                      <m:t>𝑁</m:t>
                                    </m:r>
                                  </m:den>
                                </m:f>
                              </m:oMath>
                            </m:oMathPara>
                          </a14:m>
                          <a:endParaRPr lang="en-US" sz="12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840741723"/>
                      </a:ext>
                    </a:extLst>
                  </a:tr>
                  <a:tr h="131445">
                    <a:tc>
                      <a:txBody>
                        <a:bodyPr/>
                        <a:lstStyle/>
                        <a:p>
                          <a:pPr marL="0" marR="0" algn="r">
                            <a:spcBef>
                              <a:spcPts val="0"/>
                            </a:spcBef>
                            <a:spcAft>
                              <a:spcPts val="0"/>
                            </a:spcAft>
                          </a:pPr>
                          <a:r>
                            <a:rPr lang="en-US" sz="1000" b="1" dirty="0">
                              <a:effectLst/>
                              <a:latin typeface="Times New Roman" panose="02020603050405020304" pitchFamily="18" charset="0"/>
                              <a:ea typeface="SimSun" panose="02010600030101010101" pitchFamily="2" charset="-122"/>
                              <a:cs typeface="Times New Roman" panose="02020603050405020304" pitchFamily="18" charset="0"/>
                            </a:rPr>
                            <a:t>APSR</a:t>
                          </a:r>
                        </a:p>
                      </a:txBody>
                      <a:tcPr marL="68580" marR="68580" marT="0" marB="0" anchor="ctr">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lgn="l">
                            <a:spcBef>
                              <a:spcPts val="0"/>
                            </a:spcBef>
                            <a:spcAft>
                              <a:spcPts val="0"/>
                            </a:spcAft>
                          </a:pPr>
                          <a:r>
                            <a:rPr lang="en-US" sz="1000" i="1" dirty="0">
                              <a:effectLst/>
                              <a:latin typeface="Times New Roman" panose="02020603050405020304" pitchFamily="18" charset="0"/>
                              <a:ea typeface="SimSun" panose="02010600030101010101" pitchFamily="2" charset="-122"/>
                              <a:cs typeface="Times New Roman" panose="02020603050405020304" pitchFamily="18" charset="0"/>
                            </a:rPr>
                            <a:t>Attack Prevention Success Rate</a:t>
                          </a:r>
                        </a:p>
                      </a:txBody>
                      <a:tcPr marL="68580" marR="68580" marT="0" marB="0"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55162556"/>
                      </a:ext>
                    </a:extLst>
                  </a:tr>
                  <a:tr h="228600">
                    <a:tc>
                      <a:txBody>
                        <a:bodyPr/>
                        <a:lstStyle/>
                        <a:p>
                          <a:pPr marL="0" marR="0" algn="r">
                            <a:spcBef>
                              <a:spcPts val="0"/>
                            </a:spcBef>
                            <a:spcAft>
                              <a:spcPts val="0"/>
                            </a:spcAft>
                          </a:pPr>
                          <a:r>
                            <a:rPr lang="en-US" sz="1000" b="1" dirty="0">
                              <a:effectLst/>
                              <a:latin typeface="Times New Roman" panose="02020603050405020304" pitchFamily="18" charset="0"/>
                              <a:ea typeface="SimSun" panose="02010600030101010101" pitchFamily="2" charset="-122"/>
                              <a:cs typeface="Times New Roman" panose="02020603050405020304" pitchFamily="18" charset="0"/>
                            </a:rPr>
                            <a:t>F</a:t>
                          </a:r>
                        </a:p>
                      </a:txBody>
                      <a:tcPr marL="68580" marR="68580" marT="0" marB="0" anchor="ctr">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i="1" dirty="0">
                              <a:effectLst/>
                              <a:latin typeface="Times New Roman" panose="02020603050405020304" pitchFamily="18" charset="0"/>
                              <a:ea typeface="SimSun" panose="02010600030101010101" pitchFamily="2" charset="-122"/>
                              <a:cs typeface="Times New Roman" panose="02020603050405020304" pitchFamily="18" charset="0"/>
                            </a:rPr>
                            <a:t>Number of times attack failed</a:t>
                          </a:r>
                        </a:p>
                      </a:txBody>
                      <a:tcPr marL="68580" marR="68580" marT="0" marB="0"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4912980"/>
                      </a:ext>
                    </a:extLst>
                  </a:tr>
                  <a:tr h="76200">
                    <a:tc>
                      <a:txBody>
                        <a:bodyPr/>
                        <a:lstStyle/>
                        <a:p>
                          <a:pPr marL="0" marR="0" algn="r">
                            <a:spcBef>
                              <a:spcPts val="0"/>
                            </a:spcBef>
                            <a:spcAft>
                              <a:spcPts val="0"/>
                            </a:spcAft>
                          </a:pPr>
                          <a:r>
                            <a:rPr lang="en-US" sz="1000" b="1" dirty="0">
                              <a:effectLst/>
                              <a:latin typeface="Times New Roman" panose="02020603050405020304" pitchFamily="18" charset="0"/>
                              <a:ea typeface="SimSun" panose="02010600030101010101" pitchFamily="2" charset="-122"/>
                              <a:cs typeface="Times New Roman" panose="02020603050405020304" pitchFamily="18" charset="0"/>
                            </a:rPr>
                            <a:t>N</a:t>
                          </a:r>
                        </a:p>
                      </a:txBody>
                      <a:tcPr marL="68580" marR="68580" marT="0" marB="0"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i="1" dirty="0">
                              <a:effectLst/>
                              <a:latin typeface="Times New Roman" panose="02020603050405020304" pitchFamily="18" charset="0"/>
                              <a:ea typeface="SimSun" panose="02010600030101010101" pitchFamily="2" charset="-122"/>
                              <a:cs typeface="Times New Roman" panose="02020603050405020304" pitchFamily="18" charset="0"/>
                            </a:rPr>
                            <a:t>Number of times attack attempted</a:t>
                          </a:r>
                        </a:p>
                      </a:txBody>
                      <a:tcPr marL="68580" marR="68580" marT="0" marB="0"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37721580"/>
                      </a:ext>
                    </a:extLst>
                  </a:tr>
                </a:tbl>
              </a:graphicData>
            </a:graphic>
          </p:graphicFrame>
        </mc:Choice>
        <mc:Fallback xmlns="">
          <p:graphicFrame>
            <p:nvGraphicFramePr>
              <p:cNvPr id="4" name="Table 3">
                <a:extLst>
                  <a:ext uri="{FF2B5EF4-FFF2-40B4-BE49-F238E27FC236}">
                    <a16:creationId xmlns:a16="http://schemas.microsoft.com/office/drawing/2014/main" id="{95B4C3D3-66F7-FE7D-7C0C-1CFEC64527E8}"/>
                  </a:ext>
                </a:extLst>
              </p:cNvPr>
              <p:cNvGraphicFramePr>
                <a:graphicFrameLocks noGrp="1"/>
              </p:cNvGraphicFramePr>
              <p:nvPr>
                <p:extLst>
                  <p:ext uri="{D42A27DB-BD31-4B8C-83A1-F6EECF244321}">
                    <p14:modId xmlns:p14="http://schemas.microsoft.com/office/powerpoint/2010/main" val="3065930702"/>
                  </p:ext>
                </p:extLst>
              </p:nvPr>
            </p:nvGraphicFramePr>
            <p:xfrm>
              <a:off x="9168840" y="5537471"/>
              <a:ext cx="2718360" cy="935355"/>
            </p:xfrm>
            <a:graphic>
              <a:graphicData uri="http://schemas.openxmlformats.org/drawingml/2006/table">
                <a:tbl>
                  <a:tblPr bandRow="1">
                    <a:tableStyleId>{5C22544A-7EE6-4342-B048-85BDC9FD1C3A}</a:tableStyleId>
                  </a:tblPr>
                  <a:tblGrid>
                    <a:gridCol w="490335">
                      <a:extLst>
                        <a:ext uri="{9D8B030D-6E8A-4147-A177-3AD203B41FA5}">
                          <a16:colId xmlns:a16="http://schemas.microsoft.com/office/drawing/2014/main" val="4239127740"/>
                        </a:ext>
                      </a:extLst>
                    </a:gridCol>
                    <a:gridCol w="2228025">
                      <a:extLst>
                        <a:ext uri="{9D8B030D-6E8A-4147-A177-3AD203B41FA5}">
                          <a16:colId xmlns:a16="http://schemas.microsoft.com/office/drawing/2014/main" val="207009135"/>
                        </a:ext>
                      </a:extLst>
                    </a:gridCol>
                  </a:tblGrid>
                  <a:tr h="401955">
                    <a:tc gridSpan="2">
                      <a:txBody>
                        <a:bodyPr/>
                        <a:lstStyle/>
                        <a:p>
                          <a:endParaRPr lang="en-US"/>
                        </a:p>
                      </a:txBody>
                      <a:tcPr marL="68580" marR="6858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blipFill>
                          <a:blip r:embed="rId6"/>
                          <a:stretch>
                            <a:fillRect b="-153030"/>
                          </a:stretch>
                        </a:blipFill>
                      </a:tcPr>
                    </a:tc>
                    <a:tc hMerge="1">
                      <a:txBody>
                        <a:bodyPr/>
                        <a:lstStyle/>
                        <a:p>
                          <a:pPr marL="0" marR="0" algn="ctr">
                            <a:spcBef>
                              <a:spcPts val="0"/>
                            </a:spcBef>
                            <a:spcAft>
                              <a:spcPts val="0"/>
                            </a:spcAft>
                          </a:pPr>
                          <a14:m xmlns:a14="http://schemas.microsoft.com/office/drawing/2010/main">
                            <m:oMathPara xmlns:m="http://schemas.openxmlformats.org/officeDocument/2006/math">
                              <m:oMathParaPr>
                                <m:jc m:val="centerGroup"/>
                              </m:oMathParaPr>
                              <m:oMath xmlns:m="http://schemas.openxmlformats.org/officeDocument/2006/math">
                                <m:r>
                                  <a:rPr lang="en-US" sz="1200">
                                    <a:effectLst/>
                                  </a:rPr>
                                  <m:t>𝐴𝑃𝑆𝑅</m:t>
                                </m:r>
                                <m:r>
                                  <a:rPr lang="en-US" sz="1200">
                                    <a:effectLst/>
                                  </a:rPr>
                                  <m:t>=1− </m:t>
                                </m:r>
                                <m:f>
                                  <m:fPr>
                                    <m:ctrlPr>
                                      <a:rPr lang="en-US" sz="1200">
                                        <a:effectLst/>
                                      </a:rPr>
                                    </m:ctrlPr>
                                  </m:fPr>
                                  <m:num>
                                    <m:r>
                                      <a:rPr lang="en-US" sz="1200">
                                        <a:effectLst/>
                                      </a:rPr>
                                      <m:t>𝐹</m:t>
                                    </m:r>
                                  </m:num>
                                  <m:den>
                                    <m:r>
                                      <a:rPr lang="en-US" sz="1200">
                                        <a:effectLst/>
                                      </a:rPr>
                                      <m:t>𝑁</m:t>
                                    </m:r>
                                  </m:den>
                                </m:f>
                              </m:oMath>
                            </m:oMathPara>
                          </a14:m>
                          <a:endParaRPr lang="en-US" sz="12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840741723"/>
                      </a:ext>
                    </a:extLst>
                  </a:tr>
                  <a:tr h="152400">
                    <a:tc>
                      <a:txBody>
                        <a:bodyPr/>
                        <a:lstStyle/>
                        <a:p>
                          <a:pPr marL="0" marR="0" algn="r">
                            <a:spcBef>
                              <a:spcPts val="0"/>
                            </a:spcBef>
                            <a:spcAft>
                              <a:spcPts val="0"/>
                            </a:spcAft>
                          </a:pPr>
                          <a:r>
                            <a:rPr lang="en-US" sz="1000" b="1" dirty="0" err="1">
                              <a:effectLst/>
                              <a:latin typeface="Times New Roman" panose="02020603050405020304" pitchFamily="18" charset="0"/>
                              <a:ea typeface="SimSun" panose="02010600030101010101" pitchFamily="2" charset="-122"/>
                              <a:cs typeface="Times New Roman" panose="02020603050405020304" pitchFamily="18" charset="0"/>
                            </a:rPr>
                            <a:t>APSR</a:t>
                          </a:r>
                          <a:endParaRPr lang="en-US" sz="1000" b="1"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algn="l">
                            <a:spcBef>
                              <a:spcPts val="0"/>
                            </a:spcBef>
                            <a:spcAft>
                              <a:spcPts val="0"/>
                            </a:spcAft>
                          </a:pPr>
                          <a:r>
                            <a:rPr lang="en-US" sz="1000" i="1" dirty="0">
                              <a:effectLst/>
                              <a:latin typeface="Times New Roman" panose="02020603050405020304" pitchFamily="18" charset="0"/>
                              <a:ea typeface="SimSun" panose="02010600030101010101" pitchFamily="2" charset="-122"/>
                              <a:cs typeface="Times New Roman" panose="02020603050405020304" pitchFamily="18" charset="0"/>
                            </a:rPr>
                            <a:t>Attack Prevention Success Rate</a:t>
                          </a:r>
                        </a:p>
                      </a:txBody>
                      <a:tcPr marL="68580" marR="68580" marT="0" marB="0"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955162556"/>
                      </a:ext>
                    </a:extLst>
                  </a:tr>
                  <a:tr h="228600">
                    <a:tc>
                      <a:txBody>
                        <a:bodyPr/>
                        <a:lstStyle/>
                        <a:p>
                          <a:pPr marL="0" marR="0" algn="r">
                            <a:spcBef>
                              <a:spcPts val="0"/>
                            </a:spcBef>
                            <a:spcAft>
                              <a:spcPts val="0"/>
                            </a:spcAft>
                          </a:pPr>
                          <a:r>
                            <a:rPr lang="en-US" sz="1000" b="1" dirty="0">
                              <a:effectLst/>
                              <a:latin typeface="Times New Roman" panose="02020603050405020304" pitchFamily="18" charset="0"/>
                              <a:ea typeface="SimSun" panose="02010600030101010101" pitchFamily="2" charset="-122"/>
                              <a:cs typeface="Times New Roman" panose="02020603050405020304" pitchFamily="18" charset="0"/>
                            </a:rPr>
                            <a:t>F</a:t>
                          </a:r>
                        </a:p>
                      </a:txBody>
                      <a:tcPr marL="68580" marR="68580" marT="0" marB="0" anchor="ctr">
                        <a:lnL w="12700" cap="flat" cmpd="sng" algn="ctr">
                          <a:no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i="1" dirty="0">
                              <a:effectLst/>
                              <a:latin typeface="Times New Roman" panose="02020603050405020304" pitchFamily="18" charset="0"/>
                              <a:ea typeface="SimSun" panose="02010600030101010101" pitchFamily="2" charset="-122"/>
                              <a:cs typeface="Times New Roman" panose="02020603050405020304" pitchFamily="18" charset="0"/>
                            </a:rPr>
                            <a:t>Number of times attack failed</a:t>
                          </a:r>
                        </a:p>
                      </a:txBody>
                      <a:tcPr marL="68580" marR="68580" marT="0" marB="0" anchor="ctr">
                        <a:lnL w="12700" cmpd="sng">
                          <a:noFill/>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4912980"/>
                      </a:ext>
                    </a:extLst>
                  </a:tr>
                  <a:tr h="152400">
                    <a:tc>
                      <a:txBody>
                        <a:bodyPr/>
                        <a:lstStyle/>
                        <a:p>
                          <a:pPr marL="0" marR="0" algn="r">
                            <a:spcBef>
                              <a:spcPts val="0"/>
                            </a:spcBef>
                            <a:spcAft>
                              <a:spcPts val="0"/>
                            </a:spcAft>
                          </a:pPr>
                          <a:r>
                            <a:rPr lang="en-US" sz="1000" b="1" dirty="0">
                              <a:effectLst/>
                              <a:latin typeface="Times New Roman" panose="02020603050405020304" pitchFamily="18" charset="0"/>
                              <a:ea typeface="SimSun" panose="02010600030101010101" pitchFamily="2" charset="-122"/>
                              <a:cs typeface="Times New Roman" panose="02020603050405020304" pitchFamily="18" charset="0"/>
                            </a:rPr>
                            <a:t>N</a:t>
                          </a:r>
                        </a:p>
                      </a:txBody>
                      <a:tcPr marL="68580" marR="68580" marT="0" marB="0" anchor="ctr">
                        <a:lnL w="12700" cap="flat" cmpd="sng" algn="ctr">
                          <a:noFill/>
                          <a:prstDash val="solid"/>
                          <a:round/>
                          <a:headEnd type="none" w="med" len="med"/>
                          <a:tailEnd type="none" w="med" len="med"/>
                        </a:lnL>
                        <a:lnR w="12700" cmpd="sng">
                          <a:noFill/>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i="1" dirty="0">
                              <a:effectLst/>
                              <a:latin typeface="Times New Roman" panose="02020603050405020304" pitchFamily="18" charset="0"/>
                              <a:ea typeface="SimSun" panose="02010600030101010101" pitchFamily="2" charset="-122"/>
                              <a:cs typeface="Times New Roman" panose="02020603050405020304" pitchFamily="18" charset="0"/>
                            </a:rPr>
                            <a:t>Number of times attack attempted</a:t>
                          </a:r>
                        </a:p>
                      </a:txBody>
                      <a:tcPr marL="68580" marR="68580" marT="0" marB="0" anchor="ctr">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37721580"/>
                      </a:ext>
                    </a:extLst>
                  </a:tr>
                </a:tbl>
              </a:graphicData>
            </a:graphic>
          </p:graphicFrame>
        </mc:Fallback>
      </mc:AlternateContent>
      <p:sp>
        <p:nvSpPr>
          <p:cNvPr id="12" name="AutoShape 3">
            <a:extLst>
              <a:ext uri="{FF2B5EF4-FFF2-40B4-BE49-F238E27FC236}">
                <a16:creationId xmlns:a16="http://schemas.microsoft.com/office/drawing/2014/main" id="{CCE98A1A-EDDB-993D-8C51-119F0C77134D}"/>
              </a:ext>
            </a:extLst>
          </p:cNvPr>
          <p:cNvSpPr>
            <a:spLocks noChangeAspect="1" noChangeArrowheads="1" noTextEdit="1"/>
          </p:cNvSpPr>
          <p:nvPr/>
        </p:nvSpPr>
        <p:spPr bwMode="auto">
          <a:xfrm>
            <a:off x="2084388" y="1360488"/>
            <a:ext cx="8023225" cy="352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Rectangle 5">
            <a:extLst>
              <a:ext uri="{FF2B5EF4-FFF2-40B4-BE49-F238E27FC236}">
                <a16:creationId xmlns:a16="http://schemas.microsoft.com/office/drawing/2014/main" id="{B4D7CB41-66CC-1437-A93C-AC28C9858E4C}"/>
              </a:ext>
            </a:extLst>
          </p:cNvPr>
          <p:cNvSpPr>
            <a:spLocks noChangeArrowheads="1"/>
          </p:cNvSpPr>
          <p:nvPr/>
        </p:nvSpPr>
        <p:spPr bwMode="auto">
          <a:xfrm>
            <a:off x="2092326" y="1368426"/>
            <a:ext cx="1079500" cy="1447800"/>
          </a:xfrm>
          <a:prstGeom prst="rect">
            <a:avLst/>
          </a:prstGeom>
          <a:solidFill>
            <a:srgbClr val="EAEF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Rectangle 6">
            <a:extLst>
              <a:ext uri="{FF2B5EF4-FFF2-40B4-BE49-F238E27FC236}">
                <a16:creationId xmlns:a16="http://schemas.microsoft.com/office/drawing/2014/main" id="{22BEA87E-D2A4-20BC-E419-325B05EA6DFE}"/>
              </a:ext>
            </a:extLst>
          </p:cNvPr>
          <p:cNvSpPr>
            <a:spLocks noChangeArrowheads="1"/>
          </p:cNvSpPr>
          <p:nvPr/>
        </p:nvSpPr>
        <p:spPr bwMode="auto">
          <a:xfrm>
            <a:off x="3171826" y="1368426"/>
            <a:ext cx="1606550" cy="762000"/>
          </a:xfrm>
          <a:prstGeom prst="rect">
            <a:avLst/>
          </a:prstGeom>
          <a:solidFill>
            <a:srgbClr val="EAEF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Rectangle 7">
            <a:extLst>
              <a:ext uri="{FF2B5EF4-FFF2-40B4-BE49-F238E27FC236}">
                <a16:creationId xmlns:a16="http://schemas.microsoft.com/office/drawing/2014/main" id="{83151BDE-3F94-210C-E33A-C03D11D2E1F5}"/>
              </a:ext>
            </a:extLst>
          </p:cNvPr>
          <p:cNvSpPr>
            <a:spLocks noChangeArrowheads="1"/>
          </p:cNvSpPr>
          <p:nvPr/>
        </p:nvSpPr>
        <p:spPr bwMode="auto">
          <a:xfrm>
            <a:off x="4778376" y="1368426"/>
            <a:ext cx="1717675" cy="762000"/>
          </a:xfrm>
          <a:prstGeom prst="rect">
            <a:avLst/>
          </a:prstGeom>
          <a:solidFill>
            <a:srgbClr val="EAEF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Rectangle 8">
            <a:extLst>
              <a:ext uri="{FF2B5EF4-FFF2-40B4-BE49-F238E27FC236}">
                <a16:creationId xmlns:a16="http://schemas.microsoft.com/office/drawing/2014/main" id="{55E35160-3748-B9C3-F83E-FC5BBDA2C080}"/>
              </a:ext>
            </a:extLst>
          </p:cNvPr>
          <p:cNvSpPr>
            <a:spLocks noChangeArrowheads="1"/>
          </p:cNvSpPr>
          <p:nvPr/>
        </p:nvSpPr>
        <p:spPr bwMode="auto">
          <a:xfrm>
            <a:off x="6496051" y="1368426"/>
            <a:ext cx="1798638" cy="762000"/>
          </a:xfrm>
          <a:prstGeom prst="rect">
            <a:avLst/>
          </a:prstGeom>
          <a:solidFill>
            <a:srgbClr val="EAEF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7" name="Rectangle 9">
            <a:extLst>
              <a:ext uri="{FF2B5EF4-FFF2-40B4-BE49-F238E27FC236}">
                <a16:creationId xmlns:a16="http://schemas.microsoft.com/office/drawing/2014/main" id="{7C4FFCC0-1842-4EED-6BB3-CA34D3EAA119}"/>
              </a:ext>
            </a:extLst>
          </p:cNvPr>
          <p:cNvSpPr>
            <a:spLocks noChangeArrowheads="1"/>
          </p:cNvSpPr>
          <p:nvPr/>
        </p:nvSpPr>
        <p:spPr bwMode="auto">
          <a:xfrm>
            <a:off x="8294688" y="1368426"/>
            <a:ext cx="1800225" cy="762000"/>
          </a:xfrm>
          <a:prstGeom prst="rect">
            <a:avLst/>
          </a:prstGeom>
          <a:solidFill>
            <a:srgbClr val="EAEF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Rectangle 10">
            <a:extLst>
              <a:ext uri="{FF2B5EF4-FFF2-40B4-BE49-F238E27FC236}">
                <a16:creationId xmlns:a16="http://schemas.microsoft.com/office/drawing/2014/main" id="{06C2808F-5F38-AA85-DD90-124F5F6D0B0D}"/>
              </a:ext>
            </a:extLst>
          </p:cNvPr>
          <p:cNvSpPr>
            <a:spLocks noChangeArrowheads="1"/>
          </p:cNvSpPr>
          <p:nvPr/>
        </p:nvSpPr>
        <p:spPr bwMode="auto">
          <a:xfrm>
            <a:off x="3171826" y="2130426"/>
            <a:ext cx="523875" cy="685800"/>
          </a:xfrm>
          <a:prstGeom prst="rect">
            <a:avLst/>
          </a:prstGeom>
          <a:solidFill>
            <a:srgbClr val="D2DE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Rectangle 11">
            <a:extLst>
              <a:ext uri="{FF2B5EF4-FFF2-40B4-BE49-F238E27FC236}">
                <a16:creationId xmlns:a16="http://schemas.microsoft.com/office/drawing/2014/main" id="{84AD5C9B-664D-93BA-C4D6-6CCC7736CD0C}"/>
              </a:ext>
            </a:extLst>
          </p:cNvPr>
          <p:cNvSpPr>
            <a:spLocks noChangeArrowheads="1"/>
          </p:cNvSpPr>
          <p:nvPr/>
        </p:nvSpPr>
        <p:spPr bwMode="auto">
          <a:xfrm>
            <a:off x="3695701" y="2130426"/>
            <a:ext cx="509588" cy="685800"/>
          </a:xfrm>
          <a:prstGeom prst="rect">
            <a:avLst/>
          </a:prstGeom>
          <a:solidFill>
            <a:srgbClr val="D2DE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Rectangle 12">
            <a:extLst>
              <a:ext uri="{FF2B5EF4-FFF2-40B4-BE49-F238E27FC236}">
                <a16:creationId xmlns:a16="http://schemas.microsoft.com/office/drawing/2014/main" id="{A1EC324A-E18B-8EDF-570A-9FDECB254000}"/>
              </a:ext>
            </a:extLst>
          </p:cNvPr>
          <p:cNvSpPr>
            <a:spLocks noChangeArrowheads="1"/>
          </p:cNvSpPr>
          <p:nvPr/>
        </p:nvSpPr>
        <p:spPr bwMode="auto">
          <a:xfrm>
            <a:off x="4205288" y="2130426"/>
            <a:ext cx="573088" cy="685800"/>
          </a:xfrm>
          <a:prstGeom prst="rect">
            <a:avLst/>
          </a:prstGeom>
          <a:solidFill>
            <a:srgbClr val="D2DE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Rectangle 13">
            <a:extLst>
              <a:ext uri="{FF2B5EF4-FFF2-40B4-BE49-F238E27FC236}">
                <a16:creationId xmlns:a16="http://schemas.microsoft.com/office/drawing/2014/main" id="{0727E8FD-A50B-152C-EDDE-2E26C8B38844}"/>
              </a:ext>
            </a:extLst>
          </p:cNvPr>
          <p:cNvSpPr>
            <a:spLocks noChangeArrowheads="1"/>
          </p:cNvSpPr>
          <p:nvPr/>
        </p:nvSpPr>
        <p:spPr bwMode="auto">
          <a:xfrm>
            <a:off x="4778376" y="2130426"/>
            <a:ext cx="571500" cy="685800"/>
          </a:xfrm>
          <a:prstGeom prst="rect">
            <a:avLst/>
          </a:prstGeom>
          <a:solidFill>
            <a:srgbClr val="D2DE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Rectangle 14">
            <a:extLst>
              <a:ext uri="{FF2B5EF4-FFF2-40B4-BE49-F238E27FC236}">
                <a16:creationId xmlns:a16="http://schemas.microsoft.com/office/drawing/2014/main" id="{7FD630FA-877B-B665-EAE2-89DFFFF53F70}"/>
              </a:ext>
            </a:extLst>
          </p:cNvPr>
          <p:cNvSpPr>
            <a:spLocks noChangeArrowheads="1"/>
          </p:cNvSpPr>
          <p:nvPr/>
        </p:nvSpPr>
        <p:spPr bwMode="auto">
          <a:xfrm>
            <a:off x="5349876" y="2130426"/>
            <a:ext cx="573088" cy="685800"/>
          </a:xfrm>
          <a:prstGeom prst="rect">
            <a:avLst/>
          </a:prstGeom>
          <a:solidFill>
            <a:srgbClr val="D2DE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Rectangle 15">
            <a:extLst>
              <a:ext uri="{FF2B5EF4-FFF2-40B4-BE49-F238E27FC236}">
                <a16:creationId xmlns:a16="http://schemas.microsoft.com/office/drawing/2014/main" id="{2ECB36B0-D651-18AA-C019-4C42F0AD863A}"/>
              </a:ext>
            </a:extLst>
          </p:cNvPr>
          <p:cNvSpPr>
            <a:spLocks noChangeArrowheads="1"/>
          </p:cNvSpPr>
          <p:nvPr/>
        </p:nvSpPr>
        <p:spPr bwMode="auto">
          <a:xfrm>
            <a:off x="5922963" y="2130426"/>
            <a:ext cx="573088" cy="685800"/>
          </a:xfrm>
          <a:prstGeom prst="rect">
            <a:avLst/>
          </a:prstGeom>
          <a:solidFill>
            <a:srgbClr val="D2DE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Rectangle 16">
            <a:extLst>
              <a:ext uri="{FF2B5EF4-FFF2-40B4-BE49-F238E27FC236}">
                <a16:creationId xmlns:a16="http://schemas.microsoft.com/office/drawing/2014/main" id="{FB21B1E7-31BA-A62E-C383-3AEAA66626C0}"/>
              </a:ext>
            </a:extLst>
          </p:cNvPr>
          <p:cNvSpPr>
            <a:spLocks noChangeArrowheads="1"/>
          </p:cNvSpPr>
          <p:nvPr/>
        </p:nvSpPr>
        <p:spPr bwMode="auto">
          <a:xfrm>
            <a:off x="6496051" y="2130426"/>
            <a:ext cx="571500" cy="685800"/>
          </a:xfrm>
          <a:prstGeom prst="rect">
            <a:avLst/>
          </a:prstGeom>
          <a:solidFill>
            <a:srgbClr val="D2DE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5" name="Rectangle 17">
            <a:extLst>
              <a:ext uri="{FF2B5EF4-FFF2-40B4-BE49-F238E27FC236}">
                <a16:creationId xmlns:a16="http://schemas.microsoft.com/office/drawing/2014/main" id="{B014718F-9D14-F1C9-73A5-EA9280945136}"/>
              </a:ext>
            </a:extLst>
          </p:cNvPr>
          <p:cNvSpPr>
            <a:spLocks noChangeArrowheads="1"/>
          </p:cNvSpPr>
          <p:nvPr/>
        </p:nvSpPr>
        <p:spPr bwMode="auto">
          <a:xfrm>
            <a:off x="7067551" y="2130426"/>
            <a:ext cx="573088" cy="685800"/>
          </a:xfrm>
          <a:prstGeom prst="rect">
            <a:avLst/>
          </a:prstGeom>
          <a:solidFill>
            <a:srgbClr val="D2DE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 name="Rectangle 18">
            <a:extLst>
              <a:ext uri="{FF2B5EF4-FFF2-40B4-BE49-F238E27FC236}">
                <a16:creationId xmlns:a16="http://schemas.microsoft.com/office/drawing/2014/main" id="{43E6FE2F-05EB-2108-BEC2-D9D27AB16840}"/>
              </a:ext>
            </a:extLst>
          </p:cNvPr>
          <p:cNvSpPr>
            <a:spLocks noChangeArrowheads="1"/>
          </p:cNvSpPr>
          <p:nvPr/>
        </p:nvSpPr>
        <p:spPr bwMode="auto">
          <a:xfrm>
            <a:off x="7640638" y="2130426"/>
            <a:ext cx="654050" cy="685800"/>
          </a:xfrm>
          <a:prstGeom prst="rect">
            <a:avLst/>
          </a:prstGeom>
          <a:solidFill>
            <a:srgbClr val="D2DE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7" name="Rectangle 19">
            <a:extLst>
              <a:ext uri="{FF2B5EF4-FFF2-40B4-BE49-F238E27FC236}">
                <a16:creationId xmlns:a16="http://schemas.microsoft.com/office/drawing/2014/main" id="{A4CBF1C4-3A02-44A3-2471-FAD35245F08B}"/>
              </a:ext>
            </a:extLst>
          </p:cNvPr>
          <p:cNvSpPr>
            <a:spLocks noChangeArrowheads="1"/>
          </p:cNvSpPr>
          <p:nvPr/>
        </p:nvSpPr>
        <p:spPr bwMode="auto">
          <a:xfrm>
            <a:off x="8294688" y="2130426"/>
            <a:ext cx="654050" cy="685800"/>
          </a:xfrm>
          <a:prstGeom prst="rect">
            <a:avLst/>
          </a:prstGeom>
          <a:solidFill>
            <a:srgbClr val="D2DE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8" name="Rectangle 20">
            <a:extLst>
              <a:ext uri="{FF2B5EF4-FFF2-40B4-BE49-F238E27FC236}">
                <a16:creationId xmlns:a16="http://schemas.microsoft.com/office/drawing/2014/main" id="{ACCB16E6-C281-73F1-8D8D-54280D3E5892}"/>
              </a:ext>
            </a:extLst>
          </p:cNvPr>
          <p:cNvSpPr>
            <a:spLocks noChangeArrowheads="1"/>
          </p:cNvSpPr>
          <p:nvPr/>
        </p:nvSpPr>
        <p:spPr bwMode="auto">
          <a:xfrm>
            <a:off x="8948738" y="2130426"/>
            <a:ext cx="573088" cy="685800"/>
          </a:xfrm>
          <a:prstGeom prst="rect">
            <a:avLst/>
          </a:prstGeom>
          <a:solidFill>
            <a:srgbClr val="D2DE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9" name="Rectangle 21">
            <a:extLst>
              <a:ext uri="{FF2B5EF4-FFF2-40B4-BE49-F238E27FC236}">
                <a16:creationId xmlns:a16="http://schemas.microsoft.com/office/drawing/2014/main" id="{9A236339-C1B3-384B-8E9E-37D5962F7AE3}"/>
              </a:ext>
            </a:extLst>
          </p:cNvPr>
          <p:cNvSpPr>
            <a:spLocks noChangeArrowheads="1"/>
          </p:cNvSpPr>
          <p:nvPr/>
        </p:nvSpPr>
        <p:spPr bwMode="auto">
          <a:xfrm>
            <a:off x="9521826" y="2130426"/>
            <a:ext cx="573088" cy="685800"/>
          </a:xfrm>
          <a:prstGeom prst="rect">
            <a:avLst/>
          </a:prstGeom>
          <a:solidFill>
            <a:srgbClr val="D2DE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0" name="Rectangle 22">
            <a:extLst>
              <a:ext uri="{FF2B5EF4-FFF2-40B4-BE49-F238E27FC236}">
                <a16:creationId xmlns:a16="http://schemas.microsoft.com/office/drawing/2014/main" id="{A6E9445D-27C5-1439-9DF9-B19A97D73A27}"/>
              </a:ext>
            </a:extLst>
          </p:cNvPr>
          <p:cNvSpPr>
            <a:spLocks noChangeArrowheads="1"/>
          </p:cNvSpPr>
          <p:nvPr/>
        </p:nvSpPr>
        <p:spPr bwMode="auto">
          <a:xfrm>
            <a:off x="2092326" y="2816226"/>
            <a:ext cx="1079500" cy="685800"/>
          </a:xfrm>
          <a:prstGeom prst="rect">
            <a:avLst/>
          </a:prstGeom>
          <a:solidFill>
            <a:srgbClr val="EAEF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1" name="Rectangle 23">
            <a:extLst>
              <a:ext uri="{FF2B5EF4-FFF2-40B4-BE49-F238E27FC236}">
                <a16:creationId xmlns:a16="http://schemas.microsoft.com/office/drawing/2014/main" id="{CD6EC98F-BC1B-803C-293F-3F7855B046A1}"/>
              </a:ext>
            </a:extLst>
          </p:cNvPr>
          <p:cNvSpPr>
            <a:spLocks noChangeArrowheads="1"/>
          </p:cNvSpPr>
          <p:nvPr/>
        </p:nvSpPr>
        <p:spPr bwMode="auto">
          <a:xfrm>
            <a:off x="3171826" y="2816226"/>
            <a:ext cx="523875" cy="685800"/>
          </a:xfrm>
          <a:prstGeom prst="rect">
            <a:avLst/>
          </a:prstGeom>
          <a:solidFill>
            <a:srgbClr val="EAEF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2" name="Rectangle 24">
            <a:extLst>
              <a:ext uri="{FF2B5EF4-FFF2-40B4-BE49-F238E27FC236}">
                <a16:creationId xmlns:a16="http://schemas.microsoft.com/office/drawing/2014/main" id="{5D8AA0B0-BB90-125B-8A67-BD985271957E}"/>
              </a:ext>
            </a:extLst>
          </p:cNvPr>
          <p:cNvSpPr>
            <a:spLocks noChangeArrowheads="1"/>
          </p:cNvSpPr>
          <p:nvPr/>
        </p:nvSpPr>
        <p:spPr bwMode="auto">
          <a:xfrm>
            <a:off x="3695701" y="2816226"/>
            <a:ext cx="509588" cy="685800"/>
          </a:xfrm>
          <a:prstGeom prst="rect">
            <a:avLst/>
          </a:prstGeom>
          <a:solidFill>
            <a:srgbClr val="EAEF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3" name="Rectangle 25">
            <a:extLst>
              <a:ext uri="{FF2B5EF4-FFF2-40B4-BE49-F238E27FC236}">
                <a16:creationId xmlns:a16="http://schemas.microsoft.com/office/drawing/2014/main" id="{534476A8-E4D7-1F53-BE7C-1465AFC1A9F3}"/>
              </a:ext>
            </a:extLst>
          </p:cNvPr>
          <p:cNvSpPr>
            <a:spLocks noChangeArrowheads="1"/>
          </p:cNvSpPr>
          <p:nvPr/>
        </p:nvSpPr>
        <p:spPr bwMode="auto">
          <a:xfrm>
            <a:off x="4205288" y="2816226"/>
            <a:ext cx="573088" cy="685800"/>
          </a:xfrm>
          <a:prstGeom prst="rect">
            <a:avLst/>
          </a:prstGeom>
          <a:solidFill>
            <a:srgbClr val="EAEF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4" name="Rectangle 26">
            <a:extLst>
              <a:ext uri="{FF2B5EF4-FFF2-40B4-BE49-F238E27FC236}">
                <a16:creationId xmlns:a16="http://schemas.microsoft.com/office/drawing/2014/main" id="{3145E20D-5359-CD83-02C6-54DAA0649674}"/>
              </a:ext>
            </a:extLst>
          </p:cNvPr>
          <p:cNvSpPr>
            <a:spLocks noChangeArrowheads="1"/>
          </p:cNvSpPr>
          <p:nvPr/>
        </p:nvSpPr>
        <p:spPr bwMode="auto">
          <a:xfrm>
            <a:off x="4778376" y="2816226"/>
            <a:ext cx="571500" cy="685800"/>
          </a:xfrm>
          <a:prstGeom prst="rect">
            <a:avLst/>
          </a:prstGeom>
          <a:solidFill>
            <a:srgbClr val="EAEF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5" name="Rectangle 27">
            <a:extLst>
              <a:ext uri="{FF2B5EF4-FFF2-40B4-BE49-F238E27FC236}">
                <a16:creationId xmlns:a16="http://schemas.microsoft.com/office/drawing/2014/main" id="{8E6A1DA5-E61E-1E27-293E-4D0E87BCE640}"/>
              </a:ext>
            </a:extLst>
          </p:cNvPr>
          <p:cNvSpPr>
            <a:spLocks noChangeArrowheads="1"/>
          </p:cNvSpPr>
          <p:nvPr/>
        </p:nvSpPr>
        <p:spPr bwMode="auto">
          <a:xfrm>
            <a:off x="5349876" y="2816226"/>
            <a:ext cx="573088" cy="685800"/>
          </a:xfrm>
          <a:prstGeom prst="rect">
            <a:avLst/>
          </a:prstGeom>
          <a:solidFill>
            <a:srgbClr val="EAEF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6" name="Rectangle 28">
            <a:extLst>
              <a:ext uri="{FF2B5EF4-FFF2-40B4-BE49-F238E27FC236}">
                <a16:creationId xmlns:a16="http://schemas.microsoft.com/office/drawing/2014/main" id="{B58AEE6B-2E72-319A-DC43-83EE6BAB8564}"/>
              </a:ext>
            </a:extLst>
          </p:cNvPr>
          <p:cNvSpPr>
            <a:spLocks noChangeArrowheads="1"/>
          </p:cNvSpPr>
          <p:nvPr/>
        </p:nvSpPr>
        <p:spPr bwMode="auto">
          <a:xfrm>
            <a:off x="5922963" y="2816226"/>
            <a:ext cx="573088" cy="685800"/>
          </a:xfrm>
          <a:prstGeom prst="rect">
            <a:avLst/>
          </a:prstGeom>
          <a:solidFill>
            <a:srgbClr val="EAEF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7" name="Rectangle 29">
            <a:extLst>
              <a:ext uri="{FF2B5EF4-FFF2-40B4-BE49-F238E27FC236}">
                <a16:creationId xmlns:a16="http://schemas.microsoft.com/office/drawing/2014/main" id="{9078DA34-E646-1D25-9267-BD3C82F4A12A}"/>
              </a:ext>
            </a:extLst>
          </p:cNvPr>
          <p:cNvSpPr>
            <a:spLocks noChangeArrowheads="1"/>
          </p:cNvSpPr>
          <p:nvPr/>
        </p:nvSpPr>
        <p:spPr bwMode="auto">
          <a:xfrm>
            <a:off x="6496051" y="2816226"/>
            <a:ext cx="571500" cy="685800"/>
          </a:xfrm>
          <a:prstGeom prst="rect">
            <a:avLst/>
          </a:prstGeom>
          <a:solidFill>
            <a:srgbClr val="EAEF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8" name="Rectangle 30">
            <a:extLst>
              <a:ext uri="{FF2B5EF4-FFF2-40B4-BE49-F238E27FC236}">
                <a16:creationId xmlns:a16="http://schemas.microsoft.com/office/drawing/2014/main" id="{9A3384A5-E8A2-C1CA-AC3F-5659B3770F83}"/>
              </a:ext>
            </a:extLst>
          </p:cNvPr>
          <p:cNvSpPr>
            <a:spLocks noChangeArrowheads="1"/>
          </p:cNvSpPr>
          <p:nvPr/>
        </p:nvSpPr>
        <p:spPr bwMode="auto">
          <a:xfrm>
            <a:off x="7067551" y="2816226"/>
            <a:ext cx="573088" cy="685800"/>
          </a:xfrm>
          <a:prstGeom prst="rect">
            <a:avLst/>
          </a:prstGeom>
          <a:solidFill>
            <a:srgbClr val="EAEF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39" name="Rectangle 31">
            <a:extLst>
              <a:ext uri="{FF2B5EF4-FFF2-40B4-BE49-F238E27FC236}">
                <a16:creationId xmlns:a16="http://schemas.microsoft.com/office/drawing/2014/main" id="{3E8C0FFC-430E-15BB-DB33-3599E5D251BE}"/>
              </a:ext>
            </a:extLst>
          </p:cNvPr>
          <p:cNvSpPr>
            <a:spLocks noChangeArrowheads="1"/>
          </p:cNvSpPr>
          <p:nvPr/>
        </p:nvSpPr>
        <p:spPr bwMode="auto">
          <a:xfrm>
            <a:off x="7640638" y="2816226"/>
            <a:ext cx="654050" cy="685800"/>
          </a:xfrm>
          <a:prstGeom prst="rect">
            <a:avLst/>
          </a:prstGeom>
          <a:solidFill>
            <a:srgbClr val="EAEF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0" name="Rectangle 32">
            <a:extLst>
              <a:ext uri="{FF2B5EF4-FFF2-40B4-BE49-F238E27FC236}">
                <a16:creationId xmlns:a16="http://schemas.microsoft.com/office/drawing/2014/main" id="{3B88BFB2-D786-F13C-F029-8045F6F2E56A}"/>
              </a:ext>
            </a:extLst>
          </p:cNvPr>
          <p:cNvSpPr>
            <a:spLocks noChangeArrowheads="1"/>
          </p:cNvSpPr>
          <p:nvPr/>
        </p:nvSpPr>
        <p:spPr bwMode="auto">
          <a:xfrm>
            <a:off x="8294688" y="2816226"/>
            <a:ext cx="654050" cy="685800"/>
          </a:xfrm>
          <a:prstGeom prst="rect">
            <a:avLst/>
          </a:prstGeom>
          <a:solidFill>
            <a:srgbClr val="EAEF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1" name="Rectangle 33">
            <a:extLst>
              <a:ext uri="{FF2B5EF4-FFF2-40B4-BE49-F238E27FC236}">
                <a16:creationId xmlns:a16="http://schemas.microsoft.com/office/drawing/2014/main" id="{3A9D3CF8-60FF-3BC0-D162-903E55BCE290}"/>
              </a:ext>
            </a:extLst>
          </p:cNvPr>
          <p:cNvSpPr>
            <a:spLocks noChangeArrowheads="1"/>
          </p:cNvSpPr>
          <p:nvPr/>
        </p:nvSpPr>
        <p:spPr bwMode="auto">
          <a:xfrm>
            <a:off x="8948738" y="2816226"/>
            <a:ext cx="573088" cy="685800"/>
          </a:xfrm>
          <a:prstGeom prst="rect">
            <a:avLst/>
          </a:prstGeom>
          <a:solidFill>
            <a:srgbClr val="EAEF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2" name="Rectangle 34">
            <a:extLst>
              <a:ext uri="{FF2B5EF4-FFF2-40B4-BE49-F238E27FC236}">
                <a16:creationId xmlns:a16="http://schemas.microsoft.com/office/drawing/2014/main" id="{8A0374F6-1AEB-22EE-DF80-FD27BBCED0C6}"/>
              </a:ext>
            </a:extLst>
          </p:cNvPr>
          <p:cNvSpPr>
            <a:spLocks noChangeArrowheads="1"/>
          </p:cNvSpPr>
          <p:nvPr/>
        </p:nvSpPr>
        <p:spPr bwMode="auto">
          <a:xfrm>
            <a:off x="9521826" y="2816226"/>
            <a:ext cx="573088" cy="685800"/>
          </a:xfrm>
          <a:prstGeom prst="rect">
            <a:avLst/>
          </a:prstGeom>
          <a:solidFill>
            <a:srgbClr val="EAEF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3" name="Rectangle 35">
            <a:extLst>
              <a:ext uri="{FF2B5EF4-FFF2-40B4-BE49-F238E27FC236}">
                <a16:creationId xmlns:a16="http://schemas.microsoft.com/office/drawing/2014/main" id="{39B1B086-DFED-E87F-80C1-0CD14B149E14}"/>
              </a:ext>
            </a:extLst>
          </p:cNvPr>
          <p:cNvSpPr>
            <a:spLocks noChangeArrowheads="1"/>
          </p:cNvSpPr>
          <p:nvPr/>
        </p:nvSpPr>
        <p:spPr bwMode="auto">
          <a:xfrm>
            <a:off x="2092326" y="3502026"/>
            <a:ext cx="1079500" cy="685800"/>
          </a:xfrm>
          <a:prstGeom prst="rect">
            <a:avLst/>
          </a:prstGeom>
          <a:solidFill>
            <a:srgbClr val="D2DE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Rectangle 36">
            <a:extLst>
              <a:ext uri="{FF2B5EF4-FFF2-40B4-BE49-F238E27FC236}">
                <a16:creationId xmlns:a16="http://schemas.microsoft.com/office/drawing/2014/main" id="{8723E203-70F4-5114-9419-8C95828DF990}"/>
              </a:ext>
            </a:extLst>
          </p:cNvPr>
          <p:cNvSpPr>
            <a:spLocks noChangeArrowheads="1"/>
          </p:cNvSpPr>
          <p:nvPr/>
        </p:nvSpPr>
        <p:spPr bwMode="auto">
          <a:xfrm>
            <a:off x="3171826" y="3502026"/>
            <a:ext cx="523875" cy="685800"/>
          </a:xfrm>
          <a:prstGeom prst="rect">
            <a:avLst/>
          </a:prstGeom>
          <a:solidFill>
            <a:srgbClr val="D2DE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Rectangle 37">
            <a:extLst>
              <a:ext uri="{FF2B5EF4-FFF2-40B4-BE49-F238E27FC236}">
                <a16:creationId xmlns:a16="http://schemas.microsoft.com/office/drawing/2014/main" id="{A2BAACF5-0253-9BA6-CAAF-A5130D0E935E}"/>
              </a:ext>
            </a:extLst>
          </p:cNvPr>
          <p:cNvSpPr>
            <a:spLocks noChangeArrowheads="1"/>
          </p:cNvSpPr>
          <p:nvPr/>
        </p:nvSpPr>
        <p:spPr bwMode="auto">
          <a:xfrm>
            <a:off x="3695701" y="3502026"/>
            <a:ext cx="509588" cy="685800"/>
          </a:xfrm>
          <a:prstGeom prst="rect">
            <a:avLst/>
          </a:prstGeom>
          <a:solidFill>
            <a:srgbClr val="D2DE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Rectangle 38">
            <a:extLst>
              <a:ext uri="{FF2B5EF4-FFF2-40B4-BE49-F238E27FC236}">
                <a16:creationId xmlns:a16="http://schemas.microsoft.com/office/drawing/2014/main" id="{307E6F6C-70A4-48F5-2661-F4D6F0833217}"/>
              </a:ext>
            </a:extLst>
          </p:cNvPr>
          <p:cNvSpPr>
            <a:spLocks noChangeArrowheads="1"/>
          </p:cNvSpPr>
          <p:nvPr/>
        </p:nvSpPr>
        <p:spPr bwMode="auto">
          <a:xfrm>
            <a:off x="4205288" y="3502026"/>
            <a:ext cx="573088" cy="685800"/>
          </a:xfrm>
          <a:prstGeom prst="rect">
            <a:avLst/>
          </a:prstGeom>
          <a:solidFill>
            <a:srgbClr val="D2DE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Rectangle 39">
            <a:extLst>
              <a:ext uri="{FF2B5EF4-FFF2-40B4-BE49-F238E27FC236}">
                <a16:creationId xmlns:a16="http://schemas.microsoft.com/office/drawing/2014/main" id="{048F0CF9-0A2E-9E9D-0979-BECBCE986B03}"/>
              </a:ext>
            </a:extLst>
          </p:cNvPr>
          <p:cNvSpPr>
            <a:spLocks noChangeArrowheads="1"/>
          </p:cNvSpPr>
          <p:nvPr/>
        </p:nvSpPr>
        <p:spPr bwMode="auto">
          <a:xfrm>
            <a:off x="4778376" y="3502026"/>
            <a:ext cx="571500" cy="685800"/>
          </a:xfrm>
          <a:prstGeom prst="rect">
            <a:avLst/>
          </a:prstGeom>
          <a:solidFill>
            <a:srgbClr val="D2DE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Rectangle 40">
            <a:extLst>
              <a:ext uri="{FF2B5EF4-FFF2-40B4-BE49-F238E27FC236}">
                <a16:creationId xmlns:a16="http://schemas.microsoft.com/office/drawing/2014/main" id="{0C04BC71-91B2-0760-62CE-DDAFFF7F4E9B}"/>
              </a:ext>
            </a:extLst>
          </p:cNvPr>
          <p:cNvSpPr>
            <a:spLocks noChangeArrowheads="1"/>
          </p:cNvSpPr>
          <p:nvPr/>
        </p:nvSpPr>
        <p:spPr bwMode="auto">
          <a:xfrm>
            <a:off x="5349876" y="3502026"/>
            <a:ext cx="573088" cy="685800"/>
          </a:xfrm>
          <a:prstGeom prst="rect">
            <a:avLst/>
          </a:prstGeom>
          <a:solidFill>
            <a:srgbClr val="D2DE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Rectangle 41">
            <a:extLst>
              <a:ext uri="{FF2B5EF4-FFF2-40B4-BE49-F238E27FC236}">
                <a16:creationId xmlns:a16="http://schemas.microsoft.com/office/drawing/2014/main" id="{3AF96E44-1ACC-7A74-0BAF-004D0208D64A}"/>
              </a:ext>
            </a:extLst>
          </p:cNvPr>
          <p:cNvSpPr>
            <a:spLocks noChangeArrowheads="1"/>
          </p:cNvSpPr>
          <p:nvPr/>
        </p:nvSpPr>
        <p:spPr bwMode="auto">
          <a:xfrm>
            <a:off x="5922963" y="3502026"/>
            <a:ext cx="573088" cy="685800"/>
          </a:xfrm>
          <a:prstGeom prst="rect">
            <a:avLst/>
          </a:prstGeom>
          <a:solidFill>
            <a:srgbClr val="D2DE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Rectangle 42">
            <a:extLst>
              <a:ext uri="{FF2B5EF4-FFF2-40B4-BE49-F238E27FC236}">
                <a16:creationId xmlns:a16="http://schemas.microsoft.com/office/drawing/2014/main" id="{82D91FCE-8CD5-5D77-7C70-002882C52E5A}"/>
              </a:ext>
            </a:extLst>
          </p:cNvPr>
          <p:cNvSpPr>
            <a:spLocks noChangeArrowheads="1"/>
          </p:cNvSpPr>
          <p:nvPr/>
        </p:nvSpPr>
        <p:spPr bwMode="auto">
          <a:xfrm>
            <a:off x="6496051" y="3502026"/>
            <a:ext cx="571500" cy="685800"/>
          </a:xfrm>
          <a:prstGeom prst="rect">
            <a:avLst/>
          </a:prstGeom>
          <a:solidFill>
            <a:srgbClr val="D2DE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Rectangle 43">
            <a:extLst>
              <a:ext uri="{FF2B5EF4-FFF2-40B4-BE49-F238E27FC236}">
                <a16:creationId xmlns:a16="http://schemas.microsoft.com/office/drawing/2014/main" id="{ED2E0663-938C-B1B9-01BB-ACF894A9C8C0}"/>
              </a:ext>
            </a:extLst>
          </p:cNvPr>
          <p:cNvSpPr>
            <a:spLocks noChangeArrowheads="1"/>
          </p:cNvSpPr>
          <p:nvPr/>
        </p:nvSpPr>
        <p:spPr bwMode="auto">
          <a:xfrm>
            <a:off x="7067551" y="3502026"/>
            <a:ext cx="573088" cy="685800"/>
          </a:xfrm>
          <a:prstGeom prst="rect">
            <a:avLst/>
          </a:prstGeom>
          <a:solidFill>
            <a:srgbClr val="D2DE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Rectangle 44">
            <a:extLst>
              <a:ext uri="{FF2B5EF4-FFF2-40B4-BE49-F238E27FC236}">
                <a16:creationId xmlns:a16="http://schemas.microsoft.com/office/drawing/2014/main" id="{D35B0666-51F9-8CCC-FA1F-B02DC2D0CCDE}"/>
              </a:ext>
            </a:extLst>
          </p:cNvPr>
          <p:cNvSpPr>
            <a:spLocks noChangeArrowheads="1"/>
          </p:cNvSpPr>
          <p:nvPr/>
        </p:nvSpPr>
        <p:spPr bwMode="auto">
          <a:xfrm>
            <a:off x="7640638" y="3502026"/>
            <a:ext cx="654050" cy="685800"/>
          </a:xfrm>
          <a:prstGeom prst="rect">
            <a:avLst/>
          </a:prstGeom>
          <a:solidFill>
            <a:srgbClr val="D2DE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Rectangle 45">
            <a:extLst>
              <a:ext uri="{FF2B5EF4-FFF2-40B4-BE49-F238E27FC236}">
                <a16:creationId xmlns:a16="http://schemas.microsoft.com/office/drawing/2014/main" id="{05CD724A-7F4E-290C-3B9C-BA90C0A3EFEA}"/>
              </a:ext>
            </a:extLst>
          </p:cNvPr>
          <p:cNvSpPr>
            <a:spLocks noChangeArrowheads="1"/>
          </p:cNvSpPr>
          <p:nvPr/>
        </p:nvSpPr>
        <p:spPr bwMode="auto">
          <a:xfrm>
            <a:off x="8294688" y="3502026"/>
            <a:ext cx="654050" cy="685800"/>
          </a:xfrm>
          <a:prstGeom prst="rect">
            <a:avLst/>
          </a:prstGeom>
          <a:solidFill>
            <a:srgbClr val="D2DE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Rectangle 46">
            <a:extLst>
              <a:ext uri="{FF2B5EF4-FFF2-40B4-BE49-F238E27FC236}">
                <a16:creationId xmlns:a16="http://schemas.microsoft.com/office/drawing/2014/main" id="{5B6F6FB3-4D9B-92B3-CE90-9904E5826DA8}"/>
              </a:ext>
            </a:extLst>
          </p:cNvPr>
          <p:cNvSpPr>
            <a:spLocks noChangeArrowheads="1"/>
          </p:cNvSpPr>
          <p:nvPr/>
        </p:nvSpPr>
        <p:spPr bwMode="auto">
          <a:xfrm>
            <a:off x="8948738" y="3502026"/>
            <a:ext cx="573088" cy="685800"/>
          </a:xfrm>
          <a:prstGeom prst="rect">
            <a:avLst/>
          </a:prstGeom>
          <a:solidFill>
            <a:srgbClr val="D2DE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Rectangle 47">
            <a:extLst>
              <a:ext uri="{FF2B5EF4-FFF2-40B4-BE49-F238E27FC236}">
                <a16:creationId xmlns:a16="http://schemas.microsoft.com/office/drawing/2014/main" id="{132FCBF7-3E7B-173F-4F1A-D9824D814057}"/>
              </a:ext>
            </a:extLst>
          </p:cNvPr>
          <p:cNvSpPr>
            <a:spLocks noChangeArrowheads="1"/>
          </p:cNvSpPr>
          <p:nvPr/>
        </p:nvSpPr>
        <p:spPr bwMode="auto">
          <a:xfrm>
            <a:off x="9521826" y="3502026"/>
            <a:ext cx="573088" cy="685800"/>
          </a:xfrm>
          <a:prstGeom prst="rect">
            <a:avLst/>
          </a:prstGeom>
          <a:solidFill>
            <a:srgbClr val="D2DEE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Rectangle 48">
            <a:extLst>
              <a:ext uri="{FF2B5EF4-FFF2-40B4-BE49-F238E27FC236}">
                <a16:creationId xmlns:a16="http://schemas.microsoft.com/office/drawing/2014/main" id="{5BB23F69-5511-A9BC-9FCB-4897410D4000}"/>
              </a:ext>
            </a:extLst>
          </p:cNvPr>
          <p:cNvSpPr>
            <a:spLocks noChangeArrowheads="1"/>
          </p:cNvSpPr>
          <p:nvPr/>
        </p:nvSpPr>
        <p:spPr bwMode="auto">
          <a:xfrm>
            <a:off x="2092326" y="4187826"/>
            <a:ext cx="1079500" cy="685800"/>
          </a:xfrm>
          <a:prstGeom prst="rect">
            <a:avLst/>
          </a:prstGeom>
          <a:solidFill>
            <a:srgbClr val="EAEF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Rectangle 49">
            <a:extLst>
              <a:ext uri="{FF2B5EF4-FFF2-40B4-BE49-F238E27FC236}">
                <a16:creationId xmlns:a16="http://schemas.microsoft.com/office/drawing/2014/main" id="{63A485CF-8C49-D55D-8A4D-5EEFE5C72B7A}"/>
              </a:ext>
            </a:extLst>
          </p:cNvPr>
          <p:cNvSpPr>
            <a:spLocks noChangeArrowheads="1"/>
          </p:cNvSpPr>
          <p:nvPr/>
        </p:nvSpPr>
        <p:spPr bwMode="auto">
          <a:xfrm>
            <a:off x="3171826" y="4187826"/>
            <a:ext cx="523875" cy="685800"/>
          </a:xfrm>
          <a:prstGeom prst="rect">
            <a:avLst/>
          </a:prstGeom>
          <a:solidFill>
            <a:srgbClr val="EAEF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Rectangle 50">
            <a:extLst>
              <a:ext uri="{FF2B5EF4-FFF2-40B4-BE49-F238E27FC236}">
                <a16:creationId xmlns:a16="http://schemas.microsoft.com/office/drawing/2014/main" id="{64ED15FD-16C8-9458-2DB6-8ECFF1A15E7C}"/>
              </a:ext>
            </a:extLst>
          </p:cNvPr>
          <p:cNvSpPr>
            <a:spLocks noChangeArrowheads="1"/>
          </p:cNvSpPr>
          <p:nvPr/>
        </p:nvSpPr>
        <p:spPr bwMode="auto">
          <a:xfrm>
            <a:off x="3695701" y="4187826"/>
            <a:ext cx="509588" cy="685800"/>
          </a:xfrm>
          <a:prstGeom prst="rect">
            <a:avLst/>
          </a:prstGeom>
          <a:solidFill>
            <a:srgbClr val="EAEF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Rectangle 51">
            <a:extLst>
              <a:ext uri="{FF2B5EF4-FFF2-40B4-BE49-F238E27FC236}">
                <a16:creationId xmlns:a16="http://schemas.microsoft.com/office/drawing/2014/main" id="{E56BC853-BF93-BB01-9A2A-451F4DF1450F}"/>
              </a:ext>
            </a:extLst>
          </p:cNvPr>
          <p:cNvSpPr>
            <a:spLocks noChangeArrowheads="1"/>
          </p:cNvSpPr>
          <p:nvPr/>
        </p:nvSpPr>
        <p:spPr bwMode="auto">
          <a:xfrm>
            <a:off x="4205288" y="4187826"/>
            <a:ext cx="573088" cy="685800"/>
          </a:xfrm>
          <a:prstGeom prst="rect">
            <a:avLst/>
          </a:prstGeom>
          <a:solidFill>
            <a:srgbClr val="EAEF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0" name="Rectangle 52">
            <a:extLst>
              <a:ext uri="{FF2B5EF4-FFF2-40B4-BE49-F238E27FC236}">
                <a16:creationId xmlns:a16="http://schemas.microsoft.com/office/drawing/2014/main" id="{3B710786-2315-9582-E34C-77191A003A75}"/>
              </a:ext>
            </a:extLst>
          </p:cNvPr>
          <p:cNvSpPr>
            <a:spLocks noChangeArrowheads="1"/>
          </p:cNvSpPr>
          <p:nvPr/>
        </p:nvSpPr>
        <p:spPr bwMode="auto">
          <a:xfrm>
            <a:off x="4778376" y="4187826"/>
            <a:ext cx="571500" cy="685800"/>
          </a:xfrm>
          <a:prstGeom prst="rect">
            <a:avLst/>
          </a:prstGeom>
          <a:solidFill>
            <a:srgbClr val="EAEF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Rectangle 53">
            <a:extLst>
              <a:ext uri="{FF2B5EF4-FFF2-40B4-BE49-F238E27FC236}">
                <a16:creationId xmlns:a16="http://schemas.microsoft.com/office/drawing/2014/main" id="{290E9D99-E108-9C6E-FCF8-77193B96627B}"/>
              </a:ext>
            </a:extLst>
          </p:cNvPr>
          <p:cNvSpPr>
            <a:spLocks noChangeArrowheads="1"/>
          </p:cNvSpPr>
          <p:nvPr/>
        </p:nvSpPr>
        <p:spPr bwMode="auto">
          <a:xfrm>
            <a:off x="5349876" y="4187826"/>
            <a:ext cx="573088" cy="685800"/>
          </a:xfrm>
          <a:prstGeom prst="rect">
            <a:avLst/>
          </a:prstGeom>
          <a:solidFill>
            <a:srgbClr val="EAEF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Rectangle 54">
            <a:extLst>
              <a:ext uri="{FF2B5EF4-FFF2-40B4-BE49-F238E27FC236}">
                <a16:creationId xmlns:a16="http://schemas.microsoft.com/office/drawing/2014/main" id="{8726C76C-D553-76CF-C0F8-9B46E3550ADF}"/>
              </a:ext>
            </a:extLst>
          </p:cNvPr>
          <p:cNvSpPr>
            <a:spLocks noChangeArrowheads="1"/>
          </p:cNvSpPr>
          <p:nvPr/>
        </p:nvSpPr>
        <p:spPr bwMode="auto">
          <a:xfrm>
            <a:off x="5922963" y="4187826"/>
            <a:ext cx="573088" cy="685800"/>
          </a:xfrm>
          <a:prstGeom prst="rect">
            <a:avLst/>
          </a:prstGeom>
          <a:solidFill>
            <a:srgbClr val="EAEF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Rectangle 55">
            <a:extLst>
              <a:ext uri="{FF2B5EF4-FFF2-40B4-BE49-F238E27FC236}">
                <a16:creationId xmlns:a16="http://schemas.microsoft.com/office/drawing/2014/main" id="{57869A5A-EDF6-D3E0-FEA4-171CF708C711}"/>
              </a:ext>
            </a:extLst>
          </p:cNvPr>
          <p:cNvSpPr>
            <a:spLocks noChangeArrowheads="1"/>
          </p:cNvSpPr>
          <p:nvPr/>
        </p:nvSpPr>
        <p:spPr bwMode="auto">
          <a:xfrm>
            <a:off x="6496051" y="4187826"/>
            <a:ext cx="571500" cy="685800"/>
          </a:xfrm>
          <a:prstGeom prst="rect">
            <a:avLst/>
          </a:prstGeom>
          <a:solidFill>
            <a:srgbClr val="EAEF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24" name="Rectangle 56">
            <a:extLst>
              <a:ext uri="{FF2B5EF4-FFF2-40B4-BE49-F238E27FC236}">
                <a16:creationId xmlns:a16="http://schemas.microsoft.com/office/drawing/2014/main" id="{3918CDC8-C00E-9909-50E8-FACABD66E2DB}"/>
              </a:ext>
            </a:extLst>
          </p:cNvPr>
          <p:cNvSpPr>
            <a:spLocks noChangeArrowheads="1"/>
          </p:cNvSpPr>
          <p:nvPr/>
        </p:nvSpPr>
        <p:spPr bwMode="auto">
          <a:xfrm>
            <a:off x="7067551" y="4187826"/>
            <a:ext cx="573088" cy="685800"/>
          </a:xfrm>
          <a:prstGeom prst="rect">
            <a:avLst/>
          </a:prstGeom>
          <a:solidFill>
            <a:srgbClr val="EAEF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25" name="Rectangle 57">
            <a:extLst>
              <a:ext uri="{FF2B5EF4-FFF2-40B4-BE49-F238E27FC236}">
                <a16:creationId xmlns:a16="http://schemas.microsoft.com/office/drawing/2014/main" id="{B9C9666E-8A85-F9FF-6554-142C37EA0379}"/>
              </a:ext>
            </a:extLst>
          </p:cNvPr>
          <p:cNvSpPr>
            <a:spLocks noChangeArrowheads="1"/>
          </p:cNvSpPr>
          <p:nvPr/>
        </p:nvSpPr>
        <p:spPr bwMode="auto">
          <a:xfrm>
            <a:off x="7640638" y="4187826"/>
            <a:ext cx="654050" cy="685800"/>
          </a:xfrm>
          <a:prstGeom prst="rect">
            <a:avLst/>
          </a:prstGeom>
          <a:solidFill>
            <a:srgbClr val="EAEF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27" name="Rectangle 58">
            <a:extLst>
              <a:ext uri="{FF2B5EF4-FFF2-40B4-BE49-F238E27FC236}">
                <a16:creationId xmlns:a16="http://schemas.microsoft.com/office/drawing/2014/main" id="{4BB98253-3C03-C383-3FBE-C76ACF4AF71D}"/>
              </a:ext>
            </a:extLst>
          </p:cNvPr>
          <p:cNvSpPr>
            <a:spLocks noChangeArrowheads="1"/>
          </p:cNvSpPr>
          <p:nvPr/>
        </p:nvSpPr>
        <p:spPr bwMode="auto">
          <a:xfrm>
            <a:off x="8294688" y="4187826"/>
            <a:ext cx="654050" cy="685800"/>
          </a:xfrm>
          <a:prstGeom prst="rect">
            <a:avLst/>
          </a:prstGeom>
          <a:solidFill>
            <a:srgbClr val="EAEF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28" name="Rectangle 59">
            <a:extLst>
              <a:ext uri="{FF2B5EF4-FFF2-40B4-BE49-F238E27FC236}">
                <a16:creationId xmlns:a16="http://schemas.microsoft.com/office/drawing/2014/main" id="{EF37EFBE-11BC-D8B5-3946-169C113BDB45}"/>
              </a:ext>
            </a:extLst>
          </p:cNvPr>
          <p:cNvSpPr>
            <a:spLocks noChangeArrowheads="1"/>
          </p:cNvSpPr>
          <p:nvPr/>
        </p:nvSpPr>
        <p:spPr bwMode="auto">
          <a:xfrm>
            <a:off x="8948738" y="4187826"/>
            <a:ext cx="573088" cy="685800"/>
          </a:xfrm>
          <a:prstGeom prst="rect">
            <a:avLst/>
          </a:prstGeom>
          <a:solidFill>
            <a:srgbClr val="EAEF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29" name="Rectangle 60">
            <a:extLst>
              <a:ext uri="{FF2B5EF4-FFF2-40B4-BE49-F238E27FC236}">
                <a16:creationId xmlns:a16="http://schemas.microsoft.com/office/drawing/2014/main" id="{09FD728E-47D2-A3CA-E6F0-1910454F7868}"/>
              </a:ext>
            </a:extLst>
          </p:cNvPr>
          <p:cNvSpPr>
            <a:spLocks noChangeArrowheads="1"/>
          </p:cNvSpPr>
          <p:nvPr/>
        </p:nvSpPr>
        <p:spPr bwMode="auto">
          <a:xfrm>
            <a:off x="9521826" y="4187826"/>
            <a:ext cx="573088" cy="685800"/>
          </a:xfrm>
          <a:prstGeom prst="rect">
            <a:avLst/>
          </a:prstGeom>
          <a:solidFill>
            <a:srgbClr val="EAEFF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30" name="Line 61">
            <a:extLst>
              <a:ext uri="{FF2B5EF4-FFF2-40B4-BE49-F238E27FC236}">
                <a16:creationId xmlns:a16="http://schemas.microsoft.com/office/drawing/2014/main" id="{FFE59D13-7256-34CB-EB33-B395CCAA659E}"/>
              </a:ext>
            </a:extLst>
          </p:cNvPr>
          <p:cNvSpPr>
            <a:spLocks noChangeShapeType="1"/>
          </p:cNvSpPr>
          <p:nvPr/>
        </p:nvSpPr>
        <p:spPr bwMode="auto">
          <a:xfrm>
            <a:off x="3171826" y="1362076"/>
            <a:ext cx="0" cy="3517900"/>
          </a:xfrm>
          <a:prstGeom prst="line">
            <a:avLst/>
          </a:prstGeom>
          <a:noFill/>
          <a:ln w="12700" cap="flat">
            <a:solidFill>
              <a:srgbClr val="5B9BD5"/>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31" name="Line 62">
            <a:extLst>
              <a:ext uri="{FF2B5EF4-FFF2-40B4-BE49-F238E27FC236}">
                <a16:creationId xmlns:a16="http://schemas.microsoft.com/office/drawing/2014/main" id="{ACDF13A5-B0F0-3DC8-00B9-7BC763F9C507}"/>
              </a:ext>
            </a:extLst>
          </p:cNvPr>
          <p:cNvSpPr>
            <a:spLocks noChangeShapeType="1"/>
          </p:cNvSpPr>
          <p:nvPr/>
        </p:nvSpPr>
        <p:spPr bwMode="auto">
          <a:xfrm>
            <a:off x="3695701" y="2124076"/>
            <a:ext cx="0" cy="2755900"/>
          </a:xfrm>
          <a:prstGeom prst="line">
            <a:avLst/>
          </a:prstGeom>
          <a:noFill/>
          <a:ln w="12700" cap="flat">
            <a:solidFill>
              <a:srgbClr val="5B9BD5"/>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32" name="Line 63">
            <a:extLst>
              <a:ext uri="{FF2B5EF4-FFF2-40B4-BE49-F238E27FC236}">
                <a16:creationId xmlns:a16="http://schemas.microsoft.com/office/drawing/2014/main" id="{CE7DB4B0-D2B6-1BD3-C7B8-5AD0D7A0D35B}"/>
              </a:ext>
            </a:extLst>
          </p:cNvPr>
          <p:cNvSpPr>
            <a:spLocks noChangeShapeType="1"/>
          </p:cNvSpPr>
          <p:nvPr/>
        </p:nvSpPr>
        <p:spPr bwMode="auto">
          <a:xfrm>
            <a:off x="4205288" y="2124076"/>
            <a:ext cx="0" cy="2755900"/>
          </a:xfrm>
          <a:prstGeom prst="line">
            <a:avLst/>
          </a:prstGeom>
          <a:noFill/>
          <a:ln w="12700" cap="flat">
            <a:solidFill>
              <a:srgbClr val="5B9BD5"/>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33" name="Line 64">
            <a:extLst>
              <a:ext uri="{FF2B5EF4-FFF2-40B4-BE49-F238E27FC236}">
                <a16:creationId xmlns:a16="http://schemas.microsoft.com/office/drawing/2014/main" id="{49942C89-17F3-ED6F-2EF9-843C0605D131}"/>
              </a:ext>
            </a:extLst>
          </p:cNvPr>
          <p:cNvSpPr>
            <a:spLocks noChangeShapeType="1"/>
          </p:cNvSpPr>
          <p:nvPr/>
        </p:nvSpPr>
        <p:spPr bwMode="auto">
          <a:xfrm>
            <a:off x="4778376" y="1362076"/>
            <a:ext cx="0" cy="3517900"/>
          </a:xfrm>
          <a:prstGeom prst="line">
            <a:avLst/>
          </a:prstGeom>
          <a:noFill/>
          <a:ln w="12700" cap="flat">
            <a:solidFill>
              <a:srgbClr val="5B9BD5"/>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34" name="Line 65">
            <a:extLst>
              <a:ext uri="{FF2B5EF4-FFF2-40B4-BE49-F238E27FC236}">
                <a16:creationId xmlns:a16="http://schemas.microsoft.com/office/drawing/2014/main" id="{47288FA0-94EF-2A1B-CA04-2BED7F868DA1}"/>
              </a:ext>
            </a:extLst>
          </p:cNvPr>
          <p:cNvSpPr>
            <a:spLocks noChangeShapeType="1"/>
          </p:cNvSpPr>
          <p:nvPr/>
        </p:nvSpPr>
        <p:spPr bwMode="auto">
          <a:xfrm>
            <a:off x="5349876" y="2124076"/>
            <a:ext cx="0" cy="2755900"/>
          </a:xfrm>
          <a:prstGeom prst="line">
            <a:avLst/>
          </a:prstGeom>
          <a:noFill/>
          <a:ln w="12700" cap="flat">
            <a:solidFill>
              <a:srgbClr val="5B9BD5"/>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35" name="Line 66">
            <a:extLst>
              <a:ext uri="{FF2B5EF4-FFF2-40B4-BE49-F238E27FC236}">
                <a16:creationId xmlns:a16="http://schemas.microsoft.com/office/drawing/2014/main" id="{DBC706D6-F733-D5C5-3677-2666F34603FF}"/>
              </a:ext>
            </a:extLst>
          </p:cNvPr>
          <p:cNvSpPr>
            <a:spLocks noChangeShapeType="1"/>
          </p:cNvSpPr>
          <p:nvPr/>
        </p:nvSpPr>
        <p:spPr bwMode="auto">
          <a:xfrm>
            <a:off x="5922963" y="2124076"/>
            <a:ext cx="0" cy="2755900"/>
          </a:xfrm>
          <a:prstGeom prst="line">
            <a:avLst/>
          </a:prstGeom>
          <a:noFill/>
          <a:ln w="12700" cap="flat">
            <a:solidFill>
              <a:srgbClr val="5B9BD5"/>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36" name="Line 67">
            <a:extLst>
              <a:ext uri="{FF2B5EF4-FFF2-40B4-BE49-F238E27FC236}">
                <a16:creationId xmlns:a16="http://schemas.microsoft.com/office/drawing/2014/main" id="{CDC22BA6-68D1-A0E5-562C-62E7AE4C661A}"/>
              </a:ext>
            </a:extLst>
          </p:cNvPr>
          <p:cNvSpPr>
            <a:spLocks noChangeShapeType="1"/>
          </p:cNvSpPr>
          <p:nvPr/>
        </p:nvSpPr>
        <p:spPr bwMode="auto">
          <a:xfrm>
            <a:off x="6496051" y="1362076"/>
            <a:ext cx="0" cy="3517900"/>
          </a:xfrm>
          <a:prstGeom prst="line">
            <a:avLst/>
          </a:prstGeom>
          <a:noFill/>
          <a:ln w="12700" cap="flat">
            <a:solidFill>
              <a:srgbClr val="5B9BD5"/>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37" name="Line 68">
            <a:extLst>
              <a:ext uri="{FF2B5EF4-FFF2-40B4-BE49-F238E27FC236}">
                <a16:creationId xmlns:a16="http://schemas.microsoft.com/office/drawing/2014/main" id="{35AFBD5A-87A0-8663-5EEA-61D1C8F1FA5D}"/>
              </a:ext>
            </a:extLst>
          </p:cNvPr>
          <p:cNvSpPr>
            <a:spLocks noChangeShapeType="1"/>
          </p:cNvSpPr>
          <p:nvPr/>
        </p:nvSpPr>
        <p:spPr bwMode="auto">
          <a:xfrm>
            <a:off x="7067551" y="2124076"/>
            <a:ext cx="0" cy="2755900"/>
          </a:xfrm>
          <a:prstGeom prst="line">
            <a:avLst/>
          </a:prstGeom>
          <a:noFill/>
          <a:ln w="12700" cap="flat">
            <a:solidFill>
              <a:srgbClr val="5B9BD5"/>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38" name="Line 69">
            <a:extLst>
              <a:ext uri="{FF2B5EF4-FFF2-40B4-BE49-F238E27FC236}">
                <a16:creationId xmlns:a16="http://schemas.microsoft.com/office/drawing/2014/main" id="{DA2DFB2D-2BC1-6A3C-0883-8D1F13211574}"/>
              </a:ext>
            </a:extLst>
          </p:cNvPr>
          <p:cNvSpPr>
            <a:spLocks noChangeShapeType="1"/>
          </p:cNvSpPr>
          <p:nvPr/>
        </p:nvSpPr>
        <p:spPr bwMode="auto">
          <a:xfrm>
            <a:off x="7640638" y="2124076"/>
            <a:ext cx="0" cy="2755900"/>
          </a:xfrm>
          <a:prstGeom prst="line">
            <a:avLst/>
          </a:prstGeom>
          <a:noFill/>
          <a:ln w="12700" cap="flat">
            <a:solidFill>
              <a:srgbClr val="5B9BD5"/>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39" name="Line 70">
            <a:extLst>
              <a:ext uri="{FF2B5EF4-FFF2-40B4-BE49-F238E27FC236}">
                <a16:creationId xmlns:a16="http://schemas.microsoft.com/office/drawing/2014/main" id="{08B1D1AC-A3F2-B909-DBDF-9F9AEA673E08}"/>
              </a:ext>
            </a:extLst>
          </p:cNvPr>
          <p:cNvSpPr>
            <a:spLocks noChangeShapeType="1"/>
          </p:cNvSpPr>
          <p:nvPr/>
        </p:nvSpPr>
        <p:spPr bwMode="auto">
          <a:xfrm>
            <a:off x="8294688" y="1362076"/>
            <a:ext cx="0" cy="3517900"/>
          </a:xfrm>
          <a:prstGeom prst="line">
            <a:avLst/>
          </a:prstGeom>
          <a:noFill/>
          <a:ln w="12700" cap="flat">
            <a:solidFill>
              <a:srgbClr val="5B9BD5"/>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40" name="Line 71">
            <a:extLst>
              <a:ext uri="{FF2B5EF4-FFF2-40B4-BE49-F238E27FC236}">
                <a16:creationId xmlns:a16="http://schemas.microsoft.com/office/drawing/2014/main" id="{8FB1CFBE-AE7D-9553-775B-32A29E70F98D}"/>
              </a:ext>
            </a:extLst>
          </p:cNvPr>
          <p:cNvSpPr>
            <a:spLocks noChangeShapeType="1"/>
          </p:cNvSpPr>
          <p:nvPr/>
        </p:nvSpPr>
        <p:spPr bwMode="auto">
          <a:xfrm>
            <a:off x="8948738" y="2124076"/>
            <a:ext cx="0" cy="2755900"/>
          </a:xfrm>
          <a:prstGeom prst="line">
            <a:avLst/>
          </a:prstGeom>
          <a:noFill/>
          <a:ln w="12700" cap="flat">
            <a:solidFill>
              <a:srgbClr val="5B9BD5"/>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41" name="Line 72">
            <a:extLst>
              <a:ext uri="{FF2B5EF4-FFF2-40B4-BE49-F238E27FC236}">
                <a16:creationId xmlns:a16="http://schemas.microsoft.com/office/drawing/2014/main" id="{2069B75A-A5D5-6C4C-2F6E-4F0C1ABB1FA8}"/>
              </a:ext>
            </a:extLst>
          </p:cNvPr>
          <p:cNvSpPr>
            <a:spLocks noChangeShapeType="1"/>
          </p:cNvSpPr>
          <p:nvPr/>
        </p:nvSpPr>
        <p:spPr bwMode="auto">
          <a:xfrm>
            <a:off x="9521826" y="2124076"/>
            <a:ext cx="0" cy="2755900"/>
          </a:xfrm>
          <a:prstGeom prst="line">
            <a:avLst/>
          </a:prstGeom>
          <a:noFill/>
          <a:ln w="12700" cap="flat">
            <a:solidFill>
              <a:srgbClr val="5B9BD5"/>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42" name="Line 73">
            <a:extLst>
              <a:ext uri="{FF2B5EF4-FFF2-40B4-BE49-F238E27FC236}">
                <a16:creationId xmlns:a16="http://schemas.microsoft.com/office/drawing/2014/main" id="{C3DA751C-F7CC-9424-3B52-DEE74642944C}"/>
              </a:ext>
            </a:extLst>
          </p:cNvPr>
          <p:cNvSpPr>
            <a:spLocks noChangeShapeType="1"/>
          </p:cNvSpPr>
          <p:nvPr/>
        </p:nvSpPr>
        <p:spPr bwMode="auto">
          <a:xfrm>
            <a:off x="3165476" y="2130426"/>
            <a:ext cx="6935788" cy="0"/>
          </a:xfrm>
          <a:prstGeom prst="line">
            <a:avLst/>
          </a:prstGeom>
          <a:noFill/>
          <a:ln w="12700" cap="flat">
            <a:solidFill>
              <a:srgbClr val="5B9BD5"/>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43" name="Line 74">
            <a:extLst>
              <a:ext uri="{FF2B5EF4-FFF2-40B4-BE49-F238E27FC236}">
                <a16:creationId xmlns:a16="http://schemas.microsoft.com/office/drawing/2014/main" id="{B1914FF7-8A9A-12E3-DE82-939CDC9DC2CE}"/>
              </a:ext>
            </a:extLst>
          </p:cNvPr>
          <p:cNvSpPr>
            <a:spLocks noChangeShapeType="1"/>
          </p:cNvSpPr>
          <p:nvPr/>
        </p:nvSpPr>
        <p:spPr bwMode="auto">
          <a:xfrm>
            <a:off x="2085976" y="2816226"/>
            <a:ext cx="8015288" cy="0"/>
          </a:xfrm>
          <a:prstGeom prst="line">
            <a:avLst/>
          </a:prstGeom>
          <a:noFill/>
          <a:ln w="12700" cap="flat">
            <a:solidFill>
              <a:srgbClr val="5B9BD5"/>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44" name="Line 75">
            <a:extLst>
              <a:ext uri="{FF2B5EF4-FFF2-40B4-BE49-F238E27FC236}">
                <a16:creationId xmlns:a16="http://schemas.microsoft.com/office/drawing/2014/main" id="{1065191B-071F-99EB-31B1-2B632FBCE3E4}"/>
              </a:ext>
            </a:extLst>
          </p:cNvPr>
          <p:cNvSpPr>
            <a:spLocks noChangeShapeType="1"/>
          </p:cNvSpPr>
          <p:nvPr/>
        </p:nvSpPr>
        <p:spPr bwMode="auto">
          <a:xfrm>
            <a:off x="2085976" y="3502026"/>
            <a:ext cx="8015288" cy="0"/>
          </a:xfrm>
          <a:prstGeom prst="line">
            <a:avLst/>
          </a:prstGeom>
          <a:noFill/>
          <a:ln w="12700" cap="flat">
            <a:solidFill>
              <a:srgbClr val="5B9BD5"/>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45" name="Line 76">
            <a:extLst>
              <a:ext uri="{FF2B5EF4-FFF2-40B4-BE49-F238E27FC236}">
                <a16:creationId xmlns:a16="http://schemas.microsoft.com/office/drawing/2014/main" id="{2AB16A4D-7004-C4BD-B2F7-1645286B4D04}"/>
              </a:ext>
            </a:extLst>
          </p:cNvPr>
          <p:cNvSpPr>
            <a:spLocks noChangeShapeType="1"/>
          </p:cNvSpPr>
          <p:nvPr/>
        </p:nvSpPr>
        <p:spPr bwMode="auto">
          <a:xfrm>
            <a:off x="2085976" y="4187826"/>
            <a:ext cx="8015288" cy="0"/>
          </a:xfrm>
          <a:prstGeom prst="line">
            <a:avLst/>
          </a:prstGeom>
          <a:noFill/>
          <a:ln w="12700" cap="flat">
            <a:solidFill>
              <a:srgbClr val="5B9BD5"/>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46" name="Line 77">
            <a:extLst>
              <a:ext uri="{FF2B5EF4-FFF2-40B4-BE49-F238E27FC236}">
                <a16:creationId xmlns:a16="http://schemas.microsoft.com/office/drawing/2014/main" id="{BF5CAECE-1D2E-385A-061E-1506D1D12C96}"/>
              </a:ext>
            </a:extLst>
          </p:cNvPr>
          <p:cNvSpPr>
            <a:spLocks noChangeShapeType="1"/>
          </p:cNvSpPr>
          <p:nvPr/>
        </p:nvSpPr>
        <p:spPr bwMode="auto">
          <a:xfrm>
            <a:off x="2092326" y="1362076"/>
            <a:ext cx="0" cy="3517900"/>
          </a:xfrm>
          <a:prstGeom prst="line">
            <a:avLst/>
          </a:prstGeom>
          <a:noFill/>
          <a:ln w="12700" cap="flat">
            <a:solidFill>
              <a:srgbClr val="5B9BD5"/>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47" name="Line 78">
            <a:extLst>
              <a:ext uri="{FF2B5EF4-FFF2-40B4-BE49-F238E27FC236}">
                <a16:creationId xmlns:a16="http://schemas.microsoft.com/office/drawing/2014/main" id="{301EC406-55B3-8DEE-C0BC-6F6C60A6649A}"/>
              </a:ext>
            </a:extLst>
          </p:cNvPr>
          <p:cNvSpPr>
            <a:spLocks noChangeShapeType="1"/>
          </p:cNvSpPr>
          <p:nvPr/>
        </p:nvSpPr>
        <p:spPr bwMode="auto">
          <a:xfrm>
            <a:off x="10094913" y="1362076"/>
            <a:ext cx="0" cy="3517900"/>
          </a:xfrm>
          <a:prstGeom prst="line">
            <a:avLst/>
          </a:prstGeom>
          <a:noFill/>
          <a:ln w="12700" cap="flat">
            <a:solidFill>
              <a:srgbClr val="5B9BD5"/>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48" name="Line 79">
            <a:extLst>
              <a:ext uri="{FF2B5EF4-FFF2-40B4-BE49-F238E27FC236}">
                <a16:creationId xmlns:a16="http://schemas.microsoft.com/office/drawing/2014/main" id="{58335553-B23D-8F0F-AA16-5D1B1E10530C}"/>
              </a:ext>
            </a:extLst>
          </p:cNvPr>
          <p:cNvSpPr>
            <a:spLocks noChangeShapeType="1"/>
          </p:cNvSpPr>
          <p:nvPr/>
        </p:nvSpPr>
        <p:spPr bwMode="auto">
          <a:xfrm>
            <a:off x="2085976" y="1368426"/>
            <a:ext cx="8015288" cy="0"/>
          </a:xfrm>
          <a:prstGeom prst="line">
            <a:avLst/>
          </a:prstGeom>
          <a:noFill/>
          <a:ln w="12700" cap="flat">
            <a:solidFill>
              <a:srgbClr val="5B9BD5"/>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49" name="Line 80">
            <a:extLst>
              <a:ext uri="{FF2B5EF4-FFF2-40B4-BE49-F238E27FC236}">
                <a16:creationId xmlns:a16="http://schemas.microsoft.com/office/drawing/2014/main" id="{C21813FD-AABE-FF66-41EC-9E243CF60CD2}"/>
              </a:ext>
            </a:extLst>
          </p:cNvPr>
          <p:cNvSpPr>
            <a:spLocks noChangeShapeType="1"/>
          </p:cNvSpPr>
          <p:nvPr/>
        </p:nvSpPr>
        <p:spPr bwMode="auto">
          <a:xfrm>
            <a:off x="2085976" y="4873626"/>
            <a:ext cx="8015288" cy="0"/>
          </a:xfrm>
          <a:prstGeom prst="line">
            <a:avLst/>
          </a:prstGeom>
          <a:noFill/>
          <a:ln w="12700" cap="flat">
            <a:solidFill>
              <a:srgbClr val="5B9BD5"/>
            </a:solidFill>
            <a:prstDash val="solid"/>
            <a:round/>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50" name="Rectangle 81">
            <a:extLst>
              <a:ext uri="{FF2B5EF4-FFF2-40B4-BE49-F238E27FC236}">
                <a16:creationId xmlns:a16="http://schemas.microsoft.com/office/drawing/2014/main" id="{84CBF039-3FD1-35D0-6240-D6322A70A2CE}"/>
              </a:ext>
            </a:extLst>
          </p:cNvPr>
          <p:cNvSpPr>
            <a:spLocks noChangeArrowheads="1"/>
          </p:cNvSpPr>
          <p:nvPr/>
        </p:nvSpPr>
        <p:spPr bwMode="auto">
          <a:xfrm>
            <a:off x="2263776" y="2008188"/>
            <a:ext cx="833438"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000000"/>
                </a:solidFill>
                <a:effectLst/>
                <a:latin typeface="Calibri" panose="020F0502020204030204" pitchFamily="34" charset="0"/>
              </a:rPr>
              <a:t>Attack Type</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51" name="Rectangle 82">
            <a:extLst>
              <a:ext uri="{FF2B5EF4-FFF2-40B4-BE49-F238E27FC236}">
                <a16:creationId xmlns:a16="http://schemas.microsoft.com/office/drawing/2014/main" id="{91D5FB2C-D066-06A9-CEB7-882B0F121309}"/>
              </a:ext>
            </a:extLst>
          </p:cNvPr>
          <p:cNvSpPr>
            <a:spLocks noChangeArrowheads="1"/>
          </p:cNvSpPr>
          <p:nvPr/>
        </p:nvSpPr>
        <p:spPr bwMode="auto">
          <a:xfrm>
            <a:off x="3689351" y="1560513"/>
            <a:ext cx="692150"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000000"/>
                </a:solidFill>
                <a:effectLst/>
                <a:latin typeface="Calibri" panose="020F0502020204030204" pitchFamily="34" charset="0"/>
              </a:rPr>
              <a:t>Standard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52" name="Rectangle 83">
            <a:extLst>
              <a:ext uri="{FF2B5EF4-FFF2-40B4-BE49-F238E27FC236}">
                <a16:creationId xmlns:a16="http://schemas.microsoft.com/office/drawing/2014/main" id="{0294735B-CAFA-922A-6697-F2B58373F758}"/>
              </a:ext>
            </a:extLst>
          </p:cNvPr>
          <p:cNvSpPr>
            <a:spLocks noChangeArrowheads="1"/>
          </p:cNvSpPr>
          <p:nvPr/>
        </p:nvSpPr>
        <p:spPr bwMode="auto">
          <a:xfrm>
            <a:off x="3641726" y="1768476"/>
            <a:ext cx="752475"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000000"/>
                </a:solidFill>
                <a:effectLst/>
                <a:latin typeface="Calibri" panose="020F0502020204030204" pitchFamily="34" charset="0"/>
              </a:rPr>
              <a:t>SECS/GEM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53" name="Rectangle 84">
            <a:extLst>
              <a:ext uri="{FF2B5EF4-FFF2-40B4-BE49-F238E27FC236}">
                <a16:creationId xmlns:a16="http://schemas.microsoft.com/office/drawing/2014/main" id="{F2120F03-5CD5-DE71-83F5-1C0452F955B0}"/>
              </a:ext>
            </a:extLst>
          </p:cNvPr>
          <p:cNvSpPr>
            <a:spLocks noChangeArrowheads="1"/>
          </p:cNvSpPr>
          <p:nvPr/>
        </p:nvSpPr>
        <p:spPr bwMode="auto">
          <a:xfrm>
            <a:off x="5202238" y="1665288"/>
            <a:ext cx="950913"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000000"/>
                </a:solidFill>
                <a:effectLst/>
                <a:latin typeface="Calibri" panose="020F0502020204030204" pitchFamily="34" charset="0"/>
              </a:rPr>
              <a:t>SECS/GEMsec</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54" name="Rectangle 85">
            <a:extLst>
              <a:ext uri="{FF2B5EF4-FFF2-40B4-BE49-F238E27FC236}">
                <a16:creationId xmlns:a16="http://schemas.microsoft.com/office/drawing/2014/main" id="{CD7E1AFC-8847-C500-BF62-93EF6559B045}"/>
              </a:ext>
            </a:extLst>
          </p:cNvPr>
          <p:cNvSpPr>
            <a:spLocks noChangeArrowheads="1"/>
          </p:cNvSpPr>
          <p:nvPr/>
        </p:nvSpPr>
        <p:spPr bwMode="auto">
          <a:xfrm>
            <a:off x="7143751" y="1560513"/>
            <a:ext cx="622300"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000000"/>
                </a:solidFill>
                <a:effectLst/>
                <a:latin typeface="Calibri" panose="020F0502020204030204" pitchFamily="34" charset="0"/>
              </a:rPr>
              <a:t>Secured </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55" name="Rectangle 86">
            <a:extLst>
              <a:ext uri="{FF2B5EF4-FFF2-40B4-BE49-F238E27FC236}">
                <a16:creationId xmlns:a16="http://schemas.microsoft.com/office/drawing/2014/main" id="{DB3FA1DC-591C-117D-9948-4E6A77535780}"/>
              </a:ext>
            </a:extLst>
          </p:cNvPr>
          <p:cNvSpPr>
            <a:spLocks noChangeArrowheads="1"/>
          </p:cNvSpPr>
          <p:nvPr/>
        </p:nvSpPr>
        <p:spPr bwMode="auto">
          <a:xfrm>
            <a:off x="7062788" y="1768476"/>
            <a:ext cx="750888"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000000"/>
                </a:solidFill>
                <a:effectLst/>
                <a:latin typeface="Calibri" panose="020F0502020204030204" pitchFamily="34" charset="0"/>
              </a:rPr>
              <a:t>SECS/GEM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56" name="Rectangle 87">
            <a:extLst>
              <a:ext uri="{FF2B5EF4-FFF2-40B4-BE49-F238E27FC236}">
                <a16:creationId xmlns:a16="http://schemas.microsoft.com/office/drawing/2014/main" id="{B41873C1-E769-08AC-255C-12793C6E0E12}"/>
              </a:ext>
            </a:extLst>
          </p:cNvPr>
          <p:cNvSpPr>
            <a:spLocks noChangeArrowheads="1"/>
          </p:cNvSpPr>
          <p:nvPr/>
        </p:nvSpPr>
        <p:spPr bwMode="auto">
          <a:xfrm>
            <a:off x="9007476" y="1665288"/>
            <a:ext cx="455613"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000000"/>
                </a:solidFill>
                <a:effectLst/>
                <a:latin typeface="Calibri" panose="020F0502020204030204" pitchFamily="34" charset="0"/>
              </a:rPr>
              <a:t>SGSM</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57" name="Rectangle 88">
            <a:extLst>
              <a:ext uri="{FF2B5EF4-FFF2-40B4-BE49-F238E27FC236}">
                <a16:creationId xmlns:a16="http://schemas.microsoft.com/office/drawing/2014/main" id="{DE596771-2BEE-34F9-A31D-A7F2423C646F}"/>
              </a:ext>
            </a:extLst>
          </p:cNvPr>
          <p:cNvSpPr>
            <a:spLocks noChangeArrowheads="1"/>
          </p:cNvSpPr>
          <p:nvPr/>
        </p:nvSpPr>
        <p:spPr bwMode="auto">
          <a:xfrm>
            <a:off x="3382963" y="2389188"/>
            <a:ext cx="182563"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000000"/>
                </a:solidFill>
                <a:effectLst/>
                <a:latin typeface="Calibri" panose="020F05020202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58" name="Rectangle 89">
            <a:extLst>
              <a:ext uri="{FF2B5EF4-FFF2-40B4-BE49-F238E27FC236}">
                <a16:creationId xmlns:a16="http://schemas.microsoft.com/office/drawing/2014/main" id="{C4C23465-1CAE-082B-B14D-A053A9C120B9}"/>
              </a:ext>
            </a:extLst>
          </p:cNvPr>
          <p:cNvSpPr>
            <a:spLocks noChangeArrowheads="1"/>
          </p:cNvSpPr>
          <p:nvPr/>
        </p:nvSpPr>
        <p:spPr bwMode="auto">
          <a:xfrm>
            <a:off x="3916363" y="2389188"/>
            <a:ext cx="152400"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000000"/>
                </a:solidFill>
                <a:effectLst/>
                <a:latin typeface="Calibri" panose="020F0502020204030204" pitchFamily="34" charset="0"/>
              </a:rPr>
              <a:t>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59" name="Rectangle 90">
            <a:extLst>
              <a:ext uri="{FF2B5EF4-FFF2-40B4-BE49-F238E27FC236}">
                <a16:creationId xmlns:a16="http://schemas.microsoft.com/office/drawing/2014/main" id="{59FB8130-BAC2-68A7-CC69-BEA7BC63CAFF}"/>
              </a:ext>
            </a:extLst>
          </p:cNvPr>
          <p:cNvSpPr>
            <a:spLocks noChangeArrowheads="1"/>
          </p:cNvSpPr>
          <p:nvPr/>
        </p:nvSpPr>
        <p:spPr bwMode="auto">
          <a:xfrm>
            <a:off x="4325938" y="2389188"/>
            <a:ext cx="414338"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000000"/>
                </a:solidFill>
                <a:effectLst/>
                <a:latin typeface="Calibri" panose="020F0502020204030204" pitchFamily="34" charset="0"/>
              </a:rPr>
              <a:t>APSR</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60" name="Rectangle 91">
            <a:extLst>
              <a:ext uri="{FF2B5EF4-FFF2-40B4-BE49-F238E27FC236}">
                <a16:creationId xmlns:a16="http://schemas.microsoft.com/office/drawing/2014/main" id="{868CD327-98D0-3196-7DCC-7F9EDC855290}"/>
              </a:ext>
            </a:extLst>
          </p:cNvPr>
          <p:cNvSpPr>
            <a:spLocks noChangeArrowheads="1"/>
          </p:cNvSpPr>
          <p:nvPr/>
        </p:nvSpPr>
        <p:spPr bwMode="auto">
          <a:xfrm>
            <a:off x="5013326" y="2389188"/>
            <a:ext cx="182563"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000000"/>
                </a:solidFill>
                <a:effectLst/>
                <a:latin typeface="Calibri" panose="020F05020202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61" name="Rectangle 92">
            <a:extLst>
              <a:ext uri="{FF2B5EF4-FFF2-40B4-BE49-F238E27FC236}">
                <a16:creationId xmlns:a16="http://schemas.microsoft.com/office/drawing/2014/main" id="{5CEDCB8C-B997-3900-EC24-E974CAF10665}"/>
              </a:ext>
            </a:extLst>
          </p:cNvPr>
          <p:cNvSpPr>
            <a:spLocks noChangeArrowheads="1"/>
          </p:cNvSpPr>
          <p:nvPr/>
        </p:nvSpPr>
        <p:spPr bwMode="auto">
          <a:xfrm>
            <a:off x="5600701" y="2389188"/>
            <a:ext cx="152400"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000000"/>
                </a:solidFill>
                <a:effectLst/>
                <a:latin typeface="Calibri" panose="020F0502020204030204" pitchFamily="34" charset="0"/>
              </a:rPr>
              <a:t>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62" name="Rectangle 93">
            <a:extLst>
              <a:ext uri="{FF2B5EF4-FFF2-40B4-BE49-F238E27FC236}">
                <a16:creationId xmlns:a16="http://schemas.microsoft.com/office/drawing/2014/main" id="{58087F2C-16C5-A5FD-F1D1-6D6F9942DB53}"/>
              </a:ext>
            </a:extLst>
          </p:cNvPr>
          <p:cNvSpPr>
            <a:spLocks noChangeArrowheads="1"/>
          </p:cNvSpPr>
          <p:nvPr/>
        </p:nvSpPr>
        <p:spPr bwMode="auto">
          <a:xfrm>
            <a:off x="6043613" y="2389188"/>
            <a:ext cx="414338"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000000"/>
                </a:solidFill>
                <a:effectLst/>
                <a:latin typeface="Calibri" panose="020F0502020204030204" pitchFamily="34" charset="0"/>
              </a:rPr>
              <a:t>APSR</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63" name="Rectangle 94">
            <a:extLst>
              <a:ext uri="{FF2B5EF4-FFF2-40B4-BE49-F238E27FC236}">
                <a16:creationId xmlns:a16="http://schemas.microsoft.com/office/drawing/2014/main" id="{80104746-8DB7-8311-695B-C304231E9B43}"/>
              </a:ext>
            </a:extLst>
          </p:cNvPr>
          <p:cNvSpPr>
            <a:spLocks noChangeArrowheads="1"/>
          </p:cNvSpPr>
          <p:nvPr/>
        </p:nvSpPr>
        <p:spPr bwMode="auto">
          <a:xfrm>
            <a:off x="6731001" y="2389188"/>
            <a:ext cx="182563"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000000"/>
                </a:solidFill>
                <a:effectLst/>
                <a:latin typeface="Calibri" panose="020F0502020204030204" pitchFamily="34" charset="0"/>
              </a:rPr>
              <a:t>N</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64" name="Rectangle 95">
            <a:extLst>
              <a:ext uri="{FF2B5EF4-FFF2-40B4-BE49-F238E27FC236}">
                <a16:creationId xmlns:a16="http://schemas.microsoft.com/office/drawing/2014/main" id="{9B29C520-F993-6C79-5DE3-F2A2834375EC}"/>
              </a:ext>
            </a:extLst>
          </p:cNvPr>
          <p:cNvSpPr>
            <a:spLocks noChangeArrowheads="1"/>
          </p:cNvSpPr>
          <p:nvPr/>
        </p:nvSpPr>
        <p:spPr bwMode="auto">
          <a:xfrm>
            <a:off x="7318376" y="2389188"/>
            <a:ext cx="152400"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000000"/>
                </a:solidFill>
                <a:effectLst/>
                <a:latin typeface="Calibri" panose="020F0502020204030204" pitchFamily="34" charset="0"/>
              </a:rPr>
              <a:t>F</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65" name="Rectangle 96">
            <a:extLst>
              <a:ext uri="{FF2B5EF4-FFF2-40B4-BE49-F238E27FC236}">
                <a16:creationId xmlns:a16="http://schemas.microsoft.com/office/drawing/2014/main" id="{597739E1-56BE-7CCC-922B-2DE840DC67A2}"/>
              </a:ext>
            </a:extLst>
          </p:cNvPr>
          <p:cNvSpPr>
            <a:spLocks noChangeArrowheads="1"/>
          </p:cNvSpPr>
          <p:nvPr/>
        </p:nvSpPr>
        <p:spPr bwMode="auto">
          <a:xfrm>
            <a:off x="7804151" y="2389188"/>
            <a:ext cx="412750"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000000"/>
                </a:solidFill>
                <a:effectLst/>
                <a:latin typeface="Calibri" panose="020F0502020204030204" pitchFamily="34" charset="0"/>
              </a:rPr>
              <a:t>APSR</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66" name="Rectangle 97">
            <a:extLst>
              <a:ext uri="{FF2B5EF4-FFF2-40B4-BE49-F238E27FC236}">
                <a16:creationId xmlns:a16="http://schemas.microsoft.com/office/drawing/2014/main" id="{E34A1447-29EA-ABEC-B340-8AF6902FBA3C}"/>
              </a:ext>
            </a:extLst>
          </p:cNvPr>
          <p:cNvSpPr>
            <a:spLocks noChangeArrowheads="1"/>
          </p:cNvSpPr>
          <p:nvPr/>
        </p:nvSpPr>
        <p:spPr bwMode="auto">
          <a:xfrm>
            <a:off x="8572501" y="2389188"/>
            <a:ext cx="182563"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000000"/>
                </a:solidFill>
                <a:effectLst/>
                <a:latin typeface="Calibri" panose="020F0502020204030204" pitchFamily="34" charset="0"/>
              </a:rPr>
              <a:t>N</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67" name="Rectangle 98">
            <a:extLst>
              <a:ext uri="{FF2B5EF4-FFF2-40B4-BE49-F238E27FC236}">
                <a16:creationId xmlns:a16="http://schemas.microsoft.com/office/drawing/2014/main" id="{1C29D4CD-BF59-A47A-D0F7-18E37A386E58}"/>
              </a:ext>
            </a:extLst>
          </p:cNvPr>
          <p:cNvSpPr>
            <a:spLocks noChangeArrowheads="1"/>
          </p:cNvSpPr>
          <p:nvPr/>
        </p:nvSpPr>
        <p:spPr bwMode="auto">
          <a:xfrm>
            <a:off x="9199563" y="2389188"/>
            <a:ext cx="152400"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000000"/>
                </a:solidFill>
                <a:effectLst/>
                <a:latin typeface="Calibri" panose="020F0502020204030204" pitchFamily="34" charset="0"/>
              </a:rPr>
              <a:t>F</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68" name="Rectangle 99">
            <a:extLst>
              <a:ext uri="{FF2B5EF4-FFF2-40B4-BE49-F238E27FC236}">
                <a16:creationId xmlns:a16="http://schemas.microsoft.com/office/drawing/2014/main" id="{D856B519-D9F9-EE92-3822-28B26A57EE08}"/>
              </a:ext>
            </a:extLst>
          </p:cNvPr>
          <p:cNvSpPr>
            <a:spLocks noChangeArrowheads="1"/>
          </p:cNvSpPr>
          <p:nvPr/>
        </p:nvSpPr>
        <p:spPr bwMode="auto">
          <a:xfrm>
            <a:off x="9642476" y="2389188"/>
            <a:ext cx="412750"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000000"/>
                </a:solidFill>
                <a:effectLst/>
                <a:latin typeface="Calibri" panose="020F0502020204030204" pitchFamily="34" charset="0"/>
              </a:rPr>
              <a:t>APSR</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69" name="Rectangle 100">
            <a:extLst>
              <a:ext uri="{FF2B5EF4-FFF2-40B4-BE49-F238E27FC236}">
                <a16:creationId xmlns:a16="http://schemas.microsoft.com/office/drawing/2014/main" id="{92C48932-CAAC-66F8-DB12-CF84F03CF5C8}"/>
              </a:ext>
            </a:extLst>
          </p:cNvPr>
          <p:cNvSpPr>
            <a:spLocks noChangeArrowheads="1"/>
          </p:cNvSpPr>
          <p:nvPr/>
        </p:nvSpPr>
        <p:spPr bwMode="auto">
          <a:xfrm>
            <a:off x="2508251" y="3073401"/>
            <a:ext cx="333375"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rgbClr val="000000"/>
                </a:solidFill>
                <a:effectLst/>
                <a:latin typeface="Calibri" panose="020F0502020204030204" pitchFamily="34" charset="0"/>
              </a:rPr>
              <a:t>DoS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70" name="Rectangle 101">
            <a:extLst>
              <a:ext uri="{FF2B5EF4-FFF2-40B4-BE49-F238E27FC236}">
                <a16:creationId xmlns:a16="http://schemas.microsoft.com/office/drawing/2014/main" id="{53574702-9F68-A3E5-A0E4-FF999F2184FC}"/>
              </a:ext>
            </a:extLst>
          </p:cNvPr>
          <p:cNvSpPr>
            <a:spLocks noChangeArrowheads="1"/>
          </p:cNvSpPr>
          <p:nvPr/>
        </p:nvSpPr>
        <p:spPr bwMode="auto">
          <a:xfrm>
            <a:off x="3355976" y="3073401"/>
            <a:ext cx="234950"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Calibri" panose="020F0502020204030204" pitchFamily="34" charset="0"/>
              </a:rPr>
              <a:t>20</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71" name="Rectangle 102">
            <a:extLst>
              <a:ext uri="{FF2B5EF4-FFF2-40B4-BE49-F238E27FC236}">
                <a16:creationId xmlns:a16="http://schemas.microsoft.com/office/drawing/2014/main" id="{6BC92F4B-022C-CB67-C393-4106A92921FB}"/>
              </a:ext>
            </a:extLst>
          </p:cNvPr>
          <p:cNvSpPr>
            <a:spLocks noChangeArrowheads="1"/>
          </p:cNvSpPr>
          <p:nvPr/>
        </p:nvSpPr>
        <p:spPr bwMode="auto">
          <a:xfrm>
            <a:off x="3873501" y="3073401"/>
            <a:ext cx="234950"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alibri" panose="020F0502020204030204" pitchFamily="34" charset="0"/>
              </a:rPr>
              <a:t>20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72" name="Rectangle 103">
            <a:extLst>
              <a:ext uri="{FF2B5EF4-FFF2-40B4-BE49-F238E27FC236}">
                <a16:creationId xmlns:a16="http://schemas.microsoft.com/office/drawing/2014/main" id="{9CA24996-CD4E-7EA1-B1F4-2994152FB551}"/>
              </a:ext>
            </a:extLst>
          </p:cNvPr>
          <p:cNvSpPr>
            <a:spLocks noChangeArrowheads="1"/>
          </p:cNvSpPr>
          <p:nvPr/>
        </p:nvSpPr>
        <p:spPr bwMode="auto">
          <a:xfrm>
            <a:off x="4452938" y="3073401"/>
            <a:ext cx="157163"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alibri" panose="020F0502020204030204" pitchFamily="34" charset="0"/>
              </a:rPr>
              <a:t>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73" name="Rectangle 104">
            <a:extLst>
              <a:ext uri="{FF2B5EF4-FFF2-40B4-BE49-F238E27FC236}">
                <a16:creationId xmlns:a16="http://schemas.microsoft.com/office/drawing/2014/main" id="{81FDE54C-5B9C-75C3-F019-79B91B2DDB65}"/>
              </a:ext>
            </a:extLst>
          </p:cNvPr>
          <p:cNvSpPr>
            <a:spLocks noChangeArrowheads="1"/>
          </p:cNvSpPr>
          <p:nvPr/>
        </p:nvSpPr>
        <p:spPr bwMode="auto">
          <a:xfrm>
            <a:off x="4986338" y="3073401"/>
            <a:ext cx="234950"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alibri" panose="020F0502020204030204" pitchFamily="34" charset="0"/>
              </a:rPr>
              <a:t>20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74" name="Rectangle 105">
            <a:extLst>
              <a:ext uri="{FF2B5EF4-FFF2-40B4-BE49-F238E27FC236}">
                <a16:creationId xmlns:a16="http://schemas.microsoft.com/office/drawing/2014/main" id="{212CF798-41E7-29A4-1EAA-37C0EF297720}"/>
              </a:ext>
            </a:extLst>
          </p:cNvPr>
          <p:cNvSpPr>
            <a:spLocks noChangeArrowheads="1"/>
          </p:cNvSpPr>
          <p:nvPr/>
        </p:nvSpPr>
        <p:spPr bwMode="auto">
          <a:xfrm>
            <a:off x="5597526" y="3073401"/>
            <a:ext cx="157163"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alibri" panose="020F0502020204030204" pitchFamily="34" charset="0"/>
              </a:rPr>
              <a:t>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75" name="Rectangle 106">
            <a:extLst>
              <a:ext uri="{FF2B5EF4-FFF2-40B4-BE49-F238E27FC236}">
                <a16:creationId xmlns:a16="http://schemas.microsoft.com/office/drawing/2014/main" id="{988A8921-33C3-EB2E-A339-08783638A0B8}"/>
              </a:ext>
            </a:extLst>
          </p:cNvPr>
          <p:cNvSpPr>
            <a:spLocks noChangeArrowheads="1"/>
          </p:cNvSpPr>
          <p:nvPr/>
        </p:nvSpPr>
        <p:spPr bwMode="auto">
          <a:xfrm>
            <a:off x="6170613" y="3073401"/>
            <a:ext cx="157163"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alibri" panose="020F0502020204030204" pitchFamily="34" charset="0"/>
              </a:rPr>
              <a:t>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76" name="Rectangle 107">
            <a:extLst>
              <a:ext uri="{FF2B5EF4-FFF2-40B4-BE49-F238E27FC236}">
                <a16:creationId xmlns:a16="http://schemas.microsoft.com/office/drawing/2014/main" id="{D3DF1759-6F64-08D6-E477-4D8544D6687E}"/>
              </a:ext>
            </a:extLst>
          </p:cNvPr>
          <p:cNvSpPr>
            <a:spLocks noChangeArrowheads="1"/>
          </p:cNvSpPr>
          <p:nvPr/>
        </p:nvSpPr>
        <p:spPr bwMode="auto">
          <a:xfrm>
            <a:off x="6704013" y="3073401"/>
            <a:ext cx="234950"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alibri" panose="020F0502020204030204" pitchFamily="34" charset="0"/>
              </a:rPr>
              <a:t>20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77" name="Rectangle 108">
            <a:extLst>
              <a:ext uri="{FF2B5EF4-FFF2-40B4-BE49-F238E27FC236}">
                <a16:creationId xmlns:a16="http://schemas.microsoft.com/office/drawing/2014/main" id="{72DC3DC8-8A81-E637-5058-525F414E2757}"/>
              </a:ext>
            </a:extLst>
          </p:cNvPr>
          <p:cNvSpPr>
            <a:spLocks noChangeArrowheads="1"/>
          </p:cNvSpPr>
          <p:nvPr/>
        </p:nvSpPr>
        <p:spPr bwMode="auto">
          <a:xfrm>
            <a:off x="7275513" y="3073401"/>
            <a:ext cx="234950"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alibri" panose="020F0502020204030204" pitchFamily="34" charset="0"/>
              </a:rPr>
              <a:t>20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78" name="Rectangle 109">
            <a:extLst>
              <a:ext uri="{FF2B5EF4-FFF2-40B4-BE49-F238E27FC236}">
                <a16:creationId xmlns:a16="http://schemas.microsoft.com/office/drawing/2014/main" id="{5F8A0C4E-E932-EA66-C74D-B27798B2AA34}"/>
              </a:ext>
            </a:extLst>
          </p:cNvPr>
          <p:cNvSpPr>
            <a:spLocks noChangeArrowheads="1"/>
          </p:cNvSpPr>
          <p:nvPr/>
        </p:nvSpPr>
        <p:spPr bwMode="auto">
          <a:xfrm>
            <a:off x="7929563" y="3073401"/>
            <a:ext cx="157163"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alibri" panose="020F0502020204030204" pitchFamily="34" charset="0"/>
              </a:rPr>
              <a:t>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79" name="Rectangle 110">
            <a:extLst>
              <a:ext uri="{FF2B5EF4-FFF2-40B4-BE49-F238E27FC236}">
                <a16:creationId xmlns:a16="http://schemas.microsoft.com/office/drawing/2014/main" id="{A83677E1-9732-7E93-C539-A6C96E4C1A61}"/>
              </a:ext>
            </a:extLst>
          </p:cNvPr>
          <p:cNvSpPr>
            <a:spLocks noChangeArrowheads="1"/>
          </p:cNvSpPr>
          <p:nvPr/>
        </p:nvSpPr>
        <p:spPr bwMode="auto">
          <a:xfrm>
            <a:off x="8543926" y="3073401"/>
            <a:ext cx="234950"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Calibri" panose="020F0502020204030204" pitchFamily="34" charset="0"/>
              </a:rPr>
              <a:t>20</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80" name="Rectangle 111">
            <a:extLst>
              <a:ext uri="{FF2B5EF4-FFF2-40B4-BE49-F238E27FC236}">
                <a16:creationId xmlns:a16="http://schemas.microsoft.com/office/drawing/2014/main" id="{903085F9-2FF3-B060-8280-64E7018BD4FB}"/>
              </a:ext>
            </a:extLst>
          </p:cNvPr>
          <p:cNvSpPr>
            <a:spLocks noChangeArrowheads="1"/>
          </p:cNvSpPr>
          <p:nvPr/>
        </p:nvSpPr>
        <p:spPr bwMode="auto">
          <a:xfrm>
            <a:off x="9196388" y="3073401"/>
            <a:ext cx="157163"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Calibri" panose="020F0502020204030204" pitchFamily="34" charset="0"/>
              </a:rPr>
              <a:t>0</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81" name="Rectangle 112">
            <a:extLst>
              <a:ext uri="{FF2B5EF4-FFF2-40B4-BE49-F238E27FC236}">
                <a16:creationId xmlns:a16="http://schemas.microsoft.com/office/drawing/2014/main" id="{FECCE653-89F6-1705-43A5-4C2834376178}"/>
              </a:ext>
            </a:extLst>
          </p:cNvPr>
          <p:cNvSpPr>
            <a:spLocks noChangeArrowheads="1"/>
          </p:cNvSpPr>
          <p:nvPr/>
        </p:nvSpPr>
        <p:spPr bwMode="auto">
          <a:xfrm>
            <a:off x="9769476" y="3073401"/>
            <a:ext cx="157163"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dirty="0">
                <a:ln>
                  <a:noFill/>
                </a:ln>
                <a:solidFill>
                  <a:srgbClr val="000000"/>
                </a:solidFill>
                <a:effectLst/>
                <a:latin typeface="Calibri" panose="020F0502020204030204" pitchFamily="34" charset="0"/>
              </a:rPr>
              <a:t>1</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082" name="Rectangle 113">
            <a:extLst>
              <a:ext uri="{FF2B5EF4-FFF2-40B4-BE49-F238E27FC236}">
                <a16:creationId xmlns:a16="http://schemas.microsoft.com/office/drawing/2014/main" id="{AA2DBC99-6010-72B8-1C57-C015B6E00FF2}"/>
              </a:ext>
            </a:extLst>
          </p:cNvPr>
          <p:cNvSpPr>
            <a:spLocks noChangeArrowheads="1"/>
          </p:cNvSpPr>
          <p:nvPr/>
        </p:nvSpPr>
        <p:spPr bwMode="auto">
          <a:xfrm>
            <a:off x="2420938" y="3759201"/>
            <a:ext cx="511175"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000000"/>
                </a:solidFill>
                <a:effectLst/>
                <a:latin typeface="Calibri" panose="020F0502020204030204" pitchFamily="34" charset="0"/>
              </a:rPr>
              <a:t>Replay</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83" name="Rectangle 114">
            <a:extLst>
              <a:ext uri="{FF2B5EF4-FFF2-40B4-BE49-F238E27FC236}">
                <a16:creationId xmlns:a16="http://schemas.microsoft.com/office/drawing/2014/main" id="{B0C8EAFE-57E0-F9A4-322D-4E0A6CBD1CDA}"/>
              </a:ext>
            </a:extLst>
          </p:cNvPr>
          <p:cNvSpPr>
            <a:spLocks noChangeArrowheads="1"/>
          </p:cNvSpPr>
          <p:nvPr/>
        </p:nvSpPr>
        <p:spPr bwMode="auto">
          <a:xfrm>
            <a:off x="3355976" y="3759201"/>
            <a:ext cx="2349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alibri" panose="020F0502020204030204" pitchFamily="34" charset="0"/>
              </a:rPr>
              <a:t>20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84" name="Rectangle 115">
            <a:extLst>
              <a:ext uri="{FF2B5EF4-FFF2-40B4-BE49-F238E27FC236}">
                <a16:creationId xmlns:a16="http://schemas.microsoft.com/office/drawing/2014/main" id="{575830AF-958A-1CB2-D47F-61E93A640DDF}"/>
              </a:ext>
            </a:extLst>
          </p:cNvPr>
          <p:cNvSpPr>
            <a:spLocks noChangeArrowheads="1"/>
          </p:cNvSpPr>
          <p:nvPr/>
        </p:nvSpPr>
        <p:spPr bwMode="auto">
          <a:xfrm>
            <a:off x="3873501" y="3759201"/>
            <a:ext cx="2349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alibri" panose="020F0502020204030204" pitchFamily="34" charset="0"/>
              </a:rPr>
              <a:t>20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85" name="Rectangle 116">
            <a:extLst>
              <a:ext uri="{FF2B5EF4-FFF2-40B4-BE49-F238E27FC236}">
                <a16:creationId xmlns:a16="http://schemas.microsoft.com/office/drawing/2014/main" id="{B649AE29-D384-99B7-9060-35857FDBBFB7}"/>
              </a:ext>
            </a:extLst>
          </p:cNvPr>
          <p:cNvSpPr>
            <a:spLocks noChangeArrowheads="1"/>
          </p:cNvSpPr>
          <p:nvPr/>
        </p:nvSpPr>
        <p:spPr bwMode="auto">
          <a:xfrm>
            <a:off x="4452938" y="3759201"/>
            <a:ext cx="1571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alibri" panose="020F0502020204030204" pitchFamily="34" charset="0"/>
              </a:rPr>
              <a:t>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86" name="Rectangle 117">
            <a:extLst>
              <a:ext uri="{FF2B5EF4-FFF2-40B4-BE49-F238E27FC236}">
                <a16:creationId xmlns:a16="http://schemas.microsoft.com/office/drawing/2014/main" id="{FCE4487F-E59B-0A66-27F0-0A48A170E68E}"/>
              </a:ext>
            </a:extLst>
          </p:cNvPr>
          <p:cNvSpPr>
            <a:spLocks noChangeArrowheads="1"/>
          </p:cNvSpPr>
          <p:nvPr/>
        </p:nvSpPr>
        <p:spPr bwMode="auto">
          <a:xfrm>
            <a:off x="4986338" y="3759201"/>
            <a:ext cx="2349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alibri" panose="020F0502020204030204" pitchFamily="34" charset="0"/>
              </a:rPr>
              <a:t>20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87" name="Rectangle 118">
            <a:extLst>
              <a:ext uri="{FF2B5EF4-FFF2-40B4-BE49-F238E27FC236}">
                <a16:creationId xmlns:a16="http://schemas.microsoft.com/office/drawing/2014/main" id="{3629398E-9E9C-828A-CE97-D48A4C801880}"/>
              </a:ext>
            </a:extLst>
          </p:cNvPr>
          <p:cNvSpPr>
            <a:spLocks noChangeArrowheads="1"/>
          </p:cNvSpPr>
          <p:nvPr/>
        </p:nvSpPr>
        <p:spPr bwMode="auto">
          <a:xfrm>
            <a:off x="5597526" y="3759201"/>
            <a:ext cx="1571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alibri" panose="020F0502020204030204" pitchFamily="34" charset="0"/>
              </a:rPr>
              <a:t>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88" name="Rectangle 119">
            <a:extLst>
              <a:ext uri="{FF2B5EF4-FFF2-40B4-BE49-F238E27FC236}">
                <a16:creationId xmlns:a16="http://schemas.microsoft.com/office/drawing/2014/main" id="{748FED7E-A2FF-0FA7-AED7-2DB11B317139}"/>
              </a:ext>
            </a:extLst>
          </p:cNvPr>
          <p:cNvSpPr>
            <a:spLocks noChangeArrowheads="1"/>
          </p:cNvSpPr>
          <p:nvPr/>
        </p:nvSpPr>
        <p:spPr bwMode="auto">
          <a:xfrm>
            <a:off x="6170613" y="3759201"/>
            <a:ext cx="1571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alibri" panose="020F0502020204030204" pitchFamily="34" charset="0"/>
              </a:rPr>
              <a:t>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89" name="Rectangle 120">
            <a:extLst>
              <a:ext uri="{FF2B5EF4-FFF2-40B4-BE49-F238E27FC236}">
                <a16:creationId xmlns:a16="http://schemas.microsoft.com/office/drawing/2014/main" id="{B5B11F2E-E80A-4B4F-ED4B-0DBFEC40C4C7}"/>
              </a:ext>
            </a:extLst>
          </p:cNvPr>
          <p:cNvSpPr>
            <a:spLocks noChangeArrowheads="1"/>
          </p:cNvSpPr>
          <p:nvPr/>
        </p:nvSpPr>
        <p:spPr bwMode="auto">
          <a:xfrm>
            <a:off x="6704013" y="3759201"/>
            <a:ext cx="2349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alibri" panose="020F0502020204030204" pitchFamily="34" charset="0"/>
              </a:rPr>
              <a:t>20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90" name="Rectangle 121">
            <a:extLst>
              <a:ext uri="{FF2B5EF4-FFF2-40B4-BE49-F238E27FC236}">
                <a16:creationId xmlns:a16="http://schemas.microsoft.com/office/drawing/2014/main" id="{77479AAF-95D0-0C0E-4DC5-E9B7037C64F7}"/>
              </a:ext>
            </a:extLst>
          </p:cNvPr>
          <p:cNvSpPr>
            <a:spLocks noChangeArrowheads="1"/>
          </p:cNvSpPr>
          <p:nvPr/>
        </p:nvSpPr>
        <p:spPr bwMode="auto">
          <a:xfrm>
            <a:off x="7275513" y="3759201"/>
            <a:ext cx="2349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alibri" panose="020F0502020204030204" pitchFamily="34" charset="0"/>
              </a:rPr>
              <a:t>20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91" name="Rectangle 122">
            <a:extLst>
              <a:ext uri="{FF2B5EF4-FFF2-40B4-BE49-F238E27FC236}">
                <a16:creationId xmlns:a16="http://schemas.microsoft.com/office/drawing/2014/main" id="{BB52937D-0242-245B-4921-89EC08B2D29A}"/>
              </a:ext>
            </a:extLst>
          </p:cNvPr>
          <p:cNvSpPr>
            <a:spLocks noChangeArrowheads="1"/>
          </p:cNvSpPr>
          <p:nvPr/>
        </p:nvSpPr>
        <p:spPr bwMode="auto">
          <a:xfrm>
            <a:off x="7929563" y="3759201"/>
            <a:ext cx="1571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alibri" panose="020F0502020204030204" pitchFamily="34" charset="0"/>
              </a:rPr>
              <a:t>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92" name="Rectangle 123">
            <a:extLst>
              <a:ext uri="{FF2B5EF4-FFF2-40B4-BE49-F238E27FC236}">
                <a16:creationId xmlns:a16="http://schemas.microsoft.com/office/drawing/2014/main" id="{C6FC6532-58E3-61E3-E1C5-336F5009E45E}"/>
              </a:ext>
            </a:extLst>
          </p:cNvPr>
          <p:cNvSpPr>
            <a:spLocks noChangeArrowheads="1"/>
          </p:cNvSpPr>
          <p:nvPr/>
        </p:nvSpPr>
        <p:spPr bwMode="auto">
          <a:xfrm>
            <a:off x="8543926" y="3759201"/>
            <a:ext cx="2349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alibri" panose="020F0502020204030204" pitchFamily="34" charset="0"/>
              </a:rPr>
              <a:t>20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93" name="Rectangle 124">
            <a:extLst>
              <a:ext uri="{FF2B5EF4-FFF2-40B4-BE49-F238E27FC236}">
                <a16:creationId xmlns:a16="http://schemas.microsoft.com/office/drawing/2014/main" id="{A1AE3BE9-4198-E5B4-82AB-892807A3714E}"/>
              </a:ext>
            </a:extLst>
          </p:cNvPr>
          <p:cNvSpPr>
            <a:spLocks noChangeArrowheads="1"/>
          </p:cNvSpPr>
          <p:nvPr/>
        </p:nvSpPr>
        <p:spPr bwMode="auto">
          <a:xfrm>
            <a:off x="9196388" y="3759201"/>
            <a:ext cx="1571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alibri" panose="020F0502020204030204" pitchFamily="34" charset="0"/>
              </a:rPr>
              <a:t>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94" name="Rectangle 125">
            <a:extLst>
              <a:ext uri="{FF2B5EF4-FFF2-40B4-BE49-F238E27FC236}">
                <a16:creationId xmlns:a16="http://schemas.microsoft.com/office/drawing/2014/main" id="{BA7C29A9-4DA4-549D-9A5A-F7F1AD08DEE9}"/>
              </a:ext>
            </a:extLst>
          </p:cNvPr>
          <p:cNvSpPr>
            <a:spLocks noChangeArrowheads="1"/>
          </p:cNvSpPr>
          <p:nvPr/>
        </p:nvSpPr>
        <p:spPr bwMode="auto">
          <a:xfrm>
            <a:off x="9769476" y="3759201"/>
            <a:ext cx="1571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alibri" panose="020F0502020204030204" pitchFamily="34" charset="0"/>
              </a:rPr>
              <a:t>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95" name="Rectangle 126">
            <a:extLst>
              <a:ext uri="{FF2B5EF4-FFF2-40B4-BE49-F238E27FC236}">
                <a16:creationId xmlns:a16="http://schemas.microsoft.com/office/drawing/2014/main" id="{E14BCF5C-9A8F-377A-46F0-4B3C56DA4A81}"/>
              </a:ext>
            </a:extLst>
          </p:cNvPr>
          <p:cNvSpPr>
            <a:spLocks noChangeArrowheads="1"/>
          </p:cNvSpPr>
          <p:nvPr/>
        </p:nvSpPr>
        <p:spPr bwMode="auto">
          <a:xfrm>
            <a:off x="2482851" y="4448176"/>
            <a:ext cx="382588"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a:ln>
                  <a:noFill/>
                </a:ln>
                <a:solidFill>
                  <a:srgbClr val="000000"/>
                </a:solidFill>
                <a:effectLst/>
                <a:latin typeface="Calibri" panose="020F0502020204030204" pitchFamily="34" charset="0"/>
              </a:rPr>
              <a:t>FDIA</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96" name="Rectangle 127">
            <a:extLst>
              <a:ext uri="{FF2B5EF4-FFF2-40B4-BE49-F238E27FC236}">
                <a16:creationId xmlns:a16="http://schemas.microsoft.com/office/drawing/2014/main" id="{FCD9A85B-6E03-72D9-5FEF-A356A677FC35}"/>
              </a:ext>
            </a:extLst>
          </p:cNvPr>
          <p:cNvSpPr>
            <a:spLocks noChangeArrowheads="1"/>
          </p:cNvSpPr>
          <p:nvPr/>
        </p:nvSpPr>
        <p:spPr bwMode="auto">
          <a:xfrm>
            <a:off x="3355976" y="4448176"/>
            <a:ext cx="234950"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alibri" panose="020F0502020204030204" pitchFamily="34" charset="0"/>
              </a:rPr>
              <a:t>20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97" name="Rectangle 128">
            <a:extLst>
              <a:ext uri="{FF2B5EF4-FFF2-40B4-BE49-F238E27FC236}">
                <a16:creationId xmlns:a16="http://schemas.microsoft.com/office/drawing/2014/main" id="{4277D127-09D4-9842-D409-A6A086F55585}"/>
              </a:ext>
            </a:extLst>
          </p:cNvPr>
          <p:cNvSpPr>
            <a:spLocks noChangeArrowheads="1"/>
          </p:cNvSpPr>
          <p:nvPr/>
        </p:nvSpPr>
        <p:spPr bwMode="auto">
          <a:xfrm>
            <a:off x="3873501" y="4448176"/>
            <a:ext cx="234950"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alibri" panose="020F0502020204030204" pitchFamily="34" charset="0"/>
              </a:rPr>
              <a:t>20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98" name="Rectangle 129">
            <a:extLst>
              <a:ext uri="{FF2B5EF4-FFF2-40B4-BE49-F238E27FC236}">
                <a16:creationId xmlns:a16="http://schemas.microsoft.com/office/drawing/2014/main" id="{79BB5563-C3DB-784B-B7BD-D6E850B2AD19}"/>
              </a:ext>
            </a:extLst>
          </p:cNvPr>
          <p:cNvSpPr>
            <a:spLocks noChangeArrowheads="1"/>
          </p:cNvSpPr>
          <p:nvPr/>
        </p:nvSpPr>
        <p:spPr bwMode="auto">
          <a:xfrm>
            <a:off x="4452938" y="4448176"/>
            <a:ext cx="157163"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alibri" panose="020F0502020204030204" pitchFamily="34" charset="0"/>
              </a:rPr>
              <a:t>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099" name="Rectangle 130">
            <a:extLst>
              <a:ext uri="{FF2B5EF4-FFF2-40B4-BE49-F238E27FC236}">
                <a16:creationId xmlns:a16="http://schemas.microsoft.com/office/drawing/2014/main" id="{BECF7EB4-5416-D5F1-F26B-D530A15B3955}"/>
              </a:ext>
            </a:extLst>
          </p:cNvPr>
          <p:cNvSpPr>
            <a:spLocks noChangeArrowheads="1"/>
          </p:cNvSpPr>
          <p:nvPr/>
        </p:nvSpPr>
        <p:spPr bwMode="auto">
          <a:xfrm>
            <a:off x="4986338" y="4448176"/>
            <a:ext cx="234950"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alibri" panose="020F0502020204030204" pitchFamily="34" charset="0"/>
              </a:rPr>
              <a:t>20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00" name="Rectangle 131">
            <a:extLst>
              <a:ext uri="{FF2B5EF4-FFF2-40B4-BE49-F238E27FC236}">
                <a16:creationId xmlns:a16="http://schemas.microsoft.com/office/drawing/2014/main" id="{DFBBEA98-F0ED-300E-7997-F7E149781892}"/>
              </a:ext>
            </a:extLst>
          </p:cNvPr>
          <p:cNvSpPr>
            <a:spLocks noChangeArrowheads="1"/>
          </p:cNvSpPr>
          <p:nvPr/>
        </p:nvSpPr>
        <p:spPr bwMode="auto">
          <a:xfrm>
            <a:off x="5597526" y="4448176"/>
            <a:ext cx="157163"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alibri" panose="020F0502020204030204" pitchFamily="34" charset="0"/>
              </a:rPr>
              <a:t>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01" name="Rectangle 132">
            <a:extLst>
              <a:ext uri="{FF2B5EF4-FFF2-40B4-BE49-F238E27FC236}">
                <a16:creationId xmlns:a16="http://schemas.microsoft.com/office/drawing/2014/main" id="{6E17726A-1E89-8F75-9948-01E4A50CFD55}"/>
              </a:ext>
            </a:extLst>
          </p:cNvPr>
          <p:cNvSpPr>
            <a:spLocks noChangeArrowheads="1"/>
          </p:cNvSpPr>
          <p:nvPr/>
        </p:nvSpPr>
        <p:spPr bwMode="auto">
          <a:xfrm>
            <a:off x="6170613" y="4448176"/>
            <a:ext cx="157163"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alibri" panose="020F0502020204030204" pitchFamily="34" charset="0"/>
              </a:rPr>
              <a:t>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02" name="Rectangle 133">
            <a:extLst>
              <a:ext uri="{FF2B5EF4-FFF2-40B4-BE49-F238E27FC236}">
                <a16:creationId xmlns:a16="http://schemas.microsoft.com/office/drawing/2014/main" id="{97B97646-9913-DD3C-A510-2ACE963B0C02}"/>
              </a:ext>
            </a:extLst>
          </p:cNvPr>
          <p:cNvSpPr>
            <a:spLocks noChangeArrowheads="1"/>
          </p:cNvSpPr>
          <p:nvPr/>
        </p:nvSpPr>
        <p:spPr bwMode="auto">
          <a:xfrm>
            <a:off x="6704013" y="4448176"/>
            <a:ext cx="234950"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alibri" panose="020F0502020204030204" pitchFamily="34" charset="0"/>
              </a:rPr>
              <a:t>20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03" name="Rectangle 134">
            <a:extLst>
              <a:ext uri="{FF2B5EF4-FFF2-40B4-BE49-F238E27FC236}">
                <a16:creationId xmlns:a16="http://schemas.microsoft.com/office/drawing/2014/main" id="{67D3CD9E-4485-9E60-034A-C8D6D073A35F}"/>
              </a:ext>
            </a:extLst>
          </p:cNvPr>
          <p:cNvSpPr>
            <a:spLocks noChangeArrowheads="1"/>
          </p:cNvSpPr>
          <p:nvPr/>
        </p:nvSpPr>
        <p:spPr bwMode="auto">
          <a:xfrm>
            <a:off x="7275513" y="4448176"/>
            <a:ext cx="234950"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alibri" panose="020F0502020204030204" pitchFamily="34" charset="0"/>
              </a:rPr>
              <a:t>20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04" name="Rectangle 135">
            <a:extLst>
              <a:ext uri="{FF2B5EF4-FFF2-40B4-BE49-F238E27FC236}">
                <a16:creationId xmlns:a16="http://schemas.microsoft.com/office/drawing/2014/main" id="{9906F5BB-BD10-7EC7-F7D4-F388DFCBA9F7}"/>
              </a:ext>
            </a:extLst>
          </p:cNvPr>
          <p:cNvSpPr>
            <a:spLocks noChangeArrowheads="1"/>
          </p:cNvSpPr>
          <p:nvPr/>
        </p:nvSpPr>
        <p:spPr bwMode="auto">
          <a:xfrm>
            <a:off x="7929563" y="4448176"/>
            <a:ext cx="157163"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alibri" panose="020F0502020204030204" pitchFamily="34" charset="0"/>
              </a:rPr>
              <a:t>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05" name="Rectangle 136">
            <a:extLst>
              <a:ext uri="{FF2B5EF4-FFF2-40B4-BE49-F238E27FC236}">
                <a16:creationId xmlns:a16="http://schemas.microsoft.com/office/drawing/2014/main" id="{8691939F-24A1-7BE9-2498-A506942524B7}"/>
              </a:ext>
            </a:extLst>
          </p:cNvPr>
          <p:cNvSpPr>
            <a:spLocks noChangeArrowheads="1"/>
          </p:cNvSpPr>
          <p:nvPr/>
        </p:nvSpPr>
        <p:spPr bwMode="auto">
          <a:xfrm>
            <a:off x="8543926" y="4448176"/>
            <a:ext cx="234950"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alibri" panose="020F0502020204030204" pitchFamily="34" charset="0"/>
              </a:rPr>
              <a:t>20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06" name="Rectangle 137">
            <a:extLst>
              <a:ext uri="{FF2B5EF4-FFF2-40B4-BE49-F238E27FC236}">
                <a16:creationId xmlns:a16="http://schemas.microsoft.com/office/drawing/2014/main" id="{F76D63CC-8E4D-F32D-3388-8930A6BA193B}"/>
              </a:ext>
            </a:extLst>
          </p:cNvPr>
          <p:cNvSpPr>
            <a:spLocks noChangeArrowheads="1"/>
          </p:cNvSpPr>
          <p:nvPr/>
        </p:nvSpPr>
        <p:spPr bwMode="auto">
          <a:xfrm>
            <a:off x="9196388" y="4448176"/>
            <a:ext cx="157163"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alibri" panose="020F0502020204030204" pitchFamily="34" charset="0"/>
              </a:rPr>
              <a:t>0</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
        <p:nvSpPr>
          <p:cNvPr id="1107" name="Rectangle 138">
            <a:extLst>
              <a:ext uri="{FF2B5EF4-FFF2-40B4-BE49-F238E27FC236}">
                <a16:creationId xmlns:a16="http://schemas.microsoft.com/office/drawing/2014/main" id="{047E8DF4-2218-3130-AEF6-0B0C0D0A5074}"/>
              </a:ext>
            </a:extLst>
          </p:cNvPr>
          <p:cNvSpPr>
            <a:spLocks noChangeArrowheads="1"/>
          </p:cNvSpPr>
          <p:nvPr/>
        </p:nvSpPr>
        <p:spPr bwMode="auto">
          <a:xfrm>
            <a:off x="9769476" y="4448176"/>
            <a:ext cx="157163"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0" i="0" u="none" strike="noStrike" cap="none" normalizeH="0" baseline="0">
                <a:ln>
                  <a:noFill/>
                </a:ln>
                <a:solidFill>
                  <a:srgbClr val="000000"/>
                </a:solidFill>
                <a:effectLst/>
                <a:latin typeface="Calibri" panose="020F0502020204030204" pitchFamily="34" charset="0"/>
              </a:rPr>
              <a:t>1</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custDataLst>
      <p:tags r:id="rId1"/>
    </p:custDataLst>
    <p:extLst>
      <p:ext uri="{BB962C8B-B14F-4D97-AF65-F5344CB8AC3E}">
        <p14:creationId xmlns:p14="http://schemas.microsoft.com/office/powerpoint/2010/main" val="1258808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autoRev="1" fill="hold" nodeType="clickEffect">
                                  <p:stCondLst>
                                    <p:cond delay="0"/>
                                  </p:stCondLst>
                                  <p:childTnLst>
                                    <p:animClr clrSpc="rgb" dir="cw">
                                      <p:cBhvr>
                                        <p:cTn id="6" dur="2000" fill="hold"/>
                                        <p:tgtEl>
                                          <p:spTgt spid="30"/>
                                        </p:tgtEl>
                                        <p:attrNameLst>
                                          <p:attrName>fillcolor</p:attrName>
                                        </p:attrNameLst>
                                      </p:cBhvr>
                                      <p:to>
                                        <a:schemeClr val="accent2"/>
                                      </p:to>
                                    </p:animClr>
                                    <p:set>
                                      <p:cBhvr>
                                        <p:cTn id="7" dur="2000" fill="hold"/>
                                        <p:tgtEl>
                                          <p:spTgt spid="30"/>
                                        </p:tgtEl>
                                        <p:attrNameLst>
                                          <p:attrName>fill.type</p:attrName>
                                        </p:attrNameLst>
                                      </p:cBhvr>
                                      <p:to>
                                        <p:strVal val="solid"/>
                                      </p:to>
                                    </p:set>
                                    <p:set>
                                      <p:cBhvr>
                                        <p:cTn id="8" dur="2000" fill="hold"/>
                                        <p:tgtEl>
                                          <p:spTgt spid="30"/>
                                        </p:tgtEl>
                                        <p:attrNameLst>
                                          <p:attrName>fill.on</p:attrName>
                                        </p:attrNameLst>
                                      </p:cBhvr>
                                      <p:to>
                                        <p:strVal val="true"/>
                                      </p:to>
                                    </p:set>
                                  </p:childTnLst>
                                </p:cTn>
                              </p:par>
                              <p:par>
                                <p:cTn id="9" presetID="1" presetClass="emph" presetSubtype="2" autoRev="1" fill="hold" nodeType="withEffect">
                                  <p:stCondLst>
                                    <p:cond delay="0"/>
                                  </p:stCondLst>
                                  <p:childTnLst>
                                    <p:animClr clrSpc="rgb" dir="cw">
                                      <p:cBhvr>
                                        <p:cTn id="10" dur="2000" fill="hold"/>
                                        <p:tgtEl>
                                          <p:spTgt spid="40"/>
                                        </p:tgtEl>
                                        <p:attrNameLst>
                                          <p:attrName>fillcolor</p:attrName>
                                        </p:attrNameLst>
                                      </p:cBhvr>
                                      <p:to>
                                        <a:schemeClr val="accent2"/>
                                      </p:to>
                                    </p:animClr>
                                    <p:set>
                                      <p:cBhvr>
                                        <p:cTn id="11" dur="2000" fill="hold"/>
                                        <p:tgtEl>
                                          <p:spTgt spid="40"/>
                                        </p:tgtEl>
                                        <p:attrNameLst>
                                          <p:attrName>fill.type</p:attrName>
                                        </p:attrNameLst>
                                      </p:cBhvr>
                                      <p:to>
                                        <p:strVal val="solid"/>
                                      </p:to>
                                    </p:set>
                                    <p:set>
                                      <p:cBhvr>
                                        <p:cTn id="12" dur="2000" fill="hold"/>
                                        <p:tgtEl>
                                          <p:spTgt spid="40"/>
                                        </p:tgtEl>
                                        <p:attrNameLst>
                                          <p:attrName>fill.on</p:attrName>
                                        </p:attrNameLst>
                                      </p:cBhvr>
                                      <p:to>
                                        <p:strVal val="true"/>
                                      </p:to>
                                    </p:set>
                                  </p:childTnLst>
                                </p:cTn>
                              </p:par>
                              <p:par>
                                <p:cTn id="13" presetID="1" presetClass="emph" presetSubtype="2" autoRev="1" fill="hold" nodeType="withEffect">
                                  <p:stCondLst>
                                    <p:cond delay="0"/>
                                  </p:stCondLst>
                                  <p:childTnLst>
                                    <p:animClr clrSpc="rgb" dir="cw">
                                      <p:cBhvr>
                                        <p:cTn id="14" dur="2000" fill="hold"/>
                                        <p:tgtEl>
                                          <p:spTgt spid="41"/>
                                        </p:tgtEl>
                                        <p:attrNameLst>
                                          <p:attrName>fillcolor</p:attrName>
                                        </p:attrNameLst>
                                      </p:cBhvr>
                                      <p:to>
                                        <a:schemeClr val="accent2"/>
                                      </p:to>
                                    </p:animClr>
                                    <p:set>
                                      <p:cBhvr>
                                        <p:cTn id="15" dur="2000" fill="hold"/>
                                        <p:tgtEl>
                                          <p:spTgt spid="41"/>
                                        </p:tgtEl>
                                        <p:attrNameLst>
                                          <p:attrName>fill.type</p:attrName>
                                        </p:attrNameLst>
                                      </p:cBhvr>
                                      <p:to>
                                        <p:strVal val="solid"/>
                                      </p:to>
                                    </p:set>
                                    <p:set>
                                      <p:cBhvr>
                                        <p:cTn id="16" dur="2000" fill="hold"/>
                                        <p:tgtEl>
                                          <p:spTgt spid="41"/>
                                        </p:tgtEl>
                                        <p:attrNameLst>
                                          <p:attrName>fill.on</p:attrName>
                                        </p:attrNameLst>
                                      </p:cBhvr>
                                      <p:to>
                                        <p:strVal val="true"/>
                                      </p:to>
                                    </p:set>
                                  </p:childTnLst>
                                </p:cTn>
                              </p:par>
                              <p:par>
                                <p:cTn id="17" presetID="1" presetClass="emph" presetSubtype="2" autoRev="1" fill="hold" nodeType="withEffect">
                                  <p:stCondLst>
                                    <p:cond delay="0"/>
                                  </p:stCondLst>
                                  <p:childTnLst>
                                    <p:animClr clrSpc="rgb" dir="cw">
                                      <p:cBhvr>
                                        <p:cTn id="18" dur="2000" fill="hold"/>
                                        <p:tgtEl>
                                          <p:spTgt spid="42"/>
                                        </p:tgtEl>
                                        <p:attrNameLst>
                                          <p:attrName>fillcolor</p:attrName>
                                        </p:attrNameLst>
                                      </p:cBhvr>
                                      <p:to>
                                        <a:schemeClr val="accent2"/>
                                      </p:to>
                                    </p:animClr>
                                    <p:set>
                                      <p:cBhvr>
                                        <p:cTn id="19" dur="2000" fill="hold"/>
                                        <p:tgtEl>
                                          <p:spTgt spid="42"/>
                                        </p:tgtEl>
                                        <p:attrNameLst>
                                          <p:attrName>fill.type</p:attrName>
                                        </p:attrNameLst>
                                      </p:cBhvr>
                                      <p:to>
                                        <p:strVal val="solid"/>
                                      </p:to>
                                    </p:set>
                                    <p:set>
                                      <p:cBhvr>
                                        <p:cTn id="20" dur="2000" fill="hold"/>
                                        <p:tgtEl>
                                          <p:spTgt spid="42"/>
                                        </p:tgtEl>
                                        <p:attrNameLst>
                                          <p:attrName>fill.on</p:attrName>
                                        </p:attrNameLst>
                                      </p:cBhvr>
                                      <p:to>
                                        <p:strVal val="true"/>
                                      </p:to>
                                    </p:set>
                                  </p:childTnLst>
                                </p:cTn>
                              </p:par>
                            </p:childTnLst>
                          </p:cTn>
                        </p:par>
                      </p:childTnLst>
                    </p:cTn>
                  </p:par>
                  <p:par>
                    <p:cTn id="21" fill="hold">
                      <p:stCondLst>
                        <p:cond delay="indefinite"/>
                      </p:stCondLst>
                      <p:childTnLst>
                        <p:par>
                          <p:cTn id="22" fill="hold">
                            <p:stCondLst>
                              <p:cond delay="0"/>
                            </p:stCondLst>
                            <p:childTnLst>
                              <p:par>
                                <p:cTn id="23" presetID="1" presetClass="emph" presetSubtype="2" autoRev="1" fill="hold" nodeType="clickEffect">
                                  <p:stCondLst>
                                    <p:cond delay="0"/>
                                  </p:stCondLst>
                                  <p:childTnLst>
                                    <p:animClr clrSpc="rgb" dir="cw">
                                      <p:cBhvr>
                                        <p:cTn id="24" dur="2000" fill="hold"/>
                                        <p:tgtEl>
                                          <p:spTgt spid="43"/>
                                        </p:tgtEl>
                                        <p:attrNameLst>
                                          <p:attrName>fillcolor</p:attrName>
                                        </p:attrNameLst>
                                      </p:cBhvr>
                                      <p:to>
                                        <a:schemeClr val="accent2"/>
                                      </p:to>
                                    </p:animClr>
                                    <p:set>
                                      <p:cBhvr>
                                        <p:cTn id="25" dur="2000" fill="hold"/>
                                        <p:tgtEl>
                                          <p:spTgt spid="43"/>
                                        </p:tgtEl>
                                        <p:attrNameLst>
                                          <p:attrName>fill.type</p:attrName>
                                        </p:attrNameLst>
                                      </p:cBhvr>
                                      <p:to>
                                        <p:strVal val="solid"/>
                                      </p:to>
                                    </p:set>
                                    <p:set>
                                      <p:cBhvr>
                                        <p:cTn id="26" dur="2000" fill="hold"/>
                                        <p:tgtEl>
                                          <p:spTgt spid="43"/>
                                        </p:tgtEl>
                                        <p:attrNameLst>
                                          <p:attrName>fill.on</p:attrName>
                                        </p:attrNameLst>
                                      </p:cBhvr>
                                      <p:to>
                                        <p:strVal val="true"/>
                                      </p:to>
                                    </p:set>
                                  </p:childTnLst>
                                </p:cTn>
                              </p:par>
                              <p:par>
                                <p:cTn id="27" presetID="1" presetClass="emph" presetSubtype="2" autoRev="1" fill="hold" nodeType="withEffect">
                                  <p:stCondLst>
                                    <p:cond delay="0"/>
                                  </p:stCondLst>
                                  <p:childTnLst>
                                    <p:animClr clrSpc="rgb" dir="cw">
                                      <p:cBhvr>
                                        <p:cTn id="28" dur="2000" fill="hold"/>
                                        <p:tgtEl>
                                          <p:spTgt spid="53"/>
                                        </p:tgtEl>
                                        <p:attrNameLst>
                                          <p:attrName>fillcolor</p:attrName>
                                        </p:attrNameLst>
                                      </p:cBhvr>
                                      <p:to>
                                        <a:schemeClr val="accent2"/>
                                      </p:to>
                                    </p:animClr>
                                    <p:set>
                                      <p:cBhvr>
                                        <p:cTn id="29" dur="2000" fill="hold"/>
                                        <p:tgtEl>
                                          <p:spTgt spid="53"/>
                                        </p:tgtEl>
                                        <p:attrNameLst>
                                          <p:attrName>fill.type</p:attrName>
                                        </p:attrNameLst>
                                      </p:cBhvr>
                                      <p:to>
                                        <p:strVal val="solid"/>
                                      </p:to>
                                    </p:set>
                                    <p:set>
                                      <p:cBhvr>
                                        <p:cTn id="30" dur="2000" fill="hold"/>
                                        <p:tgtEl>
                                          <p:spTgt spid="53"/>
                                        </p:tgtEl>
                                        <p:attrNameLst>
                                          <p:attrName>fill.on</p:attrName>
                                        </p:attrNameLst>
                                      </p:cBhvr>
                                      <p:to>
                                        <p:strVal val="true"/>
                                      </p:to>
                                    </p:set>
                                  </p:childTnLst>
                                </p:cTn>
                              </p:par>
                              <p:par>
                                <p:cTn id="31" presetID="1" presetClass="emph" presetSubtype="2" autoRev="1" fill="hold" nodeType="withEffect">
                                  <p:stCondLst>
                                    <p:cond delay="0"/>
                                  </p:stCondLst>
                                  <p:childTnLst>
                                    <p:animClr clrSpc="rgb" dir="cw">
                                      <p:cBhvr>
                                        <p:cTn id="32" dur="2000" fill="hold"/>
                                        <p:tgtEl>
                                          <p:spTgt spid="54"/>
                                        </p:tgtEl>
                                        <p:attrNameLst>
                                          <p:attrName>fillcolor</p:attrName>
                                        </p:attrNameLst>
                                      </p:cBhvr>
                                      <p:to>
                                        <a:schemeClr val="accent2"/>
                                      </p:to>
                                    </p:animClr>
                                    <p:set>
                                      <p:cBhvr>
                                        <p:cTn id="33" dur="2000" fill="hold"/>
                                        <p:tgtEl>
                                          <p:spTgt spid="54"/>
                                        </p:tgtEl>
                                        <p:attrNameLst>
                                          <p:attrName>fill.type</p:attrName>
                                        </p:attrNameLst>
                                      </p:cBhvr>
                                      <p:to>
                                        <p:strVal val="solid"/>
                                      </p:to>
                                    </p:set>
                                    <p:set>
                                      <p:cBhvr>
                                        <p:cTn id="34" dur="2000" fill="hold"/>
                                        <p:tgtEl>
                                          <p:spTgt spid="54"/>
                                        </p:tgtEl>
                                        <p:attrNameLst>
                                          <p:attrName>fill.on</p:attrName>
                                        </p:attrNameLst>
                                      </p:cBhvr>
                                      <p:to>
                                        <p:strVal val="true"/>
                                      </p:to>
                                    </p:set>
                                  </p:childTnLst>
                                </p:cTn>
                              </p:par>
                              <p:par>
                                <p:cTn id="35" presetID="1" presetClass="emph" presetSubtype="2" autoRev="1" fill="hold" nodeType="withEffect">
                                  <p:stCondLst>
                                    <p:cond delay="0"/>
                                  </p:stCondLst>
                                  <p:childTnLst>
                                    <p:animClr clrSpc="rgb" dir="cw">
                                      <p:cBhvr>
                                        <p:cTn id="36" dur="2000" fill="hold"/>
                                        <p:tgtEl>
                                          <p:spTgt spid="55"/>
                                        </p:tgtEl>
                                        <p:attrNameLst>
                                          <p:attrName>fillcolor</p:attrName>
                                        </p:attrNameLst>
                                      </p:cBhvr>
                                      <p:to>
                                        <a:schemeClr val="accent2"/>
                                      </p:to>
                                    </p:animClr>
                                    <p:set>
                                      <p:cBhvr>
                                        <p:cTn id="37" dur="2000" fill="hold"/>
                                        <p:tgtEl>
                                          <p:spTgt spid="55"/>
                                        </p:tgtEl>
                                        <p:attrNameLst>
                                          <p:attrName>fill.type</p:attrName>
                                        </p:attrNameLst>
                                      </p:cBhvr>
                                      <p:to>
                                        <p:strVal val="solid"/>
                                      </p:to>
                                    </p:set>
                                    <p:set>
                                      <p:cBhvr>
                                        <p:cTn id="38" dur="2000" fill="hold"/>
                                        <p:tgtEl>
                                          <p:spTgt spid="55"/>
                                        </p:tgtEl>
                                        <p:attrNameLst>
                                          <p:attrName>fill.on</p:attrName>
                                        </p:attrNameLst>
                                      </p:cBhvr>
                                      <p:to>
                                        <p:strVal val="true"/>
                                      </p:to>
                                    </p:set>
                                  </p:childTnLst>
                                </p:cTn>
                              </p:par>
                            </p:childTnLst>
                          </p:cTn>
                        </p:par>
                      </p:childTnLst>
                    </p:cTn>
                  </p:par>
                  <p:par>
                    <p:cTn id="39" fill="hold">
                      <p:stCondLst>
                        <p:cond delay="indefinite"/>
                      </p:stCondLst>
                      <p:childTnLst>
                        <p:par>
                          <p:cTn id="40" fill="hold">
                            <p:stCondLst>
                              <p:cond delay="0"/>
                            </p:stCondLst>
                            <p:childTnLst>
                              <p:par>
                                <p:cTn id="41" presetID="1" presetClass="emph" presetSubtype="2" autoRev="1" fill="hold" nodeType="clickEffect">
                                  <p:stCondLst>
                                    <p:cond delay="0"/>
                                  </p:stCondLst>
                                  <p:childTnLst>
                                    <p:animClr clrSpc="rgb" dir="cw">
                                      <p:cBhvr>
                                        <p:cTn id="42" dur="2000" fill="hold"/>
                                        <p:tgtEl>
                                          <p:spTgt spid="56"/>
                                        </p:tgtEl>
                                        <p:attrNameLst>
                                          <p:attrName>fillcolor</p:attrName>
                                        </p:attrNameLst>
                                      </p:cBhvr>
                                      <p:to>
                                        <a:schemeClr val="accent2"/>
                                      </p:to>
                                    </p:animClr>
                                    <p:set>
                                      <p:cBhvr>
                                        <p:cTn id="43" dur="2000" fill="hold"/>
                                        <p:tgtEl>
                                          <p:spTgt spid="56"/>
                                        </p:tgtEl>
                                        <p:attrNameLst>
                                          <p:attrName>fill.type</p:attrName>
                                        </p:attrNameLst>
                                      </p:cBhvr>
                                      <p:to>
                                        <p:strVal val="solid"/>
                                      </p:to>
                                    </p:set>
                                    <p:set>
                                      <p:cBhvr>
                                        <p:cTn id="44" dur="2000" fill="hold"/>
                                        <p:tgtEl>
                                          <p:spTgt spid="56"/>
                                        </p:tgtEl>
                                        <p:attrNameLst>
                                          <p:attrName>fill.on</p:attrName>
                                        </p:attrNameLst>
                                      </p:cBhvr>
                                      <p:to>
                                        <p:strVal val="true"/>
                                      </p:to>
                                    </p:set>
                                  </p:childTnLst>
                                </p:cTn>
                              </p:par>
                              <p:par>
                                <p:cTn id="45" presetID="1" presetClass="emph" presetSubtype="2" autoRev="1" fill="hold" nodeType="withEffect">
                                  <p:stCondLst>
                                    <p:cond delay="0"/>
                                  </p:stCondLst>
                                  <p:childTnLst>
                                    <p:animClr clrSpc="rgb" dir="cw">
                                      <p:cBhvr>
                                        <p:cTn id="46" dur="2000" fill="hold"/>
                                        <p:tgtEl>
                                          <p:spTgt spid="1027"/>
                                        </p:tgtEl>
                                        <p:attrNameLst>
                                          <p:attrName>fillcolor</p:attrName>
                                        </p:attrNameLst>
                                      </p:cBhvr>
                                      <p:to>
                                        <a:schemeClr val="accent2"/>
                                      </p:to>
                                    </p:animClr>
                                    <p:set>
                                      <p:cBhvr>
                                        <p:cTn id="47" dur="2000" fill="hold"/>
                                        <p:tgtEl>
                                          <p:spTgt spid="1027"/>
                                        </p:tgtEl>
                                        <p:attrNameLst>
                                          <p:attrName>fill.type</p:attrName>
                                        </p:attrNameLst>
                                      </p:cBhvr>
                                      <p:to>
                                        <p:strVal val="solid"/>
                                      </p:to>
                                    </p:set>
                                    <p:set>
                                      <p:cBhvr>
                                        <p:cTn id="48" dur="2000" fill="hold"/>
                                        <p:tgtEl>
                                          <p:spTgt spid="1027"/>
                                        </p:tgtEl>
                                        <p:attrNameLst>
                                          <p:attrName>fill.on</p:attrName>
                                        </p:attrNameLst>
                                      </p:cBhvr>
                                      <p:to>
                                        <p:strVal val="true"/>
                                      </p:to>
                                    </p:set>
                                  </p:childTnLst>
                                </p:cTn>
                              </p:par>
                              <p:par>
                                <p:cTn id="49" presetID="1" presetClass="emph" presetSubtype="2" autoRev="1" fill="hold" nodeType="withEffect">
                                  <p:stCondLst>
                                    <p:cond delay="0"/>
                                  </p:stCondLst>
                                  <p:childTnLst>
                                    <p:animClr clrSpc="rgb" dir="cw">
                                      <p:cBhvr>
                                        <p:cTn id="50" dur="2000" fill="hold"/>
                                        <p:tgtEl>
                                          <p:spTgt spid="1028"/>
                                        </p:tgtEl>
                                        <p:attrNameLst>
                                          <p:attrName>fillcolor</p:attrName>
                                        </p:attrNameLst>
                                      </p:cBhvr>
                                      <p:to>
                                        <a:schemeClr val="accent2"/>
                                      </p:to>
                                    </p:animClr>
                                    <p:set>
                                      <p:cBhvr>
                                        <p:cTn id="51" dur="2000" fill="hold"/>
                                        <p:tgtEl>
                                          <p:spTgt spid="1028"/>
                                        </p:tgtEl>
                                        <p:attrNameLst>
                                          <p:attrName>fill.type</p:attrName>
                                        </p:attrNameLst>
                                      </p:cBhvr>
                                      <p:to>
                                        <p:strVal val="solid"/>
                                      </p:to>
                                    </p:set>
                                    <p:set>
                                      <p:cBhvr>
                                        <p:cTn id="52" dur="2000" fill="hold"/>
                                        <p:tgtEl>
                                          <p:spTgt spid="1028"/>
                                        </p:tgtEl>
                                        <p:attrNameLst>
                                          <p:attrName>fill.on</p:attrName>
                                        </p:attrNameLst>
                                      </p:cBhvr>
                                      <p:to>
                                        <p:strVal val="true"/>
                                      </p:to>
                                    </p:set>
                                  </p:childTnLst>
                                </p:cTn>
                              </p:par>
                              <p:par>
                                <p:cTn id="53" presetID="1" presetClass="emph" presetSubtype="2" autoRev="1" fill="hold" nodeType="withEffect">
                                  <p:stCondLst>
                                    <p:cond delay="0"/>
                                  </p:stCondLst>
                                  <p:childTnLst>
                                    <p:animClr clrSpc="rgb" dir="cw">
                                      <p:cBhvr>
                                        <p:cTn id="54" dur="2000" fill="hold"/>
                                        <p:tgtEl>
                                          <p:spTgt spid="1029"/>
                                        </p:tgtEl>
                                        <p:attrNameLst>
                                          <p:attrName>fillcolor</p:attrName>
                                        </p:attrNameLst>
                                      </p:cBhvr>
                                      <p:to>
                                        <a:schemeClr val="accent2"/>
                                      </p:to>
                                    </p:animClr>
                                    <p:set>
                                      <p:cBhvr>
                                        <p:cTn id="55" dur="2000" fill="hold"/>
                                        <p:tgtEl>
                                          <p:spTgt spid="1029"/>
                                        </p:tgtEl>
                                        <p:attrNameLst>
                                          <p:attrName>fill.type</p:attrName>
                                        </p:attrNameLst>
                                      </p:cBhvr>
                                      <p:to>
                                        <p:strVal val="solid"/>
                                      </p:to>
                                    </p:set>
                                    <p:set>
                                      <p:cBhvr>
                                        <p:cTn id="56" dur="2000" fill="hold"/>
                                        <p:tgtEl>
                                          <p:spTgt spid="1029"/>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fauzisukiman\Desktop\template pp USM\page 2 n seterusnya\Header.jpg"/>
          <p:cNvPicPr>
            <a:picLocks noChangeAspect="1" noChangeArrowheads="1"/>
          </p:cNvPicPr>
          <p:nvPr/>
        </p:nvPicPr>
        <p:blipFill rotWithShape="1">
          <a:blip r:embed="rId4" cstate="print"/>
          <a:srcRect l="14375"/>
          <a:stretch/>
        </p:blipFill>
        <p:spPr bwMode="auto">
          <a:xfrm>
            <a:off x="1268881" y="0"/>
            <a:ext cx="10923119" cy="822960"/>
          </a:xfrm>
          <a:prstGeom prst="rect">
            <a:avLst/>
          </a:prstGeom>
          <a:noFill/>
        </p:spPr>
      </p:pic>
      <p:sp>
        <p:nvSpPr>
          <p:cNvPr id="6" name="Rectangle 5"/>
          <p:cNvSpPr/>
          <p:nvPr/>
        </p:nvSpPr>
        <p:spPr>
          <a:xfrm>
            <a:off x="1447800" y="76200"/>
            <a:ext cx="10363200" cy="707886"/>
          </a:xfrm>
          <a:prstGeom prst="rect">
            <a:avLst/>
          </a:prstGeom>
        </p:spPr>
        <p:txBody>
          <a:bodyPr wrap="square">
            <a:spAutoFit/>
          </a:bodyPr>
          <a:lstStyle/>
          <a:p>
            <a:r>
              <a:rPr lang="en-US" sz="4000" b="1" i="1" dirty="0">
                <a:solidFill>
                  <a:schemeClr val="bg1"/>
                </a:solidFill>
              </a:rPr>
              <a:t>Results: Summary</a:t>
            </a:r>
          </a:p>
        </p:txBody>
      </p:sp>
      <p:sp>
        <p:nvSpPr>
          <p:cNvPr id="2" name="Slide Number Placeholder 1"/>
          <p:cNvSpPr>
            <a:spLocks noGrp="1"/>
          </p:cNvSpPr>
          <p:nvPr>
            <p:ph type="sldNum" sz="quarter" idx="12"/>
          </p:nvPr>
        </p:nvSpPr>
        <p:spPr>
          <a:xfrm>
            <a:off x="9906000" y="6472826"/>
            <a:ext cx="2133600" cy="365125"/>
          </a:xfrm>
        </p:spPr>
        <p:txBody>
          <a:bodyPr/>
          <a:lstStyle/>
          <a:p>
            <a:fld id="{D4B39A3D-6E5B-421C-AA99-AA75690A48C6}" type="slidenum">
              <a:rPr lang="en-US" smtClean="0"/>
              <a:pPr/>
              <a:t>20</a:t>
            </a:fld>
            <a:endParaRPr lang="en-US" dirty="0"/>
          </a:p>
        </p:txBody>
      </p:sp>
      <p:pic>
        <p:nvPicPr>
          <p:cNvPr id="9" name="Picture 3"/>
          <p:cNvPicPr>
            <a:picLocks noChangeAspect="1" noChangeArrowheads="1"/>
          </p:cNvPicPr>
          <p:nvPr/>
        </p:nvPicPr>
        <p:blipFill>
          <a:blip r:embed="rId5" cstate="print">
            <a:clrChange>
              <a:clrFrom>
                <a:srgbClr val="FDFDFD"/>
              </a:clrFrom>
              <a:clrTo>
                <a:srgbClr val="FDFDFD">
                  <a:alpha val="0"/>
                </a:srgbClr>
              </a:clrTo>
            </a:clrChange>
          </a:blip>
          <a:srcRect/>
          <a:stretch>
            <a:fillRect/>
          </a:stretch>
        </p:blipFill>
        <p:spPr bwMode="auto">
          <a:xfrm>
            <a:off x="0" y="-1224"/>
            <a:ext cx="1268881" cy="824184"/>
          </a:xfrm>
          <a:prstGeom prst="rect">
            <a:avLst/>
          </a:prstGeom>
          <a:noFill/>
          <a:ln w="9525">
            <a:noFill/>
            <a:miter lim="800000"/>
            <a:headEnd/>
            <a:tailEnd/>
          </a:ln>
          <a:effectLst/>
        </p:spPr>
      </p:pic>
      <p:sp>
        <p:nvSpPr>
          <p:cNvPr id="8" name="Content Placeholder 7">
            <a:extLst>
              <a:ext uri="{FF2B5EF4-FFF2-40B4-BE49-F238E27FC236}">
                <a16:creationId xmlns:a16="http://schemas.microsoft.com/office/drawing/2014/main" id="{E85D7097-BBD4-FDB7-26DE-3B8210FAA386}"/>
              </a:ext>
            </a:extLst>
          </p:cNvPr>
          <p:cNvSpPr>
            <a:spLocks noGrp="1"/>
          </p:cNvSpPr>
          <p:nvPr>
            <p:ph idx="1"/>
          </p:nvPr>
        </p:nvSpPr>
        <p:spPr>
          <a:xfrm>
            <a:off x="533400" y="1371600"/>
            <a:ext cx="5181600" cy="4757550"/>
          </a:xfrm>
        </p:spPr>
        <p:txBody>
          <a:bodyPr>
            <a:noAutofit/>
          </a:bodyPr>
          <a:lstStyle/>
          <a:p>
            <a:pPr marL="457200" indent="-457200" algn="just">
              <a:lnSpc>
                <a:spcPct val="100000"/>
              </a:lnSpc>
              <a:buFont typeface="Wingdings" panose="05000000000000000000" pitchFamily="2" charset="2"/>
              <a:buChar char="§"/>
            </a:pPr>
            <a:r>
              <a:rPr lang="en-US" sz="1800" dirty="0">
                <a:solidFill>
                  <a:schemeClr val="tx2">
                    <a:lumMod val="50000"/>
                  </a:schemeClr>
                </a:solidFill>
              </a:rPr>
              <a:t>SGSM secures SECS/GEM communications</a:t>
            </a:r>
          </a:p>
          <a:p>
            <a:pPr marL="457200" indent="-457200" algn="just">
              <a:lnSpc>
                <a:spcPct val="100000"/>
              </a:lnSpc>
              <a:buFont typeface="Wingdings" panose="05000000000000000000" pitchFamily="2" charset="2"/>
              <a:buChar char="§"/>
            </a:pPr>
            <a:r>
              <a:rPr lang="en-US" sz="1800" dirty="0">
                <a:solidFill>
                  <a:schemeClr val="tx2">
                    <a:lumMod val="50000"/>
                  </a:schemeClr>
                </a:solidFill>
              </a:rPr>
              <a:t>SGSM is multi-featured and versatile mechanism</a:t>
            </a:r>
          </a:p>
          <a:p>
            <a:pPr marL="457200" indent="-457200" algn="just">
              <a:lnSpc>
                <a:spcPct val="100000"/>
              </a:lnSpc>
              <a:buFont typeface="Wingdings" panose="05000000000000000000" pitchFamily="2" charset="2"/>
              <a:buChar char="§"/>
            </a:pPr>
            <a:r>
              <a:rPr lang="en-US" sz="1800" dirty="0">
                <a:solidFill>
                  <a:schemeClr val="tx2">
                    <a:lumMod val="50000"/>
                  </a:schemeClr>
                </a:solidFill>
              </a:rPr>
              <a:t>SGSM attains customizability</a:t>
            </a:r>
          </a:p>
          <a:p>
            <a:pPr marL="457200" indent="-457200" algn="just">
              <a:lnSpc>
                <a:spcPct val="100000"/>
              </a:lnSpc>
              <a:buFont typeface="Wingdings" panose="05000000000000000000" pitchFamily="2" charset="2"/>
              <a:buChar char="§"/>
            </a:pPr>
            <a:r>
              <a:rPr lang="en-US" sz="1800" dirty="0">
                <a:solidFill>
                  <a:schemeClr val="tx2">
                    <a:lumMod val="50000"/>
                  </a:schemeClr>
                </a:solidFill>
              </a:rPr>
              <a:t>SGSM offers authentication and attains integrity</a:t>
            </a:r>
          </a:p>
          <a:p>
            <a:pPr marL="457200" indent="-457200" algn="just">
              <a:lnSpc>
                <a:spcPct val="100000"/>
              </a:lnSpc>
              <a:buFont typeface="Wingdings" panose="05000000000000000000" pitchFamily="2" charset="2"/>
              <a:buChar char="§"/>
            </a:pPr>
            <a:r>
              <a:rPr lang="en-US" sz="1800" dirty="0">
                <a:solidFill>
                  <a:schemeClr val="tx2">
                    <a:lumMod val="50000"/>
                  </a:schemeClr>
                </a:solidFill>
              </a:rPr>
              <a:t>SGSM is Lightweight</a:t>
            </a:r>
          </a:p>
          <a:p>
            <a:pPr marL="457200" indent="-457200" algn="just">
              <a:lnSpc>
                <a:spcPct val="100000"/>
              </a:lnSpc>
              <a:buFont typeface="Wingdings" panose="05000000000000000000" pitchFamily="2" charset="2"/>
              <a:buChar char="§"/>
            </a:pPr>
            <a:r>
              <a:rPr lang="en-US" sz="1800" dirty="0">
                <a:solidFill>
                  <a:schemeClr val="tx2">
                    <a:lumMod val="50000"/>
                  </a:schemeClr>
                </a:solidFill>
              </a:rPr>
              <a:t>SGSM detects and mitigates DoS attacks</a:t>
            </a:r>
          </a:p>
          <a:p>
            <a:pPr marL="457200" indent="-457200" algn="just">
              <a:lnSpc>
                <a:spcPct val="100000"/>
              </a:lnSpc>
              <a:buFont typeface="Wingdings" panose="05000000000000000000" pitchFamily="2" charset="2"/>
              <a:buChar char="§"/>
            </a:pPr>
            <a:r>
              <a:rPr lang="en-US" sz="1800" dirty="0">
                <a:solidFill>
                  <a:schemeClr val="tx2">
                    <a:lumMod val="50000"/>
                  </a:schemeClr>
                </a:solidFill>
              </a:rPr>
              <a:t>SGSM detects and mitigates FDIA attacks</a:t>
            </a:r>
          </a:p>
          <a:p>
            <a:pPr marL="457200" indent="-457200" algn="just">
              <a:lnSpc>
                <a:spcPct val="100000"/>
              </a:lnSpc>
              <a:buFont typeface="Wingdings" panose="05000000000000000000" pitchFamily="2" charset="2"/>
              <a:buChar char="§"/>
            </a:pPr>
            <a:r>
              <a:rPr lang="en-US" sz="1800" dirty="0">
                <a:solidFill>
                  <a:schemeClr val="tx2">
                    <a:lumMod val="50000"/>
                  </a:schemeClr>
                </a:solidFill>
              </a:rPr>
              <a:t>SGSM detects and mitigates Replay attacks</a:t>
            </a:r>
          </a:p>
          <a:p>
            <a:pPr marL="457200" indent="-457200" algn="just">
              <a:lnSpc>
                <a:spcPct val="100000"/>
              </a:lnSpc>
              <a:buFont typeface="Wingdings" panose="05000000000000000000" pitchFamily="2" charset="2"/>
              <a:buChar char="§"/>
            </a:pPr>
            <a:endParaRPr lang="en-US" sz="2000" dirty="0">
              <a:solidFill>
                <a:schemeClr val="tx2">
                  <a:lumMod val="50000"/>
                </a:schemeClr>
              </a:solidFill>
            </a:endParaRPr>
          </a:p>
        </p:txBody>
      </p:sp>
      <p:graphicFrame>
        <p:nvGraphicFramePr>
          <p:cNvPr id="4" name="Table 3">
            <a:extLst>
              <a:ext uri="{FF2B5EF4-FFF2-40B4-BE49-F238E27FC236}">
                <a16:creationId xmlns:a16="http://schemas.microsoft.com/office/drawing/2014/main" id="{8F778492-8CFA-B66A-ECB7-99FA2BB6A52C}"/>
              </a:ext>
            </a:extLst>
          </p:cNvPr>
          <p:cNvGraphicFramePr>
            <a:graphicFrameLocks noGrp="1"/>
          </p:cNvGraphicFramePr>
          <p:nvPr>
            <p:extLst>
              <p:ext uri="{D42A27DB-BD31-4B8C-83A1-F6EECF244321}">
                <p14:modId xmlns:p14="http://schemas.microsoft.com/office/powerpoint/2010/main" val="2750680422"/>
              </p:ext>
            </p:extLst>
          </p:nvPr>
        </p:nvGraphicFramePr>
        <p:xfrm>
          <a:off x="6134735" y="1380836"/>
          <a:ext cx="5523865" cy="4079440"/>
        </p:xfrm>
        <a:graphic>
          <a:graphicData uri="http://schemas.openxmlformats.org/drawingml/2006/table">
            <a:tbl>
              <a:tblPr firstRow="1" firstCol="1" bandRow="1">
                <a:tableStyleId>{5C22544A-7EE6-4342-B048-85BDC9FD1C3A}</a:tableStyleId>
              </a:tblPr>
              <a:tblGrid>
                <a:gridCol w="1285240">
                  <a:extLst>
                    <a:ext uri="{9D8B030D-6E8A-4147-A177-3AD203B41FA5}">
                      <a16:colId xmlns:a16="http://schemas.microsoft.com/office/drawing/2014/main" val="949044433"/>
                    </a:ext>
                  </a:extLst>
                </a:gridCol>
                <a:gridCol w="1009015">
                  <a:extLst>
                    <a:ext uri="{9D8B030D-6E8A-4147-A177-3AD203B41FA5}">
                      <a16:colId xmlns:a16="http://schemas.microsoft.com/office/drawing/2014/main" val="1809967575"/>
                    </a:ext>
                  </a:extLst>
                </a:gridCol>
                <a:gridCol w="1120140">
                  <a:extLst>
                    <a:ext uri="{9D8B030D-6E8A-4147-A177-3AD203B41FA5}">
                      <a16:colId xmlns:a16="http://schemas.microsoft.com/office/drawing/2014/main" val="1514925127"/>
                    </a:ext>
                  </a:extLst>
                </a:gridCol>
                <a:gridCol w="1120140">
                  <a:extLst>
                    <a:ext uri="{9D8B030D-6E8A-4147-A177-3AD203B41FA5}">
                      <a16:colId xmlns:a16="http://schemas.microsoft.com/office/drawing/2014/main" val="2199265336"/>
                    </a:ext>
                  </a:extLst>
                </a:gridCol>
                <a:gridCol w="989330">
                  <a:extLst>
                    <a:ext uri="{9D8B030D-6E8A-4147-A177-3AD203B41FA5}">
                      <a16:colId xmlns:a16="http://schemas.microsoft.com/office/drawing/2014/main" val="3532131669"/>
                    </a:ext>
                  </a:extLst>
                </a:gridCol>
              </a:tblGrid>
              <a:tr h="533400">
                <a:tc rowSpan="2">
                  <a:txBody>
                    <a:bodyPr/>
                    <a:lstStyle/>
                    <a:p>
                      <a:pPr marL="0" marR="0" algn="ctr">
                        <a:spcBef>
                          <a:spcPts val="200"/>
                        </a:spcBef>
                        <a:spcAft>
                          <a:spcPts val="200"/>
                        </a:spcAft>
                      </a:pPr>
                      <a:r>
                        <a:rPr lang="en-US" sz="1200" dirty="0">
                          <a:effectLst/>
                        </a:rPr>
                        <a:t>Attribute</a:t>
                      </a:r>
                      <a:endParaRPr lang="en-US" sz="12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4">
                  <a:txBody>
                    <a:bodyPr/>
                    <a:lstStyle/>
                    <a:p>
                      <a:pPr marL="0" marR="0" algn="ctr">
                        <a:spcBef>
                          <a:spcPts val="200"/>
                        </a:spcBef>
                        <a:spcAft>
                          <a:spcPts val="200"/>
                        </a:spcAft>
                      </a:pPr>
                      <a:r>
                        <a:rPr lang="en-US" sz="1200" dirty="0">
                          <a:effectLst/>
                        </a:rPr>
                        <a:t>Mechanism</a:t>
                      </a:r>
                      <a:endParaRPr lang="en-US" sz="12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4066280685"/>
                  </a:ext>
                </a:extLst>
              </a:tr>
              <a:tr h="598516">
                <a:tc vMerge="1">
                  <a:txBody>
                    <a:bodyPr/>
                    <a:lstStyle/>
                    <a:p>
                      <a:endParaRPr lang="en-US"/>
                    </a:p>
                  </a:txBody>
                  <a:tcPr/>
                </a:tc>
                <a:tc>
                  <a:txBody>
                    <a:bodyPr/>
                    <a:lstStyle/>
                    <a:p>
                      <a:pPr marL="0" marR="0" algn="ctr">
                        <a:spcBef>
                          <a:spcPts val="200"/>
                        </a:spcBef>
                        <a:spcAft>
                          <a:spcPts val="200"/>
                        </a:spcAft>
                      </a:pPr>
                      <a:r>
                        <a:rPr lang="en-US" sz="1200" b="1" dirty="0">
                          <a:effectLst/>
                        </a:rPr>
                        <a:t>Standard SECS/GEM</a:t>
                      </a:r>
                      <a:endParaRPr lang="en-US" sz="1200" b="1"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lang="en-US" sz="1200" b="1" dirty="0">
                          <a:effectLst/>
                        </a:rPr>
                        <a:t>Secured SECS/GEM</a:t>
                      </a:r>
                      <a:endParaRPr lang="en-US" sz="1200" b="1"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lang="en-US" sz="1200" b="1" dirty="0">
                          <a:effectLst/>
                        </a:rPr>
                        <a:t>SECS/GEMsec</a:t>
                      </a:r>
                      <a:endParaRPr lang="en-US" sz="1200" b="1"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lang="en-US" sz="1200" b="1" dirty="0">
                          <a:effectLst/>
                        </a:rPr>
                        <a:t>SGSM</a:t>
                      </a:r>
                      <a:endParaRPr lang="en-US" sz="1200" b="1"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5688387"/>
                  </a:ext>
                </a:extLst>
              </a:tr>
              <a:tr h="299258">
                <a:tc>
                  <a:txBody>
                    <a:bodyPr/>
                    <a:lstStyle/>
                    <a:p>
                      <a:pPr marL="0" marR="0" algn="ctr">
                        <a:spcBef>
                          <a:spcPts val="200"/>
                        </a:spcBef>
                        <a:spcAft>
                          <a:spcPts val="200"/>
                        </a:spcAft>
                      </a:pPr>
                      <a:r>
                        <a:rPr lang="en-US" sz="1200" dirty="0">
                          <a:effectLst/>
                        </a:rPr>
                        <a:t>Multi-featured</a:t>
                      </a:r>
                      <a:endParaRPr lang="en-US" sz="12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lang="en-US" sz="1800" b="1" dirty="0">
                          <a:solidFill>
                            <a:srgbClr val="C00000"/>
                          </a:solidFill>
                          <a:effectLst/>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dirty="0">
                        <a:solidFill>
                          <a:srgbClr val="C00000"/>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kumimoji="0" lang="en-US" sz="1800" b="1" i="0" u="none" strike="noStrike" kern="1200" cap="none" spc="0" normalizeH="0" baseline="0" noProof="0" dirty="0">
                          <a:ln>
                            <a:noFill/>
                          </a:ln>
                          <a:solidFill>
                            <a:srgbClr val="C00000"/>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dirty="0">
                        <a:solidFill>
                          <a:srgbClr val="C00000"/>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kumimoji="0" lang="en-US" sz="1800" b="1" i="0" u="none" strike="noStrike" kern="1200" cap="none" spc="0" normalizeH="0" baseline="0" noProof="0" dirty="0">
                          <a:ln>
                            <a:noFill/>
                          </a:ln>
                          <a:solidFill>
                            <a:srgbClr val="C00000"/>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dirty="0">
                        <a:solidFill>
                          <a:srgbClr val="C00000"/>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200"/>
                        </a:spcBef>
                        <a:spcAft>
                          <a:spcPts val="200"/>
                        </a:spcAft>
                        <a:buClrTx/>
                        <a:buSzTx/>
                        <a:buFontTx/>
                        <a:buNone/>
                        <a:tabLst/>
                        <a:defRPr/>
                      </a:pPr>
                      <a:r>
                        <a:rPr lang="en-US" sz="1800" b="1" dirty="0">
                          <a:solidFill>
                            <a:schemeClr val="accent6">
                              <a:lumMod val="75000"/>
                            </a:schemeClr>
                          </a:solidFill>
                          <a:effectLst/>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dirty="0">
                        <a:solidFill>
                          <a:schemeClr val="accent6">
                            <a:lumMod val="75000"/>
                          </a:schemeClr>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1659205"/>
                  </a:ext>
                </a:extLst>
              </a:tr>
              <a:tr h="299258">
                <a:tc>
                  <a:txBody>
                    <a:bodyPr/>
                    <a:lstStyle/>
                    <a:p>
                      <a:pPr marL="0" marR="0" algn="ctr">
                        <a:spcBef>
                          <a:spcPts val="200"/>
                        </a:spcBef>
                        <a:spcAft>
                          <a:spcPts val="200"/>
                        </a:spcAft>
                      </a:pPr>
                      <a:r>
                        <a:rPr lang="en-US" sz="1200">
                          <a:effectLst/>
                        </a:rPr>
                        <a:t>Customizable</a:t>
                      </a:r>
                      <a:endParaRPr lang="en-US" sz="12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kumimoji="0" lang="en-US" sz="1800" b="1" i="0" u="none" strike="noStrike" kern="1200" cap="none" spc="0" normalizeH="0" baseline="0" noProof="0" dirty="0">
                          <a:ln>
                            <a:noFill/>
                          </a:ln>
                          <a:solidFill>
                            <a:srgbClr val="C00000"/>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dirty="0">
                        <a:solidFill>
                          <a:srgbClr val="C00000"/>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kumimoji="0" lang="en-US" sz="1800" b="1" i="0" u="none" strike="noStrike" kern="1200" cap="none" spc="0" normalizeH="0" baseline="0" noProof="0" dirty="0">
                          <a:ln>
                            <a:noFill/>
                          </a:ln>
                          <a:solidFill>
                            <a:srgbClr val="C00000"/>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dirty="0">
                        <a:solidFill>
                          <a:srgbClr val="C00000"/>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kumimoji="0" lang="en-US" sz="1800" b="1" i="0" u="none" strike="noStrike" kern="1200" cap="none" spc="0" normalizeH="0" baseline="0" noProof="0" dirty="0">
                          <a:ln>
                            <a:noFill/>
                          </a:ln>
                          <a:solidFill>
                            <a:srgbClr val="C00000"/>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dirty="0">
                        <a:solidFill>
                          <a:srgbClr val="C00000"/>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lang="en-US" sz="1800" b="1" dirty="0">
                          <a:solidFill>
                            <a:schemeClr val="accent6">
                              <a:lumMod val="75000"/>
                            </a:schemeClr>
                          </a:solidFill>
                          <a:effectLst/>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dirty="0">
                        <a:solidFill>
                          <a:schemeClr val="accent6">
                            <a:lumMod val="75000"/>
                          </a:schemeClr>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23691249"/>
                  </a:ext>
                </a:extLst>
              </a:tr>
              <a:tr h="299258">
                <a:tc>
                  <a:txBody>
                    <a:bodyPr/>
                    <a:lstStyle/>
                    <a:p>
                      <a:pPr marL="0" marR="0" algn="ctr">
                        <a:spcBef>
                          <a:spcPts val="200"/>
                        </a:spcBef>
                        <a:spcAft>
                          <a:spcPts val="200"/>
                        </a:spcAft>
                      </a:pPr>
                      <a:r>
                        <a:rPr lang="en-US" sz="1200">
                          <a:effectLst/>
                        </a:rPr>
                        <a:t>Authentication</a:t>
                      </a:r>
                      <a:endParaRPr lang="en-US" sz="12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kumimoji="0" lang="en-US" sz="1800" b="1" i="0" u="none" strike="noStrike" kern="1200" cap="none" spc="0" normalizeH="0" baseline="0" noProof="0" dirty="0">
                          <a:ln>
                            <a:noFill/>
                          </a:ln>
                          <a:solidFill>
                            <a:srgbClr val="C00000"/>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dirty="0">
                        <a:solidFill>
                          <a:srgbClr val="C00000"/>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kumimoji="0" lang="en-US" sz="1800" b="1" i="0" u="none" strike="noStrike" kern="1200" cap="none" spc="0" normalizeH="0" baseline="0" noProof="0" dirty="0">
                          <a:ln>
                            <a:noFill/>
                          </a:ln>
                          <a:solidFill>
                            <a:schemeClr val="accent6">
                              <a:lumMod val="75000"/>
                            </a:schemeClr>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r>
                        <a:rPr kumimoji="0" lang="en-US" sz="1800" b="1" i="0" u="none" strike="noStrike" kern="1200" cap="none" spc="0" normalizeH="0" baseline="30000" noProof="0" dirty="0">
                          <a:ln>
                            <a:noFill/>
                          </a:ln>
                          <a:solidFill>
                            <a:schemeClr val="accent1">
                              <a:lumMod val="75000"/>
                            </a:schemeClr>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baseline="30000" dirty="0">
                        <a:solidFill>
                          <a:schemeClr val="accent1">
                            <a:lumMod val="75000"/>
                          </a:schemeClr>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kumimoji="0" lang="en-US" sz="1800" b="1" i="0" u="none" strike="noStrike" kern="1200" cap="none" spc="0" normalizeH="0" baseline="0" noProof="0" dirty="0">
                          <a:ln>
                            <a:noFill/>
                          </a:ln>
                          <a:solidFill>
                            <a:schemeClr val="accent6">
                              <a:lumMod val="75000"/>
                            </a:schemeClr>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dirty="0">
                        <a:solidFill>
                          <a:schemeClr val="accent6">
                            <a:lumMod val="75000"/>
                          </a:schemeClr>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kumimoji="0" lang="en-US" sz="1800" b="1" i="0" u="none" strike="noStrike" kern="1200" cap="none" spc="0" normalizeH="0" baseline="0" noProof="0" dirty="0">
                          <a:ln>
                            <a:noFill/>
                          </a:ln>
                          <a:solidFill>
                            <a:schemeClr val="accent6">
                              <a:lumMod val="75000"/>
                            </a:schemeClr>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dirty="0">
                        <a:solidFill>
                          <a:schemeClr val="accent6">
                            <a:lumMod val="75000"/>
                          </a:schemeClr>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37827952"/>
                  </a:ext>
                </a:extLst>
              </a:tr>
              <a:tr h="299258">
                <a:tc>
                  <a:txBody>
                    <a:bodyPr/>
                    <a:lstStyle/>
                    <a:p>
                      <a:pPr marL="0" marR="0" algn="ctr">
                        <a:spcBef>
                          <a:spcPts val="200"/>
                        </a:spcBef>
                        <a:spcAft>
                          <a:spcPts val="200"/>
                        </a:spcAft>
                      </a:pPr>
                      <a:r>
                        <a:rPr lang="en-US" sz="1200">
                          <a:effectLst/>
                        </a:rPr>
                        <a:t>Confidentiality</a:t>
                      </a:r>
                      <a:endParaRPr lang="en-US" sz="12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kumimoji="0" lang="en-US" sz="1800" b="1" i="0" u="none" strike="noStrike" kern="1200" cap="none" spc="0" normalizeH="0" baseline="0" noProof="0" dirty="0">
                          <a:ln>
                            <a:noFill/>
                          </a:ln>
                          <a:solidFill>
                            <a:srgbClr val="C00000"/>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dirty="0">
                        <a:solidFill>
                          <a:srgbClr val="C00000"/>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kumimoji="0" lang="en-US" sz="1800" b="1" i="0" u="none" strike="noStrike" kern="1200" cap="none" spc="0" normalizeH="0" baseline="0" noProof="0" dirty="0">
                          <a:ln>
                            <a:noFill/>
                          </a:ln>
                          <a:solidFill>
                            <a:schemeClr val="accent6">
                              <a:lumMod val="75000"/>
                            </a:schemeClr>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r>
                        <a:rPr kumimoji="0" lang="en-US" sz="1800" b="1" i="0" u="none" strike="noStrike" kern="1200" cap="none" spc="0" normalizeH="0" baseline="30000" noProof="0" dirty="0">
                          <a:ln>
                            <a:noFill/>
                          </a:ln>
                          <a:solidFill>
                            <a:schemeClr val="accent1">
                              <a:lumMod val="75000"/>
                            </a:schemeClr>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baseline="30000" dirty="0">
                        <a:solidFill>
                          <a:schemeClr val="accent1">
                            <a:lumMod val="75000"/>
                          </a:schemeClr>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kumimoji="0" lang="en-US" sz="1800" b="1" i="0" u="none" strike="noStrike" kern="1200" cap="none" spc="0" normalizeH="0" baseline="0" noProof="0" dirty="0">
                          <a:ln>
                            <a:noFill/>
                          </a:ln>
                          <a:solidFill>
                            <a:srgbClr val="C00000"/>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dirty="0">
                        <a:solidFill>
                          <a:schemeClr val="accent6">
                            <a:lumMod val="75000"/>
                          </a:schemeClr>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kumimoji="0" lang="en-US" sz="1800" b="1" i="0" u="none" strike="noStrike" kern="1200" cap="none" spc="0" normalizeH="0" baseline="0" noProof="0" dirty="0">
                          <a:ln>
                            <a:noFill/>
                          </a:ln>
                          <a:solidFill>
                            <a:schemeClr val="accent6">
                              <a:lumMod val="75000"/>
                            </a:schemeClr>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dirty="0">
                        <a:solidFill>
                          <a:schemeClr val="accent6">
                            <a:lumMod val="75000"/>
                          </a:schemeClr>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31248101"/>
                  </a:ext>
                </a:extLst>
              </a:tr>
              <a:tr h="299258">
                <a:tc>
                  <a:txBody>
                    <a:bodyPr/>
                    <a:lstStyle/>
                    <a:p>
                      <a:pPr marL="0" marR="0" algn="ctr">
                        <a:spcBef>
                          <a:spcPts val="200"/>
                        </a:spcBef>
                        <a:spcAft>
                          <a:spcPts val="200"/>
                        </a:spcAft>
                      </a:pPr>
                      <a:r>
                        <a:rPr lang="en-US" sz="1200">
                          <a:effectLst/>
                        </a:rPr>
                        <a:t>Integrity</a:t>
                      </a:r>
                      <a:endParaRPr lang="en-US" sz="12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kumimoji="0" lang="en-US" sz="1800" b="1" i="0" u="none" strike="noStrike" kern="1200" cap="none" spc="0" normalizeH="0" baseline="0" noProof="0" dirty="0">
                          <a:ln>
                            <a:noFill/>
                          </a:ln>
                          <a:solidFill>
                            <a:srgbClr val="C00000"/>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dirty="0">
                        <a:solidFill>
                          <a:srgbClr val="C00000"/>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kumimoji="0" lang="en-US" sz="1800" b="1" i="0" u="none" strike="noStrike" kern="1200" cap="none" spc="0" normalizeH="0" baseline="0" noProof="0" dirty="0">
                          <a:ln>
                            <a:noFill/>
                          </a:ln>
                          <a:solidFill>
                            <a:schemeClr val="accent6">
                              <a:lumMod val="75000"/>
                            </a:schemeClr>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r>
                        <a:rPr kumimoji="0" lang="en-US" sz="1800" b="1" i="0" u="none" strike="noStrike" kern="1200" cap="none" spc="0" normalizeH="0" baseline="30000" noProof="0" dirty="0">
                          <a:ln>
                            <a:noFill/>
                          </a:ln>
                          <a:solidFill>
                            <a:schemeClr val="accent1">
                              <a:lumMod val="75000"/>
                            </a:schemeClr>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baseline="30000" dirty="0">
                        <a:solidFill>
                          <a:schemeClr val="accent1">
                            <a:lumMod val="75000"/>
                          </a:schemeClr>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kumimoji="0" lang="en-US" sz="1800" b="1" i="0" u="none" strike="noStrike" kern="1200" cap="none" spc="0" normalizeH="0" baseline="0" noProof="0" dirty="0">
                          <a:ln>
                            <a:noFill/>
                          </a:ln>
                          <a:solidFill>
                            <a:schemeClr val="accent6">
                              <a:lumMod val="75000"/>
                            </a:schemeClr>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dirty="0">
                        <a:solidFill>
                          <a:schemeClr val="accent6">
                            <a:lumMod val="75000"/>
                          </a:schemeClr>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kumimoji="0" lang="en-US" sz="1800" b="1" i="0" u="none" strike="noStrike" kern="1200" cap="none" spc="0" normalizeH="0" baseline="0" noProof="0" dirty="0">
                          <a:ln>
                            <a:noFill/>
                          </a:ln>
                          <a:solidFill>
                            <a:schemeClr val="accent6">
                              <a:lumMod val="75000"/>
                            </a:schemeClr>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dirty="0">
                        <a:solidFill>
                          <a:schemeClr val="accent6">
                            <a:lumMod val="75000"/>
                          </a:schemeClr>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28630863"/>
                  </a:ext>
                </a:extLst>
              </a:tr>
              <a:tr h="299258">
                <a:tc>
                  <a:txBody>
                    <a:bodyPr/>
                    <a:lstStyle/>
                    <a:p>
                      <a:pPr marL="0" marR="0" algn="ctr">
                        <a:spcBef>
                          <a:spcPts val="200"/>
                        </a:spcBef>
                        <a:spcAft>
                          <a:spcPts val="200"/>
                        </a:spcAft>
                      </a:pPr>
                      <a:r>
                        <a:rPr lang="en-US" sz="1200">
                          <a:effectLst/>
                        </a:rPr>
                        <a:t>Lightweight</a:t>
                      </a:r>
                      <a:endParaRPr lang="en-US" sz="12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lang="en-US" sz="1800" b="1" kern="1200" dirty="0">
                          <a:solidFill>
                            <a:schemeClr val="tx1">
                              <a:lumMod val="50000"/>
                              <a:lumOff val="50000"/>
                            </a:schemeClr>
                          </a:solidFill>
                          <a:effectLst/>
                          <a:latin typeface="+mn-lt"/>
                          <a:ea typeface="+mn-ea"/>
                          <a:cs typeface="+mn-cs"/>
                        </a:rPr>
                        <a:t>–</a:t>
                      </a:r>
                      <a:endParaRPr lang="en-US" sz="1800" b="1" dirty="0">
                        <a:solidFill>
                          <a:schemeClr val="tx1">
                            <a:lumMod val="50000"/>
                            <a:lumOff val="50000"/>
                          </a:schemeClr>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kumimoji="0" lang="en-US" sz="1800" b="1" i="0" u="none" strike="noStrike" kern="1200" cap="none" spc="0" normalizeH="0" baseline="0" noProof="0" dirty="0">
                          <a:ln>
                            <a:noFill/>
                          </a:ln>
                          <a:solidFill>
                            <a:schemeClr val="accent6">
                              <a:lumMod val="75000"/>
                            </a:schemeClr>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dirty="0">
                        <a:solidFill>
                          <a:schemeClr val="accent6">
                            <a:lumMod val="75000"/>
                          </a:schemeClr>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lang="en-US" sz="1800" b="1" dirty="0">
                          <a:solidFill>
                            <a:srgbClr val="C00000"/>
                          </a:solidFill>
                          <a:effectLst/>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dirty="0">
                        <a:solidFill>
                          <a:srgbClr val="C00000"/>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kumimoji="0" lang="en-US" sz="1800" b="1" i="0" u="none" strike="noStrike" kern="1200" cap="none" spc="0" normalizeH="0" baseline="0" noProof="0" dirty="0">
                          <a:ln>
                            <a:noFill/>
                          </a:ln>
                          <a:solidFill>
                            <a:schemeClr val="accent6">
                              <a:lumMod val="75000"/>
                            </a:schemeClr>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dirty="0">
                        <a:solidFill>
                          <a:schemeClr val="accent6">
                            <a:lumMod val="75000"/>
                          </a:schemeClr>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6579402"/>
                  </a:ext>
                </a:extLst>
              </a:tr>
              <a:tr h="405216">
                <a:tc>
                  <a:txBody>
                    <a:bodyPr/>
                    <a:lstStyle/>
                    <a:p>
                      <a:pPr marL="0" marR="0" algn="ctr">
                        <a:spcBef>
                          <a:spcPts val="200"/>
                        </a:spcBef>
                        <a:spcAft>
                          <a:spcPts val="200"/>
                        </a:spcAft>
                      </a:pPr>
                      <a:r>
                        <a:rPr lang="en-US" sz="1200">
                          <a:effectLst/>
                        </a:rPr>
                        <a:t>DoS Attack Resilient</a:t>
                      </a:r>
                      <a:endParaRPr lang="en-US" sz="12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kumimoji="0" lang="en-US" sz="1800" b="1" i="0" u="none" strike="noStrike" kern="1200" cap="none" spc="0" normalizeH="0" baseline="0" noProof="0" dirty="0">
                          <a:ln>
                            <a:noFill/>
                          </a:ln>
                          <a:solidFill>
                            <a:srgbClr val="C00000"/>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dirty="0">
                        <a:solidFill>
                          <a:srgbClr val="C00000"/>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kumimoji="0" lang="en-US" sz="1800" b="1" i="0" u="none" strike="noStrike" kern="1200" cap="none" spc="0" normalizeH="0" baseline="0" noProof="0" dirty="0">
                          <a:ln>
                            <a:noFill/>
                          </a:ln>
                          <a:solidFill>
                            <a:srgbClr val="C00000"/>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dirty="0">
                        <a:solidFill>
                          <a:srgbClr val="C00000"/>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kumimoji="0" lang="en-US" sz="1800" b="1" i="0" u="none" strike="noStrike" kern="1200" cap="none" spc="0" normalizeH="0" baseline="0" noProof="0" dirty="0">
                          <a:ln>
                            <a:noFill/>
                          </a:ln>
                          <a:solidFill>
                            <a:schemeClr val="accent6">
                              <a:lumMod val="75000"/>
                            </a:schemeClr>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dirty="0">
                        <a:solidFill>
                          <a:schemeClr val="accent6">
                            <a:lumMod val="75000"/>
                          </a:schemeClr>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kumimoji="0" lang="en-US" sz="1800" b="1" i="0" u="none" strike="noStrike" kern="1200" cap="none" spc="0" normalizeH="0" baseline="0" noProof="0" dirty="0">
                          <a:ln>
                            <a:noFill/>
                          </a:ln>
                          <a:solidFill>
                            <a:schemeClr val="accent6">
                              <a:lumMod val="75000"/>
                            </a:schemeClr>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dirty="0">
                        <a:solidFill>
                          <a:schemeClr val="accent6">
                            <a:lumMod val="75000"/>
                          </a:schemeClr>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6038688"/>
                  </a:ext>
                </a:extLst>
              </a:tr>
              <a:tr h="381000">
                <a:tc>
                  <a:txBody>
                    <a:bodyPr/>
                    <a:lstStyle/>
                    <a:p>
                      <a:pPr marL="0" marR="0" algn="ctr">
                        <a:spcBef>
                          <a:spcPts val="200"/>
                        </a:spcBef>
                        <a:spcAft>
                          <a:spcPts val="200"/>
                        </a:spcAft>
                      </a:pPr>
                      <a:r>
                        <a:rPr lang="en-US" sz="1200">
                          <a:effectLst/>
                        </a:rPr>
                        <a:t>Replay Attack Resilient</a:t>
                      </a:r>
                      <a:endParaRPr lang="en-US" sz="120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kumimoji="0" lang="en-US" sz="1800" b="1" i="0" u="none" strike="noStrike" kern="1200" cap="none" spc="0" normalizeH="0" baseline="0" noProof="0" dirty="0">
                          <a:ln>
                            <a:noFill/>
                          </a:ln>
                          <a:solidFill>
                            <a:srgbClr val="C00000"/>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dirty="0">
                        <a:solidFill>
                          <a:srgbClr val="C00000"/>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kumimoji="0" lang="en-US" sz="1800" b="1" i="0" u="none" strike="noStrike" kern="1200" cap="none" spc="0" normalizeH="0" baseline="0" noProof="0" dirty="0">
                          <a:ln>
                            <a:noFill/>
                          </a:ln>
                          <a:solidFill>
                            <a:srgbClr val="C00000"/>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dirty="0">
                        <a:solidFill>
                          <a:srgbClr val="C00000"/>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kumimoji="0" lang="en-US" sz="1800" b="1" i="0" u="none" strike="noStrike" kern="1200" cap="none" spc="0" normalizeH="0" baseline="0" noProof="0" dirty="0">
                          <a:ln>
                            <a:noFill/>
                          </a:ln>
                          <a:solidFill>
                            <a:schemeClr val="accent6">
                              <a:lumMod val="75000"/>
                            </a:schemeClr>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dirty="0">
                        <a:solidFill>
                          <a:schemeClr val="accent6">
                            <a:lumMod val="75000"/>
                          </a:schemeClr>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kumimoji="0" lang="en-US" sz="1800" b="1" i="0" u="none" strike="noStrike" kern="1200" cap="none" spc="0" normalizeH="0" baseline="0" noProof="0" dirty="0">
                          <a:ln>
                            <a:noFill/>
                          </a:ln>
                          <a:solidFill>
                            <a:schemeClr val="accent6">
                              <a:lumMod val="75000"/>
                            </a:schemeClr>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dirty="0">
                        <a:solidFill>
                          <a:schemeClr val="accent6">
                            <a:lumMod val="75000"/>
                          </a:schemeClr>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9324549"/>
                  </a:ext>
                </a:extLst>
              </a:tr>
              <a:tr h="235667">
                <a:tc>
                  <a:txBody>
                    <a:bodyPr/>
                    <a:lstStyle/>
                    <a:p>
                      <a:pPr marL="0" marR="0" algn="ctr">
                        <a:spcBef>
                          <a:spcPts val="200"/>
                        </a:spcBef>
                        <a:spcAft>
                          <a:spcPts val="200"/>
                        </a:spcAft>
                      </a:pPr>
                      <a:r>
                        <a:rPr lang="en-US" sz="1200" dirty="0">
                          <a:effectLst/>
                        </a:rPr>
                        <a:t>FDIA Attack</a:t>
                      </a:r>
                      <a:br>
                        <a:rPr lang="en-US" sz="1200" dirty="0">
                          <a:effectLst/>
                        </a:rPr>
                      </a:br>
                      <a:r>
                        <a:rPr lang="en-US" sz="1200" dirty="0">
                          <a:effectLst/>
                        </a:rPr>
                        <a:t>Resilient</a:t>
                      </a:r>
                      <a:endParaRPr lang="en-US" sz="1200" dirty="0">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kumimoji="0" lang="en-US" sz="1800" b="1" i="0" u="none" strike="noStrike" kern="1200" cap="none" spc="0" normalizeH="0" baseline="0" noProof="0" dirty="0">
                          <a:ln>
                            <a:noFill/>
                          </a:ln>
                          <a:solidFill>
                            <a:srgbClr val="C00000"/>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dirty="0">
                        <a:solidFill>
                          <a:srgbClr val="C00000"/>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kumimoji="0" lang="en-US" sz="1800" b="1" i="0" u="none" strike="noStrike" kern="1200" cap="none" spc="0" normalizeH="0" baseline="0" noProof="0" dirty="0">
                          <a:ln>
                            <a:noFill/>
                          </a:ln>
                          <a:solidFill>
                            <a:srgbClr val="C00000"/>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dirty="0">
                        <a:solidFill>
                          <a:srgbClr val="C00000"/>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kumimoji="0" lang="en-US" sz="1800" b="1" i="0" u="none" strike="noStrike" kern="1200" cap="none" spc="0" normalizeH="0" baseline="0" noProof="0" dirty="0">
                          <a:ln>
                            <a:noFill/>
                          </a:ln>
                          <a:solidFill>
                            <a:schemeClr val="accent6">
                              <a:lumMod val="75000"/>
                            </a:schemeClr>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dirty="0">
                        <a:solidFill>
                          <a:schemeClr val="accent6">
                            <a:lumMod val="75000"/>
                          </a:schemeClr>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spcBef>
                          <a:spcPts val="200"/>
                        </a:spcBef>
                        <a:spcAft>
                          <a:spcPts val="200"/>
                        </a:spcAft>
                      </a:pPr>
                      <a:r>
                        <a:rPr kumimoji="0" lang="en-US" sz="1800" b="1" i="0" u="none" strike="noStrike" kern="1200" cap="none" spc="0" normalizeH="0" baseline="0" noProof="0" dirty="0">
                          <a:ln>
                            <a:noFill/>
                          </a:ln>
                          <a:solidFill>
                            <a:schemeClr val="accent6">
                              <a:lumMod val="75000"/>
                            </a:schemeClr>
                          </a:solidFill>
                          <a:effectLst/>
                          <a:uLnTx/>
                          <a:uFillTx/>
                          <a:latin typeface="Times New Roman" panose="02020603050405020304" pitchFamily="18" charset="0"/>
                          <a:ea typeface="SimSun" panose="02010600030101010101" pitchFamily="2" charset="-122"/>
                          <a:cs typeface="Times New Roman" panose="02020603050405020304" pitchFamily="18" charset="0"/>
                          <a:sym typeface="Wingdings" panose="05000000000000000000" pitchFamily="2" charset="2"/>
                        </a:rPr>
                        <a:t></a:t>
                      </a:r>
                      <a:endParaRPr lang="en-US" sz="1800" b="1" dirty="0">
                        <a:solidFill>
                          <a:schemeClr val="accent6">
                            <a:lumMod val="75000"/>
                          </a:schemeClr>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067609"/>
                  </a:ext>
                </a:extLst>
              </a:tr>
            </a:tbl>
          </a:graphicData>
        </a:graphic>
      </p:graphicFrame>
      <p:sp>
        <p:nvSpPr>
          <p:cNvPr id="11" name="TextBox 10">
            <a:extLst>
              <a:ext uri="{FF2B5EF4-FFF2-40B4-BE49-F238E27FC236}">
                <a16:creationId xmlns:a16="http://schemas.microsoft.com/office/drawing/2014/main" id="{472C45D6-1A67-EC26-0833-06F426C789F5}"/>
              </a:ext>
            </a:extLst>
          </p:cNvPr>
          <p:cNvSpPr txBox="1"/>
          <p:nvPr/>
        </p:nvSpPr>
        <p:spPr>
          <a:xfrm>
            <a:off x="6096000" y="5463309"/>
            <a:ext cx="3505200" cy="261610"/>
          </a:xfrm>
          <a:prstGeom prst="rect">
            <a:avLst/>
          </a:prstGeom>
          <a:noFill/>
        </p:spPr>
        <p:txBody>
          <a:bodyPr wrap="square">
            <a:spAutoFit/>
          </a:bodyPr>
          <a:lstStyle/>
          <a:p>
            <a:r>
              <a:rPr lang="en-US" sz="1050" dirty="0">
                <a:effectLst/>
                <a:latin typeface="Times New Roman" panose="02020603050405020304" pitchFamily="18" charset="0"/>
                <a:ea typeface="SimSun" panose="02010600030101010101" pitchFamily="2" charset="-122"/>
              </a:rPr>
              <a:t>* represents data messages only</a:t>
            </a:r>
            <a:endParaRPr lang="en-US" sz="1050" dirty="0"/>
          </a:p>
        </p:txBody>
      </p:sp>
      <p:sp>
        <p:nvSpPr>
          <p:cNvPr id="13" name="TextBox 12">
            <a:extLst>
              <a:ext uri="{FF2B5EF4-FFF2-40B4-BE49-F238E27FC236}">
                <a16:creationId xmlns:a16="http://schemas.microsoft.com/office/drawing/2014/main" id="{10402B72-84A3-F12D-BBBA-BEC0A4B03005}"/>
              </a:ext>
            </a:extLst>
          </p:cNvPr>
          <p:cNvSpPr txBox="1"/>
          <p:nvPr/>
        </p:nvSpPr>
        <p:spPr>
          <a:xfrm>
            <a:off x="6096000" y="5688476"/>
            <a:ext cx="3505200" cy="261610"/>
          </a:xfrm>
          <a:prstGeom prst="rect">
            <a:avLst/>
          </a:prstGeom>
          <a:noFill/>
        </p:spPr>
        <p:txBody>
          <a:bodyPr wrap="square">
            <a:spAutoFit/>
          </a:bodyPr>
          <a:lstStyle/>
          <a:p>
            <a:r>
              <a:rPr lang="en-US" sz="1050" dirty="0">
                <a:effectLst/>
                <a:latin typeface="Times New Roman" panose="02020603050405020304" pitchFamily="18" charset="0"/>
                <a:ea typeface="SimSun" panose="02010600030101010101" pitchFamily="2" charset="-122"/>
              </a:rPr>
              <a:t>** Can support confidentiality)</a:t>
            </a:r>
            <a:endParaRPr lang="en-US" sz="1050" dirty="0"/>
          </a:p>
        </p:txBody>
      </p:sp>
    </p:spTree>
    <p:custDataLst>
      <p:tags r:id="rId1"/>
    </p:custDataLst>
    <p:extLst>
      <p:ext uri="{BB962C8B-B14F-4D97-AF65-F5344CB8AC3E}">
        <p14:creationId xmlns:p14="http://schemas.microsoft.com/office/powerpoint/2010/main" val="1011760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fauzisukiman\Desktop\template pp USM\page 2 n seterusnya\Header.jpg"/>
          <p:cNvPicPr>
            <a:picLocks noChangeAspect="1" noChangeArrowheads="1"/>
          </p:cNvPicPr>
          <p:nvPr/>
        </p:nvPicPr>
        <p:blipFill rotWithShape="1">
          <a:blip r:embed="rId4" cstate="print"/>
          <a:srcRect l="14375"/>
          <a:stretch/>
        </p:blipFill>
        <p:spPr bwMode="auto">
          <a:xfrm>
            <a:off x="1268881" y="0"/>
            <a:ext cx="10923119" cy="822960"/>
          </a:xfrm>
          <a:prstGeom prst="rect">
            <a:avLst/>
          </a:prstGeom>
          <a:noFill/>
        </p:spPr>
      </p:pic>
      <p:sp>
        <p:nvSpPr>
          <p:cNvPr id="6" name="Rectangle 5"/>
          <p:cNvSpPr/>
          <p:nvPr/>
        </p:nvSpPr>
        <p:spPr>
          <a:xfrm>
            <a:off x="1447800" y="76200"/>
            <a:ext cx="10363200" cy="707886"/>
          </a:xfrm>
          <a:prstGeom prst="rect">
            <a:avLst/>
          </a:prstGeom>
        </p:spPr>
        <p:txBody>
          <a:bodyPr wrap="square">
            <a:spAutoFit/>
          </a:bodyPr>
          <a:lstStyle/>
          <a:p>
            <a:r>
              <a:rPr lang="en-US" sz="4000" b="1" i="1" dirty="0">
                <a:solidFill>
                  <a:schemeClr val="bg1"/>
                </a:solidFill>
              </a:rPr>
              <a:t>Research Contribution</a:t>
            </a:r>
          </a:p>
        </p:txBody>
      </p:sp>
      <p:sp>
        <p:nvSpPr>
          <p:cNvPr id="2" name="Slide Number Placeholder 1"/>
          <p:cNvSpPr>
            <a:spLocks noGrp="1"/>
          </p:cNvSpPr>
          <p:nvPr>
            <p:ph type="sldNum" sz="quarter" idx="12"/>
          </p:nvPr>
        </p:nvSpPr>
        <p:spPr>
          <a:xfrm>
            <a:off x="9906000" y="6472826"/>
            <a:ext cx="2133600" cy="365125"/>
          </a:xfrm>
        </p:spPr>
        <p:txBody>
          <a:bodyPr/>
          <a:lstStyle/>
          <a:p>
            <a:fld id="{D4B39A3D-6E5B-421C-AA99-AA75690A48C6}" type="slidenum">
              <a:rPr lang="en-US" smtClean="0"/>
              <a:pPr/>
              <a:t>21</a:t>
            </a:fld>
            <a:endParaRPr lang="en-US" dirty="0"/>
          </a:p>
        </p:txBody>
      </p:sp>
      <p:pic>
        <p:nvPicPr>
          <p:cNvPr id="9" name="Picture 3"/>
          <p:cNvPicPr>
            <a:picLocks noChangeAspect="1" noChangeArrowheads="1"/>
          </p:cNvPicPr>
          <p:nvPr/>
        </p:nvPicPr>
        <p:blipFill>
          <a:blip r:embed="rId5" cstate="print">
            <a:clrChange>
              <a:clrFrom>
                <a:srgbClr val="FDFDFD"/>
              </a:clrFrom>
              <a:clrTo>
                <a:srgbClr val="FDFDFD">
                  <a:alpha val="0"/>
                </a:srgbClr>
              </a:clrTo>
            </a:clrChange>
          </a:blip>
          <a:srcRect/>
          <a:stretch>
            <a:fillRect/>
          </a:stretch>
        </p:blipFill>
        <p:spPr bwMode="auto">
          <a:xfrm>
            <a:off x="0" y="-1224"/>
            <a:ext cx="1268881" cy="824184"/>
          </a:xfrm>
          <a:prstGeom prst="rect">
            <a:avLst/>
          </a:prstGeom>
          <a:noFill/>
          <a:ln w="9525">
            <a:noFill/>
            <a:miter lim="800000"/>
            <a:headEnd/>
            <a:tailEnd/>
          </a:ln>
          <a:effectLst/>
        </p:spPr>
      </p:pic>
      <p:sp>
        <p:nvSpPr>
          <p:cNvPr id="8" name="Content Placeholder 7">
            <a:extLst>
              <a:ext uri="{FF2B5EF4-FFF2-40B4-BE49-F238E27FC236}">
                <a16:creationId xmlns:a16="http://schemas.microsoft.com/office/drawing/2014/main" id="{E85D7097-BBD4-FDB7-26DE-3B8210FAA386}"/>
              </a:ext>
            </a:extLst>
          </p:cNvPr>
          <p:cNvSpPr>
            <a:spLocks noGrp="1"/>
          </p:cNvSpPr>
          <p:nvPr>
            <p:ph idx="1"/>
          </p:nvPr>
        </p:nvSpPr>
        <p:spPr>
          <a:xfrm>
            <a:off x="533399" y="1371600"/>
            <a:ext cx="7467601" cy="4757550"/>
          </a:xfrm>
        </p:spPr>
        <p:txBody>
          <a:bodyPr>
            <a:noAutofit/>
          </a:bodyPr>
          <a:lstStyle/>
          <a:p>
            <a:pPr marL="457200" indent="-457200" algn="just">
              <a:lnSpc>
                <a:spcPct val="100000"/>
              </a:lnSpc>
              <a:buFont typeface="Wingdings" panose="05000000000000000000" pitchFamily="2" charset="2"/>
              <a:buChar char="§"/>
            </a:pPr>
            <a:r>
              <a:rPr lang="en-US" sz="1600" dirty="0">
                <a:solidFill>
                  <a:schemeClr val="tx2">
                    <a:lumMod val="50000"/>
                  </a:schemeClr>
                </a:solidFill>
              </a:rPr>
              <a:t>Proof of Concept that SECS/GEM protocol is vulnerable to cyber-attacks</a:t>
            </a:r>
          </a:p>
          <a:p>
            <a:pPr marL="457200" indent="-457200" algn="just">
              <a:lnSpc>
                <a:spcPct val="100000"/>
              </a:lnSpc>
              <a:buFont typeface="Wingdings" panose="05000000000000000000" pitchFamily="2" charset="2"/>
              <a:buChar char="§"/>
            </a:pPr>
            <a:r>
              <a:rPr lang="en-US" sz="1600" dirty="0">
                <a:solidFill>
                  <a:schemeClr val="tx2">
                    <a:lumMod val="50000"/>
                  </a:schemeClr>
                </a:solidFill>
              </a:rPr>
              <a:t>Testbed design for performance evaluation</a:t>
            </a:r>
          </a:p>
          <a:p>
            <a:pPr marL="457200" indent="-457200" algn="just">
              <a:lnSpc>
                <a:spcPct val="100000"/>
              </a:lnSpc>
              <a:buFont typeface="Wingdings" panose="05000000000000000000" pitchFamily="2" charset="2"/>
              <a:buChar char="§"/>
            </a:pPr>
            <a:r>
              <a:rPr lang="en-US" sz="1600" dirty="0">
                <a:solidFill>
                  <a:schemeClr val="tx2">
                    <a:lumMod val="50000"/>
                  </a:schemeClr>
                </a:solidFill>
              </a:rPr>
              <a:t>SGSM is among the first attempts to secure SECS/GEM communications</a:t>
            </a:r>
          </a:p>
          <a:p>
            <a:pPr marL="457200" indent="-457200" algn="just">
              <a:lnSpc>
                <a:spcPct val="100000"/>
              </a:lnSpc>
              <a:buFont typeface="Wingdings" panose="05000000000000000000" pitchFamily="2" charset="2"/>
              <a:buChar char="§"/>
            </a:pPr>
            <a:r>
              <a:rPr lang="en-US" sz="1600" dirty="0">
                <a:solidFill>
                  <a:schemeClr val="tx2">
                    <a:lumMod val="50000"/>
                  </a:schemeClr>
                </a:solidFill>
              </a:rPr>
              <a:t>SGSM is highly configurable and allows adaptations to the desired security level</a:t>
            </a:r>
          </a:p>
          <a:p>
            <a:pPr marL="457200" indent="-457200" algn="just">
              <a:lnSpc>
                <a:spcPct val="100000"/>
              </a:lnSpc>
              <a:buFont typeface="Wingdings" panose="05000000000000000000" pitchFamily="2" charset="2"/>
              <a:buChar char="§"/>
            </a:pPr>
            <a:r>
              <a:rPr lang="en-US" sz="1600" dirty="0">
                <a:solidFill>
                  <a:schemeClr val="tx2">
                    <a:lumMod val="50000"/>
                  </a:schemeClr>
                </a:solidFill>
              </a:rPr>
              <a:t>SGSM attains authentication and integrity</a:t>
            </a:r>
          </a:p>
          <a:p>
            <a:pPr marL="457200" indent="-457200" algn="just">
              <a:lnSpc>
                <a:spcPct val="100000"/>
              </a:lnSpc>
              <a:buFont typeface="Wingdings" panose="05000000000000000000" pitchFamily="2" charset="2"/>
              <a:buChar char="§"/>
            </a:pPr>
            <a:r>
              <a:rPr lang="en-US" sz="1600" dirty="0">
                <a:solidFill>
                  <a:schemeClr val="tx2">
                    <a:lumMod val="50000"/>
                  </a:schemeClr>
                </a:solidFill>
              </a:rPr>
              <a:t>SGSM detects and mitigates DoS, Replay, and FDIA attacks</a:t>
            </a:r>
          </a:p>
          <a:p>
            <a:pPr marL="457200" indent="-457200" algn="just">
              <a:lnSpc>
                <a:spcPct val="100000"/>
              </a:lnSpc>
              <a:buFont typeface="Wingdings" panose="05000000000000000000" pitchFamily="2" charset="2"/>
              <a:buChar char="§"/>
            </a:pPr>
            <a:endParaRPr lang="en-US" sz="1800" dirty="0">
              <a:solidFill>
                <a:schemeClr val="tx2">
                  <a:lumMod val="50000"/>
                </a:schemeClr>
              </a:solidFill>
            </a:endParaRPr>
          </a:p>
        </p:txBody>
      </p:sp>
      <p:pic>
        <p:nvPicPr>
          <p:cNvPr id="5122" name="Picture 2" descr="Identity and Contribution (ICON) Project – Development of Identity and  Community Engagement Lab">
            <a:extLst>
              <a:ext uri="{FF2B5EF4-FFF2-40B4-BE49-F238E27FC236}">
                <a16:creationId xmlns:a16="http://schemas.microsoft.com/office/drawing/2014/main" id="{58C42FE2-A5FD-7E63-DFC4-1F4C4B273CCD}"/>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826374" y="1371600"/>
            <a:ext cx="3832226" cy="3886200"/>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654931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fauzisukiman\Desktop\template pp USM\page 2 n seterusnya\Header.jpg"/>
          <p:cNvPicPr>
            <a:picLocks noChangeAspect="1" noChangeArrowheads="1"/>
          </p:cNvPicPr>
          <p:nvPr/>
        </p:nvPicPr>
        <p:blipFill rotWithShape="1">
          <a:blip r:embed="rId3" cstate="print"/>
          <a:srcRect l="14375"/>
          <a:stretch/>
        </p:blipFill>
        <p:spPr bwMode="auto">
          <a:xfrm>
            <a:off x="1268881" y="0"/>
            <a:ext cx="10923119" cy="822960"/>
          </a:xfrm>
          <a:prstGeom prst="rect">
            <a:avLst/>
          </a:prstGeom>
          <a:noFill/>
        </p:spPr>
      </p:pic>
      <p:sp>
        <p:nvSpPr>
          <p:cNvPr id="6" name="Rectangle 5"/>
          <p:cNvSpPr/>
          <p:nvPr/>
        </p:nvSpPr>
        <p:spPr>
          <a:xfrm>
            <a:off x="1447800" y="76200"/>
            <a:ext cx="10363200" cy="707886"/>
          </a:xfrm>
          <a:prstGeom prst="rect">
            <a:avLst/>
          </a:prstGeom>
        </p:spPr>
        <p:txBody>
          <a:bodyPr wrap="square">
            <a:spAutoFit/>
          </a:bodyPr>
          <a:lstStyle/>
          <a:p>
            <a:r>
              <a:rPr lang="en-US" sz="4000" b="1" i="1" dirty="0">
                <a:solidFill>
                  <a:schemeClr val="bg1"/>
                </a:solidFill>
              </a:rPr>
              <a:t>Publications</a:t>
            </a:r>
          </a:p>
        </p:txBody>
      </p:sp>
      <p:sp>
        <p:nvSpPr>
          <p:cNvPr id="2" name="Slide Number Placeholder 1"/>
          <p:cNvSpPr>
            <a:spLocks noGrp="1"/>
          </p:cNvSpPr>
          <p:nvPr>
            <p:ph type="sldNum" sz="quarter" idx="12"/>
          </p:nvPr>
        </p:nvSpPr>
        <p:spPr>
          <a:xfrm>
            <a:off x="9906000" y="6472826"/>
            <a:ext cx="2133600" cy="365125"/>
          </a:xfrm>
        </p:spPr>
        <p:txBody>
          <a:bodyPr/>
          <a:lstStyle/>
          <a:p>
            <a:fld id="{D4B39A3D-6E5B-421C-AA99-AA75690A48C6}" type="slidenum">
              <a:rPr lang="en-US" smtClean="0"/>
              <a:pPr/>
              <a:t>22</a:t>
            </a:fld>
            <a:endParaRPr lang="en-US" dirty="0"/>
          </a:p>
        </p:txBody>
      </p:sp>
      <p:pic>
        <p:nvPicPr>
          <p:cNvPr id="9" name="Picture 3"/>
          <p:cNvPicPr>
            <a:picLocks noChangeAspect="1" noChangeArrowheads="1"/>
          </p:cNvPicPr>
          <p:nvPr/>
        </p:nvPicPr>
        <p:blipFill>
          <a:blip r:embed="rId4" cstate="print">
            <a:clrChange>
              <a:clrFrom>
                <a:srgbClr val="FDFDFD"/>
              </a:clrFrom>
              <a:clrTo>
                <a:srgbClr val="FDFDFD">
                  <a:alpha val="0"/>
                </a:srgbClr>
              </a:clrTo>
            </a:clrChange>
          </a:blip>
          <a:srcRect/>
          <a:stretch>
            <a:fillRect/>
          </a:stretch>
        </p:blipFill>
        <p:spPr bwMode="auto">
          <a:xfrm>
            <a:off x="0" y="-1224"/>
            <a:ext cx="1268881" cy="824184"/>
          </a:xfrm>
          <a:prstGeom prst="rect">
            <a:avLst/>
          </a:prstGeom>
          <a:noFill/>
          <a:ln w="9525">
            <a:noFill/>
            <a:miter lim="800000"/>
            <a:headEnd/>
            <a:tailEnd/>
          </a:ln>
          <a:effectLst/>
        </p:spPr>
      </p:pic>
      <p:sp>
        <p:nvSpPr>
          <p:cNvPr id="8" name="Content Placeholder 7">
            <a:extLst>
              <a:ext uri="{FF2B5EF4-FFF2-40B4-BE49-F238E27FC236}">
                <a16:creationId xmlns:a16="http://schemas.microsoft.com/office/drawing/2014/main" id="{E85D7097-BBD4-FDB7-26DE-3B8210FAA386}"/>
              </a:ext>
            </a:extLst>
          </p:cNvPr>
          <p:cNvSpPr>
            <a:spLocks noGrp="1"/>
          </p:cNvSpPr>
          <p:nvPr>
            <p:ph idx="1"/>
          </p:nvPr>
        </p:nvSpPr>
        <p:spPr>
          <a:xfrm>
            <a:off x="544944" y="1390072"/>
            <a:ext cx="11113656" cy="4401128"/>
          </a:xfrm>
        </p:spPr>
        <p:txBody>
          <a:bodyPr>
            <a:noAutofit/>
          </a:bodyPr>
          <a:lstStyle/>
          <a:p>
            <a:pPr marL="457200" indent="-457200" algn="just">
              <a:lnSpc>
                <a:spcPct val="100000"/>
              </a:lnSpc>
              <a:buFont typeface="Wingdings" panose="05000000000000000000" pitchFamily="2" charset="2"/>
              <a:buChar char="§"/>
            </a:pPr>
            <a:r>
              <a:rPr lang="en-US" sz="1600" b="1" dirty="0">
                <a:solidFill>
                  <a:schemeClr val="tx2">
                    <a:lumMod val="50000"/>
                  </a:schemeClr>
                </a:solidFill>
              </a:rPr>
              <a:t>Shams A. Laghari</a:t>
            </a:r>
            <a:r>
              <a:rPr lang="en-US" sz="1600" dirty="0">
                <a:solidFill>
                  <a:schemeClr val="tx2">
                    <a:lumMod val="50000"/>
                  </a:schemeClr>
                </a:solidFill>
              </a:rPr>
              <a:t>, Selvakumar Manickam, Ayman Al-Ani, Shafiq Ul Rehman, &amp; Shankar Karuppayah (2021). SECS/GEMsec: A Mechanism for Detection and Prevention of Cyber-Attacks on SECS/GEM Communications in Industry 4.0 Landscape. IEEE Access, 9, 154380-154394.</a:t>
            </a:r>
          </a:p>
          <a:p>
            <a:pPr marL="457200" indent="-457200" algn="just">
              <a:lnSpc>
                <a:spcPct val="100000"/>
              </a:lnSpc>
              <a:buFont typeface="Wingdings" panose="05000000000000000000" pitchFamily="2" charset="2"/>
              <a:buChar char="§"/>
            </a:pPr>
            <a:r>
              <a:rPr lang="en-US" sz="1600" b="1" dirty="0">
                <a:solidFill>
                  <a:schemeClr val="tx2">
                    <a:lumMod val="50000"/>
                  </a:schemeClr>
                </a:solidFill>
              </a:rPr>
              <a:t>Shams A. Laghari</a:t>
            </a:r>
            <a:r>
              <a:rPr lang="en-US" sz="1600" dirty="0">
                <a:solidFill>
                  <a:schemeClr val="tx2">
                    <a:lumMod val="50000"/>
                  </a:schemeClr>
                </a:solidFill>
              </a:rPr>
              <a:t>, Selvakumar Manickam, Shankar Karuppayah, Ayman Al-Ani, and Shafiq Ul Rehman, "Cyberattacks and Vociferous Implications on SECS/GEM Communications in Industry 4.0 Ecosystem" International Journal of Advanced Computer Science and Applications(</a:t>
            </a:r>
            <a:r>
              <a:rPr lang="en-US" sz="1600" dirty="0" err="1">
                <a:solidFill>
                  <a:schemeClr val="tx2">
                    <a:lumMod val="50000"/>
                  </a:schemeClr>
                </a:solidFill>
              </a:rPr>
              <a:t>IJACSA</a:t>
            </a:r>
            <a:r>
              <a:rPr lang="en-US" sz="1600" dirty="0">
                <a:solidFill>
                  <a:schemeClr val="tx2">
                    <a:lumMod val="50000"/>
                  </a:schemeClr>
                </a:solidFill>
              </a:rPr>
              <a:t>), 12(7), 2021. </a:t>
            </a:r>
          </a:p>
          <a:p>
            <a:pPr marL="457200" indent="-457200" algn="just">
              <a:lnSpc>
                <a:spcPct val="100000"/>
              </a:lnSpc>
              <a:buFont typeface="Wingdings" panose="05000000000000000000" pitchFamily="2" charset="2"/>
              <a:buChar char="§"/>
            </a:pPr>
            <a:r>
              <a:rPr lang="en-US" sz="1600" b="1" dirty="0">
                <a:solidFill>
                  <a:schemeClr val="tx2">
                    <a:lumMod val="50000"/>
                  </a:schemeClr>
                </a:solidFill>
              </a:rPr>
              <a:t>Shams A. Laghari</a:t>
            </a:r>
            <a:r>
              <a:rPr lang="en-US" sz="1600" dirty="0">
                <a:solidFill>
                  <a:schemeClr val="tx2">
                    <a:lumMod val="50000"/>
                  </a:schemeClr>
                </a:solidFill>
              </a:rPr>
              <a:t>, Manickam, S., &amp; Karuppayah, S. (2021). A review on SECS/GEM: A machine-to-machine (M2M) communication protocol for industry 4.0. International Journal of Electrical and Electronic Engineering &amp; Telecommunications, 10(2), 105-114.</a:t>
            </a:r>
          </a:p>
          <a:p>
            <a:pPr marL="457200" indent="-457200" algn="just">
              <a:lnSpc>
                <a:spcPct val="100000"/>
              </a:lnSpc>
              <a:buFont typeface="Wingdings" panose="05000000000000000000" pitchFamily="2" charset="2"/>
              <a:buChar char="§"/>
            </a:pPr>
            <a:r>
              <a:rPr lang="en-US" sz="1600" b="1" dirty="0">
                <a:solidFill>
                  <a:schemeClr val="tx2">
                    <a:lumMod val="50000"/>
                  </a:schemeClr>
                </a:solidFill>
              </a:rPr>
              <a:t>Shams A. Laghari</a:t>
            </a:r>
            <a:r>
              <a:rPr lang="en-US" sz="1600" dirty="0">
                <a:solidFill>
                  <a:schemeClr val="tx2">
                    <a:lumMod val="50000"/>
                  </a:schemeClr>
                </a:solidFill>
              </a:rPr>
              <a:t>, Manickam, S., &amp; Karuppayah, S. SGSM enabled cyber-attack detection and mitigation mechanism for securing SECS/GEM communications in Industry 4.0 Ecosystem, IEEE Access (Ready to be submitted)</a:t>
            </a:r>
          </a:p>
          <a:p>
            <a:pPr marL="457200" indent="-457200" algn="just">
              <a:lnSpc>
                <a:spcPct val="100000"/>
              </a:lnSpc>
              <a:buFont typeface="Wingdings" panose="05000000000000000000" pitchFamily="2" charset="2"/>
              <a:buChar char="§"/>
            </a:pPr>
            <a:r>
              <a:rPr lang="en-US" sz="1600" b="1" dirty="0">
                <a:solidFill>
                  <a:schemeClr val="tx2">
                    <a:lumMod val="50000"/>
                  </a:schemeClr>
                </a:solidFill>
              </a:rPr>
              <a:t>Shams A. Laghari</a:t>
            </a:r>
            <a:r>
              <a:rPr lang="en-US" sz="1600" dirty="0">
                <a:solidFill>
                  <a:schemeClr val="tx2">
                    <a:lumMod val="50000"/>
                  </a:schemeClr>
                </a:solidFill>
              </a:rPr>
              <a:t>, Manickam, S., &amp; Karuppayah, S. (Submitted). SGSM: A mechanism for securing SECS/GEM communications in industry 4.0 Ecosystem, IEEE Access (Ready to be submitted)</a:t>
            </a:r>
          </a:p>
          <a:p>
            <a:pPr marL="457200" indent="-457200" algn="just">
              <a:lnSpc>
                <a:spcPct val="100000"/>
              </a:lnSpc>
              <a:buFont typeface="Wingdings" panose="05000000000000000000" pitchFamily="2" charset="2"/>
              <a:buChar char="§"/>
            </a:pPr>
            <a:endParaRPr lang="en-US" sz="1600" dirty="0">
              <a:solidFill>
                <a:schemeClr val="tx2">
                  <a:lumMod val="50000"/>
                </a:schemeClr>
              </a:solidFill>
            </a:endParaRPr>
          </a:p>
          <a:p>
            <a:pPr marL="457200" indent="-457200" algn="just">
              <a:lnSpc>
                <a:spcPct val="100000"/>
              </a:lnSpc>
              <a:buFont typeface="Wingdings" panose="05000000000000000000" pitchFamily="2" charset="2"/>
              <a:buChar char="§"/>
            </a:pPr>
            <a:endParaRPr lang="en-US" sz="1600" dirty="0">
              <a:solidFill>
                <a:schemeClr val="tx2">
                  <a:lumMod val="50000"/>
                </a:schemeClr>
              </a:solidFill>
            </a:endParaRPr>
          </a:p>
        </p:txBody>
      </p:sp>
    </p:spTree>
    <p:extLst>
      <p:ext uri="{BB962C8B-B14F-4D97-AF65-F5344CB8AC3E}">
        <p14:creationId xmlns:p14="http://schemas.microsoft.com/office/powerpoint/2010/main" val="7616477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fauzisukiman\Desktop\template pp USM\Last page\purple.jpg"/>
          <p:cNvPicPr>
            <a:picLocks noChangeAspect="1" noChangeArrowheads="1"/>
          </p:cNvPicPr>
          <p:nvPr/>
        </p:nvPicPr>
        <p:blipFill>
          <a:blip r:embed="rId2" cstate="print"/>
          <a:srcRect t="3333"/>
          <a:stretch>
            <a:fillRect/>
          </a:stretch>
        </p:blipFill>
        <p:spPr bwMode="auto">
          <a:xfrm>
            <a:off x="0" y="0"/>
            <a:ext cx="12192000" cy="6858000"/>
          </a:xfrm>
          <a:prstGeom prst="rect">
            <a:avLst/>
          </a:prstGeom>
          <a:noFill/>
        </p:spPr>
      </p:pic>
      <p:pic>
        <p:nvPicPr>
          <p:cNvPr id="3" name="Picture 5" descr="C:\Users\fauzisukiman\Desktop\template pp USM\Bucu petak.jpg"/>
          <p:cNvPicPr>
            <a:picLocks noChangeAspect="1" noChangeArrowheads="1"/>
          </p:cNvPicPr>
          <p:nvPr/>
        </p:nvPicPr>
        <p:blipFill>
          <a:blip r:embed="rId3" cstate="print"/>
          <a:srcRect/>
          <a:stretch>
            <a:fillRect/>
          </a:stretch>
        </p:blipFill>
        <p:spPr bwMode="auto">
          <a:xfrm>
            <a:off x="9622379" y="4876799"/>
            <a:ext cx="2569621" cy="1981201"/>
          </a:xfrm>
          <a:prstGeom prst="rect">
            <a:avLst/>
          </a:prstGeom>
          <a:noFill/>
        </p:spPr>
      </p:pic>
      <p:pic>
        <p:nvPicPr>
          <p:cNvPr id="2051" name="Picture 3" descr="C:\Users\fauzisukiman\Desktop\template pp USM\Last page\usm logo.jpg"/>
          <p:cNvPicPr>
            <a:picLocks noChangeAspect="1" noChangeArrowheads="1"/>
          </p:cNvPicPr>
          <p:nvPr/>
        </p:nvPicPr>
        <p:blipFill rotWithShape="1">
          <a:blip r:embed="rId4" cstate="print"/>
          <a:srcRect b="10858"/>
          <a:stretch/>
        </p:blipFill>
        <p:spPr bwMode="auto">
          <a:xfrm>
            <a:off x="4048760" y="4581022"/>
            <a:ext cx="4087091" cy="2274989"/>
          </a:xfrm>
          <a:prstGeom prst="rect">
            <a:avLst/>
          </a:prstGeom>
          <a:noFill/>
        </p:spPr>
      </p:pic>
      <p:sp>
        <p:nvSpPr>
          <p:cNvPr id="8" name="Slide Number Placeholder 7"/>
          <p:cNvSpPr>
            <a:spLocks noGrp="1"/>
          </p:cNvSpPr>
          <p:nvPr>
            <p:ph type="sldNum" sz="quarter" idx="12"/>
          </p:nvPr>
        </p:nvSpPr>
        <p:spPr/>
        <p:txBody>
          <a:bodyPr/>
          <a:lstStyle/>
          <a:p>
            <a:fld id="{D4B39A3D-6E5B-421C-AA99-AA75690A48C6}" type="slidenum">
              <a:rPr lang="en-US" smtClean="0"/>
              <a:pPr/>
              <a:t>23</a:t>
            </a:fld>
            <a:endParaRPr lang="en-US"/>
          </a:p>
        </p:txBody>
      </p:sp>
      <p:sp>
        <p:nvSpPr>
          <p:cNvPr id="6" name="Rectangle 5"/>
          <p:cNvSpPr/>
          <p:nvPr/>
        </p:nvSpPr>
        <p:spPr>
          <a:xfrm>
            <a:off x="4114800" y="2600960"/>
            <a:ext cx="3962400" cy="1107996"/>
          </a:xfrm>
          <a:prstGeom prst="rect">
            <a:avLst/>
          </a:prstGeom>
        </p:spPr>
        <p:txBody>
          <a:bodyPr wrap="square">
            <a:spAutoFit/>
          </a:bodyPr>
          <a:lstStyle/>
          <a:p>
            <a:pPr lvl="0" algn="ctr">
              <a:spcBef>
                <a:spcPct val="0"/>
              </a:spcBef>
              <a:defRPr/>
            </a:pPr>
            <a:r>
              <a:rPr lang="en-US" sz="6600" b="1" i="1" dirty="0">
                <a:solidFill>
                  <a:schemeClr val="bg1"/>
                </a:solidFill>
              </a:rPr>
              <a:t>Thank You</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71" name="Group 70">
            <a:extLst>
              <a:ext uri="{FF2B5EF4-FFF2-40B4-BE49-F238E27FC236}">
                <a16:creationId xmlns:a16="http://schemas.microsoft.com/office/drawing/2014/main" id="{1EFF65DF-05E5-DE89-79B4-5EFFA5924E59}"/>
              </a:ext>
            </a:extLst>
          </p:cNvPr>
          <p:cNvGrpSpPr/>
          <p:nvPr/>
        </p:nvGrpSpPr>
        <p:grpSpPr>
          <a:xfrm>
            <a:off x="7179155" y="2384574"/>
            <a:ext cx="3562757" cy="656877"/>
            <a:chOff x="6028788" y="1859411"/>
            <a:chExt cx="3562757" cy="656877"/>
          </a:xfrm>
        </p:grpSpPr>
        <p:sp>
          <p:nvSpPr>
            <p:cNvPr id="29" name="Rectangle 28">
              <a:extLst>
                <a:ext uri="{FF2B5EF4-FFF2-40B4-BE49-F238E27FC236}">
                  <a16:creationId xmlns:a16="http://schemas.microsoft.com/office/drawing/2014/main" id="{717505B0-ABC9-C028-9D3E-38FDD7094119}"/>
                </a:ext>
              </a:extLst>
            </p:cNvPr>
            <p:cNvSpPr/>
            <p:nvPr/>
          </p:nvSpPr>
          <p:spPr>
            <a:xfrm>
              <a:off x="7761551" y="1905000"/>
              <a:ext cx="1829994" cy="605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0" name="TextBox 29">
              <a:extLst>
                <a:ext uri="{FF2B5EF4-FFF2-40B4-BE49-F238E27FC236}">
                  <a16:creationId xmlns:a16="http://schemas.microsoft.com/office/drawing/2014/main" id="{5CC97E81-78E7-7B1B-FCA6-87B642349746}"/>
                </a:ext>
              </a:extLst>
            </p:cNvPr>
            <p:cNvSpPr txBox="1"/>
            <p:nvPr/>
          </p:nvSpPr>
          <p:spPr>
            <a:xfrm>
              <a:off x="7705253" y="2059128"/>
              <a:ext cx="323165" cy="379272"/>
            </a:xfrm>
            <a:prstGeom prst="rect">
              <a:avLst/>
            </a:prstGeom>
            <a:noFill/>
          </p:spPr>
          <p:txBody>
            <a:bodyPr vert="vert270" wrap="none" rtlCol="0">
              <a:spAutoFit/>
            </a:bodyPr>
            <a:lstStyle/>
            <a:p>
              <a:r>
                <a:rPr lang="en-US" sz="900" dirty="0"/>
                <a:t>PType</a:t>
              </a:r>
              <a:endParaRPr lang="en-MY" sz="900" dirty="0"/>
            </a:p>
          </p:txBody>
        </p:sp>
        <p:sp>
          <p:nvSpPr>
            <p:cNvPr id="31" name="TextBox 30">
              <a:extLst>
                <a:ext uri="{FF2B5EF4-FFF2-40B4-BE49-F238E27FC236}">
                  <a16:creationId xmlns:a16="http://schemas.microsoft.com/office/drawing/2014/main" id="{B47A7A51-BB14-8859-137E-4687A6A7433C}"/>
                </a:ext>
              </a:extLst>
            </p:cNvPr>
            <p:cNvSpPr txBox="1"/>
            <p:nvPr/>
          </p:nvSpPr>
          <p:spPr>
            <a:xfrm>
              <a:off x="8005265" y="2065537"/>
              <a:ext cx="323165" cy="372858"/>
            </a:xfrm>
            <a:prstGeom prst="rect">
              <a:avLst/>
            </a:prstGeom>
            <a:noFill/>
          </p:spPr>
          <p:txBody>
            <a:bodyPr vert="vert270" wrap="none" rtlCol="0">
              <a:spAutoFit/>
            </a:bodyPr>
            <a:lstStyle/>
            <a:p>
              <a:r>
                <a:rPr lang="en-US" sz="900" dirty="0"/>
                <a:t>SType</a:t>
              </a:r>
              <a:endParaRPr lang="en-MY" sz="900" dirty="0"/>
            </a:p>
          </p:txBody>
        </p:sp>
        <p:cxnSp>
          <p:nvCxnSpPr>
            <p:cNvPr id="32" name="Straight Connector 31">
              <a:extLst>
                <a:ext uri="{FF2B5EF4-FFF2-40B4-BE49-F238E27FC236}">
                  <a16:creationId xmlns:a16="http://schemas.microsoft.com/office/drawing/2014/main" id="{58A9C8DD-9831-F6AB-D606-6951272B828F}"/>
                </a:ext>
              </a:extLst>
            </p:cNvPr>
            <p:cNvCxnSpPr>
              <a:cxnSpLocks/>
            </p:cNvCxnSpPr>
            <p:nvPr/>
          </p:nvCxnSpPr>
          <p:spPr>
            <a:xfrm flipV="1">
              <a:off x="8022064" y="1910682"/>
              <a:ext cx="0" cy="605606"/>
            </a:xfrm>
            <a:prstGeom prst="line">
              <a:avLst/>
            </a:prstGeom>
          </p:spPr>
          <p:style>
            <a:lnRef idx="3">
              <a:schemeClr val="dk1"/>
            </a:lnRef>
            <a:fillRef idx="0">
              <a:schemeClr val="dk1"/>
            </a:fillRef>
            <a:effectRef idx="2">
              <a:schemeClr val="dk1"/>
            </a:effectRef>
            <a:fontRef idx="minor">
              <a:schemeClr val="tx1"/>
            </a:fontRef>
          </p:style>
        </p:cxnSp>
        <p:cxnSp>
          <p:nvCxnSpPr>
            <p:cNvPr id="33" name="Straight Connector 32">
              <a:extLst>
                <a:ext uri="{FF2B5EF4-FFF2-40B4-BE49-F238E27FC236}">
                  <a16:creationId xmlns:a16="http://schemas.microsoft.com/office/drawing/2014/main" id="{441252C3-1ECA-920F-3C10-A76C5C5ED8C7}"/>
                </a:ext>
              </a:extLst>
            </p:cNvPr>
            <p:cNvCxnSpPr/>
            <p:nvPr/>
          </p:nvCxnSpPr>
          <p:spPr>
            <a:xfrm flipV="1">
              <a:off x="8330144" y="1910682"/>
              <a:ext cx="0" cy="605606"/>
            </a:xfrm>
            <a:prstGeom prst="line">
              <a:avLst/>
            </a:prstGeom>
          </p:spPr>
          <p:style>
            <a:lnRef idx="3">
              <a:schemeClr val="dk1"/>
            </a:lnRef>
            <a:fillRef idx="0">
              <a:schemeClr val="dk1"/>
            </a:fillRef>
            <a:effectRef idx="2">
              <a:schemeClr val="dk1"/>
            </a:effectRef>
            <a:fontRef idx="minor">
              <a:schemeClr val="tx1"/>
            </a:fontRef>
          </p:style>
        </p:cxnSp>
        <p:cxnSp>
          <p:nvCxnSpPr>
            <p:cNvPr id="34" name="Straight Connector 33">
              <a:extLst>
                <a:ext uri="{FF2B5EF4-FFF2-40B4-BE49-F238E27FC236}">
                  <a16:creationId xmlns:a16="http://schemas.microsoft.com/office/drawing/2014/main" id="{EADC86E0-EC94-E558-D205-00BA6E416845}"/>
                </a:ext>
              </a:extLst>
            </p:cNvPr>
            <p:cNvCxnSpPr/>
            <p:nvPr/>
          </p:nvCxnSpPr>
          <p:spPr>
            <a:xfrm flipV="1">
              <a:off x="8938688" y="2414364"/>
              <a:ext cx="0" cy="89580"/>
            </a:xfrm>
            <a:prstGeom prst="line">
              <a:avLst/>
            </a:prstGeom>
          </p:spPr>
          <p:style>
            <a:lnRef idx="3">
              <a:schemeClr val="dk1"/>
            </a:lnRef>
            <a:fillRef idx="0">
              <a:schemeClr val="dk1"/>
            </a:fillRef>
            <a:effectRef idx="2">
              <a:schemeClr val="dk1"/>
            </a:effectRef>
            <a:fontRef idx="minor">
              <a:schemeClr val="tx1"/>
            </a:fontRef>
          </p:style>
        </p:cxnSp>
        <p:cxnSp>
          <p:nvCxnSpPr>
            <p:cNvPr id="35" name="Straight Connector 34">
              <a:extLst>
                <a:ext uri="{FF2B5EF4-FFF2-40B4-BE49-F238E27FC236}">
                  <a16:creationId xmlns:a16="http://schemas.microsoft.com/office/drawing/2014/main" id="{4CD2934E-0F03-C7BF-4797-BCFDADC58B72}"/>
                </a:ext>
              </a:extLst>
            </p:cNvPr>
            <p:cNvCxnSpPr>
              <a:cxnSpLocks/>
              <a:stCxn id="29" idx="2"/>
            </p:cNvCxnSpPr>
            <p:nvPr/>
          </p:nvCxnSpPr>
          <p:spPr>
            <a:xfrm flipV="1">
              <a:off x="8676548" y="2414365"/>
              <a:ext cx="624" cy="96240"/>
            </a:xfrm>
            <a:prstGeom prst="line">
              <a:avLst/>
            </a:prstGeom>
          </p:spPr>
          <p:style>
            <a:lnRef idx="3">
              <a:schemeClr val="dk1"/>
            </a:lnRef>
            <a:fillRef idx="0">
              <a:schemeClr val="dk1"/>
            </a:fillRef>
            <a:effectRef idx="2">
              <a:schemeClr val="dk1"/>
            </a:effectRef>
            <a:fontRef idx="minor">
              <a:schemeClr val="tx1"/>
            </a:fontRef>
          </p:style>
        </p:cxnSp>
        <p:cxnSp>
          <p:nvCxnSpPr>
            <p:cNvPr id="36" name="Straight Connector 35">
              <a:extLst>
                <a:ext uri="{FF2B5EF4-FFF2-40B4-BE49-F238E27FC236}">
                  <a16:creationId xmlns:a16="http://schemas.microsoft.com/office/drawing/2014/main" id="{FA5EB0D8-9930-F090-EF55-091FB03CC8CE}"/>
                </a:ext>
              </a:extLst>
            </p:cNvPr>
            <p:cNvCxnSpPr/>
            <p:nvPr/>
          </p:nvCxnSpPr>
          <p:spPr>
            <a:xfrm flipV="1">
              <a:off x="9244312" y="2414364"/>
              <a:ext cx="0" cy="89579"/>
            </a:xfrm>
            <a:prstGeom prst="line">
              <a:avLst/>
            </a:prstGeom>
          </p:spPr>
          <p:style>
            <a:lnRef idx="3">
              <a:schemeClr val="dk1"/>
            </a:lnRef>
            <a:fillRef idx="0">
              <a:schemeClr val="dk1"/>
            </a:fillRef>
            <a:effectRef idx="2">
              <a:schemeClr val="dk1"/>
            </a:effectRef>
            <a:fontRef idx="minor">
              <a:schemeClr val="tx1"/>
            </a:fontRef>
          </p:style>
        </p:cxnSp>
        <p:sp>
          <p:nvSpPr>
            <p:cNvPr id="37" name="TextBox 36">
              <a:extLst>
                <a:ext uri="{FF2B5EF4-FFF2-40B4-BE49-F238E27FC236}">
                  <a16:creationId xmlns:a16="http://schemas.microsoft.com/office/drawing/2014/main" id="{4F6E952A-069A-A948-2673-A7F38A4CDB31}"/>
                </a:ext>
              </a:extLst>
            </p:cNvPr>
            <p:cNvSpPr txBox="1"/>
            <p:nvPr/>
          </p:nvSpPr>
          <p:spPr>
            <a:xfrm>
              <a:off x="8330144" y="2014575"/>
              <a:ext cx="1218543" cy="230833"/>
            </a:xfrm>
            <a:prstGeom prst="rect">
              <a:avLst/>
            </a:prstGeom>
            <a:noFill/>
          </p:spPr>
          <p:txBody>
            <a:bodyPr wrap="square" rtlCol="0">
              <a:spAutoFit/>
            </a:bodyPr>
            <a:lstStyle/>
            <a:p>
              <a:pPr algn="ctr"/>
              <a:r>
                <a:rPr lang="en-US" sz="900" b="1" dirty="0"/>
                <a:t>System Bytes</a:t>
              </a:r>
              <a:endParaRPr lang="en-MY" sz="900" b="1" dirty="0"/>
            </a:p>
          </p:txBody>
        </p:sp>
        <p:grpSp>
          <p:nvGrpSpPr>
            <p:cNvPr id="59" name="Group 58">
              <a:extLst>
                <a:ext uri="{FF2B5EF4-FFF2-40B4-BE49-F238E27FC236}">
                  <a16:creationId xmlns:a16="http://schemas.microsoft.com/office/drawing/2014/main" id="{4FC9251B-4E5C-FDC3-29D0-692771796CA4}"/>
                </a:ext>
              </a:extLst>
            </p:cNvPr>
            <p:cNvGrpSpPr/>
            <p:nvPr/>
          </p:nvGrpSpPr>
          <p:grpSpPr>
            <a:xfrm>
              <a:off x="6028788" y="1859411"/>
              <a:ext cx="1729324" cy="653262"/>
              <a:chOff x="5986172" y="1859411"/>
              <a:chExt cx="1729324" cy="653262"/>
            </a:xfrm>
          </p:grpSpPr>
          <p:sp>
            <p:nvSpPr>
              <p:cNvPr id="50" name="Rectangle 49">
                <a:extLst>
                  <a:ext uri="{FF2B5EF4-FFF2-40B4-BE49-F238E27FC236}">
                    <a16:creationId xmlns:a16="http://schemas.microsoft.com/office/drawing/2014/main" id="{F73C6D40-C4A4-1140-3BE9-97512DEF3595}"/>
                  </a:ext>
                </a:extLst>
              </p:cNvPr>
              <p:cNvSpPr/>
              <p:nvPr/>
            </p:nvSpPr>
            <p:spPr>
              <a:xfrm>
                <a:off x="6053308" y="1904258"/>
                <a:ext cx="438891" cy="605605"/>
              </a:xfrm>
              <a:prstGeom prst="rect">
                <a:avLst/>
              </a:prstGeom>
              <a:solidFill>
                <a:schemeClr val="accent3">
                  <a:lumMod val="20000"/>
                  <a:lumOff val="80000"/>
                </a:schemeClr>
              </a:solidFill>
              <a:ln w="1270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MY"/>
              </a:p>
            </p:txBody>
          </p:sp>
          <p:sp>
            <p:nvSpPr>
              <p:cNvPr id="38" name="Rectangle 37">
                <a:extLst>
                  <a:ext uri="{FF2B5EF4-FFF2-40B4-BE49-F238E27FC236}">
                    <a16:creationId xmlns:a16="http://schemas.microsoft.com/office/drawing/2014/main" id="{4DB1E20E-C67D-682F-0250-0430B5D8A502}"/>
                  </a:ext>
                </a:extLst>
              </p:cNvPr>
              <p:cNvSpPr/>
              <p:nvPr/>
            </p:nvSpPr>
            <p:spPr>
              <a:xfrm>
                <a:off x="6480409" y="1904686"/>
                <a:ext cx="1233681" cy="605605"/>
              </a:xfrm>
              <a:prstGeom prst="rect">
                <a:avLst/>
              </a:prstGeom>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MY"/>
              </a:p>
            </p:txBody>
          </p:sp>
          <p:cxnSp>
            <p:nvCxnSpPr>
              <p:cNvPr id="39" name="Straight Connector 38">
                <a:extLst>
                  <a:ext uri="{FF2B5EF4-FFF2-40B4-BE49-F238E27FC236}">
                    <a16:creationId xmlns:a16="http://schemas.microsoft.com/office/drawing/2014/main" id="{75883409-7DEB-CB8C-376B-5ADFC0B05D18}"/>
                  </a:ext>
                </a:extLst>
              </p:cNvPr>
              <p:cNvCxnSpPr>
                <a:stCxn id="38" idx="2"/>
                <a:endCxn id="38" idx="0"/>
              </p:cNvCxnSpPr>
              <p:nvPr/>
            </p:nvCxnSpPr>
            <p:spPr>
              <a:xfrm flipV="1">
                <a:off x="7097250" y="1904686"/>
                <a:ext cx="0" cy="605605"/>
              </a:xfrm>
              <a:prstGeom prst="line">
                <a:avLst/>
              </a:prstGeom>
            </p:spPr>
            <p:style>
              <a:lnRef idx="3">
                <a:schemeClr val="dk1"/>
              </a:lnRef>
              <a:fillRef idx="0">
                <a:schemeClr val="dk1"/>
              </a:fillRef>
              <a:effectRef idx="2">
                <a:schemeClr val="dk1"/>
              </a:effectRef>
              <a:fontRef idx="minor">
                <a:schemeClr val="tx1"/>
              </a:fontRef>
            </p:style>
          </p:cxnSp>
          <p:cxnSp>
            <p:nvCxnSpPr>
              <p:cNvPr id="40" name="Straight Connector 39">
                <a:extLst>
                  <a:ext uri="{FF2B5EF4-FFF2-40B4-BE49-F238E27FC236}">
                    <a16:creationId xmlns:a16="http://schemas.microsoft.com/office/drawing/2014/main" id="{99CD78BB-CE17-254D-5368-B33FC6BFC672}"/>
                  </a:ext>
                </a:extLst>
              </p:cNvPr>
              <p:cNvCxnSpPr/>
              <p:nvPr/>
            </p:nvCxnSpPr>
            <p:spPr>
              <a:xfrm flipV="1">
                <a:off x="7402243" y="1907067"/>
                <a:ext cx="0" cy="605606"/>
              </a:xfrm>
              <a:prstGeom prst="line">
                <a:avLst/>
              </a:prstGeom>
            </p:spPr>
            <p:style>
              <a:lnRef idx="3">
                <a:schemeClr val="dk1"/>
              </a:lnRef>
              <a:fillRef idx="0">
                <a:schemeClr val="dk1"/>
              </a:fillRef>
              <a:effectRef idx="2">
                <a:schemeClr val="dk1"/>
              </a:effectRef>
              <a:fontRef idx="minor">
                <a:schemeClr val="tx1"/>
              </a:fontRef>
            </p:style>
          </p:cxnSp>
          <p:cxnSp>
            <p:nvCxnSpPr>
              <p:cNvPr id="41" name="Straight Connector 40">
                <a:extLst>
                  <a:ext uri="{FF2B5EF4-FFF2-40B4-BE49-F238E27FC236}">
                    <a16:creationId xmlns:a16="http://schemas.microsoft.com/office/drawing/2014/main" id="{E30EB9B4-6C86-3B65-1454-6C96F7FA6822}"/>
                  </a:ext>
                </a:extLst>
              </p:cNvPr>
              <p:cNvCxnSpPr/>
              <p:nvPr/>
            </p:nvCxnSpPr>
            <p:spPr>
              <a:xfrm flipV="1">
                <a:off x="6785403" y="2408494"/>
                <a:ext cx="0" cy="96240"/>
              </a:xfrm>
              <a:prstGeom prst="line">
                <a:avLst/>
              </a:prstGeom>
            </p:spPr>
            <p:style>
              <a:lnRef idx="3">
                <a:schemeClr val="dk1"/>
              </a:lnRef>
              <a:fillRef idx="0">
                <a:schemeClr val="dk1"/>
              </a:fillRef>
              <a:effectRef idx="2">
                <a:schemeClr val="dk1"/>
              </a:effectRef>
              <a:fontRef idx="minor">
                <a:schemeClr val="tx1"/>
              </a:fontRef>
            </p:style>
          </p:cxnSp>
          <p:sp>
            <p:nvSpPr>
              <p:cNvPr id="42" name="TextBox 41">
                <a:extLst>
                  <a:ext uri="{FF2B5EF4-FFF2-40B4-BE49-F238E27FC236}">
                    <a16:creationId xmlns:a16="http://schemas.microsoft.com/office/drawing/2014/main" id="{4C9CF368-4F01-200A-E4F2-8EE2BFA6191A}"/>
                  </a:ext>
                </a:extLst>
              </p:cNvPr>
              <p:cNvSpPr txBox="1"/>
              <p:nvPr/>
            </p:nvSpPr>
            <p:spPr>
              <a:xfrm>
                <a:off x="6513535" y="1975184"/>
                <a:ext cx="543740" cy="369332"/>
              </a:xfrm>
              <a:prstGeom prst="rect">
                <a:avLst/>
              </a:prstGeom>
              <a:noFill/>
            </p:spPr>
            <p:txBody>
              <a:bodyPr wrap="none" rtlCol="0">
                <a:spAutoFit/>
              </a:bodyPr>
              <a:lstStyle/>
              <a:p>
                <a:pPr algn="ctr"/>
                <a:r>
                  <a:rPr lang="en-US" sz="900" b="1" dirty="0"/>
                  <a:t>Session</a:t>
                </a:r>
              </a:p>
              <a:p>
                <a:pPr algn="ctr"/>
                <a:r>
                  <a:rPr lang="en-US" sz="900" b="1" dirty="0"/>
                  <a:t>ID</a:t>
                </a:r>
                <a:endParaRPr lang="en-MY" sz="900" b="1" dirty="0"/>
              </a:p>
            </p:txBody>
          </p:sp>
          <p:sp>
            <p:nvSpPr>
              <p:cNvPr id="43" name="TextBox 42">
                <a:extLst>
                  <a:ext uri="{FF2B5EF4-FFF2-40B4-BE49-F238E27FC236}">
                    <a16:creationId xmlns:a16="http://schemas.microsoft.com/office/drawing/2014/main" id="{A5EA4BEB-9F94-535B-CA36-F920A9E6CA1C}"/>
                  </a:ext>
                </a:extLst>
              </p:cNvPr>
              <p:cNvSpPr txBox="1"/>
              <p:nvPr/>
            </p:nvSpPr>
            <p:spPr>
              <a:xfrm>
                <a:off x="7079457" y="2057400"/>
                <a:ext cx="323165" cy="428964"/>
              </a:xfrm>
              <a:prstGeom prst="rect">
                <a:avLst/>
              </a:prstGeom>
              <a:noFill/>
            </p:spPr>
            <p:txBody>
              <a:bodyPr vert="vert270" wrap="none" rtlCol="0">
                <a:spAutoFit/>
              </a:bodyPr>
              <a:lstStyle/>
              <a:p>
                <a:r>
                  <a:rPr lang="en-US" sz="900" dirty="0"/>
                  <a:t>Stream</a:t>
                </a:r>
                <a:endParaRPr lang="en-MY" sz="900" dirty="0"/>
              </a:p>
            </p:txBody>
          </p:sp>
          <p:sp>
            <p:nvSpPr>
              <p:cNvPr id="44" name="TextBox 43">
                <a:extLst>
                  <a:ext uri="{FF2B5EF4-FFF2-40B4-BE49-F238E27FC236}">
                    <a16:creationId xmlns:a16="http://schemas.microsoft.com/office/drawing/2014/main" id="{CB13EC89-FD17-818E-082D-2F55064C1BE6}"/>
                  </a:ext>
                </a:extLst>
              </p:cNvPr>
              <p:cNvSpPr txBox="1"/>
              <p:nvPr/>
            </p:nvSpPr>
            <p:spPr>
              <a:xfrm>
                <a:off x="7062376" y="1859411"/>
                <a:ext cx="211442" cy="331671"/>
              </a:xfrm>
              <a:prstGeom prst="rect">
                <a:avLst/>
              </a:prstGeom>
              <a:noFill/>
            </p:spPr>
            <p:txBody>
              <a:bodyPr wrap="none" rtlCol="0">
                <a:spAutoFit/>
              </a:bodyPr>
              <a:lstStyle/>
              <a:p>
                <a:r>
                  <a:rPr lang="en-US" sz="1000" b="1" dirty="0"/>
                  <a:t>W</a:t>
                </a:r>
                <a:endParaRPr lang="en-MY" sz="1000" b="1" dirty="0"/>
              </a:p>
            </p:txBody>
          </p:sp>
          <p:sp>
            <p:nvSpPr>
              <p:cNvPr id="45" name="TextBox 44">
                <a:extLst>
                  <a:ext uri="{FF2B5EF4-FFF2-40B4-BE49-F238E27FC236}">
                    <a16:creationId xmlns:a16="http://schemas.microsoft.com/office/drawing/2014/main" id="{AF218BD7-AE57-7D6A-DA67-2E88D97F87B0}"/>
                  </a:ext>
                </a:extLst>
              </p:cNvPr>
              <p:cNvSpPr txBox="1"/>
              <p:nvPr/>
            </p:nvSpPr>
            <p:spPr>
              <a:xfrm>
                <a:off x="7392331" y="1981197"/>
                <a:ext cx="323165" cy="502701"/>
              </a:xfrm>
              <a:prstGeom prst="rect">
                <a:avLst/>
              </a:prstGeom>
              <a:noFill/>
            </p:spPr>
            <p:txBody>
              <a:bodyPr vert="vert270" wrap="none" rtlCol="0">
                <a:spAutoFit/>
              </a:bodyPr>
              <a:lstStyle/>
              <a:p>
                <a:r>
                  <a:rPr lang="en-US" sz="900" dirty="0"/>
                  <a:t>Function</a:t>
                </a:r>
                <a:endParaRPr lang="en-MY" sz="900" dirty="0"/>
              </a:p>
            </p:txBody>
          </p:sp>
          <p:sp>
            <p:nvSpPr>
              <p:cNvPr id="7" name="TextBox 6">
                <a:extLst>
                  <a:ext uri="{FF2B5EF4-FFF2-40B4-BE49-F238E27FC236}">
                    <a16:creationId xmlns:a16="http://schemas.microsoft.com/office/drawing/2014/main" id="{5AA35803-3411-5184-C47E-C73E123D4A41}"/>
                  </a:ext>
                </a:extLst>
              </p:cNvPr>
              <p:cNvSpPr txBox="1"/>
              <p:nvPr/>
            </p:nvSpPr>
            <p:spPr>
              <a:xfrm>
                <a:off x="5986172" y="2083949"/>
                <a:ext cx="549589" cy="246221"/>
              </a:xfrm>
              <a:prstGeom prst="rect">
                <a:avLst/>
              </a:prstGeom>
              <a:noFill/>
            </p:spPr>
            <p:txBody>
              <a:bodyPr wrap="square" rtlCol="0">
                <a:spAutoFit/>
              </a:bodyPr>
              <a:lstStyle/>
              <a:p>
                <a:pPr algn="ctr"/>
                <a:r>
                  <a:rPr lang="en-US" sz="1000" dirty="0"/>
                  <a:t>Length</a:t>
                </a:r>
                <a:endParaRPr lang="en-MY" sz="1000" dirty="0"/>
              </a:p>
            </p:txBody>
          </p:sp>
        </p:grpSp>
      </p:grpSp>
      <p:sp>
        <p:nvSpPr>
          <p:cNvPr id="11" name="TextBox 10">
            <a:extLst>
              <a:ext uri="{FF2B5EF4-FFF2-40B4-BE49-F238E27FC236}">
                <a16:creationId xmlns:a16="http://schemas.microsoft.com/office/drawing/2014/main" id="{7BF5E6F5-11E4-6307-BC42-115767744A83}"/>
              </a:ext>
            </a:extLst>
          </p:cNvPr>
          <p:cNvSpPr txBox="1"/>
          <p:nvPr/>
        </p:nvSpPr>
        <p:spPr>
          <a:xfrm>
            <a:off x="8371750" y="1955342"/>
            <a:ext cx="1694017" cy="246221"/>
          </a:xfrm>
          <a:prstGeom prst="rect">
            <a:avLst/>
          </a:prstGeom>
          <a:noFill/>
        </p:spPr>
        <p:txBody>
          <a:bodyPr wrap="square" rtlCol="0">
            <a:spAutoFit/>
          </a:bodyPr>
          <a:lstStyle/>
          <a:p>
            <a:pPr algn="ctr"/>
            <a:r>
              <a:rPr lang="en-US" sz="1000" dirty="0"/>
              <a:t>Message Header (10 bytes)</a:t>
            </a:r>
            <a:endParaRPr lang="en-MY" sz="1000" dirty="0"/>
          </a:p>
        </p:txBody>
      </p:sp>
      <p:grpSp>
        <p:nvGrpSpPr>
          <p:cNvPr id="73" name="Group 72">
            <a:extLst>
              <a:ext uri="{FF2B5EF4-FFF2-40B4-BE49-F238E27FC236}">
                <a16:creationId xmlns:a16="http://schemas.microsoft.com/office/drawing/2014/main" id="{990367AE-564A-E70F-D554-58AA12D003D4}"/>
              </a:ext>
            </a:extLst>
          </p:cNvPr>
          <p:cNvGrpSpPr/>
          <p:nvPr/>
        </p:nvGrpSpPr>
        <p:grpSpPr>
          <a:xfrm>
            <a:off x="10745217" y="2430163"/>
            <a:ext cx="884808" cy="604863"/>
            <a:chOff x="9594850" y="1905000"/>
            <a:chExt cx="884808" cy="604863"/>
          </a:xfrm>
        </p:grpSpPr>
        <p:sp>
          <p:nvSpPr>
            <p:cNvPr id="25" name="Rectangle 24">
              <a:extLst>
                <a:ext uri="{FF2B5EF4-FFF2-40B4-BE49-F238E27FC236}">
                  <a16:creationId xmlns:a16="http://schemas.microsoft.com/office/drawing/2014/main" id="{8336F886-D0E6-70ED-EDF0-47A25B909520}"/>
                </a:ext>
              </a:extLst>
            </p:cNvPr>
            <p:cNvSpPr/>
            <p:nvPr/>
          </p:nvSpPr>
          <p:spPr>
            <a:xfrm>
              <a:off x="9594850" y="1905000"/>
              <a:ext cx="884808" cy="6048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5" name="TextBox 14">
              <a:extLst>
                <a:ext uri="{FF2B5EF4-FFF2-40B4-BE49-F238E27FC236}">
                  <a16:creationId xmlns:a16="http://schemas.microsoft.com/office/drawing/2014/main" id="{8BA752F1-1C97-7F49-4EEA-0D4A4F2E5162}"/>
                </a:ext>
              </a:extLst>
            </p:cNvPr>
            <p:cNvSpPr txBox="1"/>
            <p:nvPr/>
          </p:nvSpPr>
          <p:spPr>
            <a:xfrm>
              <a:off x="9617689" y="2020184"/>
              <a:ext cx="812241" cy="400110"/>
            </a:xfrm>
            <a:prstGeom prst="rect">
              <a:avLst/>
            </a:prstGeom>
            <a:noFill/>
          </p:spPr>
          <p:txBody>
            <a:bodyPr wrap="square" rtlCol="0">
              <a:spAutoFit/>
            </a:bodyPr>
            <a:lstStyle/>
            <a:p>
              <a:pPr algn="ctr"/>
              <a:r>
                <a:rPr lang="en-US" sz="1000" b="1" dirty="0"/>
                <a:t>Data</a:t>
              </a:r>
            </a:p>
            <a:p>
              <a:pPr algn="ctr"/>
              <a:r>
                <a:rPr lang="en-US" sz="1000" b="1" dirty="0"/>
                <a:t>(optional)</a:t>
              </a:r>
              <a:endParaRPr lang="en-MY" sz="1000" b="1" dirty="0"/>
            </a:p>
          </p:txBody>
        </p:sp>
      </p:grpSp>
      <p:pic>
        <p:nvPicPr>
          <p:cNvPr id="55" name="Picture 2" descr="C:\Users\fauzisukiman\Desktop\template pp USM\page 2 n seterusnya\Header.jpg">
            <a:extLst>
              <a:ext uri="{FF2B5EF4-FFF2-40B4-BE49-F238E27FC236}">
                <a16:creationId xmlns:a16="http://schemas.microsoft.com/office/drawing/2014/main" id="{F4108B3C-7256-8820-F722-3D856023CECA}"/>
              </a:ext>
            </a:extLst>
          </p:cNvPr>
          <p:cNvPicPr>
            <a:picLocks noChangeAspect="1" noChangeArrowheads="1"/>
          </p:cNvPicPr>
          <p:nvPr/>
        </p:nvPicPr>
        <p:blipFill rotWithShape="1">
          <a:blip r:embed="rId3" cstate="print"/>
          <a:srcRect l="14375"/>
          <a:stretch/>
        </p:blipFill>
        <p:spPr bwMode="auto">
          <a:xfrm>
            <a:off x="1268881" y="0"/>
            <a:ext cx="10923119" cy="822960"/>
          </a:xfrm>
          <a:prstGeom prst="rect">
            <a:avLst/>
          </a:prstGeom>
          <a:noFill/>
        </p:spPr>
      </p:pic>
      <p:sp>
        <p:nvSpPr>
          <p:cNvPr id="56" name="Rectangle 55">
            <a:extLst>
              <a:ext uri="{FF2B5EF4-FFF2-40B4-BE49-F238E27FC236}">
                <a16:creationId xmlns:a16="http://schemas.microsoft.com/office/drawing/2014/main" id="{6A5007BF-247A-B77B-A03B-E30AD17BC2D6}"/>
              </a:ext>
            </a:extLst>
          </p:cNvPr>
          <p:cNvSpPr/>
          <p:nvPr/>
        </p:nvSpPr>
        <p:spPr>
          <a:xfrm>
            <a:off x="1447800" y="76200"/>
            <a:ext cx="10363200" cy="707886"/>
          </a:xfrm>
          <a:prstGeom prst="rect">
            <a:avLst/>
          </a:prstGeom>
        </p:spPr>
        <p:txBody>
          <a:bodyPr wrap="square">
            <a:spAutoFit/>
          </a:bodyPr>
          <a:lstStyle/>
          <a:p>
            <a:r>
              <a:rPr lang="en-US" sz="4000" b="1" i="1" dirty="0">
                <a:solidFill>
                  <a:schemeClr val="bg1"/>
                </a:solidFill>
              </a:rPr>
              <a:t>Introduction															</a:t>
            </a:r>
            <a:r>
              <a:rPr lang="en-US" b="1" i="1" dirty="0">
                <a:solidFill>
                  <a:schemeClr val="bg1"/>
                </a:solidFill>
              </a:rPr>
              <a:t>(cont.)</a:t>
            </a:r>
            <a:endParaRPr lang="en-US" sz="4000" b="1" i="1" dirty="0">
              <a:solidFill>
                <a:schemeClr val="bg1"/>
              </a:solidFill>
            </a:endParaRPr>
          </a:p>
        </p:txBody>
      </p:sp>
      <p:pic>
        <p:nvPicPr>
          <p:cNvPr id="57" name="Picture 3">
            <a:extLst>
              <a:ext uri="{FF2B5EF4-FFF2-40B4-BE49-F238E27FC236}">
                <a16:creationId xmlns:a16="http://schemas.microsoft.com/office/drawing/2014/main" id="{107BBECA-252A-736C-2F54-30C2F5668E44}"/>
              </a:ext>
            </a:extLst>
          </p:cNvPr>
          <p:cNvPicPr>
            <a:picLocks noChangeAspect="1" noChangeArrowheads="1"/>
          </p:cNvPicPr>
          <p:nvPr/>
        </p:nvPicPr>
        <p:blipFill>
          <a:blip r:embed="rId4" cstate="print">
            <a:clrChange>
              <a:clrFrom>
                <a:srgbClr val="FDFDFD"/>
              </a:clrFrom>
              <a:clrTo>
                <a:srgbClr val="FDFDFD">
                  <a:alpha val="0"/>
                </a:srgbClr>
              </a:clrTo>
            </a:clrChange>
          </a:blip>
          <a:srcRect/>
          <a:stretch>
            <a:fillRect/>
          </a:stretch>
        </p:blipFill>
        <p:spPr bwMode="auto">
          <a:xfrm>
            <a:off x="0" y="-1224"/>
            <a:ext cx="1268881" cy="824184"/>
          </a:xfrm>
          <a:prstGeom prst="rect">
            <a:avLst/>
          </a:prstGeom>
          <a:noFill/>
          <a:ln w="9525">
            <a:noFill/>
            <a:miter lim="800000"/>
            <a:headEnd/>
            <a:tailEnd/>
          </a:ln>
          <a:effectLst/>
        </p:spPr>
      </p:pic>
      <p:sp>
        <p:nvSpPr>
          <p:cNvPr id="58" name="Slide Number Placeholder 1">
            <a:extLst>
              <a:ext uri="{FF2B5EF4-FFF2-40B4-BE49-F238E27FC236}">
                <a16:creationId xmlns:a16="http://schemas.microsoft.com/office/drawing/2014/main" id="{83087175-0D9C-F417-2219-F5198BCCEFA4}"/>
              </a:ext>
            </a:extLst>
          </p:cNvPr>
          <p:cNvSpPr>
            <a:spLocks noGrp="1"/>
          </p:cNvSpPr>
          <p:nvPr>
            <p:ph type="sldNum" sz="quarter" idx="12"/>
          </p:nvPr>
        </p:nvSpPr>
        <p:spPr>
          <a:xfrm>
            <a:off x="9906000" y="6472826"/>
            <a:ext cx="2133600" cy="365125"/>
          </a:xfrm>
        </p:spPr>
        <p:txBody>
          <a:bodyPr/>
          <a:lstStyle/>
          <a:p>
            <a:fld id="{D4B39A3D-6E5B-421C-AA99-AA75690A48C6}" type="slidenum">
              <a:rPr lang="en-US" smtClean="0"/>
              <a:pPr/>
              <a:t>24</a:t>
            </a:fld>
            <a:endParaRPr lang="en-US" dirty="0"/>
          </a:p>
        </p:txBody>
      </p:sp>
      <p:sp>
        <p:nvSpPr>
          <p:cNvPr id="60" name="Right Brace 59">
            <a:extLst>
              <a:ext uri="{FF2B5EF4-FFF2-40B4-BE49-F238E27FC236}">
                <a16:creationId xmlns:a16="http://schemas.microsoft.com/office/drawing/2014/main" id="{7980265D-2212-FF25-13AF-7007D5412B59}"/>
              </a:ext>
            </a:extLst>
          </p:cNvPr>
          <p:cNvSpPr/>
          <p:nvPr/>
        </p:nvSpPr>
        <p:spPr>
          <a:xfrm rot="16200000">
            <a:off x="9162047" y="737707"/>
            <a:ext cx="158662" cy="3086373"/>
          </a:xfrm>
          <a:prstGeom prst="rightBrace">
            <a:avLst>
              <a:gd name="adj1" fmla="val 23616"/>
              <a:gd name="adj2" fmla="val 50000"/>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72" name="Group 71">
            <a:extLst>
              <a:ext uri="{FF2B5EF4-FFF2-40B4-BE49-F238E27FC236}">
                <a16:creationId xmlns:a16="http://schemas.microsoft.com/office/drawing/2014/main" id="{0AD5F1A8-EA3D-A8DB-2411-EA5DA45B00F2}"/>
              </a:ext>
            </a:extLst>
          </p:cNvPr>
          <p:cNvGrpSpPr/>
          <p:nvPr/>
        </p:nvGrpSpPr>
        <p:grpSpPr>
          <a:xfrm>
            <a:off x="9953185" y="1494660"/>
            <a:ext cx="914400" cy="612648"/>
            <a:chOff x="8802818" y="969497"/>
            <a:chExt cx="914400" cy="612648"/>
          </a:xfrm>
        </p:grpSpPr>
        <p:sp>
          <p:nvSpPr>
            <p:cNvPr id="63" name="Speech Bubble: Oval 62">
              <a:extLst>
                <a:ext uri="{FF2B5EF4-FFF2-40B4-BE49-F238E27FC236}">
                  <a16:creationId xmlns:a16="http://schemas.microsoft.com/office/drawing/2014/main" id="{18923BDF-C5B4-BDB4-4148-71E0DB175759}"/>
                </a:ext>
              </a:extLst>
            </p:cNvPr>
            <p:cNvSpPr/>
            <p:nvPr/>
          </p:nvSpPr>
          <p:spPr>
            <a:xfrm>
              <a:off x="8802818" y="969497"/>
              <a:ext cx="914400" cy="612648"/>
            </a:xfrm>
            <a:prstGeom prst="wedgeEllipseCallout">
              <a:avLst/>
            </a:prstGeom>
            <a:solidFill>
              <a:schemeClr val="accent5">
                <a:lumMod val="40000"/>
                <a:lumOff val="60000"/>
              </a:schemeClr>
            </a:solidFill>
            <a:ln w="6350">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TextBox 61">
              <a:extLst>
                <a:ext uri="{FF2B5EF4-FFF2-40B4-BE49-F238E27FC236}">
                  <a16:creationId xmlns:a16="http://schemas.microsoft.com/office/drawing/2014/main" id="{FB41CD55-0DA1-782E-65A3-78BB6F4B7FAD}"/>
                </a:ext>
              </a:extLst>
            </p:cNvPr>
            <p:cNvSpPr txBox="1"/>
            <p:nvPr/>
          </p:nvSpPr>
          <p:spPr>
            <a:xfrm>
              <a:off x="8812344" y="978065"/>
              <a:ext cx="874582" cy="507831"/>
            </a:xfrm>
            <a:prstGeom prst="rect">
              <a:avLst/>
            </a:prstGeom>
            <a:noFill/>
          </p:spPr>
          <p:txBody>
            <a:bodyPr wrap="square" rtlCol="0">
              <a:spAutoFit/>
            </a:bodyPr>
            <a:lstStyle/>
            <a:p>
              <a:pPr algn="ctr"/>
              <a:r>
                <a:rPr lang="en-US" sz="900" b="1" dirty="0"/>
                <a:t>Control messages</a:t>
              </a:r>
            </a:p>
            <a:p>
              <a:pPr algn="ctr"/>
              <a:r>
                <a:rPr lang="en-US" sz="900" b="1" dirty="0"/>
                <a:t>(Header only)</a:t>
              </a:r>
              <a:endParaRPr lang="en-MY" sz="900" b="1" dirty="0"/>
            </a:p>
          </p:txBody>
        </p:sp>
      </p:grpSp>
      <p:grpSp>
        <p:nvGrpSpPr>
          <p:cNvPr id="69" name="Group 68">
            <a:extLst>
              <a:ext uri="{FF2B5EF4-FFF2-40B4-BE49-F238E27FC236}">
                <a16:creationId xmlns:a16="http://schemas.microsoft.com/office/drawing/2014/main" id="{7428F90E-D739-DCA6-9143-668F53B1D7DD}"/>
              </a:ext>
            </a:extLst>
          </p:cNvPr>
          <p:cNvGrpSpPr/>
          <p:nvPr/>
        </p:nvGrpSpPr>
        <p:grpSpPr>
          <a:xfrm>
            <a:off x="10446767" y="3341515"/>
            <a:ext cx="914400" cy="612648"/>
            <a:chOff x="8812343" y="2832718"/>
            <a:chExt cx="914400" cy="612648"/>
          </a:xfrm>
        </p:grpSpPr>
        <p:sp>
          <p:nvSpPr>
            <p:cNvPr id="68" name="Speech Bubble: Oval 67">
              <a:extLst>
                <a:ext uri="{FF2B5EF4-FFF2-40B4-BE49-F238E27FC236}">
                  <a16:creationId xmlns:a16="http://schemas.microsoft.com/office/drawing/2014/main" id="{E5C6327E-21BA-15AB-12AC-C14F1AEB432F}"/>
                </a:ext>
              </a:extLst>
            </p:cNvPr>
            <p:cNvSpPr/>
            <p:nvPr/>
          </p:nvSpPr>
          <p:spPr>
            <a:xfrm rot="10800000">
              <a:off x="8812343" y="2832718"/>
              <a:ext cx="914400" cy="612648"/>
            </a:xfrm>
            <a:prstGeom prst="wedgeEllipseCallout">
              <a:avLst/>
            </a:prstGeom>
            <a:solidFill>
              <a:schemeClr val="accent5">
                <a:lumMod val="40000"/>
                <a:lumOff val="60000"/>
              </a:schemeClr>
            </a:solidFill>
            <a:ln w="6350">
              <a:no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TextBox 66">
              <a:extLst>
                <a:ext uri="{FF2B5EF4-FFF2-40B4-BE49-F238E27FC236}">
                  <a16:creationId xmlns:a16="http://schemas.microsoft.com/office/drawing/2014/main" id="{E53FA9D5-1AE6-7383-6FDF-44442E94AE5F}"/>
                </a:ext>
              </a:extLst>
            </p:cNvPr>
            <p:cNvSpPr txBox="1"/>
            <p:nvPr/>
          </p:nvSpPr>
          <p:spPr>
            <a:xfrm>
              <a:off x="8817106" y="3045768"/>
              <a:ext cx="874582" cy="230832"/>
            </a:xfrm>
            <a:prstGeom prst="rect">
              <a:avLst/>
            </a:prstGeom>
            <a:noFill/>
          </p:spPr>
          <p:txBody>
            <a:bodyPr wrap="square" rtlCol="0">
              <a:spAutoFit/>
            </a:bodyPr>
            <a:lstStyle/>
            <a:p>
              <a:pPr algn="ctr"/>
              <a:r>
                <a:rPr lang="en-US" sz="900" b="1" dirty="0"/>
                <a:t>Data Message</a:t>
              </a:r>
              <a:endParaRPr lang="en-MY" sz="900" b="1" dirty="0"/>
            </a:p>
          </p:txBody>
        </p:sp>
      </p:grpSp>
      <p:sp>
        <p:nvSpPr>
          <p:cNvPr id="70" name="Right Brace 69">
            <a:extLst>
              <a:ext uri="{FF2B5EF4-FFF2-40B4-BE49-F238E27FC236}">
                <a16:creationId xmlns:a16="http://schemas.microsoft.com/office/drawing/2014/main" id="{790DE20C-05E7-4335-DD9B-C64DA63EC9CA}"/>
              </a:ext>
            </a:extLst>
          </p:cNvPr>
          <p:cNvSpPr/>
          <p:nvPr/>
        </p:nvSpPr>
        <p:spPr>
          <a:xfrm rot="5400000">
            <a:off x="9577739" y="1230577"/>
            <a:ext cx="158662" cy="3945908"/>
          </a:xfrm>
          <a:prstGeom prst="rightBrace">
            <a:avLst>
              <a:gd name="adj1" fmla="val 23616"/>
              <a:gd name="adj2" fmla="val 50000"/>
            </a:avLst>
          </a:prstGeom>
          <a:ln>
            <a:solidFill>
              <a:schemeClr val="tx1"/>
            </a:solidFill>
            <a:prstDash val="sys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4" name="TextBox 73">
            <a:extLst>
              <a:ext uri="{FF2B5EF4-FFF2-40B4-BE49-F238E27FC236}">
                <a16:creationId xmlns:a16="http://schemas.microsoft.com/office/drawing/2014/main" id="{01F4BCD7-8B79-CA76-7401-10251E749987}"/>
              </a:ext>
            </a:extLst>
          </p:cNvPr>
          <p:cNvSpPr txBox="1"/>
          <p:nvPr/>
        </p:nvSpPr>
        <p:spPr>
          <a:xfrm>
            <a:off x="548640" y="1381760"/>
            <a:ext cx="6265869" cy="584775"/>
          </a:xfrm>
          <a:prstGeom prst="rect">
            <a:avLst/>
          </a:prstGeom>
          <a:noFill/>
        </p:spPr>
        <p:txBody>
          <a:bodyPr wrap="square" rtlCol="0">
            <a:spAutoFit/>
          </a:bodyPr>
          <a:lstStyle/>
          <a:p>
            <a:br>
              <a:rPr lang="en-US" sz="1600" b="1" dirty="0"/>
            </a:br>
            <a:endParaRPr lang="en-US" sz="1600" b="1" dirty="0"/>
          </a:p>
        </p:txBody>
      </p:sp>
      <p:sp>
        <p:nvSpPr>
          <p:cNvPr id="76" name="Content Placeholder 7">
            <a:extLst>
              <a:ext uri="{FF2B5EF4-FFF2-40B4-BE49-F238E27FC236}">
                <a16:creationId xmlns:a16="http://schemas.microsoft.com/office/drawing/2014/main" id="{5FC1C920-B45B-2654-34BF-1C6522205CCD}"/>
              </a:ext>
            </a:extLst>
          </p:cNvPr>
          <p:cNvSpPr>
            <a:spLocks noGrp="1"/>
          </p:cNvSpPr>
          <p:nvPr>
            <p:ph idx="1"/>
          </p:nvPr>
        </p:nvSpPr>
        <p:spPr>
          <a:xfrm>
            <a:off x="556425" y="1381760"/>
            <a:ext cx="7680960" cy="4757552"/>
          </a:xfrm>
        </p:spPr>
        <p:txBody>
          <a:bodyPr>
            <a:noAutofit/>
          </a:bodyPr>
          <a:lstStyle/>
          <a:p>
            <a:pPr marL="457200" indent="-457200">
              <a:lnSpc>
                <a:spcPct val="150000"/>
              </a:lnSpc>
              <a:buFont typeface="Wingdings" panose="05000000000000000000" pitchFamily="2" charset="2"/>
              <a:buChar char="§"/>
            </a:pPr>
            <a:r>
              <a:rPr lang="en-US" sz="1600" b="1" dirty="0"/>
              <a:t>Length:  </a:t>
            </a:r>
            <a:r>
              <a:rPr lang="en-US" sz="1600" dirty="0"/>
              <a:t>Determines HSMS message length</a:t>
            </a:r>
          </a:p>
          <a:p>
            <a:pPr marL="457200" indent="-457200">
              <a:lnSpc>
                <a:spcPct val="150000"/>
              </a:lnSpc>
              <a:buFont typeface="Wingdings" panose="05000000000000000000" pitchFamily="2" charset="2"/>
              <a:buChar char="§"/>
            </a:pPr>
            <a:r>
              <a:rPr lang="en-US" sz="1600" b="1" dirty="0"/>
              <a:t>Session ID: </a:t>
            </a:r>
            <a:r>
              <a:rPr lang="en-US" sz="1600" dirty="0"/>
              <a:t>Used by subsystems to identify session details</a:t>
            </a:r>
          </a:p>
          <a:p>
            <a:pPr marL="457200" indent="-457200">
              <a:lnSpc>
                <a:spcPct val="150000"/>
              </a:lnSpc>
              <a:buFont typeface="Wingdings" panose="05000000000000000000" pitchFamily="2" charset="2"/>
              <a:buChar char="§"/>
            </a:pPr>
            <a:r>
              <a:rPr lang="en-US" sz="1600" b="1" dirty="0"/>
              <a:t>Stream: </a:t>
            </a:r>
            <a:r>
              <a:rPr lang="en-US" sz="1600" dirty="0"/>
              <a:t>Determines specific stream (message category) number</a:t>
            </a:r>
          </a:p>
          <a:p>
            <a:pPr marL="457200" indent="-457200">
              <a:lnSpc>
                <a:spcPct val="150000"/>
              </a:lnSpc>
              <a:buFont typeface="Wingdings" panose="05000000000000000000" pitchFamily="2" charset="2"/>
              <a:buChar char="§"/>
            </a:pPr>
            <a:r>
              <a:rPr lang="en-US" sz="1600" b="1" dirty="0"/>
              <a:t>Function: </a:t>
            </a:r>
            <a:r>
              <a:rPr lang="en-US" sz="1600" dirty="0"/>
              <a:t>Identifies a specific function within a given stream</a:t>
            </a:r>
          </a:p>
          <a:p>
            <a:pPr marL="457200" indent="-457200">
              <a:lnSpc>
                <a:spcPct val="150000"/>
              </a:lnSpc>
              <a:buFont typeface="Wingdings" panose="05000000000000000000" pitchFamily="2" charset="2"/>
              <a:buChar char="§"/>
            </a:pPr>
            <a:r>
              <a:rPr lang="en-US" sz="1600" b="1" dirty="0"/>
              <a:t>PType: </a:t>
            </a:r>
            <a:r>
              <a:rPr lang="en-US" sz="1600" dirty="0"/>
              <a:t>Presentation type, always zero for SECS-II messages</a:t>
            </a:r>
          </a:p>
          <a:p>
            <a:pPr marL="457200" indent="-457200">
              <a:lnSpc>
                <a:spcPct val="150000"/>
              </a:lnSpc>
              <a:buFont typeface="Wingdings" panose="05000000000000000000" pitchFamily="2" charset="2"/>
              <a:buChar char="§"/>
            </a:pPr>
            <a:r>
              <a:rPr lang="en-US" sz="1600" b="1" dirty="0"/>
              <a:t>SType: </a:t>
            </a:r>
            <a:r>
              <a:rPr lang="en-US" sz="1600" dirty="0"/>
              <a:t>Determines message type (e.g., control </a:t>
            </a:r>
            <a:r>
              <a:rPr lang="en-US" sz="1600" dirty="0">
                <a:sym typeface="Wingdings" panose="05000000000000000000" pitchFamily="2" charset="2"/>
              </a:rPr>
              <a:t></a:t>
            </a:r>
            <a:r>
              <a:rPr lang="en-US" sz="1600" dirty="0"/>
              <a:t> SType=!0, data </a:t>
            </a:r>
            <a:r>
              <a:rPr lang="en-US" sz="1600" dirty="0">
                <a:sym typeface="Wingdings" panose="05000000000000000000" pitchFamily="2" charset="2"/>
              </a:rPr>
              <a:t> </a:t>
            </a:r>
            <a:r>
              <a:rPr lang="en-US" sz="1600" dirty="0"/>
              <a:t>SType=0)</a:t>
            </a:r>
          </a:p>
          <a:p>
            <a:pPr marL="457200" indent="-457200">
              <a:lnSpc>
                <a:spcPct val="150000"/>
              </a:lnSpc>
              <a:buFont typeface="Wingdings" panose="05000000000000000000" pitchFamily="2" charset="2"/>
              <a:buChar char="§"/>
            </a:pPr>
            <a:r>
              <a:rPr lang="en-US" sz="1600" b="1" dirty="0"/>
              <a:t>System Bytes: </a:t>
            </a:r>
            <a:r>
              <a:rPr lang="en-US" sz="1600" dirty="0"/>
              <a:t>Uniquely identifies and maps request and response messages</a:t>
            </a:r>
          </a:p>
          <a:p>
            <a:pPr marL="457200" indent="-457200" algn="just">
              <a:lnSpc>
                <a:spcPct val="100000"/>
              </a:lnSpc>
              <a:buFont typeface="Wingdings" panose="05000000000000000000" pitchFamily="2" charset="2"/>
              <a:buChar char="§"/>
            </a:pPr>
            <a:endParaRPr lang="en-US" sz="1800" dirty="0">
              <a:solidFill>
                <a:schemeClr val="tx2">
                  <a:lumMod val="50000"/>
                </a:schemeClr>
              </a:solidFill>
            </a:endParaRPr>
          </a:p>
        </p:txBody>
      </p:sp>
      <p:sp>
        <p:nvSpPr>
          <p:cNvPr id="77" name="TextBox 76">
            <a:extLst>
              <a:ext uri="{FF2B5EF4-FFF2-40B4-BE49-F238E27FC236}">
                <a16:creationId xmlns:a16="http://schemas.microsoft.com/office/drawing/2014/main" id="{702DBA35-0737-AB6C-4BFE-3A8B783355BC}"/>
              </a:ext>
            </a:extLst>
          </p:cNvPr>
          <p:cNvSpPr txBox="1"/>
          <p:nvPr/>
        </p:nvSpPr>
        <p:spPr>
          <a:xfrm>
            <a:off x="457200" y="1024096"/>
            <a:ext cx="6097508" cy="400110"/>
          </a:xfrm>
          <a:prstGeom prst="rect">
            <a:avLst/>
          </a:prstGeom>
          <a:noFill/>
        </p:spPr>
        <p:txBody>
          <a:bodyPr wrap="square">
            <a:spAutoFit/>
          </a:bodyPr>
          <a:lstStyle/>
          <a:p>
            <a:pPr marL="0" indent="0" algn="just">
              <a:lnSpc>
                <a:spcPct val="100000"/>
              </a:lnSpc>
              <a:buNone/>
            </a:pPr>
            <a:r>
              <a:rPr lang="en-US" sz="2000" b="1" dirty="0">
                <a:solidFill>
                  <a:schemeClr val="accent2">
                    <a:lumMod val="75000"/>
                  </a:schemeClr>
                </a:solidFill>
              </a:rPr>
              <a:t>HSMS Message Structure</a:t>
            </a:r>
          </a:p>
        </p:txBody>
      </p:sp>
    </p:spTree>
    <p:custDataLst>
      <p:tags r:id="rId1"/>
    </p:custDataLst>
    <p:extLst>
      <p:ext uri="{BB962C8B-B14F-4D97-AF65-F5344CB8AC3E}">
        <p14:creationId xmlns:p14="http://schemas.microsoft.com/office/powerpoint/2010/main" val="31102215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26" name="Picture 2" descr="C:\Users\fauzisukiman\Desktop\template pp USM\page 2 n seterusnya\Header.jpg"/>
          <p:cNvPicPr>
            <a:picLocks noChangeAspect="1" noChangeArrowheads="1"/>
          </p:cNvPicPr>
          <p:nvPr/>
        </p:nvPicPr>
        <p:blipFill rotWithShape="1">
          <a:blip r:embed="rId4" cstate="print"/>
          <a:srcRect l="14375"/>
          <a:stretch/>
        </p:blipFill>
        <p:spPr bwMode="auto">
          <a:xfrm>
            <a:off x="1268881" y="0"/>
            <a:ext cx="10923119" cy="822960"/>
          </a:xfrm>
          <a:prstGeom prst="rect">
            <a:avLst/>
          </a:prstGeom>
          <a:noFill/>
        </p:spPr>
      </p:pic>
      <p:sp>
        <p:nvSpPr>
          <p:cNvPr id="6" name="Rectangle 5"/>
          <p:cNvSpPr/>
          <p:nvPr/>
        </p:nvSpPr>
        <p:spPr>
          <a:xfrm>
            <a:off x="1447800" y="76200"/>
            <a:ext cx="10363200" cy="707886"/>
          </a:xfrm>
          <a:prstGeom prst="rect">
            <a:avLst/>
          </a:prstGeom>
        </p:spPr>
        <p:txBody>
          <a:bodyPr wrap="square">
            <a:spAutoFit/>
          </a:bodyPr>
          <a:lstStyle/>
          <a:p>
            <a:r>
              <a:rPr lang="en-US" sz="4000" b="1" i="1" dirty="0">
                <a:solidFill>
                  <a:schemeClr val="bg1"/>
                </a:solidFill>
              </a:rPr>
              <a:t>SGSM integration with SECS/GEM </a:t>
            </a:r>
          </a:p>
        </p:txBody>
      </p:sp>
      <p:sp>
        <p:nvSpPr>
          <p:cNvPr id="2" name="Slide Number Placeholder 1"/>
          <p:cNvSpPr>
            <a:spLocks noGrp="1"/>
          </p:cNvSpPr>
          <p:nvPr>
            <p:ph type="sldNum" sz="quarter" idx="12"/>
          </p:nvPr>
        </p:nvSpPr>
        <p:spPr>
          <a:xfrm>
            <a:off x="9906000" y="6472826"/>
            <a:ext cx="2133600" cy="365125"/>
          </a:xfrm>
        </p:spPr>
        <p:txBody>
          <a:bodyPr/>
          <a:lstStyle/>
          <a:p>
            <a:fld id="{D4B39A3D-6E5B-421C-AA99-AA75690A48C6}" type="slidenum">
              <a:rPr lang="en-US" smtClean="0"/>
              <a:pPr/>
              <a:t>25</a:t>
            </a:fld>
            <a:endParaRPr lang="en-US" dirty="0"/>
          </a:p>
        </p:txBody>
      </p:sp>
      <p:pic>
        <p:nvPicPr>
          <p:cNvPr id="9" name="Picture 3"/>
          <p:cNvPicPr>
            <a:picLocks noChangeAspect="1" noChangeArrowheads="1"/>
          </p:cNvPicPr>
          <p:nvPr/>
        </p:nvPicPr>
        <p:blipFill>
          <a:blip r:embed="rId5" cstate="print">
            <a:clrChange>
              <a:clrFrom>
                <a:srgbClr val="FDFDFD"/>
              </a:clrFrom>
              <a:clrTo>
                <a:srgbClr val="FDFDFD">
                  <a:alpha val="0"/>
                </a:srgbClr>
              </a:clrTo>
            </a:clrChange>
          </a:blip>
          <a:srcRect/>
          <a:stretch>
            <a:fillRect/>
          </a:stretch>
        </p:blipFill>
        <p:spPr bwMode="auto">
          <a:xfrm>
            <a:off x="0" y="-1224"/>
            <a:ext cx="1268881" cy="824184"/>
          </a:xfrm>
          <a:prstGeom prst="rect">
            <a:avLst/>
          </a:prstGeom>
          <a:noFill/>
          <a:ln w="9525">
            <a:noFill/>
            <a:miter lim="800000"/>
            <a:headEnd/>
            <a:tailEnd/>
          </a:ln>
          <a:effectLst/>
        </p:spPr>
      </p:pic>
      <p:grpSp>
        <p:nvGrpSpPr>
          <p:cNvPr id="39" name="Group 38">
            <a:extLst>
              <a:ext uri="{FF2B5EF4-FFF2-40B4-BE49-F238E27FC236}">
                <a16:creationId xmlns:a16="http://schemas.microsoft.com/office/drawing/2014/main" id="{2EBCD4F8-6925-CCAE-C956-C764FC0610E2}"/>
              </a:ext>
            </a:extLst>
          </p:cNvPr>
          <p:cNvGrpSpPr/>
          <p:nvPr/>
        </p:nvGrpSpPr>
        <p:grpSpPr>
          <a:xfrm>
            <a:off x="2034314" y="1348966"/>
            <a:ext cx="4450870" cy="656877"/>
            <a:chOff x="3886200" y="2089702"/>
            <a:chExt cx="4450870" cy="656877"/>
          </a:xfrm>
        </p:grpSpPr>
        <p:grpSp>
          <p:nvGrpSpPr>
            <p:cNvPr id="3" name="Group 2">
              <a:extLst>
                <a:ext uri="{FF2B5EF4-FFF2-40B4-BE49-F238E27FC236}">
                  <a16:creationId xmlns:a16="http://schemas.microsoft.com/office/drawing/2014/main" id="{D93F4254-4DCA-EA3D-3180-EB6C9D3206DE}"/>
                </a:ext>
              </a:extLst>
            </p:cNvPr>
            <p:cNvGrpSpPr/>
            <p:nvPr/>
          </p:nvGrpSpPr>
          <p:grpSpPr>
            <a:xfrm>
              <a:off x="3886200" y="2089702"/>
              <a:ext cx="3562757" cy="656877"/>
              <a:chOff x="6028788" y="1859411"/>
              <a:chExt cx="3562757" cy="656877"/>
            </a:xfrm>
          </p:grpSpPr>
          <p:sp>
            <p:nvSpPr>
              <p:cNvPr id="4" name="Rectangle 3">
                <a:extLst>
                  <a:ext uri="{FF2B5EF4-FFF2-40B4-BE49-F238E27FC236}">
                    <a16:creationId xmlns:a16="http://schemas.microsoft.com/office/drawing/2014/main" id="{B5E9BE28-833B-27AC-EEE4-B062E26D070A}"/>
                  </a:ext>
                </a:extLst>
              </p:cNvPr>
              <p:cNvSpPr/>
              <p:nvPr/>
            </p:nvSpPr>
            <p:spPr>
              <a:xfrm>
                <a:off x="7761551" y="1905000"/>
                <a:ext cx="1829994" cy="605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5" name="TextBox 4">
                <a:extLst>
                  <a:ext uri="{FF2B5EF4-FFF2-40B4-BE49-F238E27FC236}">
                    <a16:creationId xmlns:a16="http://schemas.microsoft.com/office/drawing/2014/main" id="{DA7F1ACC-76C4-2771-5DB5-D24594F77CD0}"/>
                  </a:ext>
                </a:extLst>
              </p:cNvPr>
              <p:cNvSpPr txBox="1"/>
              <p:nvPr/>
            </p:nvSpPr>
            <p:spPr>
              <a:xfrm>
                <a:off x="7705253" y="2059128"/>
                <a:ext cx="323165" cy="379272"/>
              </a:xfrm>
              <a:prstGeom prst="rect">
                <a:avLst/>
              </a:prstGeom>
              <a:noFill/>
            </p:spPr>
            <p:txBody>
              <a:bodyPr vert="vert270" wrap="none" rtlCol="0">
                <a:spAutoFit/>
              </a:bodyPr>
              <a:lstStyle/>
              <a:p>
                <a:r>
                  <a:rPr lang="en-US" sz="900" dirty="0"/>
                  <a:t>PType</a:t>
                </a:r>
                <a:endParaRPr lang="en-MY" sz="900" dirty="0"/>
              </a:p>
            </p:txBody>
          </p:sp>
          <p:sp>
            <p:nvSpPr>
              <p:cNvPr id="7" name="TextBox 6">
                <a:extLst>
                  <a:ext uri="{FF2B5EF4-FFF2-40B4-BE49-F238E27FC236}">
                    <a16:creationId xmlns:a16="http://schemas.microsoft.com/office/drawing/2014/main" id="{B9A7D49D-6B3F-F0F1-E98D-3B468B266418}"/>
                  </a:ext>
                </a:extLst>
              </p:cNvPr>
              <p:cNvSpPr txBox="1"/>
              <p:nvPr/>
            </p:nvSpPr>
            <p:spPr>
              <a:xfrm>
                <a:off x="8005265" y="2065537"/>
                <a:ext cx="323165" cy="372858"/>
              </a:xfrm>
              <a:prstGeom prst="rect">
                <a:avLst/>
              </a:prstGeom>
              <a:noFill/>
            </p:spPr>
            <p:txBody>
              <a:bodyPr vert="vert270" wrap="none" rtlCol="0">
                <a:spAutoFit/>
              </a:bodyPr>
              <a:lstStyle/>
              <a:p>
                <a:r>
                  <a:rPr lang="en-US" sz="900" dirty="0"/>
                  <a:t>SType</a:t>
                </a:r>
                <a:endParaRPr lang="en-MY" sz="900" dirty="0"/>
              </a:p>
            </p:txBody>
          </p:sp>
          <p:cxnSp>
            <p:nvCxnSpPr>
              <p:cNvPr id="8" name="Straight Connector 7">
                <a:extLst>
                  <a:ext uri="{FF2B5EF4-FFF2-40B4-BE49-F238E27FC236}">
                    <a16:creationId xmlns:a16="http://schemas.microsoft.com/office/drawing/2014/main" id="{8BC8BD4E-B541-5F4E-CC17-EA97D9535BF6}"/>
                  </a:ext>
                </a:extLst>
              </p:cNvPr>
              <p:cNvCxnSpPr>
                <a:cxnSpLocks/>
              </p:cNvCxnSpPr>
              <p:nvPr/>
            </p:nvCxnSpPr>
            <p:spPr>
              <a:xfrm flipV="1">
                <a:off x="8022064" y="1910682"/>
                <a:ext cx="0" cy="605606"/>
              </a:xfrm>
              <a:prstGeom prst="line">
                <a:avLst/>
              </a:prstGeom>
            </p:spPr>
            <p:style>
              <a:lnRef idx="3">
                <a:schemeClr val="dk1"/>
              </a:lnRef>
              <a:fillRef idx="0">
                <a:schemeClr val="dk1"/>
              </a:fillRef>
              <a:effectRef idx="2">
                <a:schemeClr val="dk1"/>
              </a:effectRef>
              <a:fontRef idx="minor">
                <a:schemeClr val="tx1"/>
              </a:fontRef>
            </p:style>
          </p:cxnSp>
          <p:cxnSp>
            <p:nvCxnSpPr>
              <p:cNvPr id="11" name="Straight Connector 10">
                <a:extLst>
                  <a:ext uri="{FF2B5EF4-FFF2-40B4-BE49-F238E27FC236}">
                    <a16:creationId xmlns:a16="http://schemas.microsoft.com/office/drawing/2014/main" id="{6514776F-2959-E78B-1058-AAE18451F83A}"/>
                  </a:ext>
                </a:extLst>
              </p:cNvPr>
              <p:cNvCxnSpPr/>
              <p:nvPr/>
            </p:nvCxnSpPr>
            <p:spPr>
              <a:xfrm flipV="1">
                <a:off x="8330144" y="1910682"/>
                <a:ext cx="0" cy="605606"/>
              </a:xfrm>
              <a:prstGeom prst="line">
                <a:avLst/>
              </a:prstGeom>
            </p:spPr>
            <p:style>
              <a:lnRef idx="3">
                <a:schemeClr val="dk1"/>
              </a:lnRef>
              <a:fillRef idx="0">
                <a:schemeClr val="dk1"/>
              </a:fillRef>
              <a:effectRef idx="2">
                <a:schemeClr val="dk1"/>
              </a:effectRef>
              <a:fontRef idx="minor">
                <a:schemeClr val="tx1"/>
              </a:fontRef>
            </p:style>
          </p:cxnSp>
          <p:cxnSp>
            <p:nvCxnSpPr>
              <p:cNvPr id="12" name="Straight Connector 11">
                <a:extLst>
                  <a:ext uri="{FF2B5EF4-FFF2-40B4-BE49-F238E27FC236}">
                    <a16:creationId xmlns:a16="http://schemas.microsoft.com/office/drawing/2014/main" id="{A7073F36-6BA7-DCC9-BAFD-E1144BA7D223}"/>
                  </a:ext>
                </a:extLst>
              </p:cNvPr>
              <p:cNvCxnSpPr/>
              <p:nvPr/>
            </p:nvCxnSpPr>
            <p:spPr>
              <a:xfrm flipV="1">
                <a:off x="8938688" y="2414364"/>
                <a:ext cx="0" cy="89580"/>
              </a:xfrm>
              <a:prstGeom prst="line">
                <a:avLst/>
              </a:prstGeom>
            </p:spPr>
            <p:style>
              <a:lnRef idx="3">
                <a:schemeClr val="dk1"/>
              </a:lnRef>
              <a:fillRef idx="0">
                <a:schemeClr val="dk1"/>
              </a:fillRef>
              <a:effectRef idx="2">
                <a:schemeClr val="dk1"/>
              </a:effectRef>
              <a:fontRef idx="minor">
                <a:schemeClr val="tx1"/>
              </a:fontRef>
            </p:style>
          </p:cxnSp>
          <p:cxnSp>
            <p:nvCxnSpPr>
              <p:cNvPr id="13" name="Straight Connector 12">
                <a:extLst>
                  <a:ext uri="{FF2B5EF4-FFF2-40B4-BE49-F238E27FC236}">
                    <a16:creationId xmlns:a16="http://schemas.microsoft.com/office/drawing/2014/main" id="{493016AA-C4C6-1629-5F61-7F0EF1B75AF3}"/>
                  </a:ext>
                </a:extLst>
              </p:cNvPr>
              <p:cNvCxnSpPr>
                <a:cxnSpLocks/>
                <a:stCxn id="4" idx="2"/>
              </p:cNvCxnSpPr>
              <p:nvPr/>
            </p:nvCxnSpPr>
            <p:spPr>
              <a:xfrm flipV="1">
                <a:off x="8676548" y="2414365"/>
                <a:ext cx="624" cy="96240"/>
              </a:xfrm>
              <a:prstGeom prst="line">
                <a:avLst/>
              </a:prstGeom>
            </p:spPr>
            <p:style>
              <a:lnRef idx="3">
                <a:schemeClr val="dk1"/>
              </a:lnRef>
              <a:fillRef idx="0">
                <a:schemeClr val="dk1"/>
              </a:fillRef>
              <a:effectRef idx="2">
                <a:schemeClr val="dk1"/>
              </a:effectRef>
              <a:fontRef idx="minor">
                <a:schemeClr val="tx1"/>
              </a:fontRef>
            </p:style>
          </p:cxnSp>
          <p:cxnSp>
            <p:nvCxnSpPr>
              <p:cNvPr id="14" name="Straight Connector 13">
                <a:extLst>
                  <a:ext uri="{FF2B5EF4-FFF2-40B4-BE49-F238E27FC236}">
                    <a16:creationId xmlns:a16="http://schemas.microsoft.com/office/drawing/2014/main" id="{F87494BE-FA21-7D1B-7AF7-560CB0028DC1}"/>
                  </a:ext>
                </a:extLst>
              </p:cNvPr>
              <p:cNvCxnSpPr/>
              <p:nvPr/>
            </p:nvCxnSpPr>
            <p:spPr>
              <a:xfrm flipV="1">
                <a:off x="9244312" y="2414364"/>
                <a:ext cx="0" cy="89579"/>
              </a:xfrm>
              <a:prstGeom prst="line">
                <a:avLst/>
              </a:prstGeom>
            </p:spPr>
            <p:style>
              <a:lnRef idx="3">
                <a:schemeClr val="dk1"/>
              </a:lnRef>
              <a:fillRef idx="0">
                <a:schemeClr val="dk1"/>
              </a:fillRef>
              <a:effectRef idx="2">
                <a:schemeClr val="dk1"/>
              </a:effectRef>
              <a:fontRef idx="minor">
                <a:schemeClr val="tx1"/>
              </a:fontRef>
            </p:style>
          </p:cxnSp>
          <p:sp>
            <p:nvSpPr>
              <p:cNvPr id="15" name="TextBox 14">
                <a:extLst>
                  <a:ext uri="{FF2B5EF4-FFF2-40B4-BE49-F238E27FC236}">
                    <a16:creationId xmlns:a16="http://schemas.microsoft.com/office/drawing/2014/main" id="{C7007AB9-64FC-BD5B-9FBC-9DEF5D25BEBA}"/>
                  </a:ext>
                </a:extLst>
              </p:cNvPr>
              <p:cNvSpPr txBox="1"/>
              <p:nvPr/>
            </p:nvSpPr>
            <p:spPr>
              <a:xfrm>
                <a:off x="8330144" y="2014575"/>
                <a:ext cx="1218543" cy="230833"/>
              </a:xfrm>
              <a:prstGeom prst="rect">
                <a:avLst/>
              </a:prstGeom>
              <a:noFill/>
            </p:spPr>
            <p:txBody>
              <a:bodyPr wrap="square" rtlCol="0">
                <a:spAutoFit/>
              </a:bodyPr>
              <a:lstStyle/>
              <a:p>
                <a:pPr algn="ctr"/>
                <a:r>
                  <a:rPr lang="en-US" sz="900" b="1" dirty="0"/>
                  <a:t>System Bytes</a:t>
                </a:r>
                <a:endParaRPr lang="en-MY" sz="900" b="1" dirty="0"/>
              </a:p>
            </p:txBody>
          </p:sp>
          <p:grpSp>
            <p:nvGrpSpPr>
              <p:cNvPr id="16" name="Group 15">
                <a:extLst>
                  <a:ext uri="{FF2B5EF4-FFF2-40B4-BE49-F238E27FC236}">
                    <a16:creationId xmlns:a16="http://schemas.microsoft.com/office/drawing/2014/main" id="{C82CCA7A-9C42-8A04-C914-8FB3277F3B5E}"/>
                  </a:ext>
                </a:extLst>
              </p:cNvPr>
              <p:cNvGrpSpPr/>
              <p:nvPr/>
            </p:nvGrpSpPr>
            <p:grpSpPr>
              <a:xfrm>
                <a:off x="6028788" y="1859411"/>
                <a:ext cx="1729324" cy="653262"/>
                <a:chOff x="5986172" y="1859411"/>
                <a:chExt cx="1729324" cy="653262"/>
              </a:xfrm>
            </p:grpSpPr>
            <p:sp>
              <p:nvSpPr>
                <p:cNvPr id="17" name="Rectangle 16">
                  <a:extLst>
                    <a:ext uri="{FF2B5EF4-FFF2-40B4-BE49-F238E27FC236}">
                      <a16:creationId xmlns:a16="http://schemas.microsoft.com/office/drawing/2014/main" id="{EDBFC874-814D-B746-1CA8-C3E17F686755}"/>
                    </a:ext>
                  </a:extLst>
                </p:cNvPr>
                <p:cNvSpPr/>
                <p:nvPr/>
              </p:nvSpPr>
              <p:spPr>
                <a:xfrm>
                  <a:off x="6053308" y="1904258"/>
                  <a:ext cx="438891" cy="605605"/>
                </a:xfrm>
                <a:prstGeom prst="rect">
                  <a:avLst/>
                </a:prstGeom>
                <a:solidFill>
                  <a:schemeClr val="accent3">
                    <a:lumMod val="20000"/>
                    <a:lumOff val="80000"/>
                  </a:schemeClr>
                </a:solidFill>
                <a:ln w="1270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MY"/>
                </a:p>
              </p:txBody>
            </p:sp>
            <p:sp>
              <p:nvSpPr>
                <p:cNvPr id="18" name="Rectangle 17">
                  <a:extLst>
                    <a:ext uri="{FF2B5EF4-FFF2-40B4-BE49-F238E27FC236}">
                      <a16:creationId xmlns:a16="http://schemas.microsoft.com/office/drawing/2014/main" id="{8F12CE03-8C31-6496-7698-695F61258206}"/>
                    </a:ext>
                  </a:extLst>
                </p:cNvPr>
                <p:cNvSpPr/>
                <p:nvPr/>
              </p:nvSpPr>
              <p:spPr>
                <a:xfrm>
                  <a:off x="6480409" y="1904686"/>
                  <a:ext cx="1233681" cy="605605"/>
                </a:xfrm>
                <a:prstGeom prst="rect">
                  <a:avLst/>
                </a:prstGeom>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MY"/>
                </a:p>
              </p:txBody>
            </p:sp>
            <p:cxnSp>
              <p:nvCxnSpPr>
                <p:cNvPr id="19" name="Straight Connector 18">
                  <a:extLst>
                    <a:ext uri="{FF2B5EF4-FFF2-40B4-BE49-F238E27FC236}">
                      <a16:creationId xmlns:a16="http://schemas.microsoft.com/office/drawing/2014/main" id="{11F86418-1C96-5562-B4B1-7E088C380A80}"/>
                    </a:ext>
                  </a:extLst>
                </p:cNvPr>
                <p:cNvCxnSpPr>
                  <a:stCxn id="18" idx="2"/>
                  <a:endCxn id="18" idx="0"/>
                </p:cNvCxnSpPr>
                <p:nvPr/>
              </p:nvCxnSpPr>
              <p:spPr>
                <a:xfrm flipV="1">
                  <a:off x="7097250" y="1904686"/>
                  <a:ext cx="0" cy="605605"/>
                </a:xfrm>
                <a:prstGeom prst="line">
                  <a:avLst/>
                </a:prstGeom>
              </p:spPr>
              <p:style>
                <a:lnRef idx="3">
                  <a:schemeClr val="dk1"/>
                </a:lnRef>
                <a:fillRef idx="0">
                  <a:schemeClr val="dk1"/>
                </a:fillRef>
                <a:effectRef idx="2">
                  <a:schemeClr val="dk1"/>
                </a:effectRef>
                <a:fontRef idx="minor">
                  <a:schemeClr val="tx1"/>
                </a:fontRef>
              </p:style>
            </p:cxnSp>
            <p:cxnSp>
              <p:nvCxnSpPr>
                <p:cNvPr id="20" name="Straight Connector 19">
                  <a:extLst>
                    <a:ext uri="{FF2B5EF4-FFF2-40B4-BE49-F238E27FC236}">
                      <a16:creationId xmlns:a16="http://schemas.microsoft.com/office/drawing/2014/main" id="{3E8C9A9A-19BD-D4B1-5655-B31AB99350FC}"/>
                    </a:ext>
                  </a:extLst>
                </p:cNvPr>
                <p:cNvCxnSpPr/>
                <p:nvPr/>
              </p:nvCxnSpPr>
              <p:spPr>
                <a:xfrm flipV="1">
                  <a:off x="7402243" y="1907067"/>
                  <a:ext cx="0" cy="605606"/>
                </a:xfrm>
                <a:prstGeom prst="line">
                  <a:avLst/>
                </a:prstGeom>
              </p:spPr>
              <p:style>
                <a:lnRef idx="3">
                  <a:schemeClr val="dk1"/>
                </a:lnRef>
                <a:fillRef idx="0">
                  <a:schemeClr val="dk1"/>
                </a:fillRef>
                <a:effectRef idx="2">
                  <a:schemeClr val="dk1"/>
                </a:effectRef>
                <a:fontRef idx="minor">
                  <a:schemeClr val="tx1"/>
                </a:fontRef>
              </p:style>
            </p:cxnSp>
            <p:cxnSp>
              <p:nvCxnSpPr>
                <p:cNvPr id="21" name="Straight Connector 20">
                  <a:extLst>
                    <a:ext uri="{FF2B5EF4-FFF2-40B4-BE49-F238E27FC236}">
                      <a16:creationId xmlns:a16="http://schemas.microsoft.com/office/drawing/2014/main" id="{B8CFBC42-0FC4-DC5A-4EAE-467D9E406F51}"/>
                    </a:ext>
                  </a:extLst>
                </p:cNvPr>
                <p:cNvCxnSpPr/>
                <p:nvPr/>
              </p:nvCxnSpPr>
              <p:spPr>
                <a:xfrm flipV="1">
                  <a:off x="6785403" y="2408494"/>
                  <a:ext cx="0" cy="96240"/>
                </a:xfrm>
                <a:prstGeom prst="line">
                  <a:avLst/>
                </a:prstGeom>
              </p:spPr>
              <p:style>
                <a:lnRef idx="3">
                  <a:schemeClr val="dk1"/>
                </a:lnRef>
                <a:fillRef idx="0">
                  <a:schemeClr val="dk1"/>
                </a:fillRef>
                <a:effectRef idx="2">
                  <a:schemeClr val="dk1"/>
                </a:effectRef>
                <a:fontRef idx="minor">
                  <a:schemeClr val="tx1"/>
                </a:fontRef>
              </p:style>
            </p:cxnSp>
            <p:sp>
              <p:nvSpPr>
                <p:cNvPr id="22" name="TextBox 21">
                  <a:extLst>
                    <a:ext uri="{FF2B5EF4-FFF2-40B4-BE49-F238E27FC236}">
                      <a16:creationId xmlns:a16="http://schemas.microsoft.com/office/drawing/2014/main" id="{C35BE91E-8B24-32EA-20E0-A13DAA0E7880}"/>
                    </a:ext>
                  </a:extLst>
                </p:cNvPr>
                <p:cNvSpPr txBox="1"/>
                <p:nvPr/>
              </p:nvSpPr>
              <p:spPr>
                <a:xfrm>
                  <a:off x="6513535" y="1975184"/>
                  <a:ext cx="543740" cy="369332"/>
                </a:xfrm>
                <a:prstGeom prst="rect">
                  <a:avLst/>
                </a:prstGeom>
                <a:noFill/>
              </p:spPr>
              <p:txBody>
                <a:bodyPr wrap="none" rtlCol="0">
                  <a:spAutoFit/>
                </a:bodyPr>
                <a:lstStyle/>
                <a:p>
                  <a:pPr algn="ctr"/>
                  <a:r>
                    <a:rPr lang="en-US" sz="900" b="1" dirty="0"/>
                    <a:t>Session</a:t>
                  </a:r>
                </a:p>
                <a:p>
                  <a:pPr algn="ctr"/>
                  <a:r>
                    <a:rPr lang="en-US" sz="900" b="1" dirty="0"/>
                    <a:t>ID</a:t>
                  </a:r>
                  <a:endParaRPr lang="en-MY" sz="900" b="1" dirty="0"/>
                </a:p>
              </p:txBody>
            </p:sp>
            <p:sp>
              <p:nvSpPr>
                <p:cNvPr id="23" name="TextBox 22">
                  <a:extLst>
                    <a:ext uri="{FF2B5EF4-FFF2-40B4-BE49-F238E27FC236}">
                      <a16:creationId xmlns:a16="http://schemas.microsoft.com/office/drawing/2014/main" id="{1AE5A695-C31D-F432-46EB-3E28CE2305DA}"/>
                    </a:ext>
                  </a:extLst>
                </p:cNvPr>
                <p:cNvSpPr txBox="1"/>
                <p:nvPr/>
              </p:nvSpPr>
              <p:spPr>
                <a:xfrm>
                  <a:off x="7079457" y="2057400"/>
                  <a:ext cx="323165" cy="428964"/>
                </a:xfrm>
                <a:prstGeom prst="rect">
                  <a:avLst/>
                </a:prstGeom>
                <a:noFill/>
              </p:spPr>
              <p:txBody>
                <a:bodyPr vert="vert270" wrap="none" rtlCol="0">
                  <a:spAutoFit/>
                </a:bodyPr>
                <a:lstStyle/>
                <a:p>
                  <a:r>
                    <a:rPr lang="en-US" sz="900" dirty="0"/>
                    <a:t>Stream</a:t>
                  </a:r>
                  <a:endParaRPr lang="en-MY" sz="900" dirty="0"/>
                </a:p>
              </p:txBody>
            </p:sp>
            <p:sp>
              <p:nvSpPr>
                <p:cNvPr id="24" name="TextBox 23">
                  <a:extLst>
                    <a:ext uri="{FF2B5EF4-FFF2-40B4-BE49-F238E27FC236}">
                      <a16:creationId xmlns:a16="http://schemas.microsoft.com/office/drawing/2014/main" id="{103A66AF-6746-07BA-D967-19A7ECD79940}"/>
                    </a:ext>
                  </a:extLst>
                </p:cNvPr>
                <p:cNvSpPr txBox="1"/>
                <p:nvPr/>
              </p:nvSpPr>
              <p:spPr>
                <a:xfrm>
                  <a:off x="7062376" y="1859411"/>
                  <a:ext cx="211442" cy="331671"/>
                </a:xfrm>
                <a:prstGeom prst="rect">
                  <a:avLst/>
                </a:prstGeom>
                <a:noFill/>
              </p:spPr>
              <p:txBody>
                <a:bodyPr wrap="none" rtlCol="0">
                  <a:spAutoFit/>
                </a:bodyPr>
                <a:lstStyle/>
                <a:p>
                  <a:r>
                    <a:rPr lang="en-US" sz="1000" b="1" dirty="0"/>
                    <a:t>W</a:t>
                  </a:r>
                  <a:endParaRPr lang="en-MY" sz="1000" b="1" dirty="0"/>
                </a:p>
              </p:txBody>
            </p:sp>
            <p:sp>
              <p:nvSpPr>
                <p:cNvPr id="25" name="TextBox 24">
                  <a:extLst>
                    <a:ext uri="{FF2B5EF4-FFF2-40B4-BE49-F238E27FC236}">
                      <a16:creationId xmlns:a16="http://schemas.microsoft.com/office/drawing/2014/main" id="{35FB914B-0DE7-C39A-319E-5CDDBD33AFF5}"/>
                    </a:ext>
                  </a:extLst>
                </p:cNvPr>
                <p:cNvSpPr txBox="1"/>
                <p:nvPr/>
              </p:nvSpPr>
              <p:spPr>
                <a:xfrm>
                  <a:off x="7392331" y="1981197"/>
                  <a:ext cx="323165" cy="502701"/>
                </a:xfrm>
                <a:prstGeom prst="rect">
                  <a:avLst/>
                </a:prstGeom>
                <a:noFill/>
              </p:spPr>
              <p:txBody>
                <a:bodyPr vert="vert270" wrap="none" rtlCol="0">
                  <a:spAutoFit/>
                </a:bodyPr>
                <a:lstStyle/>
                <a:p>
                  <a:r>
                    <a:rPr lang="en-US" sz="900" dirty="0"/>
                    <a:t>Function</a:t>
                  </a:r>
                  <a:endParaRPr lang="en-MY" sz="900" dirty="0"/>
                </a:p>
              </p:txBody>
            </p:sp>
            <p:sp>
              <p:nvSpPr>
                <p:cNvPr id="26" name="TextBox 25">
                  <a:extLst>
                    <a:ext uri="{FF2B5EF4-FFF2-40B4-BE49-F238E27FC236}">
                      <a16:creationId xmlns:a16="http://schemas.microsoft.com/office/drawing/2014/main" id="{92FFB3A8-3A57-2AA1-5FDD-BB79DA15EDD2}"/>
                    </a:ext>
                  </a:extLst>
                </p:cNvPr>
                <p:cNvSpPr txBox="1"/>
                <p:nvPr/>
              </p:nvSpPr>
              <p:spPr>
                <a:xfrm>
                  <a:off x="5986172" y="2083949"/>
                  <a:ext cx="549589" cy="246221"/>
                </a:xfrm>
                <a:prstGeom prst="rect">
                  <a:avLst/>
                </a:prstGeom>
                <a:noFill/>
              </p:spPr>
              <p:txBody>
                <a:bodyPr wrap="square" rtlCol="0">
                  <a:spAutoFit/>
                </a:bodyPr>
                <a:lstStyle/>
                <a:p>
                  <a:pPr algn="ctr"/>
                  <a:r>
                    <a:rPr lang="en-US" sz="1000" dirty="0"/>
                    <a:t>Length</a:t>
                  </a:r>
                  <a:endParaRPr lang="en-MY" sz="1000" dirty="0"/>
                </a:p>
              </p:txBody>
            </p:sp>
          </p:grpSp>
        </p:grpSp>
        <p:grpSp>
          <p:nvGrpSpPr>
            <p:cNvPr id="28" name="Group 27">
              <a:extLst>
                <a:ext uri="{FF2B5EF4-FFF2-40B4-BE49-F238E27FC236}">
                  <a16:creationId xmlns:a16="http://schemas.microsoft.com/office/drawing/2014/main" id="{83439822-3802-A061-51C9-75D1A1A6442E}"/>
                </a:ext>
              </a:extLst>
            </p:cNvPr>
            <p:cNvGrpSpPr/>
            <p:nvPr/>
          </p:nvGrpSpPr>
          <p:grpSpPr>
            <a:xfrm>
              <a:off x="7452262" y="2135291"/>
              <a:ext cx="884808" cy="604863"/>
              <a:chOff x="9594850" y="1905000"/>
              <a:chExt cx="884808" cy="604863"/>
            </a:xfrm>
          </p:grpSpPr>
          <p:sp>
            <p:nvSpPr>
              <p:cNvPr id="29" name="Rectangle 28">
                <a:extLst>
                  <a:ext uri="{FF2B5EF4-FFF2-40B4-BE49-F238E27FC236}">
                    <a16:creationId xmlns:a16="http://schemas.microsoft.com/office/drawing/2014/main" id="{291E2E8F-6ED8-7EF2-B001-A34E600F84F5}"/>
                  </a:ext>
                </a:extLst>
              </p:cNvPr>
              <p:cNvSpPr/>
              <p:nvPr/>
            </p:nvSpPr>
            <p:spPr>
              <a:xfrm>
                <a:off x="9594850" y="1905000"/>
                <a:ext cx="884808" cy="60486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30" name="TextBox 29">
                <a:extLst>
                  <a:ext uri="{FF2B5EF4-FFF2-40B4-BE49-F238E27FC236}">
                    <a16:creationId xmlns:a16="http://schemas.microsoft.com/office/drawing/2014/main" id="{095A1F31-8308-856C-CB37-F0E2689A2487}"/>
                  </a:ext>
                </a:extLst>
              </p:cNvPr>
              <p:cNvSpPr txBox="1"/>
              <p:nvPr/>
            </p:nvSpPr>
            <p:spPr>
              <a:xfrm>
                <a:off x="9617689" y="2020184"/>
                <a:ext cx="812241" cy="400110"/>
              </a:xfrm>
              <a:prstGeom prst="rect">
                <a:avLst/>
              </a:prstGeom>
              <a:noFill/>
            </p:spPr>
            <p:txBody>
              <a:bodyPr wrap="square" rtlCol="0">
                <a:spAutoFit/>
              </a:bodyPr>
              <a:lstStyle/>
              <a:p>
                <a:pPr algn="ctr"/>
                <a:r>
                  <a:rPr lang="en-US" sz="1000" b="1" dirty="0"/>
                  <a:t>Message</a:t>
                </a:r>
              </a:p>
              <a:p>
                <a:pPr algn="ctr"/>
                <a:r>
                  <a:rPr lang="en-US" sz="1000" b="1" dirty="0"/>
                  <a:t>Data</a:t>
                </a:r>
              </a:p>
            </p:txBody>
          </p:sp>
        </p:grpSp>
      </p:grpSp>
      <p:grpSp>
        <p:nvGrpSpPr>
          <p:cNvPr id="42" name="Group 41">
            <a:extLst>
              <a:ext uri="{FF2B5EF4-FFF2-40B4-BE49-F238E27FC236}">
                <a16:creationId xmlns:a16="http://schemas.microsoft.com/office/drawing/2014/main" id="{ACD5DBF5-32FE-2149-1112-AF0C544EBDA9}"/>
              </a:ext>
            </a:extLst>
          </p:cNvPr>
          <p:cNvGrpSpPr/>
          <p:nvPr/>
        </p:nvGrpSpPr>
        <p:grpSpPr>
          <a:xfrm>
            <a:off x="6422827" y="1395474"/>
            <a:ext cx="1000881" cy="604863"/>
            <a:chOff x="8286237" y="1570508"/>
            <a:chExt cx="1000881" cy="604863"/>
          </a:xfrm>
        </p:grpSpPr>
        <p:sp>
          <p:nvSpPr>
            <p:cNvPr id="40" name="Rectangle 39">
              <a:extLst>
                <a:ext uri="{FF2B5EF4-FFF2-40B4-BE49-F238E27FC236}">
                  <a16:creationId xmlns:a16="http://schemas.microsoft.com/office/drawing/2014/main" id="{906E2EFF-CC82-6347-0BDE-9358EE3C56C1}"/>
                </a:ext>
              </a:extLst>
            </p:cNvPr>
            <p:cNvSpPr/>
            <p:nvPr/>
          </p:nvSpPr>
          <p:spPr>
            <a:xfrm>
              <a:off x="8344274" y="1570508"/>
              <a:ext cx="884808" cy="604863"/>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41" name="TextBox 40">
              <a:extLst>
                <a:ext uri="{FF2B5EF4-FFF2-40B4-BE49-F238E27FC236}">
                  <a16:creationId xmlns:a16="http://schemas.microsoft.com/office/drawing/2014/main" id="{FA69968C-4F06-9EDB-CCA7-34433D581D8E}"/>
                </a:ext>
              </a:extLst>
            </p:cNvPr>
            <p:cNvSpPr txBox="1"/>
            <p:nvPr/>
          </p:nvSpPr>
          <p:spPr>
            <a:xfrm>
              <a:off x="8286237" y="1614534"/>
              <a:ext cx="1000881" cy="553998"/>
            </a:xfrm>
            <a:prstGeom prst="rect">
              <a:avLst/>
            </a:prstGeom>
            <a:noFill/>
          </p:spPr>
          <p:txBody>
            <a:bodyPr wrap="square" rtlCol="0">
              <a:spAutoFit/>
            </a:bodyPr>
            <a:lstStyle/>
            <a:p>
              <a:pPr algn="ctr"/>
              <a:r>
                <a:rPr lang="en-US" sz="1000" b="1" dirty="0"/>
                <a:t>ACB</a:t>
              </a:r>
            </a:p>
            <a:p>
              <a:pPr algn="ctr"/>
              <a:r>
                <a:rPr lang="en-US" sz="1000" dirty="0"/>
                <a:t>(Authentication Code Block)</a:t>
              </a:r>
            </a:p>
          </p:txBody>
        </p:sp>
      </p:grpSp>
      <p:pic>
        <p:nvPicPr>
          <p:cNvPr id="1050" name="Picture 1049">
            <a:extLst>
              <a:ext uri="{FF2B5EF4-FFF2-40B4-BE49-F238E27FC236}">
                <a16:creationId xmlns:a16="http://schemas.microsoft.com/office/drawing/2014/main" id="{FC6C59F9-DD90-7AAD-C735-3DC6F81DA02B}"/>
              </a:ext>
            </a:extLst>
          </p:cNvPr>
          <p:cNvPicPr>
            <a:picLocks noChangeAspect="1"/>
          </p:cNvPicPr>
          <p:nvPr/>
        </p:nvPicPr>
        <p:blipFill>
          <a:blip r:embed="rId6"/>
          <a:stretch>
            <a:fillRect/>
          </a:stretch>
        </p:blipFill>
        <p:spPr>
          <a:xfrm>
            <a:off x="5466315" y="2684431"/>
            <a:ext cx="2837881" cy="1820747"/>
          </a:xfrm>
          <a:prstGeom prst="rect">
            <a:avLst/>
          </a:prstGeom>
        </p:spPr>
      </p:pic>
      <p:cxnSp>
        <p:nvCxnSpPr>
          <p:cNvPr id="27" name="Straight Connector 26">
            <a:extLst>
              <a:ext uri="{FF2B5EF4-FFF2-40B4-BE49-F238E27FC236}">
                <a16:creationId xmlns:a16="http://schemas.microsoft.com/office/drawing/2014/main" id="{E9CC7209-91D1-7BB7-18CB-B293064F9D20}"/>
              </a:ext>
            </a:extLst>
          </p:cNvPr>
          <p:cNvCxnSpPr>
            <a:cxnSpLocks/>
          </p:cNvCxnSpPr>
          <p:nvPr/>
        </p:nvCxnSpPr>
        <p:spPr>
          <a:xfrm flipH="1">
            <a:off x="5645033" y="1993498"/>
            <a:ext cx="835831" cy="661852"/>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5B48DBD1-E3F2-6E34-3D32-0107AE667ED7}"/>
              </a:ext>
            </a:extLst>
          </p:cNvPr>
          <p:cNvCxnSpPr>
            <a:cxnSpLocks/>
          </p:cNvCxnSpPr>
          <p:nvPr/>
        </p:nvCxnSpPr>
        <p:spPr>
          <a:xfrm>
            <a:off x="7365672" y="2000160"/>
            <a:ext cx="938524" cy="684271"/>
          </a:xfrm>
          <a:prstGeom prst="line">
            <a:avLst/>
          </a:prstGeom>
          <a:ln>
            <a:prstDash val="lgDash"/>
          </a:ln>
        </p:spPr>
        <p:style>
          <a:lnRef idx="1">
            <a:schemeClr val="accent1"/>
          </a:lnRef>
          <a:fillRef idx="0">
            <a:schemeClr val="accent1"/>
          </a:fillRef>
          <a:effectRef idx="0">
            <a:schemeClr val="accent1"/>
          </a:effectRef>
          <a:fontRef idx="minor">
            <a:schemeClr val="tx1"/>
          </a:fontRef>
        </p:style>
      </p:cxnSp>
      <p:grpSp>
        <p:nvGrpSpPr>
          <p:cNvPr id="1049" name="Group 1048">
            <a:extLst>
              <a:ext uri="{FF2B5EF4-FFF2-40B4-BE49-F238E27FC236}">
                <a16:creationId xmlns:a16="http://schemas.microsoft.com/office/drawing/2014/main" id="{CD135883-E2B5-3BA1-96FD-394109375B36}"/>
              </a:ext>
            </a:extLst>
          </p:cNvPr>
          <p:cNvGrpSpPr/>
          <p:nvPr/>
        </p:nvGrpSpPr>
        <p:grpSpPr>
          <a:xfrm>
            <a:off x="2917627" y="5309317"/>
            <a:ext cx="4506081" cy="656877"/>
            <a:chOff x="3429000" y="5210523"/>
            <a:chExt cx="4506081" cy="656877"/>
          </a:xfrm>
        </p:grpSpPr>
        <p:grpSp>
          <p:nvGrpSpPr>
            <p:cNvPr id="34" name="Group 33">
              <a:extLst>
                <a:ext uri="{FF2B5EF4-FFF2-40B4-BE49-F238E27FC236}">
                  <a16:creationId xmlns:a16="http://schemas.microsoft.com/office/drawing/2014/main" id="{93D17FB2-7704-A0D4-E427-E69B2E747540}"/>
                </a:ext>
              </a:extLst>
            </p:cNvPr>
            <p:cNvGrpSpPr/>
            <p:nvPr/>
          </p:nvGrpSpPr>
          <p:grpSpPr>
            <a:xfrm>
              <a:off x="3429000" y="5210523"/>
              <a:ext cx="3562757" cy="656877"/>
              <a:chOff x="6028788" y="1859411"/>
              <a:chExt cx="3562757" cy="656877"/>
            </a:xfrm>
          </p:grpSpPr>
          <p:sp>
            <p:nvSpPr>
              <p:cNvPr id="38" name="Rectangle 37">
                <a:extLst>
                  <a:ext uri="{FF2B5EF4-FFF2-40B4-BE49-F238E27FC236}">
                    <a16:creationId xmlns:a16="http://schemas.microsoft.com/office/drawing/2014/main" id="{BD47BE10-51CD-3071-4E40-C7B570AC5960}"/>
                  </a:ext>
                </a:extLst>
              </p:cNvPr>
              <p:cNvSpPr/>
              <p:nvPr/>
            </p:nvSpPr>
            <p:spPr>
              <a:xfrm>
                <a:off x="7761551" y="1905000"/>
                <a:ext cx="1829994" cy="60560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027" name="TextBox 1026">
                <a:extLst>
                  <a:ext uri="{FF2B5EF4-FFF2-40B4-BE49-F238E27FC236}">
                    <a16:creationId xmlns:a16="http://schemas.microsoft.com/office/drawing/2014/main" id="{45AD962B-2F45-8364-C5A3-5914B2880C5F}"/>
                  </a:ext>
                </a:extLst>
              </p:cNvPr>
              <p:cNvSpPr txBox="1"/>
              <p:nvPr/>
            </p:nvSpPr>
            <p:spPr>
              <a:xfrm>
                <a:off x="7705253" y="2059128"/>
                <a:ext cx="323165" cy="379272"/>
              </a:xfrm>
              <a:prstGeom prst="rect">
                <a:avLst/>
              </a:prstGeom>
              <a:noFill/>
            </p:spPr>
            <p:txBody>
              <a:bodyPr vert="vert270" wrap="none" rtlCol="0">
                <a:spAutoFit/>
              </a:bodyPr>
              <a:lstStyle/>
              <a:p>
                <a:r>
                  <a:rPr lang="en-US" sz="900" dirty="0"/>
                  <a:t>PType</a:t>
                </a:r>
                <a:endParaRPr lang="en-MY" sz="900" dirty="0"/>
              </a:p>
            </p:txBody>
          </p:sp>
          <p:sp>
            <p:nvSpPr>
              <p:cNvPr id="1028" name="TextBox 1027">
                <a:extLst>
                  <a:ext uri="{FF2B5EF4-FFF2-40B4-BE49-F238E27FC236}">
                    <a16:creationId xmlns:a16="http://schemas.microsoft.com/office/drawing/2014/main" id="{63EF1D30-DA11-C1DE-4129-71C6B6D81A19}"/>
                  </a:ext>
                </a:extLst>
              </p:cNvPr>
              <p:cNvSpPr txBox="1"/>
              <p:nvPr/>
            </p:nvSpPr>
            <p:spPr>
              <a:xfrm>
                <a:off x="8005265" y="2065537"/>
                <a:ext cx="323165" cy="372858"/>
              </a:xfrm>
              <a:prstGeom prst="rect">
                <a:avLst/>
              </a:prstGeom>
              <a:noFill/>
            </p:spPr>
            <p:txBody>
              <a:bodyPr vert="vert270" wrap="none" rtlCol="0">
                <a:spAutoFit/>
              </a:bodyPr>
              <a:lstStyle/>
              <a:p>
                <a:r>
                  <a:rPr lang="en-US" sz="900" dirty="0"/>
                  <a:t>SType</a:t>
                </a:r>
                <a:endParaRPr lang="en-MY" sz="900" dirty="0"/>
              </a:p>
            </p:txBody>
          </p:sp>
          <p:cxnSp>
            <p:nvCxnSpPr>
              <p:cNvPr id="1029" name="Straight Connector 1028">
                <a:extLst>
                  <a:ext uri="{FF2B5EF4-FFF2-40B4-BE49-F238E27FC236}">
                    <a16:creationId xmlns:a16="http://schemas.microsoft.com/office/drawing/2014/main" id="{ABCAE897-6B7F-75D0-E7C7-A2B14929971C}"/>
                  </a:ext>
                </a:extLst>
              </p:cNvPr>
              <p:cNvCxnSpPr>
                <a:cxnSpLocks/>
              </p:cNvCxnSpPr>
              <p:nvPr/>
            </p:nvCxnSpPr>
            <p:spPr>
              <a:xfrm flipV="1">
                <a:off x="8022064" y="1910682"/>
                <a:ext cx="0" cy="605606"/>
              </a:xfrm>
              <a:prstGeom prst="line">
                <a:avLst/>
              </a:prstGeom>
            </p:spPr>
            <p:style>
              <a:lnRef idx="3">
                <a:schemeClr val="dk1"/>
              </a:lnRef>
              <a:fillRef idx="0">
                <a:schemeClr val="dk1"/>
              </a:fillRef>
              <a:effectRef idx="2">
                <a:schemeClr val="dk1"/>
              </a:effectRef>
              <a:fontRef idx="minor">
                <a:schemeClr val="tx1"/>
              </a:fontRef>
            </p:style>
          </p:cxnSp>
          <p:cxnSp>
            <p:nvCxnSpPr>
              <p:cNvPr id="1030" name="Straight Connector 1029">
                <a:extLst>
                  <a:ext uri="{FF2B5EF4-FFF2-40B4-BE49-F238E27FC236}">
                    <a16:creationId xmlns:a16="http://schemas.microsoft.com/office/drawing/2014/main" id="{5F500EDC-81E7-7DFC-B11B-C7B924CA5114}"/>
                  </a:ext>
                </a:extLst>
              </p:cNvPr>
              <p:cNvCxnSpPr/>
              <p:nvPr/>
            </p:nvCxnSpPr>
            <p:spPr>
              <a:xfrm flipV="1">
                <a:off x="8330144" y="1910682"/>
                <a:ext cx="0" cy="605606"/>
              </a:xfrm>
              <a:prstGeom prst="line">
                <a:avLst/>
              </a:prstGeom>
            </p:spPr>
            <p:style>
              <a:lnRef idx="3">
                <a:schemeClr val="dk1"/>
              </a:lnRef>
              <a:fillRef idx="0">
                <a:schemeClr val="dk1"/>
              </a:fillRef>
              <a:effectRef idx="2">
                <a:schemeClr val="dk1"/>
              </a:effectRef>
              <a:fontRef idx="minor">
                <a:schemeClr val="tx1"/>
              </a:fontRef>
            </p:style>
          </p:cxnSp>
          <p:cxnSp>
            <p:nvCxnSpPr>
              <p:cNvPr id="1031" name="Straight Connector 1030">
                <a:extLst>
                  <a:ext uri="{FF2B5EF4-FFF2-40B4-BE49-F238E27FC236}">
                    <a16:creationId xmlns:a16="http://schemas.microsoft.com/office/drawing/2014/main" id="{34A332F6-C63F-CA2C-290B-2C6AE06EC096}"/>
                  </a:ext>
                </a:extLst>
              </p:cNvPr>
              <p:cNvCxnSpPr/>
              <p:nvPr/>
            </p:nvCxnSpPr>
            <p:spPr>
              <a:xfrm flipV="1">
                <a:off x="8938688" y="2414364"/>
                <a:ext cx="0" cy="89580"/>
              </a:xfrm>
              <a:prstGeom prst="line">
                <a:avLst/>
              </a:prstGeom>
            </p:spPr>
            <p:style>
              <a:lnRef idx="3">
                <a:schemeClr val="dk1"/>
              </a:lnRef>
              <a:fillRef idx="0">
                <a:schemeClr val="dk1"/>
              </a:fillRef>
              <a:effectRef idx="2">
                <a:schemeClr val="dk1"/>
              </a:effectRef>
              <a:fontRef idx="minor">
                <a:schemeClr val="tx1"/>
              </a:fontRef>
            </p:style>
          </p:cxnSp>
          <p:cxnSp>
            <p:nvCxnSpPr>
              <p:cNvPr id="1032" name="Straight Connector 1031">
                <a:extLst>
                  <a:ext uri="{FF2B5EF4-FFF2-40B4-BE49-F238E27FC236}">
                    <a16:creationId xmlns:a16="http://schemas.microsoft.com/office/drawing/2014/main" id="{2371398A-916D-DE65-812E-80765C9DE2F6}"/>
                  </a:ext>
                </a:extLst>
              </p:cNvPr>
              <p:cNvCxnSpPr>
                <a:cxnSpLocks/>
                <a:stCxn id="38" idx="2"/>
              </p:cNvCxnSpPr>
              <p:nvPr/>
            </p:nvCxnSpPr>
            <p:spPr>
              <a:xfrm flipV="1">
                <a:off x="8676548" y="2414365"/>
                <a:ext cx="624" cy="96240"/>
              </a:xfrm>
              <a:prstGeom prst="line">
                <a:avLst/>
              </a:prstGeom>
            </p:spPr>
            <p:style>
              <a:lnRef idx="3">
                <a:schemeClr val="dk1"/>
              </a:lnRef>
              <a:fillRef idx="0">
                <a:schemeClr val="dk1"/>
              </a:fillRef>
              <a:effectRef idx="2">
                <a:schemeClr val="dk1"/>
              </a:effectRef>
              <a:fontRef idx="minor">
                <a:schemeClr val="tx1"/>
              </a:fontRef>
            </p:style>
          </p:cxnSp>
          <p:cxnSp>
            <p:nvCxnSpPr>
              <p:cNvPr id="1033" name="Straight Connector 1032">
                <a:extLst>
                  <a:ext uri="{FF2B5EF4-FFF2-40B4-BE49-F238E27FC236}">
                    <a16:creationId xmlns:a16="http://schemas.microsoft.com/office/drawing/2014/main" id="{C705F07B-A64A-DB44-4493-A7714BD6FA20}"/>
                  </a:ext>
                </a:extLst>
              </p:cNvPr>
              <p:cNvCxnSpPr/>
              <p:nvPr/>
            </p:nvCxnSpPr>
            <p:spPr>
              <a:xfrm flipV="1">
                <a:off x="9244312" y="2414364"/>
                <a:ext cx="0" cy="89579"/>
              </a:xfrm>
              <a:prstGeom prst="line">
                <a:avLst/>
              </a:prstGeom>
            </p:spPr>
            <p:style>
              <a:lnRef idx="3">
                <a:schemeClr val="dk1"/>
              </a:lnRef>
              <a:fillRef idx="0">
                <a:schemeClr val="dk1"/>
              </a:fillRef>
              <a:effectRef idx="2">
                <a:schemeClr val="dk1"/>
              </a:effectRef>
              <a:fontRef idx="minor">
                <a:schemeClr val="tx1"/>
              </a:fontRef>
            </p:style>
          </p:cxnSp>
          <p:sp>
            <p:nvSpPr>
              <p:cNvPr id="1034" name="TextBox 1033">
                <a:extLst>
                  <a:ext uri="{FF2B5EF4-FFF2-40B4-BE49-F238E27FC236}">
                    <a16:creationId xmlns:a16="http://schemas.microsoft.com/office/drawing/2014/main" id="{1D40580F-28FB-5B06-3B63-D62844642C99}"/>
                  </a:ext>
                </a:extLst>
              </p:cNvPr>
              <p:cNvSpPr txBox="1"/>
              <p:nvPr/>
            </p:nvSpPr>
            <p:spPr>
              <a:xfrm>
                <a:off x="8330144" y="2014575"/>
                <a:ext cx="1218543" cy="230833"/>
              </a:xfrm>
              <a:prstGeom prst="rect">
                <a:avLst/>
              </a:prstGeom>
              <a:noFill/>
            </p:spPr>
            <p:txBody>
              <a:bodyPr wrap="square" rtlCol="0">
                <a:spAutoFit/>
              </a:bodyPr>
              <a:lstStyle/>
              <a:p>
                <a:pPr algn="ctr"/>
                <a:r>
                  <a:rPr lang="en-US" sz="900" b="1" dirty="0"/>
                  <a:t>System Bytes</a:t>
                </a:r>
                <a:endParaRPr lang="en-MY" sz="900" b="1" dirty="0"/>
              </a:p>
            </p:txBody>
          </p:sp>
          <p:grpSp>
            <p:nvGrpSpPr>
              <p:cNvPr id="1035" name="Group 1034">
                <a:extLst>
                  <a:ext uri="{FF2B5EF4-FFF2-40B4-BE49-F238E27FC236}">
                    <a16:creationId xmlns:a16="http://schemas.microsoft.com/office/drawing/2014/main" id="{36400F3F-8150-9303-BE3C-43E01FD9396A}"/>
                  </a:ext>
                </a:extLst>
              </p:cNvPr>
              <p:cNvGrpSpPr/>
              <p:nvPr/>
            </p:nvGrpSpPr>
            <p:grpSpPr>
              <a:xfrm>
                <a:off x="6028788" y="1859411"/>
                <a:ext cx="1729324" cy="653262"/>
                <a:chOff x="5986172" y="1859411"/>
                <a:chExt cx="1729324" cy="653262"/>
              </a:xfrm>
            </p:grpSpPr>
            <p:sp>
              <p:nvSpPr>
                <p:cNvPr id="1036" name="Rectangle 1035">
                  <a:extLst>
                    <a:ext uri="{FF2B5EF4-FFF2-40B4-BE49-F238E27FC236}">
                      <a16:creationId xmlns:a16="http://schemas.microsoft.com/office/drawing/2014/main" id="{5C54A01A-6F08-6162-FA8D-3A55D52616A0}"/>
                    </a:ext>
                  </a:extLst>
                </p:cNvPr>
                <p:cNvSpPr/>
                <p:nvPr/>
              </p:nvSpPr>
              <p:spPr>
                <a:xfrm>
                  <a:off x="6053308" y="1904258"/>
                  <a:ext cx="438891" cy="605605"/>
                </a:xfrm>
                <a:prstGeom prst="rect">
                  <a:avLst/>
                </a:prstGeom>
                <a:solidFill>
                  <a:schemeClr val="accent3">
                    <a:lumMod val="20000"/>
                    <a:lumOff val="80000"/>
                  </a:schemeClr>
                </a:solidFill>
                <a:ln w="12700">
                  <a:solidFill>
                    <a:schemeClr val="tx1"/>
                  </a:solidFill>
                </a:ln>
              </p:spPr>
              <p:style>
                <a:lnRef idx="1">
                  <a:schemeClr val="accent5"/>
                </a:lnRef>
                <a:fillRef idx="2">
                  <a:schemeClr val="accent5"/>
                </a:fillRef>
                <a:effectRef idx="1">
                  <a:schemeClr val="accent5"/>
                </a:effectRef>
                <a:fontRef idx="minor">
                  <a:schemeClr val="dk1"/>
                </a:fontRef>
              </p:style>
              <p:txBody>
                <a:bodyPr rtlCol="0" anchor="ctr"/>
                <a:lstStyle/>
                <a:p>
                  <a:pPr algn="ctr"/>
                  <a:endParaRPr lang="en-MY"/>
                </a:p>
              </p:txBody>
            </p:sp>
            <p:sp>
              <p:nvSpPr>
                <p:cNvPr id="1037" name="Rectangle 1036">
                  <a:extLst>
                    <a:ext uri="{FF2B5EF4-FFF2-40B4-BE49-F238E27FC236}">
                      <a16:creationId xmlns:a16="http://schemas.microsoft.com/office/drawing/2014/main" id="{10B5BF13-DDFA-DCF3-4DC3-05EE3D93C8A7}"/>
                    </a:ext>
                  </a:extLst>
                </p:cNvPr>
                <p:cNvSpPr/>
                <p:nvPr/>
              </p:nvSpPr>
              <p:spPr>
                <a:xfrm>
                  <a:off x="6480409" y="1904686"/>
                  <a:ext cx="1233681" cy="605605"/>
                </a:xfrm>
                <a:prstGeom prst="rect">
                  <a:avLst/>
                </a:prstGeom>
                <a:ln>
                  <a:solidFill>
                    <a:schemeClr val="tx1"/>
                  </a:solid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MY"/>
                </a:p>
              </p:txBody>
            </p:sp>
            <p:cxnSp>
              <p:nvCxnSpPr>
                <p:cNvPr id="1038" name="Straight Connector 1037">
                  <a:extLst>
                    <a:ext uri="{FF2B5EF4-FFF2-40B4-BE49-F238E27FC236}">
                      <a16:creationId xmlns:a16="http://schemas.microsoft.com/office/drawing/2014/main" id="{B32FE003-113E-60B3-359D-430E31C0AADF}"/>
                    </a:ext>
                  </a:extLst>
                </p:cNvPr>
                <p:cNvCxnSpPr>
                  <a:stCxn id="1037" idx="2"/>
                  <a:endCxn id="1037" idx="0"/>
                </p:cNvCxnSpPr>
                <p:nvPr/>
              </p:nvCxnSpPr>
              <p:spPr>
                <a:xfrm flipV="1">
                  <a:off x="7097250" y="1904686"/>
                  <a:ext cx="0" cy="605605"/>
                </a:xfrm>
                <a:prstGeom prst="line">
                  <a:avLst/>
                </a:prstGeom>
              </p:spPr>
              <p:style>
                <a:lnRef idx="3">
                  <a:schemeClr val="dk1"/>
                </a:lnRef>
                <a:fillRef idx="0">
                  <a:schemeClr val="dk1"/>
                </a:fillRef>
                <a:effectRef idx="2">
                  <a:schemeClr val="dk1"/>
                </a:effectRef>
                <a:fontRef idx="minor">
                  <a:schemeClr val="tx1"/>
                </a:fontRef>
              </p:style>
            </p:cxnSp>
            <p:cxnSp>
              <p:nvCxnSpPr>
                <p:cNvPr id="1039" name="Straight Connector 1038">
                  <a:extLst>
                    <a:ext uri="{FF2B5EF4-FFF2-40B4-BE49-F238E27FC236}">
                      <a16:creationId xmlns:a16="http://schemas.microsoft.com/office/drawing/2014/main" id="{2B30C887-0151-798B-FB62-6C5BFD0F0B97}"/>
                    </a:ext>
                  </a:extLst>
                </p:cNvPr>
                <p:cNvCxnSpPr/>
                <p:nvPr/>
              </p:nvCxnSpPr>
              <p:spPr>
                <a:xfrm flipV="1">
                  <a:off x="7402243" y="1907067"/>
                  <a:ext cx="0" cy="605606"/>
                </a:xfrm>
                <a:prstGeom prst="line">
                  <a:avLst/>
                </a:prstGeom>
              </p:spPr>
              <p:style>
                <a:lnRef idx="3">
                  <a:schemeClr val="dk1"/>
                </a:lnRef>
                <a:fillRef idx="0">
                  <a:schemeClr val="dk1"/>
                </a:fillRef>
                <a:effectRef idx="2">
                  <a:schemeClr val="dk1"/>
                </a:effectRef>
                <a:fontRef idx="minor">
                  <a:schemeClr val="tx1"/>
                </a:fontRef>
              </p:style>
            </p:cxnSp>
            <p:cxnSp>
              <p:nvCxnSpPr>
                <p:cNvPr id="1040" name="Straight Connector 1039">
                  <a:extLst>
                    <a:ext uri="{FF2B5EF4-FFF2-40B4-BE49-F238E27FC236}">
                      <a16:creationId xmlns:a16="http://schemas.microsoft.com/office/drawing/2014/main" id="{F09D4B34-ECBA-C69E-982C-BDEC55FF5B74}"/>
                    </a:ext>
                  </a:extLst>
                </p:cNvPr>
                <p:cNvCxnSpPr/>
                <p:nvPr/>
              </p:nvCxnSpPr>
              <p:spPr>
                <a:xfrm flipV="1">
                  <a:off x="6785403" y="2408494"/>
                  <a:ext cx="0" cy="96240"/>
                </a:xfrm>
                <a:prstGeom prst="line">
                  <a:avLst/>
                </a:prstGeom>
              </p:spPr>
              <p:style>
                <a:lnRef idx="3">
                  <a:schemeClr val="dk1"/>
                </a:lnRef>
                <a:fillRef idx="0">
                  <a:schemeClr val="dk1"/>
                </a:fillRef>
                <a:effectRef idx="2">
                  <a:schemeClr val="dk1"/>
                </a:effectRef>
                <a:fontRef idx="minor">
                  <a:schemeClr val="tx1"/>
                </a:fontRef>
              </p:style>
            </p:cxnSp>
            <p:sp>
              <p:nvSpPr>
                <p:cNvPr id="1041" name="TextBox 1040">
                  <a:extLst>
                    <a:ext uri="{FF2B5EF4-FFF2-40B4-BE49-F238E27FC236}">
                      <a16:creationId xmlns:a16="http://schemas.microsoft.com/office/drawing/2014/main" id="{9B7EF19E-4583-C3E3-ECE6-973EB19B4387}"/>
                    </a:ext>
                  </a:extLst>
                </p:cNvPr>
                <p:cNvSpPr txBox="1"/>
                <p:nvPr/>
              </p:nvSpPr>
              <p:spPr>
                <a:xfrm>
                  <a:off x="6513535" y="1975184"/>
                  <a:ext cx="543740" cy="369332"/>
                </a:xfrm>
                <a:prstGeom prst="rect">
                  <a:avLst/>
                </a:prstGeom>
                <a:noFill/>
              </p:spPr>
              <p:txBody>
                <a:bodyPr wrap="none" rtlCol="0">
                  <a:spAutoFit/>
                </a:bodyPr>
                <a:lstStyle/>
                <a:p>
                  <a:pPr algn="ctr"/>
                  <a:r>
                    <a:rPr lang="en-US" sz="900" b="1" dirty="0"/>
                    <a:t>Session</a:t>
                  </a:r>
                </a:p>
                <a:p>
                  <a:pPr algn="ctr"/>
                  <a:r>
                    <a:rPr lang="en-US" sz="900" b="1" dirty="0"/>
                    <a:t>ID</a:t>
                  </a:r>
                  <a:endParaRPr lang="en-MY" sz="900" b="1" dirty="0"/>
                </a:p>
              </p:txBody>
            </p:sp>
            <p:sp>
              <p:nvSpPr>
                <p:cNvPr id="1042" name="TextBox 1041">
                  <a:extLst>
                    <a:ext uri="{FF2B5EF4-FFF2-40B4-BE49-F238E27FC236}">
                      <a16:creationId xmlns:a16="http://schemas.microsoft.com/office/drawing/2014/main" id="{BB318253-62C1-D3E0-B1E5-5E831D22A897}"/>
                    </a:ext>
                  </a:extLst>
                </p:cNvPr>
                <p:cNvSpPr txBox="1"/>
                <p:nvPr/>
              </p:nvSpPr>
              <p:spPr>
                <a:xfrm>
                  <a:off x="7079457" y="2057400"/>
                  <a:ext cx="323165" cy="428964"/>
                </a:xfrm>
                <a:prstGeom prst="rect">
                  <a:avLst/>
                </a:prstGeom>
                <a:noFill/>
              </p:spPr>
              <p:txBody>
                <a:bodyPr vert="vert270" wrap="none" rtlCol="0">
                  <a:spAutoFit/>
                </a:bodyPr>
                <a:lstStyle/>
                <a:p>
                  <a:r>
                    <a:rPr lang="en-US" sz="900" dirty="0"/>
                    <a:t>Stream</a:t>
                  </a:r>
                  <a:endParaRPr lang="en-MY" sz="900" dirty="0"/>
                </a:p>
              </p:txBody>
            </p:sp>
            <p:sp>
              <p:nvSpPr>
                <p:cNvPr id="1043" name="TextBox 1042">
                  <a:extLst>
                    <a:ext uri="{FF2B5EF4-FFF2-40B4-BE49-F238E27FC236}">
                      <a16:creationId xmlns:a16="http://schemas.microsoft.com/office/drawing/2014/main" id="{2038B5DA-385E-8842-3BC7-1B93EB8EE39A}"/>
                    </a:ext>
                  </a:extLst>
                </p:cNvPr>
                <p:cNvSpPr txBox="1"/>
                <p:nvPr/>
              </p:nvSpPr>
              <p:spPr>
                <a:xfrm>
                  <a:off x="7062376" y="1859411"/>
                  <a:ext cx="211442" cy="331671"/>
                </a:xfrm>
                <a:prstGeom prst="rect">
                  <a:avLst/>
                </a:prstGeom>
                <a:noFill/>
              </p:spPr>
              <p:txBody>
                <a:bodyPr wrap="none" rtlCol="0">
                  <a:spAutoFit/>
                </a:bodyPr>
                <a:lstStyle/>
                <a:p>
                  <a:r>
                    <a:rPr lang="en-US" sz="1000" b="1" dirty="0"/>
                    <a:t>W</a:t>
                  </a:r>
                  <a:endParaRPr lang="en-MY" sz="1000" b="1" dirty="0"/>
                </a:p>
              </p:txBody>
            </p:sp>
            <p:sp>
              <p:nvSpPr>
                <p:cNvPr id="1044" name="TextBox 1043">
                  <a:extLst>
                    <a:ext uri="{FF2B5EF4-FFF2-40B4-BE49-F238E27FC236}">
                      <a16:creationId xmlns:a16="http://schemas.microsoft.com/office/drawing/2014/main" id="{532E29E6-211E-D31B-E4C5-361E518E2472}"/>
                    </a:ext>
                  </a:extLst>
                </p:cNvPr>
                <p:cNvSpPr txBox="1"/>
                <p:nvPr/>
              </p:nvSpPr>
              <p:spPr>
                <a:xfrm>
                  <a:off x="7392331" y="1981197"/>
                  <a:ext cx="323165" cy="502701"/>
                </a:xfrm>
                <a:prstGeom prst="rect">
                  <a:avLst/>
                </a:prstGeom>
                <a:noFill/>
              </p:spPr>
              <p:txBody>
                <a:bodyPr vert="vert270" wrap="none" rtlCol="0">
                  <a:spAutoFit/>
                </a:bodyPr>
                <a:lstStyle/>
                <a:p>
                  <a:r>
                    <a:rPr lang="en-US" sz="900" dirty="0"/>
                    <a:t>Function</a:t>
                  </a:r>
                  <a:endParaRPr lang="en-MY" sz="900" dirty="0"/>
                </a:p>
              </p:txBody>
            </p:sp>
            <p:sp>
              <p:nvSpPr>
                <p:cNvPr id="1045" name="TextBox 1044">
                  <a:extLst>
                    <a:ext uri="{FF2B5EF4-FFF2-40B4-BE49-F238E27FC236}">
                      <a16:creationId xmlns:a16="http://schemas.microsoft.com/office/drawing/2014/main" id="{907CFC50-BE0B-202D-8FFD-C4AB37E0B586}"/>
                    </a:ext>
                  </a:extLst>
                </p:cNvPr>
                <p:cNvSpPr txBox="1"/>
                <p:nvPr/>
              </p:nvSpPr>
              <p:spPr>
                <a:xfrm>
                  <a:off x="5986172" y="2083949"/>
                  <a:ext cx="549589" cy="246221"/>
                </a:xfrm>
                <a:prstGeom prst="rect">
                  <a:avLst/>
                </a:prstGeom>
                <a:noFill/>
              </p:spPr>
              <p:txBody>
                <a:bodyPr wrap="square" rtlCol="0">
                  <a:spAutoFit/>
                </a:bodyPr>
                <a:lstStyle/>
                <a:p>
                  <a:pPr algn="ctr"/>
                  <a:r>
                    <a:rPr lang="en-US" sz="1000" dirty="0"/>
                    <a:t>Length</a:t>
                  </a:r>
                  <a:endParaRPr lang="en-MY" sz="1000" dirty="0"/>
                </a:p>
              </p:txBody>
            </p:sp>
          </p:grpSp>
        </p:grpSp>
        <p:grpSp>
          <p:nvGrpSpPr>
            <p:cNvPr id="1046" name="Group 1045">
              <a:extLst>
                <a:ext uri="{FF2B5EF4-FFF2-40B4-BE49-F238E27FC236}">
                  <a16:creationId xmlns:a16="http://schemas.microsoft.com/office/drawing/2014/main" id="{EAF80CB1-2255-DE4B-5997-01F80F28B45C}"/>
                </a:ext>
              </a:extLst>
            </p:cNvPr>
            <p:cNvGrpSpPr/>
            <p:nvPr/>
          </p:nvGrpSpPr>
          <p:grpSpPr>
            <a:xfrm>
              <a:off x="6934200" y="5257031"/>
              <a:ext cx="1000881" cy="604863"/>
              <a:chOff x="8286237" y="1570508"/>
              <a:chExt cx="1000881" cy="604863"/>
            </a:xfrm>
          </p:grpSpPr>
          <p:sp>
            <p:nvSpPr>
              <p:cNvPr id="1047" name="Rectangle 1046">
                <a:extLst>
                  <a:ext uri="{FF2B5EF4-FFF2-40B4-BE49-F238E27FC236}">
                    <a16:creationId xmlns:a16="http://schemas.microsoft.com/office/drawing/2014/main" id="{95C0DBB0-43C7-26BF-5930-D4AE37513D55}"/>
                  </a:ext>
                </a:extLst>
              </p:cNvPr>
              <p:cNvSpPr/>
              <p:nvPr/>
            </p:nvSpPr>
            <p:spPr>
              <a:xfrm>
                <a:off x="8344274" y="1570508"/>
                <a:ext cx="884808" cy="604863"/>
              </a:xfrm>
              <a:prstGeom prst="rect">
                <a:avLst/>
              </a:prstGeom>
              <a:solidFill>
                <a:schemeClr val="accent5">
                  <a:lumMod val="60000"/>
                  <a:lumOff val="4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a:p>
            </p:txBody>
          </p:sp>
          <p:sp>
            <p:nvSpPr>
              <p:cNvPr id="1048" name="TextBox 1047">
                <a:extLst>
                  <a:ext uri="{FF2B5EF4-FFF2-40B4-BE49-F238E27FC236}">
                    <a16:creationId xmlns:a16="http://schemas.microsoft.com/office/drawing/2014/main" id="{ACE481B9-E92D-215B-9D82-C153AE36A192}"/>
                  </a:ext>
                </a:extLst>
              </p:cNvPr>
              <p:cNvSpPr txBox="1"/>
              <p:nvPr/>
            </p:nvSpPr>
            <p:spPr>
              <a:xfrm>
                <a:off x="8286237" y="1614534"/>
                <a:ext cx="1000881" cy="553998"/>
              </a:xfrm>
              <a:prstGeom prst="rect">
                <a:avLst/>
              </a:prstGeom>
              <a:noFill/>
            </p:spPr>
            <p:txBody>
              <a:bodyPr wrap="square" rtlCol="0">
                <a:spAutoFit/>
              </a:bodyPr>
              <a:lstStyle/>
              <a:p>
                <a:pPr algn="ctr"/>
                <a:r>
                  <a:rPr lang="en-US" sz="1000" b="1" dirty="0"/>
                  <a:t>ACB</a:t>
                </a:r>
              </a:p>
              <a:p>
                <a:pPr algn="ctr"/>
                <a:r>
                  <a:rPr lang="en-US" sz="1000" dirty="0"/>
                  <a:t>(Authentication Code Block)</a:t>
                </a:r>
              </a:p>
            </p:txBody>
          </p:sp>
        </p:grpSp>
      </p:grpSp>
      <p:cxnSp>
        <p:nvCxnSpPr>
          <p:cNvPr id="1052" name="Straight Connector 1051">
            <a:extLst>
              <a:ext uri="{FF2B5EF4-FFF2-40B4-BE49-F238E27FC236}">
                <a16:creationId xmlns:a16="http://schemas.microsoft.com/office/drawing/2014/main" id="{AE297211-3291-E0E1-D2B9-C2CAD0E6F63C}"/>
              </a:ext>
            </a:extLst>
          </p:cNvPr>
          <p:cNvCxnSpPr>
            <a:cxnSpLocks/>
          </p:cNvCxnSpPr>
          <p:nvPr/>
        </p:nvCxnSpPr>
        <p:spPr>
          <a:xfrm flipH="1">
            <a:off x="7363956" y="4505178"/>
            <a:ext cx="766358" cy="894673"/>
          </a:xfrm>
          <a:prstGeom prst="line">
            <a:avLst/>
          </a:prstGeom>
          <a:ln>
            <a:prstDash val="lgDash"/>
          </a:ln>
        </p:spPr>
        <p:style>
          <a:lnRef idx="1">
            <a:schemeClr val="accent1"/>
          </a:lnRef>
          <a:fillRef idx="0">
            <a:schemeClr val="accent1"/>
          </a:fillRef>
          <a:effectRef idx="0">
            <a:schemeClr val="accent1"/>
          </a:effectRef>
          <a:fontRef idx="minor">
            <a:schemeClr val="tx1"/>
          </a:fontRef>
        </p:style>
      </p:cxnSp>
      <p:cxnSp>
        <p:nvCxnSpPr>
          <p:cNvPr id="1054" name="Straight Connector 1053">
            <a:extLst>
              <a:ext uri="{FF2B5EF4-FFF2-40B4-BE49-F238E27FC236}">
                <a16:creationId xmlns:a16="http://schemas.microsoft.com/office/drawing/2014/main" id="{0E50A3D7-28F9-4205-EA02-2545C2A1ED88}"/>
              </a:ext>
            </a:extLst>
          </p:cNvPr>
          <p:cNvCxnSpPr>
            <a:cxnSpLocks/>
          </p:cNvCxnSpPr>
          <p:nvPr/>
        </p:nvCxnSpPr>
        <p:spPr>
          <a:xfrm flipH="1" flipV="1">
            <a:off x="5466315" y="4505178"/>
            <a:ext cx="1014069" cy="848986"/>
          </a:xfrm>
          <a:prstGeom prst="line">
            <a:avLst/>
          </a:prstGeom>
          <a:ln>
            <a:prstDash val="lgDash"/>
          </a:ln>
        </p:spPr>
        <p:style>
          <a:lnRef idx="1">
            <a:schemeClr val="accent1"/>
          </a:lnRef>
          <a:fillRef idx="0">
            <a:schemeClr val="accent1"/>
          </a:fillRef>
          <a:effectRef idx="0">
            <a:schemeClr val="accent1"/>
          </a:effectRef>
          <a:fontRef idx="minor">
            <a:schemeClr val="tx1"/>
          </a:fontRef>
        </p:style>
      </p:cxnSp>
      <p:sp>
        <p:nvSpPr>
          <p:cNvPr id="1055" name="Arrow: Left 1054">
            <a:extLst>
              <a:ext uri="{FF2B5EF4-FFF2-40B4-BE49-F238E27FC236}">
                <a16:creationId xmlns:a16="http://schemas.microsoft.com/office/drawing/2014/main" id="{3829BAD6-4640-AE7D-8663-B3F06AC0C8BC}"/>
              </a:ext>
            </a:extLst>
          </p:cNvPr>
          <p:cNvSpPr/>
          <p:nvPr/>
        </p:nvSpPr>
        <p:spPr>
          <a:xfrm>
            <a:off x="7542196" y="1454298"/>
            <a:ext cx="1524000" cy="484632"/>
          </a:xfrm>
          <a:prstGeom prst="leftArrow">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Data Messages</a:t>
            </a:r>
          </a:p>
        </p:txBody>
      </p:sp>
      <p:sp>
        <p:nvSpPr>
          <p:cNvPr id="1056" name="Arrow: Left 1055">
            <a:extLst>
              <a:ext uri="{FF2B5EF4-FFF2-40B4-BE49-F238E27FC236}">
                <a16:creationId xmlns:a16="http://schemas.microsoft.com/office/drawing/2014/main" id="{56890E81-479A-9F18-FEFD-5803357B4F3D}"/>
              </a:ext>
            </a:extLst>
          </p:cNvPr>
          <p:cNvSpPr/>
          <p:nvPr/>
        </p:nvSpPr>
        <p:spPr>
          <a:xfrm>
            <a:off x="7543800" y="5434534"/>
            <a:ext cx="1524000" cy="484632"/>
          </a:xfrm>
          <a:prstGeom prst="leftArrow">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Control Messages</a:t>
            </a:r>
          </a:p>
        </p:txBody>
      </p:sp>
    </p:spTree>
    <p:custDataLst>
      <p:tags r:id="rId1"/>
    </p:custDataLst>
    <p:extLst>
      <p:ext uri="{BB962C8B-B14F-4D97-AF65-F5344CB8AC3E}">
        <p14:creationId xmlns:p14="http://schemas.microsoft.com/office/powerpoint/2010/main" val="3734807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12" fill="hold" nodeType="clickEffect">
                                  <p:stCondLst>
                                    <p:cond delay="0"/>
                                  </p:stCondLst>
                                  <p:childTnLst>
                                    <p:set>
                                      <p:cBhvr>
                                        <p:cTn id="10" dur="1" fill="hold">
                                          <p:stCondLst>
                                            <p:cond delay="0"/>
                                          </p:stCondLst>
                                        </p:cTn>
                                        <p:tgtEl>
                                          <p:spTgt spid="42"/>
                                        </p:tgtEl>
                                        <p:attrNameLst>
                                          <p:attrName>style.visibility</p:attrName>
                                        </p:attrNameLst>
                                      </p:cBhvr>
                                      <p:to>
                                        <p:strVal val="visible"/>
                                      </p:to>
                                    </p:set>
                                    <p:anim calcmode="lin" valueType="num">
                                      <p:cBhvr additive="base">
                                        <p:cTn id="11" dur="500" fill="hold"/>
                                        <p:tgtEl>
                                          <p:spTgt spid="42"/>
                                        </p:tgtEl>
                                        <p:attrNameLst>
                                          <p:attrName>ppt_x</p:attrName>
                                        </p:attrNameLst>
                                      </p:cBhvr>
                                      <p:tavLst>
                                        <p:tav tm="0">
                                          <p:val>
                                            <p:strVal val="0-#ppt_w/2"/>
                                          </p:val>
                                        </p:tav>
                                        <p:tav tm="100000">
                                          <p:val>
                                            <p:strVal val="#ppt_x"/>
                                          </p:val>
                                        </p:tav>
                                      </p:tavLst>
                                    </p:anim>
                                    <p:anim calcmode="lin" valueType="num">
                                      <p:cBhvr additive="base">
                                        <p:cTn id="12"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55"/>
                                        </p:tgtEl>
                                        <p:attrNameLst>
                                          <p:attrName>style.visibility</p:attrName>
                                        </p:attrNameLst>
                                      </p:cBhvr>
                                      <p:to>
                                        <p:strVal val="visible"/>
                                      </p:to>
                                    </p:set>
                                  </p:childTnLst>
                                </p:cTn>
                              </p:par>
                              <p:par>
                                <p:cTn id="17" presetID="26" presetClass="emph" presetSubtype="0" repeatCount="indefinite" fill="hold" grpId="1" nodeType="withEffect">
                                  <p:stCondLst>
                                    <p:cond delay="0"/>
                                  </p:stCondLst>
                                  <p:childTnLst>
                                    <p:animEffect transition="out" filter="fade">
                                      <p:cBhvr>
                                        <p:cTn id="18" dur="1000" tmFilter="0, 0; .2, .5; .8, .5; 1, 0"/>
                                        <p:tgtEl>
                                          <p:spTgt spid="1055"/>
                                        </p:tgtEl>
                                      </p:cBhvr>
                                    </p:animEffect>
                                    <p:animScale>
                                      <p:cBhvr>
                                        <p:cTn id="19" dur="500" autoRev="1" fill="hold"/>
                                        <p:tgtEl>
                                          <p:spTgt spid="1055"/>
                                        </p:tgtEl>
                                      </p:cBhvr>
                                      <p:by x="105000" y="105000"/>
                                    </p:animScale>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27"/>
                                        </p:tgtEl>
                                        <p:attrNameLst>
                                          <p:attrName>style.visibility</p:attrName>
                                        </p:attrNameLst>
                                      </p:cBhvr>
                                      <p:to>
                                        <p:strVal val="visible"/>
                                      </p:to>
                                    </p:set>
                                    <p:anim calcmode="lin" valueType="num">
                                      <p:cBhvr additive="base">
                                        <p:cTn id="24" dur="500" fill="hold"/>
                                        <p:tgtEl>
                                          <p:spTgt spid="27"/>
                                        </p:tgtEl>
                                        <p:attrNameLst>
                                          <p:attrName>ppt_x</p:attrName>
                                        </p:attrNameLst>
                                      </p:cBhvr>
                                      <p:tavLst>
                                        <p:tav tm="0">
                                          <p:val>
                                            <p:strVal val="#ppt_x"/>
                                          </p:val>
                                        </p:tav>
                                        <p:tav tm="100000">
                                          <p:val>
                                            <p:strVal val="#ppt_x"/>
                                          </p:val>
                                        </p:tav>
                                      </p:tavLst>
                                    </p:anim>
                                    <p:anim calcmode="lin" valueType="num">
                                      <p:cBhvr additive="base">
                                        <p:cTn id="25" dur="500" fill="hold"/>
                                        <p:tgtEl>
                                          <p:spTgt spid="27"/>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32"/>
                                        </p:tgtEl>
                                        <p:attrNameLst>
                                          <p:attrName>style.visibility</p:attrName>
                                        </p:attrNameLst>
                                      </p:cBhvr>
                                      <p:to>
                                        <p:strVal val="visible"/>
                                      </p:to>
                                    </p:set>
                                    <p:anim calcmode="lin" valueType="num">
                                      <p:cBhvr additive="base">
                                        <p:cTn id="28" dur="500" fill="hold"/>
                                        <p:tgtEl>
                                          <p:spTgt spid="32"/>
                                        </p:tgtEl>
                                        <p:attrNameLst>
                                          <p:attrName>ppt_x</p:attrName>
                                        </p:attrNameLst>
                                      </p:cBhvr>
                                      <p:tavLst>
                                        <p:tav tm="0">
                                          <p:val>
                                            <p:strVal val="#ppt_x"/>
                                          </p:val>
                                        </p:tav>
                                        <p:tav tm="100000">
                                          <p:val>
                                            <p:strVal val="#ppt_x"/>
                                          </p:val>
                                        </p:tav>
                                      </p:tavLst>
                                    </p:anim>
                                    <p:anim calcmode="lin" valueType="num">
                                      <p:cBhvr additive="base">
                                        <p:cTn id="29" dur="500" fill="hold"/>
                                        <p:tgtEl>
                                          <p:spTgt spid="32"/>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1050"/>
                                        </p:tgtEl>
                                        <p:attrNameLst>
                                          <p:attrName>style.visibility</p:attrName>
                                        </p:attrNameLst>
                                      </p:cBhvr>
                                      <p:to>
                                        <p:strVal val="visible"/>
                                      </p:to>
                                    </p:set>
                                    <p:anim calcmode="lin" valueType="num">
                                      <p:cBhvr additive="base">
                                        <p:cTn id="32" dur="500" fill="hold"/>
                                        <p:tgtEl>
                                          <p:spTgt spid="1050"/>
                                        </p:tgtEl>
                                        <p:attrNameLst>
                                          <p:attrName>ppt_x</p:attrName>
                                        </p:attrNameLst>
                                      </p:cBhvr>
                                      <p:tavLst>
                                        <p:tav tm="0">
                                          <p:val>
                                            <p:strVal val="#ppt_x"/>
                                          </p:val>
                                        </p:tav>
                                        <p:tav tm="100000">
                                          <p:val>
                                            <p:strVal val="#ppt_x"/>
                                          </p:val>
                                        </p:tav>
                                      </p:tavLst>
                                    </p:anim>
                                    <p:anim calcmode="lin" valueType="num">
                                      <p:cBhvr additive="base">
                                        <p:cTn id="33" dur="500" fill="hold"/>
                                        <p:tgtEl>
                                          <p:spTgt spid="1050"/>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1054"/>
                                        </p:tgtEl>
                                        <p:attrNameLst>
                                          <p:attrName>style.visibility</p:attrName>
                                        </p:attrNameLst>
                                      </p:cBhvr>
                                      <p:to>
                                        <p:strVal val="visible"/>
                                      </p:to>
                                    </p:set>
                                    <p:anim calcmode="lin" valueType="num">
                                      <p:cBhvr additive="base">
                                        <p:cTn id="38" dur="500" fill="hold"/>
                                        <p:tgtEl>
                                          <p:spTgt spid="1054"/>
                                        </p:tgtEl>
                                        <p:attrNameLst>
                                          <p:attrName>ppt_x</p:attrName>
                                        </p:attrNameLst>
                                      </p:cBhvr>
                                      <p:tavLst>
                                        <p:tav tm="0">
                                          <p:val>
                                            <p:strVal val="#ppt_x"/>
                                          </p:val>
                                        </p:tav>
                                        <p:tav tm="100000">
                                          <p:val>
                                            <p:strVal val="#ppt_x"/>
                                          </p:val>
                                        </p:tav>
                                      </p:tavLst>
                                    </p:anim>
                                    <p:anim calcmode="lin" valueType="num">
                                      <p:cBhvr additive="base">
                                        <p:cTn id="39" dur="500" fill="hold"/>
                                        <p:tgtEl>
                                          <p:spTgt spid="1054"/>
                                        </p:tgtEl>
                                        <p:attrNameLst>
                                          <p:attrName>ppt_y</p:attrName>
                                        </p:attrNameLst>
                                      </p:cBhvr>
                                      <p:tavLst>
                                        <p:tav tm="0">
                                          <p:val>
                                            <p:strVal val="1+#ppt_h/2"/>
                                          </p:val>
                                        </p:tav>
                                        <p:tav tm="100000">
                                          <p:val>
                                            <p:strVal val="#ppt_y"/>
                                          </p:val>
                                        </p:tav>
                                      </p:tavLst>
                                    </p:anim>
                                  </p:childTnLst>
                                </p:cTn>
                              </p:par>
                              <p:par>
                                <p:cTn id="40" presetID="2" presetClass="entr" presetSubtype="4" fill="hold" nodeType="withEffect">
                                  <p:stCondLst>
                                    <p:cond delay="0"/>
                                  </p:stCondLst>
                                  <p:childTnLst>
                                    <p:set>
                                      <p:cBhvr>
                                        <p:cTn id="41" dur="1" fill="hold">
                                          <p:stCondLst>
                                            <p:cond delay="0"/>
                                          </p:stCondLst>
                                        </p:cTn>
                                        <p:tgtEl>
                                          <p:spTgt spid="1052"/>
                                        </p:tgtEl>
                                        <p:attrNameLst>
                                          <p:attrName>style.visibility</p:attrName>
                                        </p:attrNameLst>
                                      </p:cBhvr>
                                      <p:to>
                                        <p:strVal val="visible"/>
                                      </p:to>
                                    </p:set>
                                    <p:anim calcmode="lin" valueType="num">
                                      <p:cBhvr additive="base">
                                        <p:cTn id="42" dur="500" fill="hold"/>
                                        <p:tgtEl>
                                          <p:spTgt spid="1052"/>
                                        </p:tgtEl>
                                        <p:attrNameLst>
                                          <p:attrName>ppt_x</p:attrName>
                                        </p:attrNameLst>
                                      </p:cBhvr>
                                      <p:tavLst>
                                        <p:tav tm="0">
                                          <p:val>
                                            <p:strVal val="#ppt_x"/>
                                          </p:val>
                                        </p:tav>
                                        <p:tav tm="100000">
                                          <p:val>
                                            <p:strVal val="#ppt_x"/>
                                          </p:val>
                                        </p:tav>
                                      </p:tavLst>
                                    </p:anim>
                                    <p:anim calcmode="lin" valueType="num">
                                      <p:cBhvr additive="base">
                                        <p:cTn id="43" dur="500" fill="hold"/>
                                        <p:tgtEl>
                                          <p:spTgt spid="1052"/>
                                        </p:tgtEl>
                                        <p:attrNameLst>
                                          <p:attrName>ppt_y</p:attrName>
                                        </p:attrNameLst>
                                      </p:cBhvr>
                                      <p:tavLst>
                                        <p:tav tm="0">
                                          <p:val>
                                            <p:strVal val="1+#ppt_h/2"/>
                                          </p:val>
                                        </p:tav>
                                        <p:tav tm="100000">
                                          <p:val>
                                            <p:strVal val="#ppt_y"/>
                                          </p:val>
                                        </p:tav>
                                      </p:tavLst>
                                    </p:anim>
                                  </p:childTnLst>
                                </p:cTn>
                              </p:par>
                              <p:par>
                                <p:cTn id="44" presetID="2" presetClass="entr" presetSubtype="4" fill="hold" nodeType="withEffect">
                                  <p:stCondLst>
                                    <p:cond delay="0"/>
                                  </p:stCondLst>
                                  <p:childTnLst>
                                    <p:set>
                                      <p:cBhvr>
                                        <p:cTn id="45" dur="1" fill="hold">
                                          <p:stCondLst>
                                            <p:cond delay="0"/>
                                          </p:stCondLst>
                                        </p:cTn>
                                        <p:tgtEl>
                                          <p:spTgt spid="1049"/>
                                        </p:tgtEl>
                                        <p:attrNameLst>
                                          <p:attrName>style.visibility</p:attrName>
                                        </p:attrNameLst>
                                      </p:cBhvr>
                                      <p:to>
                                        <p:strVal val="visible"/>
                                      </p:to>
                                    </p:set>
                                    <p:anim calcmode="lin" valueType="num">
                                      <p:cBhvr additive="base">
                                        <p:cTn id="46" dur="500" fill="hold"/>
                                        <p:tgtEl>
                                          <p:spTgt spid="1049"/>
                                        </p:tgtEl>
                                        <p:attrNameLst>
                                          <p:attrName>ppt_x</p:attrName>
                                        </p:attrNameLst>
                                      </p:cBhvr>
                                      <p:tavLst>
                                        <p:tav tm="0">
                                          <p:val>
                                            <p:strVal val="#ppt_x"/>
                                          </p:val>
                                        </p:tav>
                                        <p:tav tm="100000">
                                          <p:val>
                                            <p:strVal val="#ppt_x"/>
                                          </p:val>
                                        </p:tav>
                                      </p:tavLst>
                                    </p:anim>
                                    <p:anim calcmode="lin" valueType="num">
                                      <p:cBhvr additive="base">
                                        <p:cTn id="47" dur="500" fill="hold"/>
                                        <p:tgtEl>
                                          <p:spTgt spid="1049"/>
                                        </p:tgtEl>
                                        <p:attrNameLst>
                                          <p:attrName>ppt_y</p:attrName>
                                        </p:attrNameLst>
                                      </p:cBhvr>
                                      <p:tavLst>
                                        <p:tav tm="0">
                                          <p:val>
                                            <p:strVal val="1+#ppt_h/2"/>
                                          </p:val>
                                        </p:tav>
                                        <p:tav tm="100000">
                                          <p:val>
                                            <p:strVal val="#ppt_y"/>
                                          </p:val>
                                        </p:tav>
                                      </p:tavLst>
                                    </p:anim>
                                  </p:childTnLst>
                                </p:cTn>
                              </p:par>
                              <p:par>
                                <p:cTn id="48" presetID="1" presetClass="entr" presetSubtype="0" fill="hold" grpId="0" nodeType="withEffect">
                                  <p:stCondLst>
                                    <p:cond delay="0"/>
                                  </p:stCondLst>
                                  <p:childTnLst>
                                    <p:set>
                                      <p:cBhvr>
                                        <p:cTn id="49" dur="1" fill="hold">
                                          <p:stCondLst>
                                            <p:cond delay="0"/>
                                          </p:stCondLst>
                                        </p:cTn>
                                        <p:tgtEl>
                                          <p:spTgt spid="1056"/>
                                        </p:tgtEl>
                                        <p:attrNameLst>
                                          <p:attrName>style.visibility</p:attrName>
                                        </p:attrNameLst>
                                      </p:cBhvr>
                                      <p:to>
                                        <p:strVal val="visible"/>
                                      </p:to>
                                    </p:set>
                                  </p:childTnLst>
                                </p:cTn>
                              </p:par>
                              <p:par>
                                <p:cTn id="50" presetID="26" presetClass="emph" presetSubtype="0" repeatCount="indefinite" fill="hold" grpId="1" nodeType="withEffect">
                                  <p:stCondLst>
                                    <p:cond delay="0"/>
                                  </p:stCondLst>
                                  <p:childTnLst>
                                    <p:animEffect transition="out" filter="fade">
                                      <p:cBhvr>
                                        <p:cTn id="51" dur="1000" tmFilter="0, 0; .2, .5; .8, .5; 1, 0"/>
                                        <p:tgtEl>
                                          <p:spTgt spid="1056"/>
                                        </p:tgtEl>
                                      </p:cBhvr>
                                    </p:animEffect>
                                    <p:animScale>
                                      <p:cBhvr>
                                        <p:cTn id="52" dur="500" autoRev="1" fill="hold"/>
                                        <p:tgtEl>
                                          <p:spTgt spid="1056"/>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5" grpId="0" animBg="1"/>
      <p:bldP spid="1055" grpId="1" animBg="1"/>
      <p:bldP spid="1056" grpId="0" animBg="1"/>
      <p:bldP spid="1056" grpId="1" animBg="1"/>
    </p:bldLst>
  </p:timing>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26" name="Picture 2" descr="C:\Users\fauzisukiman\Desktop\template pp USM\page 2 n seterusnya\Header.jpg"/>
          <p:cNvPicPr>
            <a:picLocks noChangeAspect="1" noChangeArrowheads="1"/>
          </p:cNvPicPr>
          <p:nvPr/>
        </p:nvPicPr>
        <p:blipFill rotWithShape="1">
          <a:blip r:embed="rId3" cstate="print"/>
          <a:srcRect l="14375"/>
          <a:stretch/>
        </p:blipFill>
        <p:spPr bwMode="auto">
          <a:xfrm>
            <a:off x="1268881" y="0"/>
            <a:ext cx="10923119" cy="822960"/>
          </a:xfrm>
          <a:prstGeom prst="rect">
            <a:avLst/>
          </a:prstGeom>
          <a:noFill/>
        </p:spPr>
      </p:pic>
      <p:sp>
        <p:nvSpPr>
          <p:cNvPr id="6" name="Rectangle 5"/>
          <p:cNvSpPr/>
          <p:nvPr/>
        </p:nvSpPr>
        <p:spPr>
          <a:xfrm>
            <a:off x="1447800" y="76200"/>
            <a:ext cx="10287000" cy="707886"/>
          </a:xfrm>
          <a:prstGeom prst="rect">
            <a:avLst/>
          </a:prstGeom>
        </p:spPr>
        <p:txBody>
          <a:bodyPr wrap="square">
            <a:spAutoFit/>
          </a:bodyPr>
          <a:lstStyle/>
          <a:p>
            <a:r>
              <a:rPr lang="en-US" sz="4000" b="1" i="1" dirty="0">
                <a:solidFill>
                  <a:schemeClr val="bg1"/>
                </a:solidFill>
              </a:rPr>
              <a:t>Problem Statement</a:t>
            </a:r>
          </a:p>
        </p:txBody>
      </p:sp>
      <p:sp>
        <p:nvSpPr>
          <p:cNvPr id="8" name="Content Placeholder 7"/>
          <p:cNvSpPr>
            <a:spLocks noGrp="1"/>
          </p:cNvSpPr>
          <p:nvPr>
            <p:ph idx="1"/>
          </p:nvPr>
        </p:nvSpPr>
        <p:spPr>
          <a:xfrm>
            <a:off x="548640" y="1386840"/>
            <a:ext cx="7985760" cy="4757552"/>
          </a:xfrm>
        </p:spPr>
        <p:txBody>
          <a:bodyPr>
            <a:noAutofit/>
          </a:bodyPr>
          <a:lstStyle/>
          <a:p>
            <a:pPr marL="457200" indent="-457200" algn="just">
              <a:lnSpc>
                <a:spcPct val="100000"/>
              </a:lnSpc>
              <a:buFont typeface="+mj-lt"/>
              <a:buAutoNum type="arabicPeriod"/>
            </a:pPr>
            <a:r>
              <a:rPr lang="en-US" sz="1800" dirty="0">
                <a:solidFill>
                  <a:schemeClr val="tx2">
                    <a:lumMod val="50000"/>
                  </a:schemeClr>
                </a:solidFill>
              </a:rPr>
              <a:t>The SECS/GEM specifications, by default, do not require communicating entities to be authenticated before exchanging messages. Thus, any malicious node can act as a legitimate host/equipment and establish a communication link with other devices in the network, resulting in denying access to the legitimate factory equipment in the industrial communication network  </a:t>
            </a:r>
          </a:p>
          <a:p>
            <a:pPr marL="457200" indent="-457200" algn="just">
              <a:lnSpc>
                <a:spcPct val="100000"/>
              </a:lnSpc>
              <a:buFont typeface="+mj-lt"/>
              <a:buAutoNum type="arabicPeriod"/>
            </a:pPr>
            <a:endParaRPr lang="en-US" sz="1800" dirty="0">
              <a:solidFill>
                <a:schemeClr val="tx2">
                  <a:lumMod val="50000"/>
                </a:schemeClr>
              </a:solidFill>
            </a:endParaRPr>
          </a:p>
          <a:p>
            <a:pPr marL="457200" indent="-457200" algn="just">
              <a:lnSpc>
                <a:spcPct val="100000"/>
              </a:lnSpc>
              <a:buFont typeface="+mj-lt"/>
              <a:buAutoNum type="arabicPeriod"/>
            </a:pPr>
            <a:r>
              <a:rPr lang="en-US" sz="1800" dirty="0">
                <a:solidFill>
                  <a:schemeClr val="tx2">
                    <a:lumMod val="50000"/>
                  </a:schemeClr>
                </a:solidFill>
              </a:rPr>
              <a:t>The SECS/GEM specifications do not offer any safeguards to protect against cyber-attacks; thus, there exists no mechanism that protects messages from being altered while in transit. The absence of security features enables adversaries to launch various attacks such as False-Data-Injection-Attack (FDIA), time-delay attacks, data tampering attacks, replay attacks, and spoofing attacks</a:t>
            </a:r>
          </a:p>
          <a:p>
            <a:pPr marL="457200" indent="-457200" algn="just">
              <a:lnSpc>
                <a:spcPct val="100000"/>
              </a:lnSpc>
              <a:buFont typeface="Wingdings" panose="05000000000000000000" pitchFamily="2" charset="2"/>
              <a:buChar char="§"/>
            </a:pPr>
            <a:endParaRPr lang="en-US" sz="1800" dirty="0">
              <a:solidFill>
                <a:schemeClr val="tx2">
                  <a:lumMod val="50000"/>
                </a:schemeClr>
              </a:solidFill>
            </a:endParaRPr>
          </a:p>
        </p:txBody>
      </p:sp>
      <p:pic>
        <p:nvPicPr>
          <p:cNvPr id="9" name="Picture 3"/>
          <p:cNvPicPr>
            <a:picLocks noChangeAspect="1" noChangeArrowheads="1"/>
          </p:cNvPicPr>
          <p:nvPr/>
        </p:nvPicPr>
        <p:blipFill>
          <a:blip r:embed="rId4" cstate="print">
            <a:clrChange>
              <a:clrFrom>
                <a:srgbClr val="FDFDFD"/>
              </a:clrFrom>
              <a:clrTo>
                <a:srgbClr val="FDFDFD">
                  <a:alpha val="0"/>
                </a:srgbClr>
              </a:clrTo>
            </a:clrChange>
          </a:blip>
          <a:srcRect/>
          <a:stretch>
            <a:fillRect/>
          </a:stretch>
        </p:blipFill>
        <p:spPr bwMode="auto">
          <a:xfrm>
            <a:off x="0" y="-1224"/>
            <a:ext cx="1268881" cy="824184"/>
          </a:xfrm>
          <a:prstGeom prst="rect">
            <a:avLst/>
          </a:prstGeom>
          <a:noFill/>
          <a:ln w="9525">
            <a:noFill/>
            <a:miter lim="800000"/>
            <a:headEnd/>
            <a:tailEnd/>
          </a:ln>
          <a:effectLst/>
        </p:spPr>
      </p:pic>
      <p:pic>
        <p:nvPicPr>
          <p:cNvPr id="3" name="Picture 2" descr="Secs/gem - Free Transparent PNG Download - PNGkey">
            <a:extLst>
              <a:ext uri="{FF2B5EF4-FFF2-40B4-BE49-F238E27FC236}">
                <a16:creationId xmlns:a16="http://schemas.microsoft.com/office/drawing/2014/main" id="{040E5DAA-671B-83C4-D569-6F4A87514456}"/>
              </a:ext>
            </a:extLst>
          </p:cNvPr>
          <p:cNvPicPr>
            <a:picLocks noChangeAspect="1" noChangeArrowheads="1"/>
          </p:cNvPicPr>
          <p:nvPr/>
        </p:nvPicPr>
        <p:blipFill rotWithShape="1">
          <a:blip r:embed="rId5">
            <a:extLst>
              <a:ext uri="{BEBA8EAE-BF5A-486C-A8C5-ECC9F3942E4B}">
                <a14:imgProps xmlns:a14="http://schemas.microsoft.com/office/drawing/2010/main">
                  <a14:imgLayer r:embed="rId6">
                    <a14:imgEffect>
                      <a14:backgroundRemoval t="6510" b="94044" l="28902" r="73049">
                        <a14:foregroundMark x1="51585" y1="12604" x2="51585" y2="12604"/>
                        <a14:foregroundMark x1="51098" y1="10665" x2="51098" y2="10665"/>
                        <a14:foregroundMark x1="37073" y1="7341" x2="64268" y2="6648"/>
                        <a14:foregroundMark x1="64268" y1="6648" x2="66341" y2="6648"/>
                        <a14:foregroundMark x1="73049" y1="40582" x2="73049" y2="40582"/>
                        <a14:foregroundMark x1="47683" y1="82825" x2="47683" y2="82825"/>
                        <a14:foregroundMark x1="48415" y1="87673" x2="48415" y2="87673"/>
                        <a14:foregroundMark x1="47439" y1="88920" x2="44512" y2="80055"/>
                        <a14:foregroundMark x1="39024" y1="87258" x2="49634" y2="88643"/>
                        <a14:foregroundMark x1="48415" y1="91690" x2="46341" y2="88643"/>
                        <a14:foregroundMark x1="58415" y1="91136" x2="57927" y2="80471"/>
                        <a14:foregroundMark x1="57927" y1="80471" x2="57927" y2="80471"/>
                        <a14:foregroundMark x1="55854" y1="93075" x2="59878" y2="93075"/>
                        <a14:foregroundMark x1="60976" y1="92244" x2="59634" y2="86288"/>
                        <a14:foregroundMark x1="67683" y1="85319" x2="67683" y2="83795"/>
                        <a14:foregroundMark x1="65854" y1="81163" x2="66829" y2="81163"/>
                        <a14:foregroundMark x1="66463" y1="80055" x2="57805" y2="78809"/>
                        <a14:foregroundMark x1="37683" y1="85873" x2="37805" y2="83102"/>
                        <a14:foregroundMark x1="37195" y1="85596" x2="38537" y2="82271"/>
                        <a14:foregroundMark x1="37561" y1="82825" x2="37561" y2="86427"/>
                        <a14:foregroundMark x1="44024" y1="91967" x2="48902" y2="91274"/>
                        <a14:foregroundMark x1="44512" y1="93075" x2="50000" y2="92521"/>
                        <a14:foregroundMark x1="44024" y1="92244" x2="44024" y2="93629"/>
                        <a14:foregroundMark x1="54634" y1="93906" x2="59512" y2="93629"/>
                        <a14:foregroundMark x1="45244" y1="93767" x2="51341" y2="92659"/>
                        <a14:foregroundMark x1="44756" y1="93767" x2="51341" y2="93629"/>
                        <a14:foregroundMark x1="55488" y1="94044" x2="61220" y2="93767"/>
                        <a14:foregroundMark x1="38537" y1="80609" x2="47927" y2="78393"/>
                        <a14:foregroundMark x1="47927" y1="78393" x2="47927" y2="78393"/>
                        <a14:foregroundMark x1="57927" y1="78393" x2="66463" y2="79501"/>
                        <a14:foregroundMark x1="59146" y1="78670" x2="65244" y2="78116"/>
                        <a14:foregroundMark x1="65732" y1="78670" x2="67561" y2="83657"/>
                        <a14:foregroundMark x1="68293" y1="84765" x2="66098" y2="78393"/>
                      </a14:backgroundRemoval>
                    </a14:imgEffect>
                  </a14:imgLayer>
                </a14:imgProps>
              </a:ext>
              <a:ext uri="{28A0092B-C50C-407E-A947-70E740481C1C}">
                <a14:useLocalDpi xmlns:a14="http://schemas.microsoft.com/office/drawing/2010/main" val="0"/>
              </a:ext>
            </a:extLst>
          </a:blip>
          <a:srcRect l="24562" r="23583"/>
          <a:stretch/>
        </p:blipFill>
        <p:spPr bwMode="auto">
          <a:xfrm>
            <a:off x="8906087" y="1380556"/>
            <a:ext cx="2737273" cy="4648200"/>
          </a:xfrm>
          <a:prstGeom prst="rect">
            <a:avLst/>
          </a:prstGeom>
          <a:noFill/>
          <a:ln>
            <a:solidFill>
              <a:srgbClr val="E6E6E6"/>
            </a:solidFill>
          </a:ln>
          <a:extLst>
            <a:ext uri="{909E8E84-426E-40DD-AFC4-6F175D3DCCD1}">
              <a14:hiddenFill xmlns:a14="http://schemas.microsoft.com/office/drawing/2010/main">
                <a:solidFill>
                  <a:srgbClr val="FFFFFF"/>
                </a:solidFill>
              </a14:hiddenFill>
            </a:ext>
          </a:extLst>
        </p:spPr>
      </p:pic>
      <p:pic>
        <p:nvPicPr>
          <p:cNvPr id="1028" name="Picture 4" descr="Computer Icons Problem Statement Definition PNG, Clipart, Area, Blue,  Circle, Clip Art, Computer Icons Free PNG Download">
            <a:extLst>
              <a:ext uri="{FF2B5EF4-FFF2-40B4-BE49-F238E27FC236}">
                <a16:creationId xmlns:a16="http://schemas.microsoft.com/office/drawing/2014/main" id="{495713FE-3A7E-3570-BD38-368E8EA18E40}"/>
              </a:ext>
            </a:extLst>
          </p:cNvPr>
          <p:cNvPicPr>
            <a:picLocks noChangeAspect="1" noChangeArrowheads="1"/>
          </p:cNvPicPr>
          <p:nvPr/>
        </p:nvPicPr>
        <p:blipFill>
          <a:blip r:embed="rId7" cstate="print">
            <a:extLst>
              <a:ext uri="{BEBA8EAE-BF5A-486C-A8C5-ECC9F3942E4B}">
                <a14:imgProps xmlns:a14="http://schemas.microsoft.com/office/drawing/2010/main">
                  <a14:imgLayer r:embed="rId8">
                    <a14:imgEffect>
                      <a14:backgroundRemoval t="2273" b="98701" l="4194" r="97097">
                        <a14:foregroundMark x1="12581" y1="20130" x2="12581" y2="20130"/>
                        <a14:foregroundMark x1="29032" y1="31169" x2="29032" y2="31169"/>
                        <a14:foregroundMark x1="26452" y1="7468" x2="26452" y2="7468"/>
                        <a14:foregroundMark x1="26774" y1="2273" x2="31613" y2="4221"/>
                        <a14:foregroundMark x1="4839" y1="18506" x2="4194" y2="14935"/>
                        <a14:foregroundMark x1="65161" y1="44481" x2="80000" y2="39286"/>
                        <a14:foregroundMark x1="88710" y1="42208" x2="93871" y2="56494"/>
                        <a14:foregroundMark x1="97419" y1="57143" x2="95806" y2="51948"/>
                        <a14:foregroundMark x1="20968" y1="93831" x2="23226" y2="96753"/>
                        <a14:foregroundMark x1="34516" y1="98052" x2="32903" y2="98052"/>
                        <a14:foregroundMark x1="19355" y1="98701" x2="23548" y2="98701"/>
                        <a14:foregroundMark x1="50968" y1="71753" x2="50968" y2="71753"/>
                        <a14:foregroundMark x1="52581" y1="71429" x2="52581" y2="69481"/>
                        <a14:foregroundMark x1="51935" y1="50974" x2="51935" y2="50974"/>
                        <a14:foregroundMark x1="51935" y1="50974" x2="51935" y2="50974"/>
                        <a14:foregroundMark x1="50645" y1="86039" x2="50645" y2="86039"/>
                        <a14:foregroundMark x1="50645" y1="86039" x2="50645" y2="86039"/>
                      </a14:backgroundRemoval>
                    </a14:imgEffect>
                  </a14:imgLayer>
                </a14:imgProps>
              </a:ext>
              <a:ext uri="{28A0092B-C50C-407E-A947-70E740481C1C}">
                <a14:useLocalDpi xmlns:a14="http://schemas.microsoft.com/office/drawing/2010/main" val="0"/>
              </a:ext>
            </a:extLst>
          </a:blip>
          <a:srcRect/>
          <a:stretch>
            <a:fillRect/>
          </a:stretch>
        </p:blipFill>
        <p:spPr bwMode="auto">
          <a:xfrm>
            <a:off x="10677303" y="3796096"/>
            <a:ext cx="920337" cy="9144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Question mark Portable Network Graphics Computer Icons Transparency Problem  statement - questionmark png monochrome photography png download - 512*512  - Free Transparent Question Mark png Download. - Clip Art Library">
            <a:extLst>
              <a:ext uri="{FF2B5EF4-FFF2-40B4-BE49-F238E27FC236}">
                <a16:creationId xmlns:a16="http://schemas.microsoft.com/office/drawing/2014/main" id="{CD892022-B603-B4D3-E082-D34C89BDEEA3}"/>
              </a:ext>
            </a:extLst>
          </p:cNvPr>
          <p:cNvPicPr>
            <a:picLocks noChangeAspect="1" noChangeArrowheads="1"/>
          </p:cNvPicPr>
          <p:nvPr/>
        </p:nvPicPr>
        <p:blipFill>
          <a:blip r:embed="rId9" cstate="print">
            <a:extLst>
              <a:ext uri="{BEBA8EAE-BF5A-486C-A8C5-ECC9F3942E4B}">
                <a14:imgProps xmlns:a14="http://schemas.microsoft.com/office/drawing/2010/main">
                  <a14:imgLayer r:embed="rId10">
                    <a14:imgEffect>
                      <a14:backgroundRemoval t="4000" b="98222" l="2667" r="98667">
                        <a14:foregroundMark x1="25778" y1="51556" x2="25778" y2="51556"/>
                        <a14:foregroundMark x1="25778" y1="51556" x2="25778" y2="51556"/>
                        <a14:foregroundMark x1="25333" y1="46222" x2="25333" y2="46222"/>
                        <a14:foregroundMark x1="25333" y1="46222" x2="25333" y2="46222"/>
                        <a14:foregroundMark x1="15556" y1="47556" x2="24889" y2="62222"/>
                        <a14:foregroundMark x1="10667" y1="49778" x2="29778" y2="81333"/>
                        <a14:foregroundMark x1="23556" y1="22222" x2="8889" y2="52000"/>
                        <a14:foregroundMark x1="3111" y1="40889" x2="4444" y2="57778"/>
                        <a14:foregroundMark x1="8889" y1="34667" x2="43111" y2="4444"/>
                        <a14:foregroundMark x1="43111" y1="4444" x2="69333" y2="15111"/>
                        <a14:foregroundMark x1="69333" y1="15111" x2="85333" y2="54667"/>
                        <a14:foregroundMark x1="85333" y1="54667" x2="78222" y2="76444"/>
                        <a14:foregroundMark x1="78222" y1="76444" x2="70667" y2="84889"/>
                        <a14:foregroundMark x1="95111" y1="32000" x2="93333" y2="62222"/>
                        <a14:foregroundMark x1="93333" y1="62222" x2="94667" y2="66222"/>
                        <a14:foregroundMark x1="99111" y1="44444" x2="98222" y2="50667"/>
                        <a14:foregroundMark x1="48444" y1="93778" x2="68444" y2="89333"/>
                        <a14:foregroundMark x1="37778" y1="96889" x2="61778" y2="98222"/>
                      </a14:backgroundRemoval>
                    </a14:imgEffect>
                  </a14:imgLayer>
                </a14:imgProps>
              </a:ext>
              <a:ext uri="{28A0092B-C50C-407E-A947-70E740481C1C}">
                <a14:useLocalDpi xmlns:a14="http://schemas.microsoft.com/office/drawing/2010/main" val="0"/>
              </a:ext>
            </a:extLst>
          </a:blip>
          <a:srcRect/>
          <a:stretch>
            <a:fillRect/>
          </a:stretch>
        </p:blipFill>
        <p:spPr bwMode="auto">
          <a:xfrm flipH="1">
            <a:off x="10163866" y="3956718"/>
            <a:ext cx="472797" cy="4509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82803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26" name="Picture 2" descr="C:\Users\fauzisukiman\Desktop\template pp USM\page 2 n seterusnya\Header.jpg"/>
          <p:cNvPicPr>
            <a:picLocks noChangeAspect="1" noChangeArrowheads="1"/>
          </p:cNvPicPr>
          <p:nvPr/>
        </p:nvPicPr>
        <p:blipFill rotWithShape="1">
          <a:blip r:embed="rId3" cstate="print"/>
          <a:srcRect l="14375"/>
          <a:stretch/>
        </p:blipFill>
        <p:spPr bwMode="auto">
          <a:xfrm>
            <a:off x="1268881" y="0"/>
            <a:ext cx="10923119" cy="822960"/>
          </a:xfrm>
          <a:prstGeom prst="rect">
            <a:avLst/>
          </a:prstGeom>
          <a:noFill/>
        </p:spPr>
      </p:pic>
      <p:sp>
        <p:nvSpPr>
          <p:cNvPr id="6" name="Rectangle 5"/>
          <p:cNvSpPr/>
          <p:nvPr/>
        </p:nvSpPr>
        <p:spPr>
          <a:xfrm>
            <a:off x="1447800" y="76200"/>
            <a:ext cx="10363200" cy="707886"/>
          </a:xfrm>
          <a:prstGeom prst="rect">
            <a:avLst/>
          </a:prstGeom>
        </p:spPr>
        <p:txBody>
          <a:bodyPr wrap="square">
            <a:spAutoFit/>
          </a:bodyPr>
          <a:lstStyle/>
          <a:p>
            <a:r>
              <a:rPr lang="en-US" sz="4000" b="1" i="1" dirty="0">
                <a:solidFill>
                  <a:schemeClr val="bg1"/>
                </a:solidFill>
              </a:rPr>
              <a:t>Basic Terminology</a:t>
            </a:r>
          </a:p>
        </p:txBody>
      </p:sp>
      <p:sp>
        <p:nvSpPr>
          <p:cNvPr id="2" name="Slide Number Placeholder 1"/>
          <p:cNvSpPr>
            <a:spLocks noGrp="1"/>
          </p:cNvSpPr>
          <p:nvPr>
            <p:ph type="sldNum" sz="quarter" idx="12"/>
          </p:nvPr>
        </p:nvSpPr>
        <p:spPr>
          <a:xfrm>
            <a:off x="9906000" y="6472826"/>
            <a:ext cx="2133600" cy="365125"/>
          </a:xfrm>
        </p:spPr>
        <p:txBody>
          <a:bodyPr/>
          <a:lstStyle/>
          <a:p>
            <a:fld id="{D4B39A3D-6E5B-421C-AA99-AA75690A48C6}" type="slidenum">
              <a:rPr lang="en-US" smtClean="0"/>
              <a:pPr/>
              <a:t>27</a:t>
            </a:fld>
            <a:endParaRPr lang="en-US" dirty="0"/>
          </a:p>
        </p:txBody>
      </p:sp>
      <p:pic>
        <p:nvPicPr>
          <p:cNvPr id="9" name="Picture 3"/>
          <p:cNvPicPr>
            <a:picLocks noChangeAspect="1" noChangeArrowheads="1"/>
          </p:cNvPicPr>
          <p:nvPr/>
        </p:nvPicPr>
        <p:blipFill>
          <a:blip r:embed="rId4" cstate="print">
            <a:clrChange>
              <a:clrFrom>
                <a:srgbClr val="FDFDFD"/>
              </a:clrFrom>
              <a:clrTo>
                <a:srgbClr val="FDFDFD">
                  <a:alpha val="0"/>
                </a:srgbClr>
              </a:clrTo>
            </a:clrChange>
          </a:blip>
          <a:srcRect/>
          <a:stretch>
            <a:fillRect/>
          </a:stretch>
        </p:blipFill>
        <p:spPr bwMode="auto">
          <a:xfrm>
            <a:off x="0" y="-1224"/>
            <a:ext cx="1268881" cy="824184"/>
          </a:xfrm>
          <a:prstGeom prst="rect">
            <a:avLst/>
          </a:prstGeom>
          <a:noFill/>
          <a:ln w="9525">
            <a:noFill/>
            <a:miter lim="800000"/>
            <a:headEnd/>
            <a:tailEnd/>
          </a:ln>
          <a:effectLst/>
        </p:spPr>
      </p:pic>
      <p:grpSp>
        <p:nvGrpSpPr>
          <p:cNvPr id="5" name="Group 4">
            <a:extLst>
              <a:ext uri="{FF2B5EF4-FFF2-40B4-BE49-F238E27FC236}">
                <a16:creationId xmlns:a16="http://schemas.microsoft.com/office/drawing/2014/main" id="{5970239F-CFF8-436F-4C9E-69046345ABD9}"/>
              </a:ext>
            </a:extLst>
          </p:cNvPr>
          <p:cNvGrpSpPr/>
          <p:nvPr/>
        </p:nvGrpSpPr>
        <p:grpSpPr>
          <a:xfrm>
            <a:off x="2133600" y="1371600"/>
            <a:ext cx="7599193" cy="4763710"/>
            <a:chOff x="1392407" y="1447800"/>
            <a:chExt cx="7599193" cy="4763710"/>
          </a:xfrm>
        </p:grpSpPr>
        <p:grpSp>
          <p:nvGrpSpPr>
            <p:cNvPr id="7" name="Group 6">
              <a:extLst>
                <a:ext uri="{FF2B5EF4-FFF2-40B4-BE49-F238E27FC236}">
                  <a16:creationId xmlns:a16="http://schemas.microsoft.com/office/drawing/2014/main" id="{1CC16109-EB56-23AE-7B79-9A4A22DD2DAA}"/>
                </a:ext>
              </a:extLst>
            </p:cNvPr>
            <p:cNvGrpSpPr/>
            <p:nvPr/>
          </p:nvGrpSpPr>
          <p:grpSpPr>
            <a:xfrm>
              <a:off x="1392407" y="1447800"/>
              <a:ext cx="7599193" cy="4763710"/>
              <a:chOff x="1392407" y="1447800"/>
              <a:chExt cx="7599193" cy="4763710"/>
            </a:xfrm>
          </p:grpSpPr>
          <p:pic>
            <p:nvPicPr>
              <p:cNvPr id="11" name="Picture 4">
                <a:extLst>
                  <a:ext uri="{FF2B5EF4-FFF2-40B4-BE49-F238E27FC236}">
                    <a16:creationId xmlns:a16="http://schemas.microsoft.com/office/drawing/2014/main" id="{4F128777-F0DF-C6D4-34E0-447219790714}"/>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6548" t="7669" r="13814" b="5450"/>
              <a:stretch/>
            </p:blipFill>
            <p:spPr bwMode="auto">
              <a:xfrm>
                <a:off x="6781800" y="1447800"/>
                <a:ext cx="1978941" cy="2057968"/>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010BE411-2B62-E361-5AD0-8729E5C2B2A3}"/>
                  </a:ext>
                </a:extLst>
              </p:cNvPr>
              <p:cNvSpPr/>
              <p:nvPr/>
            </p:nvSpPr>
            <p:spPr>
              <a:xfrm>
                <a:off x="2376629" y="3656489"/>
                <a:ext cx="1737360" cy="610711"/>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sz="2400" b="1">
                  <a:solidFill>
                    <a:schemeClr val="bg1"/>
                  </a:solidFill>
                  <a:effectLst>
                    <a:outerShdw blurRad="38100" dist="38100" dir="2700000" algn="tl">
                      <a:srgbClr val="000000">
                        <a:alpha val="43137"/>
                      </a:srgbClr>
                    </a:outerShdw>
                  </a:effectLst>
                </a:endParaRPr>
              </a:p>
            </p:txBody>
          </p:sp>
          <p:pic>
            <p:nvPicPr>
              <p:cNvPr id="13" name="Picture 2">
                <a:extLst>
                  <a:ext uri="{FF2B5EF4-FFF2-40B4-BE49-F238E27FC236}">
                    <a16:creationId xmlns:a16="http://schemas.microsoft.com/office/drawing/2014/main" id="{EC97FDE7-4617-960F-38AF-0D61D53501E4}"/>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24000" t="2667" r="12000" b="6667"/>
              <a:stretch/>
            </p:blipFill>
            <p:spPr bwMode="auto">
              <a:xfrm>
                <a:off x="4572000" y="1600452"/>
                <a:ext cx="1664556" cy="1835365"/>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582ADE2B-B3D6-F731-6CC8-D17F22F2608E}"/>
                  </a:ext>
                </a:extLst>
              </p:cNvPr>
              <p:cNvSpPr txBox="1"/>
              <p:nvPr/>
            </p:nvSpPr>
            <p:spPr>
              <a:xfrm>
                <a:off x="2476075" y="3693932"/>
                <a:ext cx="1173398" cy="338554"/>
              </a:xfrm>
              <a:prstGeom prst="rect">
                <a:avLst/>
              </a:prstGeom>
              <a:noFill/>
            </p:spPr>
            <p:txBody>
              <a:bodyPr wrap="none" lIns="0" tIns="0" rIns="0" bIns="0" rtlCol="0">
                <a:spAutoFit/>
              </a:bodyPr>
              <a:lstStyle>
                <a:defPPr>
                  <a:defRPr lang="en-US"/>
                </a:defPPr>
                <a:lvl1pPr>
                  <a:defRPr sz="1000"/>
                </a:lvl1pPr>
              </a:lstStyle>
              <a:p>
                <a:r>
                  <a:rPr lang="en-US" sz="1100" b="1" dirty="0">
                    <a:solidFill>
                      <a:schemeClr val="bg1"/>
                    </a:solidFill>
                    <a:effectLst>
                      <a:outerShdw blurRad="38100" dist="38100" dir="2700000" algn="tl">
                        <a:srgbClr val="000000">
                          <a:alpha val="43137"/>
                        </a:srgbClr>
                      </a:outerShdw>
                    </a:effectLst>
                  </a:rPr>
                  <a:t>Remote IP: 10.0.0.2</a:t>
                </a:r>
              </a:p>
              <a:p>
                <a:r>
                  <a:rPr lang="en-US" sz="1100" b="1" dirty="0">
                    <a:solidFill>
                      <a:schemeClr val="bg1"/>
                    </a:solidFill>
                    <a:effectLst>
                      <a:outerShdw blurRad="38100" dist="38100" dir="2700000" algn="tl">
                        <a:srgbClr val="000000">
                          <a:alpha val="43137"/>
                        </a:srgbClr>
                      </a:outerShdw>
                    </a:effectLst>
                  </a:rPr>
                  <a:t>Remote Port: 5000</a:t>
                </a:r>
              </a:p>
            </p:txBody>
          </p:sp>
          <p:sp>
            <p:nvSpPr>
              <p:cNvPr id="15" name="TextBox 14">
                <a:extLst>
                  <a:ext uri="{FF2B5EF4-FFF2-40B4-BE49-F238E27FC236}">
                    <a16:creationId xmlns:a16="http://schemas.microsoft.com/office/drawing/2014/main" id="{DF866747-21DF-27BF-9718-530ED3F7DFAC}"/>
                  </a:ext>
                </a:extLst>
              </p:cNvPr>
              <p:cNvSpPr txBox="1"/>
              <p:nvPr/>
            </p:nvSpPr>
            <p:spPr>
              <a:xfrm>
                <a:off x="2473011" y="4062683"/>
                <a:ext cx="782265" cy="169277"/>
              </a:xfrm>
              <a:prstGeom prst="rect">
                <a:avLst/>
              </a:prstGeom>
              <a:noFill/>
            </p:spPr>
            <p:txBody>
              <a:bodyPr wrap="none" lIns="0" tIns="0" rIns="0" bIns="0" rtlCol="0">
                <a:spAutoFit/>
              </a:bodyPr>
              <a:lstStyle>
                <a:defPPr>
                  <a:defRPr lang="en-US"/>
                </a:defPPr>
                <a:lvl1pPr>
                  <a:defRPr sz="1000"/>
                </a:lvl1pPr>
              </a:lstStyle>
              <a:p>
                <a:r>
                  <a:rPr lang="en-US" sz="1100" b="1" dirty="0">
                    <a:solidFill>
                      <a:schemeClr val="bg1"/>
                    </a:solidFill>
                    <a:effectLst>
                      <a:outerShdw blurRad="38100" dist="38100" dir="2700000" algn="tl">
                        <a:srgbClr val="000000">
                          <a:alpha val="43137"/>
                        </a:srgbClr>
                      </a:outerShdw>
                    </a:effectLst>
                  </a:rPr>
                  <a:t>Mode: Active</a:t>
                </a:r>
              </a:p>
            </p:txBody>
          </p:sp>
          <p:grpSp>
            <p:nvGrpSpPr>
              <p:cNvPr id="16" name="Graphic 5" descr="Computer">
                <a:extLst>
                  <a:ext uri="{FF2B5EF4-FFF2-40B4-BE49-F238E27FC236}">
                    <a16:creationId xmlns:a16="http://schemas.microsoft.com/office/drawing/2014/main" id="{F5348870-4E9F-B020-43C7-81D1C042F57E}"/>
                  </a:ext>
                </a:extLst>
              </p:cNvPr>
              <p:cNvGrpSpPr/>
              <p:nvPr/>
            </p:nvGrpSpPr>
            <p:grpSpPr>
              <a:xfrm>
                <a:off x="1757362" y="2424520"/>
                <a:ext cx="1619442" cy="986264"/>
                <a:chOff x="1342763" y="1542295"/>
                <a:chExt cx="1371862" cy="805088"/>
              </a:xfrm>
            </p:grpSpPr>
            <p:sp>
              <p:nvSpPr>
                <p:cNvPr id="47" name="Freeform: Shape 46">
                  <a:extLst>
                    <a:ext uri="{FF2B5EF4-FFF2-40B4-BE49-F238E27FC236}">
                      <a16:creationId xmlns:a16="http://schemas.microsoft.com/office/drawing/2014/main" id="{D8BD7916-A10A-C10C-BA1E-4DCBC1A31445}"/>
                    </a:ext>
                  </a:extLst>
                </p:cNvPr>
                <p:cNvSpPr/>
                <p:nvPr/>
              </p:nvSpPr>
              <p:spPr>
                <a:xfrm>
                  <a:off x="1342763" y="1542295"/>
                  <a:ext cx="857249" cy="800099"/>
                </a:xfrm>
                <a:custGeom>
                  <a:avLst/>
                  <a:gdLst>
                    <a:gd name="connsiteX0" fmla="*/ 771524 w 857249"/>
                    <a:gd name="connsiteY0" fmla="*/ 542925 h 800099"/>
                    <a:gd name="connsiteX1" fmla="*/ 85725 w 857249"/>
                    <a:gd name="connsiteY1" fmla="*/ 542925 h 800099"/>
                    <a:gd name="connsiteX2" fmla="*/ 85725 w 857249"/>
                    <a:gd name="connsiteY2" fmla="*/ 85725 h 800099"/>
                    <a:gd name="connsiteX3" fmla="*/ 771524 w 857249"/>
                    <a:gd name="connsiteY3" fmla="*/ 85725 h 800099"/>
                    <a:gd name="connsiteX4" fmla="*/ 771524 w 857249"/>
                    <a:gd name="connsiteY4" fmla="*/ 542925 h 800099"/>
                    <a:gd name="connsiteX5" fmla="*/ 800099 w 857249"/>
                    <a:gd name="connsiteY5" fmla="*/ 0 h 800099"/>
                    <a:gd name="connsiteX6" fmla="*/ 57150 w 857249"/>
                    <a:gd name="connsiteY6" fmla="*/ 0 h 800099"/>
                    <a:gd name="connsiteX7" fmla="*/ 0 w 857249"/>
                    <a:gd name="connsiteY7" fmla="*/ 57150 h 800099"/>
                    <a:gd name="connsiteX8" fmla="*/ 0 w 857249"/>
                    <a:gd name="connsiteY8" fmla="*/ 571500 h 800099"/>
                    <a:gd name="connsiteX9" fmla="*/ 57150 w 857249"/>
                    <a:gd name="connsiteY9" fmla="*/ 628650 h 800099"/>
                    <a:gd name="connsiteX10" fmla="*/ 342900 w 857249"/>
                    <a:gd name="connsiteY10" fmla="*/ 628650 h 800099"/>
                    <a:gd name="connsiteX11" fmla="*/ 342900 w 857249"/>
                    <a:gd name="connsiteY11" fmla="*/ 714375 h 800099"/>
                    <a:gd name="connsiteX12" fmla="*/ 214312 w 857249"/>
                    <a:gd name="connsiteY12" fmla="*/ 714375 h 800099"/>
                    <a:gd name="connsiteX13" fmla="*/ 214312 w 857249"/>
                    <a:gd name="connsiteY13" fmla="*/ 800099 h 800099"/>
                    <a:gd name="connsiteX14" fmla="*/ 642937 w 857249"/>
                    <a:gd name="connsiteY14" fmla="*/ 800099 h 800099"/>
                    <a:gd name="connsiteX15" fmla="*/ 642937 w 857249"/>
                    <a:gd name="connsiteY15" fmla="*/ 714375 h 800099"/>
                    <a:gd name="connsiteX16" fmla="*/ 514350 w 857249"/>
                    <a:gd name="connsiteY16" fmla="*/ 714375 h 800099"/>
                    <a:gd name="connsiteX17" fmla="*/ 514350 w 857249"/>
                    <a:gd name="connsiteY17" fmla="*/ 628650 h 800099"/>
                    <a:gd name="connsiteX18" fmla="*/ 800099 w 857249"/>
                    <a:gd name="connsiteY18" fmla="*/ 628650 h 800099"/>
                    <a:gd name="connsiteX19" fmla="*/ 857249 w 857249"/>
                    <a:gd name="connsiteY19" fmla="*/ 571500 h 800099"/>
                    <a:gd name="connsiteX20" fmla="*/ 857249 w 857249"/>
                    <a:gd name="connsiteY20" fmla="*/ 57150 h 800099"/>
                    <a:gd name="connsiteX21" fmla="*/ 800099 w 857249"/>
                    <a:gd name="connsiteY21" fmla="*/ 0 h 800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57249" h="800099">
                      <a:moveTo>
                        <a:pt x="771524" y="542925"/>
                      </a:moveTo>
                      <a:lnTo>
                        <a:pt x="85725" y="542925"/>
                      </a:lnTo>
                      <a:lnTo>
                        <a:pt x="85725" y="85725"/>
                      </a:lnTo>
                      <a:lnTo>
                        <a:pt x="771524" y="85725"/>
                      </a:lnTo>
                      <a:lnTo>
                        <a:pt x="771524" y="542925"/>
                      </a:lnTo>
                      <a:close/>
                      <a:moveTo>
                        <a:pt x="800099" y="0"/>
                      </a:moveTo>
                      <a:lnTo>
                        <a:pt x="57150" y="0"/>
                      </a:lnTo>
                      <a:cubicBezTo>
                        <a:pt x="25717" y="0"/>
                        <a:pt x="0" y="25717"/>
                        <a:pt x="0" y="57150"/>
                      </a:cubicBezTo>
                      <a:lnTo>
                        <a:pt x="0" y="571500"/>
                      </a:lnTo>
                      <a:cubicBezTo>
                        <a:pt x="0" y="602932"/>
                        <a:pt x="25717" y="628650"/>
                        <a:pt x="57150" y="628650"/>
                      </a:cubicBezTo>
                      <a:lnTo>
                        <a:pt x="342900" y="628650"/>
                      </a:lnTo>
                      <a:lnTo>
                        <a:pt x="342900" y="714375"/>
                      </a:lnTo>
                      <a:lnTo>
                        <a:pt x="214312" y="714375"/>
                      </a:lnTo>
                      <a:lnTo>
                        <a:pt x="214312" y="800099"/>
                      </a:lnTo>
                      <a:lnTo>
                        <a:pt x="642937" y="800099"/>
                      </a:lnTo>
                      <a:lnTo>
                        <a:pt x="642937" y="714375"/>
                      </a:lnTo>
                      <a:lnTo>
                        <a:pt x="514350" y="714375"/>
                      </a:lnTo>
                      <a:lnTo>
                        <a:pt x="514350" y="628650"/>
                      </a:lnTo>
                      <a:lnTo>
                        <a:pt x="800099" y="628650"/>
                      </a:lnTo>
                      <a:cubicBezTo>
                        <a:pt x="831532" y="628650"/>
                        <a:pt x="857249" y="602932"/>
                        <a:pt x="857249" y="571500"/>
                      </a:cubicBezTo>
                      <a:lnTo>
                        <a:pt x="857249" y="57150"/>
                      </a:lnTo>
                      <a:cubicBezTo>
                        <a:pt x="857249" y="25717"/>
                        <a:pt x="831532" y="0"/>
                        <a:pt x="800099" y="0"/>
                      </a:cubicBezTo>
                      <a:close/>
                    </a:path>
                  </a:pathLst>
                </a:custGeom>
                <a:solidFill>
                  <a:schemeClr val="accent5">
                    <a:lumMod val="75000"/>
                  </a:schemeClr>
                </a:solidFill>
                <a:ln w="14188" cap="flat">
                  <a:noFill/>
                  <a:prstDash val="solid"/>
                  <a:miter/>
                </a:ln>
              </p:spPr>
              <p:txBody>
                <a:bodyPr rtlCol="0" anchor="ctr"/>
                <a:lstStyle/>
                <a:p>
                  <a:endParaRPr lang="en-MY"/>
                </a:p>
              </p:txBody>
            </p:sp>
            <p:sp>
              <p:nvSpPr>
                <p:cNvPr id="48" name="Freeform: Shape 47">
                  <a:extLst>
                    <a:ext uri="{FF2B5EF4-FFF2-40B4-BE49-F238E27FC236}">
                      <a16:creationId xmlns:a16="http://schemas.microsoft.com/office/drawing/2014/main" id="{D2E49698-34DD-71B3-2447-4B83D9617AA7}"/>
                    </a:ext>
                  </a:extLst>
                </p:cNvPr>
                <p:cNvSpPr/>
                <p:nvPr/>
              </p:nvSpPr>
              <p:spPr>
                <a:xfrm>
                  <a:off x="2314575" y="1547284"/>
                  <a:ext cx="400050" cy="800099"/>
                </a:xfrm>
                <a:custGeom>
                  <a:avLst/>
                  <a:gdLst>
                    <a:gd name="connsiteX0" fmla="*/ 342900 w 400049"/>
                    <a:gd name="connsiteY0" fmla="*/ 142875 h 800099"/>
                    <a:gd name="connsiteX1" fmla="*/ 57150 w 400049"/>
                    <a:gd name="connsiteY1" fmla="*/ 142875 h 800099"/>
                    <a:gd name="connsiteX2" fmla="*/ 57150 w 400049"/>
                    <a:gd name="connsiteY2" fmla="*/ 57150 h 800099"/>
                    <a:gd name="connsiteX3" fmla="*/ 342900 w 400049"/>
                    <a:gd name="connsiteY3" fmla="*/ 57150 h 800099"/>
                    <a:gd name="connsiteX4" fmla="*/ 342900 w 400049"/>
                    <a:gd name="connsiteY4" fmla="*/ 142875 h 800099"/>
                    <a:gd name="connsiteX5" fmla="*/ 342900 w 400049"/>
                    <a:gd name="connsiteY5" fmla="*/ 285750 h 800099"/>
                    <a:gd name="connsiteX6" fmla="*/ 57150 w 400049"/>
                    <a:gd name="connsiteY6" fmla="*/ 285750 h 800099"/>
                    <a:gd name="connsiteX7" fmla="*/ 57150 w 400049"/>
                    <a:gd name="connsiteY7" fmla="*/ 200025 h 800099"/>
                    <a:gd name="connsiteX8" fmla="*/ 342900 w 400049"/>
                    <a:gd name="connsiteY8" fmla="*/ 200025 h 800099"/>
                    <a:gd name="connsiteX9" fmla="*/ 342900 w 400049"/>
                    <a:gd name="connsiteY9" fmla="*/ 285750 h 800099"/>
                    <a:gd name="connsiteX10" fmla="*/ 200025 w 400049"/>
                    <a:gd name="connsiteY10" fmla="*/ 714375 h 800099"/>
                    <a:gd name="connsiteX11" fmla="*/ 157162 w 400049"/>
                    <a:gd name="connsiteY11" fmla="*/ 671512 h 800099"/>
                    <a:gd name="connsiteX12" fmla="*/ 200025 w 400049"/>
                    <a:gd name="connsiteY12" fmla="*/ 628650 h 800099"/>
                    <a:gd name="connsiteX13" fmla="*/ 242887 w 400049"/>
                    <a:gd name="connsiteY13" fmla="*/ 671512 h 800099"/>
                    <a:gd name="connsiteX14" fmla="*/ 200025 w 400049"/>
                    <a:gd name="connsiteY14" fmla="*/ 714375 h 800099"/>
                    <a:gd name="connsiteX15" fmla="*/ 342900 w 400049"/>
                    <a:gd name="connsiteY15" fmla="*/ 0 h 800099"/>
                    <a:gd name="connsiteX16" fmla="*/ 57150 w 400049"/>
                    <a:gd name="connsiteY16" fmla="*/ 0 h 800099"/>
                    <a:gd name="connsiteX17" fmla="*/ 0 w 400049"/>
                    <a:gd name="connsiteY17" fmla="*/ 57150 h 800099"/>
                    <a:gd name="connsiteX18" fmla="*/ 0 w 400049"/>
                    <a:gd name="connsiteY18" fmla="*/ 742949 h 800099"/>
                    <a:gd name="connsiteX19" fmla="*/ 57150 w 400049"/>
                    <a:gd name="connsiteY19" fmla="*/ 800099 h 800099"/>
                    <a:gd name="connsiteX20" fmla="*/ 342900 w 400049"/>
                    <a:gd name="connsiteY20" fmla="*/ 800099 h 800099"/>
                    <a:gd name="connsiteX21" fmla="*/ 400050 w 400049"/>
                    <a:gd name="connsiteY21" fmla="*/ 742949 h 800099"/>
                    <a:gd name="connsiteX22" fmla="*/ 400050 w 400049"/>
                    <a:gd name="connsiteY22" fmla="*/ 57150 h 800099"/>
                    <a:gd name="connsiteX23" fmla="*/ 342900 w 400049"/>
                    <a:gd name="connsiteY23" fmla="*/ 0 h 800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00049" h="800099">
                      <a:moveTo>
                        <a:pt x="342900" y="142875"/>
                      </a:moveTo>
                      <a:lnTo>
                        <a:pt x="57150" y="142875"/>
                      </a:lnTo>
                      <a:lnTo>
                        <a:pt x="57150" y="57150"/>
                      </a:lnTo>
                      <a:lnTo>
                        <a:pt x="342900" y="57150"/>
                      </a:lnTo>
                      <a:lnTo>
                        <a:pt x="342900" y="142875"/>
                      </a:lnTo>
                      <a:close/>
                      <a:moveTo>
                        <a:pt x="342900" y="285750"/>
                      </a:moveTo>
                      <a:lnTo>
                        <a:pt x="57150" y="285750"/>
                      </a:lnTo>
                      <a:lnTo>
                        <a:pt x="57150" y="200025"/>
                      </a:lnTo>
                      <a:lnTo>
                        <a:pt x="342900" y="200025"/>
                      </a:lnTo>
                      <a:lnTo>
                        <a:pt x="342900" y="285750"/>
                      </a:lnTo>
                      <a:close/>
                      <a:moveTo>
                        <a:pt x="200025" y="714375"/>
                      </a:moveTo>
                      <a:cubicBezTo>
                        <a:pt x="175736" y="714375"/>
                        <a:pt x="157162" y="695801"/>
                        <a:pt x="157162" y="671512"/>
                      </a:cubicBezTo>
                      <a:cubicBezTo>
                        <a:pt x="157162" y="647223"/>
                        <a:pt x="175736" y="628650"/>
                        <a:pt x="200025" y="628650"/>
                      </a:cubicBezTo>
                      <a:cubicBezTo>
                        <a:pt x="224314" y="628650"/>
                        <a:pt x="242887" y="647223"/>
                        <a:pt x="242887" y="671512"/>
                      </a:cubicBezTo>
                      <a:cubicBezTo>
                        <a:pt x="242887" y="695801"/>
                        <a:pt x="224314" y="714375"/>
                        <a:pt x="200025" y="714375"/>
                      </a:cubicBezTo>
                      <a:close/>
                      <a:moveTo>
                        <a:pt x="342900" y="0"/>
                      </a:moveTo>
                      <a:lnTo>
                        <a:pt x="57150" y="0"/>
                      </a:lnTo>
                      <a:cubicBezTo>
                        <a:pt x="25718" y="0"/>
                        <a:pt x="0" y="25717"/>
                        <a:pt x="0" y="57150"/>
                      </a:cubicBezTo>
                      <a:lnTo>
                        <a:pt x="0" y="742949"/>
                      </a:lnTo>
                      <a:cubicBezTo>
                        <a:pt x="0" y="774382"/>
                        <a:pt x="25718" y="800099"/>
                        <a:pt x="57150" y="800099"/>
                      </a:cubicBezTo>
                      <a:lnTo>
                        <a:pt x="342900" y="800099"/>
                      </a:lnTo>
                      <a:cubicBezTo>
                        <a:pt x="374332" y="800099"/>
                        <a:pt x="400050" y="774382"/>
                        <a:pt x="400050" y="742949"/>
                      </a:cubicBezTo>
                      <a:lnTo>
                        <a:pt x="400050" y="57150"/>
                      </a:lnTo>
                      <a:cubicBezTo>
                        <a:pt x="400050" y="25717"/>
                        <a:pt x="374332" y="0"/>
                        <a:pt x="342900" y="0"/>
                      </a:cubicBezTo>
                      <a:close/>
                    </a:path>
                  </a:pathLst>
                </a:custGeom>
                <a:solidFill>
                  <a:schemeClr val="accent1">
                    <a:lumMod val="75000"/>
                  </a:schemeClr>
                </a:solidFill>
                <a:ln w="14188" cap="flat">
                  <a:noFill/>
                  <a:prstDash val="solid"/>
                  <a:miter/>
                </a:ln>
              </p:spPr>
              <p:txBody>
                <a:bodyPr rtlCol="0" anchor="ctr"/>
                <a:lstStyle/>
                <a:p>
                  <a:endParaRPr lang="en-MY"/>
                </a:p>
              </p:txBody>
            </p:sp>
          </p:grpSp>
          <p:sp>
            <p:nvSpPr>
              <p:cNvPr id="17" name="TextBox 16">
                <a:extLst>
                  <a:ext uri="{FF2B5EF4-FFF2-40B4-BE49-F238E27FC236}">
                    <a16:creationId xmlns:a16="http://schemas.microsoft.com/office/drawing/2014/main" id="{D9E9EB80-41B7-2AFE-3A68-E040DFC49928}"/>
                  </a:ext>
                </a:extLst>
              </p:cNvPr>
              <p:cNvSpPr txBox="1"/>
              <p:nvPr/>
            </p:nvSpPr>
            <p:spPr>
              <a:xfrm>
                <a:off x="2376629" y="4309982"/>
                <a:ext cx="1737360" cy="169277"/>
              </a:xfrm>
              <a:prstGeom prst="rect">
                <a:avLst/>
              </a:prstGeom>
              <a:solidFill>
                <a:schemeClr val="accent6">
                  <a:lumMod val="50000"/>
                </a:schemeClr>
              </a:solidFill>
            </p:spPr>
            <p:txBody>
              <a:bodyPr wrap="square" lIns="0" tIns="0" rIns="0" bIns="0" rtlCol="0">
                <a:spAutoFit/>
              </a:bodyPr>
              <a:lstStyle>
                <a:defPPr>
                  <a:defRPr lang="en-US"/>
                </a:defPPr>
                <a:lvl1pPr>
                  <a:defRPr sz="1000"/>
                </a:lvl1pPr>
              </a:lstStyle>
              <a:p>
                <a:pPr algn="ctr"/>
                <a:r>
                  <a:rPr lang="en-US" sz="1100" b="1" dirty="0">
                    <a:solidFill>
                      <a:schemeClr val="bg1"/>
                    </a:solidFill>
                    <a:effectLst>
                      <a:outerShdw blurRad="38100" dist="38100" dir="2700000" algn="tl">
                        <a:srgbClr val="000000">
                          <a:alpha val="43137"/>
                        </a:srgbClr>
                      </a:outerShdw>
                    </a:effectLst>
                  </a:rPr>
                  <a:t>ACB</a:t>
                </a:r>
              </a:p>
            </p:txBody>
          </p:sp>
          <p:sp>
            <p:nvSpPr>
              <p:cNvPr id="18" name="TextBox 17">
                <a:extLst>
                  <a:ext uri="{FF2B5EF4-FFF2-40B4-BE49-F238E27FC236}">
                    <a16:creationId xmlns:a16="http://schemas.microsoft.com/office/drawing/2014/main" id="{94649956-A74B-66BF-8420-8E670C121BBC}"/>
                  </a:ext>
                </a:extLst>
              </p:cNvPr>
              <p:cNvSpPr txBox="1"/>
              <p:nvPr/>
            </p:nvSpPr>
            <p:spPr>
              <a:xfrm>
                <a:off x="2377440" y="4477937"/>
                <a:ext cx="1737360" cy="846386"/>
              </a:xfrm>
              <a:prstGeom prst="rect">
                <a:avLst/>
              </a:prstGeom>
              <a:solidFill>
                <a:schemeClr val="accent6">
                  <a:lumMod val="60000"/>
                  <a:lumOff val="40000"/>
                </a:schemeClr>
              </a:solidFill>
            </p:spPr>
            <p:txBody>
              <a:bodyPr wrap="square" lIns="0" tIns="0" rIns="0" bIns="0" rtlCol="0">
                <a:spAutoFit/>
              </a:bodyPr>
              <a:lstStyle>
                <a:defPPr>
                  <a:defRPr lang="en-US"/>
                </a:defPPr>
                <a:lvl1pPr>
                  <a:defRPr sz="1000"/>
                </a:lvl1pPr>
              </a:lstStyle>
              <a:p>
                <a:pPr defTabSz="630238"/>
                <a:r>
                  <a:rPr lang="en-US" sz="1100" dirty="0"/>
                  <a:t> </a:t>
                </a:r>
                <a:r>
                  <a:rPr lang="en-US" sz="1100" b="1" dirty="0"/>
                  <a:t>Mode</a:t>
                </a:r>
                <a:r>
                  <a:rPr lang="en-US" sz="1100" dirty="0"/>
                  <a:t>	: </a:t>
                </a:r>
                <a:r>
                  <a:rPr lang="en-US" b="1" dirty="0"/>
                  <a:t>[1] Authentication</a:t>
                </a:r>
                <a:endParaRPr lang="en-US" sz="1100" b="1" dirty="0"/>
              </a:p>
              <a:p>
                <a:pPr defTabSz="630238"/>
                <a:r>
                  <a:rPr lang="en-US" sz="1100" dirty="0"/>
                  <a:t> </a:t>
                </a:r>
                <a:r>
                  <a:rPr lang="en-US" sz="1100" b="1" dirty="0"/>
                  <a:t>Algorithm</a:t>
                </a:r>
                <a:r>
                  <a:rPr lang="en-US" sz="1100" dirty="0"/>
                  <a:t>	: </a:t>
                </a:r>
                <a:r>
                  <a:rPr lang="en-US" b="1" dirty="0"/>
                  <a:t>[1] HMAC: SHA-1</a:t>
                </a:r>
              </a:p>
              <a:p>
                <a:pPr defTabSz="630238"/>
                <a:r>
                  <a:rPr lang="en-US" sz="1100" dirty="0"/>
                  <a:t> </a:t>
                </a:r>
                <a:r>
                  <a:rPr lang="en-US" sz="1100" b="1" dirty="0"/>
                  <a:t>PRM</a:t>
                </a:r>
                <a:r>
                  <a:rPr lang="en-US" sz="1100" dirty="0"/>
                  <a:t>	: </a:t>
                </a:r>
                <a:r>
                  <a:rPr lang="en-US" b="1" dirty="0"/>
                  <a:t>[1] Timestamp</a:t>
                </a:r>
              </a:p>
              <a:p>
                <a:pPr defTabSz="630238"/>
                <a:endParaRPr lang="en-US" sz="1100" dirty="0"/>
              </a:p>
              <a:p>
                <a:pPr defTabSz="630238"/>
                <a:endParaRPr lang="en-US" sz="1100" dirty="0"/>
              </a:p>
            </p:txBody>
          </p:sp>
          <p:pic>
            <p:nvPicPr>
              <p:cNvPr id="19" name="Picture 18">
                <a:extLst>
                  <a:ext uri="{FF2B5EF4-FFF2-40B4-BE49-F238E27FC236}">
                    <a16:creationId xmlns:a16="http://schemas.microsoft.com/office/drawing/2014/main" id="{EEB18CB2-2CAF-3A18-6479-2A2ED1F05579}"/>
                  </a:ext>
                </a:extLst>
              </p:cNvPr>
              <p:cNvPicPr>
                <a:picLocks noChangeAspect="1"/>
              </p:cNvPicPr>
              <p:nvPr/>
            </p:nvPicPr>
            <p:blipFill>
              <a:blip r:embed="rId7"/>
              <a:stretch>
                <a:fillRect/>
              </a:stretch>
            </p:blipFill>
            <p:spPr>
              <a:xfrm>
                <a:off x="1752600" y="1600200"/>
                <a:ext cx="2094799" cy="735864"/>
              </a:xfrm>
              <a:prstGeom prst="rect">
                <a:avLst/>
              </a:prstGeom>
            </p:spPr>
          </p:pic>
          <p:sp>
            <p:nvSpPr>
              <p:cNvPr id="20" name="TextBox 19">
                <a:extLst>
                  <a:ext uri="{FF2B5EF4-FFF2-40B4-BE49-F238E27FC236}">
                    <a16:creationId xmlns:a16="http://schemas.microsoft.com/office/drawing/2014/main" id="{131BD03A-F83E-E4E7-187A-3FC43D42CBD3}"/>
                  </a:ext>
                </a:extLst>
              </p:cNvPr>
              <p:cNvSpPr txBox="1"/>
              <p:nvPr/>
            </p:nvSpPr>
            <p:spPr>
              <a:xfrm>
                <a:off x="6934201" y="4316512"/>
                <a:ext cx="1737360" cy="169277"/>
              </a:xfrm>
              <a:prstGeom prst="rect">
                <a:avLst/>
              </a:prstGeom>
              <a:solidFill>
                <a:schemeClr val="accent6">
                  <a:lumMod val="50000"/>
                </a:schemeClr>
              </a:solidFill>
            </p:spPr>
            <p:txBody>
              <a:bodyPr wrap="square" lIns="0" tIns="0" rIns="0" bIns="0" rtlCol="0">
                <a:spAutoFit/>
              </a:bodyPr>
              <a:lstStyle>
                <a:defPPr>
                  <a:defRPr lang="en-US"/>
                </a:defPPr>
                <a:lvl1pPr>
                  <a:defRPr sz="1000"/>
                </a:lvl1pPr>
              </a:lstStyle>
              <a:p>
                <a:pPr algn="ctr"/>
                <a:r>
                  <a:rPr lang="en-US" sz="1100" b="1" dirty="0">
                    <a:solidFill>
                      <a:schemeClr val="bg1"/>
                    </a:solidFill>
                    <a:effectLst>
                      <a:outerShdw blurRad="38100" dist="38100" dir="2700000" algn="tl">
                        <a:srgbClr val="000000">
                          <a:alpha val="43137"/>
                        </a:srgbClr>
                      </a:outerShdw>
                    </a:effectLst>
                  </a:rPr>
                  <a:t>ACB</a:t>
                </a:r>
              </a:p>
            </p:txBody>
          </p:sp>
          <p:sp>
            <p:nvSpPr>
              <p:cNvPr id="21" name="TextBox 20">
                <a:extLst>
                  <a:ext uri="{FF2B5EF4-FFF2-40B4-BE49-F238E27FC236}">
                    <a16:creationId xmlns:a16="http://schemas.microsoft.com/office/drawing/2014/main" id="{C8B4F62F-7148-7395-A047-ECEF7D7CD91A}"/>
                  </a:ext>
                </a:extLst>
              </p:cNvPr>
              <p:cNvSpPr txBox="1"/>
              <p:nvPr/>
            </p:nvSpPr>
            <p:spPr>
              <a:xfrm>
                <a:off x="6934200" y="4484374"/>
                <a:ext cx="1737360" cy="846386"/>
              </a:xfrm>
              <a:prstGeom prst="rect">
                <a:avLst/>
              </a:prstGeom>
              <a:solidFill>
                <a:schemeClr val="accent6">
                  <a:lumMod val="60000"/>
                  <a:lumOff val="40000"/>
                </a:schemeClr>
              </a:solidFill>
            </p:spPr>
            <p:txBody>
              <a:bodyPr wrap="square" lIns="0" tIns="0" rIns="0" bIns="0" rtlCol="0">
                <a:spAutoFit/>
              </a:bodyPr>
              <a:lstStyle>
                <a:defPPr>
                  <a:defRPr lang="en-US"/>
                </a:defPPr>
                <a:lvl1pPr>
                  <a:defRPr sz="1000"/>
                </a:lvl1pPr>
              </a:lstStyle>
              <a:p>
                <a:pPr defTabSz="630238"/>
                <a:r>
                  <a:rPr lang="en-US" sz="1100" b="1" dirty="0"/>
                  <a:t> Mode</a:t>
                </a:r>
                <a:r>
                  <a:rPr lang="en-US" sz="1100" dirty="0"/>
                  <a:t>	: </a:t>
                </a:r>
                <a:r>
                  <a:rPr lang="en-US" b="1" dirty="0"/>
                  <a:t>[1] Authentication</a:t>
                </a:r>
              </a:p>
              <a:p>
                <a:pPr defTabSz="630238"/>
                <a:r>
                  <a:rPr lang="en-US" sz="1100" b="1" dirty="0"/>
                  <a:t> Algorithm</a:t>
                </a:r>
                <a:r>
                  <a:rPr lang="en-US" sz="1100" dirty="0"/>
                  <a:t>	: </a:t>
                </a:r>
                <a:r>
                  <a:rPr lang="en-US" b="1" dirty="0"/>
                  <a:t>[1] HMAC: SHA-1</a:t>
                </a:r>
                <a:endParaRPr lang="en-US" sz="1100" b="1" dirty="0"/>
              </a:p>
              <a:p>
                <a:pPr defTabSz="630238"/>
                <a:r>
                  <a:rPr lang="en-US" sz="1100" b="1" dirty="0"/>
                  <a:t> PRM</a:t>
                </a:r>
                <a:r>
                  <a:rPr lang="en-US" sz="1100" dirty="0"/>
                  <a:t>	: </a:t>
                </a:r>
                <a:r>
                  <a:rPr lang="en-US" b="1" dirty="0"/>
                  <a:t>[1] Timestamp</a:t>
                </a:r>
              </a:p>
              <a:p>
                <a:pPr defTabSz="630238"/>
                <a:r>
                  <a:rPr lang="en-US" sz="1100" b="1" dirty="0"/>
                  <a:t> KEY</a:t>
                </a:r>
                <a:r>
                  <a:rPr lang="en-US" sz="1100" dirty="0"/>
                  <a:t> 	: </a:t>
                </a:r>
              </a:p>
              <a:p>
                <a:pPr defTabSz="630238"/>
                <a:endParaRPr lang="en-US" sz="1100" dirty="0"/>
              </a:p>
            </p:txBody>
          </p:sp>
          <p:sp>
            <p:nvSpPr>
              <p:cNvPr id="22" name="Graphic 43" descr="Key">
                <a:extLst>
                  <a:ext uri="{FF2B5EF4-FFF2-40B4-BE49-F238E27FC236}">
                    <a16:creationId xmlns:a16="http://schemas.microsoft.com/office/drawing/2014/main" id="{3810B491-4DA4-9D4B-0CF6-3B077F1200E4}"/>
                  </a:ext>
                </a:extLst>
              </p:cNvPr>
              <p:cNvSpPr/>
              <p:nvPr/>
            </p:nvSpPr>
            <p:spPr>
              <a:xfrm>
                <a:off x="7632171" y="5021243"/>
                <a:ext cx="264358" cy="150832"/>
              </a:xfrm>
              <a:custGeom>
                <a:avLst/>
                <a:gdLst>
                  <a:gd name="connsiteX0" fmla="*/ 240109 w 349250"/>
                  <a:gd name="connsiteY0" fmla="*/ 97234 h 166687"/>
                  <a:gd name="connsiteX1" fmla="*/ 265906 w 349250"/>
                  <a:gd name="connsiteY1" fmla="*/ 123031 h 166687"/>
                  <a:gd name="connsiteX2" fmla="*/ 291703 w 349250"/>
                  <a:gd name="connsiteY2" fmla="*/ 97234 h 166687"/>
                  <a:gd name="connsiteX3" fmla="*/ 317500 w 349250"/>
                  <a:gd name="connsiteY3" fmla="*/ 123031 h 166687"/>
                  <a:gd name="connsiteX4" fmla="*/ 349250 w 349250"/>
                  <a:gd name="connsiteY4" fmla="*/ 83344 h 166687"/>
                  <a:gd name="connsiteX5" fmla="*/ 317500 w 349250"/>
                  <a:gd name="connsiteY5" fmla="*/ 43656 h 166687"/>
                  <a:gd name="connsiteX6" fmla="*/ 156766 w 349250"/>
                  <a:gd name="connsiteY6" fmla="*/ 43656 h 166687"/>
                  <a:gd name="connsiteX7" fmla="*/ 83344 w 349250"/>
                  <a:gd name="connsiteY7" fmla="*/ 0 h 166687"/>
                  <a:gd name="connsiteX8" fmla="*/ 0 w 349250"/>
                  <a:gd name="connsiteY8" fmla="*/ 83344 h 166687"/>
                  <a:gd name="connsiteX9" fmla="*/ 83344 w 349250"/>
                  <a:gd name="connsiteY9" fmla="*/ 166688 h 166687"/>
                  <a:gd name="connsiteX10" fmla="*/ 156766 w 349250"/>
                  <a:gd name="connsiteY10" fmla="*/ 123031 h 166687"/>
                  <a:gd name="connsiteX11" fmla="*/ 182563 w 349250"/>
                  <a:gd name="connsiteY11" fmla="*/ 123031 h 166687"/>
                  <a:gd name="connsiteX12" fmla="*/ 198438 w 349250"/>
                  <a:gd name="connsiteY12" fmla="*/ 107156 h 166687"/>
                  <a:gd name="connsiteX13" fmla="*/ 214313 w 349250"/>
                  <a:gd name="connsiteY13" fmla="*/ 123031 h 166687"/>
                  <a:gd name="connsiteX14" fmla="*/ 240109 w 349250"/>
                  <a:gd name="connsiteY14" fmla="*/ 97234 h 166687"/>
                  <a:gd name="connsiteX15" fmla="*/ 47625 w 349250"/>
                  <a:gd name="connsiteY15" fmla="*/ 107156 h 166687"/>
                  <a:gd name="connsiteX16" fmla="*/ 23813 w 349250"/>
                  <a:gd name="connsiteY16" fmla="*/ 83344 h 166687"/>
                  <a:gd name="connsiteX17" fmla="*/ 47625 w 349250"/>
                  <a:gd name="connsiteY17" fmla="*/ 59531 h 166687"/>
                  <a:gd name="connsiteX18" fmla="*/ 71438 w 349250"/>
                  <a:gd name="connsiteY18" fmla="*/ 83344 h 166687"/>
                  <a:gd name="connsiteX19" fmla="*/ 47625 w 349250"/>
                  <a:gd name="connsiteY19" fmla="*/ 107156 h 166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49250" h="166687">
                    <a:moveTo>
                      <a:pt x="240109" y="97234"/>
                    </a:moveTo>
                    <a:lnTo>
                      <a:pt x="265906" y="123031"/>
                    </a:lnTo>
                    <a:lnTo>
                      <a:pt x="291703" y="97234"/>
                    </a:lnTo>
                    <a:lnTo>
                      <a:pt x="317500" y="123031"/>
                    </a:lnTo>
                    <a:lnTo>
                      <a:pt x="349250" y="83344"/>
                    </a:lnTo>
                    <a:lnTo>
                      <a:pt x="317500" y="43656"/>
                    </a:lnTo>
                    <a:lnTo>
                      <a:pt x="156766" y="43656"/>
                    </a:lnTo>
                    <a:cubicBezTo>
                      <a:pt x="142478" y="17462"/>
                      <a:pt x="115094" y="0"/>
                      <a:pt x="83344" y="0"/>
                    </a:cubicBezTo>
                    <a:cubicBezTo>
                      <a:pt x="37306" y="0"/>
                      <a:pt x="0" y="37306"/>
                      <a:pt x="0" y="83344"/>
                    </a:cubicBezTo>
                    <a:cubicBezTo>
                      <a:pt x="0" y="129381"/>
                      <a:pt x="37306" y="166688"/>
                      <a:pt x="83344" y="166688"/>
                    </a:cubicBezTo>
                    <a:cubicBezTo>
                      <a:pt x="115094" y="166688"/>
                      <a:pt x="142478" y="149225"/>
                      <a:pt x="156766" y="123031"/>
                    </a:cubicBezTo>
                    <a:lnTo>
                      <a:pt x="182563" y="123031"/>
                    </a:lnTo>
                    <a:lnTo>
                      <a:pt x="198438" y="107156"/>
                    </a:lnTo>
                    <a:lnTo>
                      <a:pt x="214313" y="123031"/>
                    </a:lnTo>
                    <a:lnTo>
                      <a:pt x="240109" y="97234"/>
                    </a:lnTo>
                    <a:close/>
                    <a:moveTo>
                      <a:pt x="47625" y="107156"/>
                    </a:moveTo>
                    <a:cubicBezTo>
                      <a:pt x="34528" y="107156"/>
                      <a:pt x="23813" y="96441"/>
                      <a:pt x="23813" y="83344"/>
                    </a:cubicBezTo>
                    <a:cubicBezTo>
                      <a:pt x="23813" y="70247"/>
                      <a:pt x="34528" y="59531"/>
                      <a:pt x="47625" y="59531"/>
                    </a:cubicBezTo>
                    <a:cubicBezTo>
                      <a:pt x="60722" y="59531"/>
                      <a:pt x="71438" y="70247"/>
                      <a:pt x="71438" y="83344"/>
                    </a:cubicBezTo>
                    <a:cubicBezTo>
                      <a:pt x="71438" y="96441"/>
                      <a:pt x="60722" y="107156"/>
                      <a:pt x="47625" y="107156"/>
                    </a:cubicBezTo>
                    <a:close/>
                  </a:path>
                </a:pathLst>
              </a:custGeom>
              <a:solidFill>
                <a:schemeClr val="tx1"/>
              </a:solidFill>
              <a:ln w="3969" cap="flat">
                <a:noFill/>
                <a:prstDash val="solid"/>
                <a:miter/>
              </a:ln>
            </p:spPr>
            <p:txBody>
              <a:bodyPr rtlCol="0" anchor="ctr"/>
              <a:lstStyle/>
              <a:p>
                <a:endParaRPr lang="en-MY" sz="2400"/>
              </a:p>
            </p:txBody>
          </p:sp>
          <p:sp>
            <p:nvSpPr>
              <p:cNvPr id="23" name="TextBox 22">
                <a:extLst>
                  <a:ext uri="{FF2B5EF4-FFF2-40B4-BE49-F238E27FC236}">
                    <a16:creationId xmlns:a16="http://schemas.microsoft.com/office/drawing/2014/main" id="{F70B3CD8-8A48-9253-C6CB-E002A7C97A72}"/>
                  </a:ext>
                </a:extLst>
              </p:cNvPr>
              <p:cNvSpPr txBox="1"/>
              <p:nvPr/>
            </p:nvSpPr>
            <p:spPr>
              <a:xfrm>
                <a:off x="4711065" y="4303812"/>
                <a:ext cx="1737360" cy="169277"/>
              </a:xfrm>
              <a:prstGeom prst="rect">
                <a:avLst/>
              </a:prstGeom>
              <a:solidFill>
                <a:schemeClr val="accent6">
                  <a:lumMod val="50000"/>
                </a:schemeClr>
              </a:solidFill>
            </p:spPr>
            <p:txBody>
              <a:bodyPr wrap="square" lIns="0" tIns="0" rIns="0" bIns="0" rtlCol="0">
                <a:spAutoFit/>
              </a:bodyPr>
              <a:lstStyle>
                <a:defPPr>
                  <a:defRPr lang="en-US"/>
                </a:defPPr>
                <a:lvl1pPr>
                  <a:defRPr sz="1000"/>
                </a:lvl1pPr>
              </a:lstStyle>
              <a:p>
                <a:pPr algn="ctr"/>
                <a:r>
                  <a:rPr lang="en-US" sz="1100" b="1" dirty="0">
                    <a:solidFill>
                      <a:schemeClr val="bg1"/>
                    </a:solidFill>
                    <a:effectLst>
                      <a:outerShdw blurRad="38100" dist="38100" dir="2700000" algn="tl">
                        <a:srgbClr val="000000">
                          <a:alpha val="43137"/>
                        </a:srgbClr>
                      </a:outerShdw>
                    </a:effectLst>
                  </a:rPr>
                  <a:t>ACB</a:t>
                </a:r>
              </a:p>
            </p:txBody>
          </p:sp>
          <p:sp>
            <p:nvSpPr>
              <p:cNvPr id="24" name="TextBox 23">
                <a:extLst>
                  <a:ext uri="{FF2B5EF4-FFF2-40B4-BE49-F238E27FC236}">
                    <a16:creationId xmlns:a16="http://schemas.microsoft.com/office/drawing/2014/main" id="{84F4E7E9-4A90-8BE5-A147-D0973375DAB1}"/>
                  </a:ext>
                </a:extLst>
              </p:cNvPr>
              <p:cNvSpPr txBox="1"/>
              <p:nvPr/>
            </p:nvSpPr>
            <p:spPr>
              <a:xfrm>
                <a:off x="4711063" y="4470162"/>
                <a:ext cx="1737360" cy="846386"/>
              </a:xfrm>
              <a:prstGeom prst="rect">
                <a:avLst/>
              </a:prstGeom>
              <a:solidFill>
                <a:schemeClr val="accent6">
                  <a:lumMod val="60000"/>
                  <a:lumOff val="40000"/>
                </a:schemeClr>
              </a:solidFill>
            </p:spPr>
            <p:txBody>
              <a:bodyPr wrap="square" lIns="0" tIns="0" rIns="0" bIns="0" rtlCol="0">
                <a:spAutoFit/>
              </a:bodyPr>
              <a:lstStyle>
                <a:defPPr>
                  <a:defRPr lang="en-US"/>
                </a:defPPr>
                <a:lvl1pPr>
                  <a:defRPr sz="1000"/>
                </a:lvl1pPr>
              </a:lstStyle>
              <a:p>
                <a:pPr defTabSz="630238"/>
                <a:r>
                  <a:rPr lang="en-US" sz="1100" dirty="0"/>
                  <a:t> </a:t>
                </a:r>
                <a:r>
                  <a:rPr lang="en-US" sz="1100" b="1" dirty="0"/>
                  <a:t>Mode</a:t>
                </a:r>
                <a:r>
                  <a:rPr lang="en-US" sz="1100" dirty="0"/>
                  <a:t>	: </a:t>
                </a:r>
                <a:r>
                  <a:rPr lang="en-US" b="1" dirty="0"/>
                  <a:t>[1] Authentication</a:t>
                </a:r>
                <a:endParaRPr lang="en-US" sz="1100" b="1" dirty="0"/>
              </a:p>
              <a:p>
                <a:pPr defTabSz="630238"/>
                <a:r>
                  <a:rPr lang="en-US" sz="1100" b="1" dirty="0"/>
                  <a:t> Algorithm</a:t>
                </a:r>
                <a:r>
                  <a:rPr lang="en-US" sz="1100" dirty="0"/>
                  <a:t>	: </a:t>
                </a:r>
                <a:r>
                  <a:rPr lang="en-US" b="1" dirty="0"/>
                  <a:t>[1] HMAC: SHA-1</a:t>
                </a:r>
              </a:p>
              <a:p>
                <a:pPr defTabSz="630238"/>
                <a:r>
                  <a:rPr lang="en-US" sz="1100" dirty="0"/>
                  <a:t> </a:t>
                </a:r>
                <a:r>
                  <a:rPr lang="en-US" sz="1100" b="1" dirty="0"/>
                  <a:t>PRM</a:t>
                </a:r>
                <a:r>
                  <a:rPr lang="en-US" sz="1100" dirty="0"/>
                  <a:t>	: </a:t>
                </a:r>
                <a:r>
                  <a:rPr lang="en-US" b="1" dirty="0"/>
                  <a:t>[1] Timestamp</a:t>
                </a:r>
              </a:p>
              <a:p>
                <a:pPr defTabSz="630238"/>
                <a:r>
                  <a:rPr lang="en-US" sz="1100" dirty="0"/>
                  <a:t> </a:t>
                </a:r>
                <a:r>
                  <a:rPr lang="en-US" sz="1100" b="1" dirty="0"/>
                  <a:t>KEY</a:t>
                </a:r>
                <a:r>
                  <a:rPr lang="en-US" sz="1100" dirty="0"/>
                  <a:t> 	: </a:t>
                </a:r>
              </a:p>
              <a:p>
                <a:pPr defTabSz="630238"/>
                <a:endParaRPr lang="en-US" sz="1100" dirty="0"/>
              </a:p>
            </p:txBody>
          </p:sp>
          <p:sp>
            <p:nvSpPr>
              <p:cNvPr id="25" name="Graphic 43" descr="Key">
                <a:extLst>
                  <a:ext uri="{FF2B5EF4-FFF2-40B4-BE49-F238E27FC236}">
                    <a16:creationId xmlns:a16="http://schemas.microsoft.com/office/drawing/2014/main" id="{8531FE66-B70C-F44F-1BC7-8186A29D1B02}"/>
                  </a:ext>
                </a:extLst>
              </p:cNvPr>
              <p:cNvSpPr/>
              <p:nvPr/>
            </p:nvSpPr>
            <p:spPr>
              <a:xfrm>
                <a:off x="5415777" y="5011718"/>
                <a:ext cx="264358" cy="150832"/>
              </a:xfrm>
              <a:custGeom>
                <a:avLst/>
                <a:gdLst>
                  <a:gd name="connsiteX0" fmla="*/ 240109 w 349250"/>
                  <a:gd name="connsiteY0" fmla="*/ 97234 h 166687"/>
                  <a:gd name="connsiteX1" fmla="*/ 265906 w 349250"/>
                  <a:gd name="connsiteY1" fmla="*/ 123031 h 166687"/>
                  <a:gd name="connsiteX2" fmla="*/ 291703 w 349250"/>
                  <a:gd name="connsiteY2" fmla="*/ 97234 h 166687"/>
                  <a:gd name="connsiteX3" fmla="*/ 317500 w 349250"/>
                  <a:gd name="connsiteY3" fmla="*/ 123031 h 166687"/>
                  <a:gd name="connsiteX4" fmla="*/ 349250 w 349250"/>
                  <a:gd name="connsiteY4" fmla="*/ 83344 h 166687"/>
                  <a:gd name="connsiteX5" fmla="*/ 317500 w 349250"/>
                  <a:gd name="connsiteY5" fmla="*/ 43656 h 166687"/>
                  <a:gd name="connsiteX6" fmla="*/ 156766 w 349250"/>
                  <a:gd name="connsiteY6" fmla="*/ 43656 h 166687"/>
                  <a:gd name="connsiteX7" fmla="*/ 83344 w 349250"/>
                  <a:gd name="connsiteY7" fmla="*/ 0 h 166687"/>
                  <a:gd name="connsiteX8" fmla="*/ 0 w 349250"/>
                  <a:gd name="connsiteY8" fmla="*/ 83344 h 166687"/>
                  <a:gd name="connsiteX9" fmla="*/ 83344 w 349250"/>
                  <a:gd name="connsiteY9" fmla="*/ 166688 h 166687"/>
                  <a:gd name="connsiteX10" fmla="*/ 156766 w 349250"/>
                  <a:gd name="connsiteY10" fmla="*/ 123031 h 166687"/>
                  <a:gd name="connsiteX11" fmla="*/ 182563 w 349250"/>
                  <a:gd name="connsiteY11" fmla="*/ 123031 h 166687"/>
                  <a:gd name="connsiteX12" fmla="*/ 198438 w 349250"/>
                  <a:gd name="connsiteY12" fmla="*/ 107156 h 166687"/>
                  <a:gd name="connsiteX13" fmla="*/ 214313 w 349250"/>
                  <a:gd name="connsiteY13" fmla="*/ 123031 h 166687"/>
                  <a:gd name="connsiteX14" fmla="*/ 240109 w 349250"/>
                  <a:gd name="connsiteY14" fmla="*/ 97234 h 166687"/>
                  <a:gd name="connsiteX15" fmla="*/ 47625 w 349250"/>
                  <a:gd name="connsiteY15" fmla="*/ 107156 h 166687"/>
                  <a:gd name="connsiteX16" fmla="*/ 23813 w 349250"/>
                  <a:gd name="connsiteY16" fmla="*/ 83344 h 166687"/>
                  <a:gd name="connsiteX17" fmla="*/ 47625 w 349250"/>
                  <a:gd name="connsiteY17" fmla="*/ 59531 h 166687"/>
                  <a:gd name="connsiteX18" fmla="*/ 71438 w 349250"/>
                  <a:gd name="connsiteY18" fmla="*/ 83344 h 166687"/>
                  <a:gd name="connsiteX19" fmla="*/ 47625 w 349250"/>
                  <a:gd name="connsiteY19" fmla="*/ 107156 h 166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49250" h="166687">
                    <a:moveTo>
                      <a:pt x="240109" y="97234"/>
                    </a:moveTo>
                    <a:lnTo>
                      <a:pt x="265906" y="123031"/>
                    </a:lnTo>
                    <a:lnTo>
                      <a:pt x="291703" y="97234"/>
                    </a:lnTo>
                    <a:lnTo>
                      <a:pt x="317500" y="123031"/>
                    </a:lnTo>
                    <a:lnTo>
                      <a:pt x="349250" y="83344"/>
                    </a:lnTo>
                    <a:lnTo>
                      <a:pt x="317500" y="43656"/>
                    </a:lnTo>
                    <a:lnTo>
                      <a:pt x="156766" y="43656"/>
                    </a:lnTo>
                    <a:cubicBezTo>
                      <a:pt x="142478" y="17462"/>
                      <a:pt x="115094" y="0"/>
                      <a:pt x="83344" y="0"/>
                    </a:cubicBezTo>
                    <a:cubicBezTo>
                      <a:pt x="37306" y="0"/>
                      <a:pt x="0" y="37306"/>
                      <a:pt x="0" y="83344"/>
                    </a:cubicBezTo>
                    <a:cubicBezTo>
                      <a:pt x="0" y="129381"/>
                      <a:pt x="37306" y="166688"/>
                      <a:pt x="83344" y="166688"/>
                    </a:cubicBezTo>
                    <a:cubicBezTo>
                      <a:pt x="115094" y="166688"/>
                      <a:pt x="142478" y="149225"/>
                      <a:pt x="156766" y="123031"/>
                    </a:cubicBezTo>
                    <a:lnTo>
                      <a:pt x="182563" y="123031"/>
                    </a:lnTo>
                    <a:lnTo>
                      <a:pt x="198438" y="107156"/>
                    </a:lnTo>
                    <a:lnTo>
                      <a:pt x="214313" y="123031"/>
                    </a:lnTo>
                    <a:lnTo>
                      <a:pt x="240109" y="97234"/>
                    </a:lnTo>
                    <a:close/>
                    <a:moveTo>
                      <a:pt x="47625" y="107156"/>
                    </a:moveTo>
                    <a:cubicBezTo>
                      <a:pt x="34528" y="107156"/>
                      <a:pt x="23813" y="96441"/>
                      <a:pt x="23813" y="83344"/>
                    </a:cubicBezTo>
                    <a:cubicBezTo>
                      <a:pt x="23813" y="70247"/>
                      <a:pt x="34528" y="59531"/>
                      <a:pt x="47625" y="59531"/>
                    </a:cubicBezTo>
                    <a:cubicBezTo>
                      <a:pt x="60722" y="59531"/>
                      <a:pt x="71438" y="70247"/>
                      <a:pt x="71438" y="83344"/>
                    </a:cubicBezTo>
                    <a:cubicBezTo>
                      <a:pt x="71438" y="96441"/>
                      <a:pt x="60722" y="107156"/>
                      <a:pt x="47625" y="107156"/>
                    </a:cubicBezTo>
                    <a:close/>
                  </a:path>
                </a:pathLst>
              </a:custGeom>
              <a:solidFill>
                <a:srgbClr val="FF0000"/>
              </a:solidFill>
              <a:ln w="3969" cap="flat">
                <a:noFill/>
                <a:prstDash val="solid"/>
                <a:miter/>
              </a:ln>
            </p:spPr>
            <p:txBody>
              <a:bodyPr rtlCol="0" anchor="ctr"/>
              <a:lstStyle/>
              <a:p>
                <a:endParaRPr lang="en-MY" sz="2400"/>
              </a:p>
            </p:txBody>
          </p:sp>
          <p:sp>
            <p:nvSpPr>
              <p:cNvPr id="26" name="Rectangle 25">
                <a:extLst>
                  <a:ext uri="{FF2B5EF4-FFF2-40B4-BE49-F238E27FC236}">
                    <a16:creationId xmlns:a16="http://schemas.microsoft.com/office/drawing/2014/main" id="{77C03859-1556-653F-E451-C554C6561DC7}"/>
                  </a:ext>
                </a:extLst>
              </p:cNvPr>
              <p:cNvSpPr/>
              <p:nvPr/>
            </p:nvSpPr>
            <p:spPr>
              <a:xfrm>
                <a:off x="4704373" y="3657600"/>
                <a:ext cx="1737360" cy="6096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sz="2400" b="1">
                  <a:solidFill>
                    <a:schemeClr val="bg1"/>
                  </a:solidFill>
                  <a:effectLst>
                    <a:outerShdw blurRad="38100" dist="38100" dir="2700000" algn="tl">
                      <a:srgbClr val="000000">
                        <a:alpha val="43137"/>
                      </a:srgbClr>
                    </a:outerShdw>
                  </a:effectLst>
                </a:endParaRPr>
              </a:p>
            </p:txBody>
          </p:sp>
          <p:sp>
            <p:nvSpPr>
              <p:cNvPr id="27" name="TextBox 26">
                <a:extLst>
                  <a:ext uri="{FF2B5EF4-FFF2-40B4-BE49-F238E27FC236}">
                    <a16:creationId xmlns:a16="http://schemas.microsoft.com/office/drawing/2014/main" id="{5C016CD2-398C-812B-3AA4-57A8E5B6293B}"/>
                  </a:ext>
                </a:extLst>
              </p:cNvPr>
              <p:cNvSpPr txBox="1"/>
              <p:nvPr/>
            </p:nvSpPr>
            <p:spPr>
              <a:xfrm>
                <a:off x="4765735" y="3693932"/>
                <a:ext cx="1541994" cy="338554"/>
              </a:xfrm>
              <a:prstGeom prst="rect">
                <a:avLst/>
              </a:prstGeom>
              <a:noFill/>
            </p:spPr>
            <p:txBody>
              <a:bodyPr wrap="square" lIns="0" tIns="0" rIns="0" bIns="0" rtlCol="0">
                <a:spAutoFit/>
              </a:bodyPr>
              <a:lstStyle>
                <a:defPPr>
                  <a:defRPr lang="en-US"/>
                </a:defPPr>
                <a:lvl1pPr>
                  <a:defRPr sz="1000"/>
                </a:lvl1pPr>
              </a:lstStyle>
              <a:p>
                <a:pPr>
                  <a:tabLst>
                    <a:tab pos="457200" algn="l"/>
                  </a:tabLst>
                </a:pPr>
                <a:r>
                  <a:rPr lang="en-US" sz="1100" b="1" dirty="0">
                    <a:solidFill>
                      <a:schemeClr val="bg1"/>
                    </a:solidFill>
                    <a:effectLst>
                      <a:outerShdw blurRad="38100" dist="38100" dir="2700000" algn="tl">
                        <a:srgbClr val="000000">
                          <a:alpha val="43137"/>
                        </a:srgbClr>
                      </a:outerShdw>
                    </a:effectLst>
                  </a:rPr>
                  <a:t>IP: 	10.0.0.2</a:t>
                </a:r>
              </a:p>
              <a:p>
                <a:pPr>
                  <a:tabLst>
                    <a:tab pos="457200" algn="l"/>
                  </a:tabLst>
                </a:pPr>
                <a:r>
                  <a:rPr lang="en-US" sz="1100" b="1" dirty="0">
                    <a:solidFill>
                      <a:schemeClr val="bg1"/>
                    </a:solidFill>
                    <a:effectLst>
                      <a:outerShdw blurRad="38100" dist="38100" dir="2700000" algn="tl">
                        <a:srgbClr val="000000">
                          <a:alpha val="43137"/>
                        </a:srgbClr>
                      </a:outerShdw>
                    </a:effectLst>
                  </a:rPr>
                  <a:t>Port:	5000</a:t>
                </a:r>
              </a:p>
            </p:txBody>
          </p:sp>
          <p:sp>
            <p:nvSpPr>
              <p:cNvPr id="28" name="TextBox 27">
                <a:extLst>
                  <a:ext uri="{FF2B5EF4-FFF2-40B4-BE49-F238E27FC236}">
                    <a16:creationId xmlns:a16="http://schemas.microsoft.com/office/drawing/2014/main" id="{70056C62-17A8-3271-26D9-D6EC81155AA4}"/>
                  </a:ext>
                </a:extLst>
              </p:cNvPr>
              <p:cNvSpPr txBox="1"/>
              <p:nvPr/>
            </p:nvSpPr>
            <p:spPr>
              <a:xfrm>
                <a:off x="4761622" y="4038192"/>
                <a:ext cx="1572425" cy="169277"/>
              </a:xfrm>
              <a:prstGeom prst="rect">
                <a:avLst/>
              </a:prstGeom>
              <a:noFill/>
            </p:spPr>
            <p:txBody>
              <a:bodyPr wrap="square" lIns="0" tIns="0" rIns="0" bIns="0" rtlCol="0">
                <a:spAutoFit/>
              </a:bodyPr>
              <a:lstStyle>
                <a:defPPr>
                  <a:defRPr lang="en-US"/>
                </a:defPPr>
                <a:lvl1pPr>
                  <a:defRPr sz="1000"/>
                </a:lvl1pPr>
              </a:lstStyle>
              <a:p>
                <a:pPr>
                  <a:tabLst>
                    <a:tab pos="457200" algn="l"/>
                  </a:tabLst>
                </a:pPr>
                <a:r>
                  <a:rPr lang="en-US" sz="1100" b="1" dirty="0">
                    <a:solidFill>
                      <a:schemeClr val="bg1"/>
                    </a:solidFill>
                    <a:effectLst>
                      <a:outerShdw blurRad="38100" dist="38100" dir="2700000" algn="tl">
                        <a:srgbClr val="000000">
                          <a:alpha val="43137"/>
                        </a:srgbClr>
                      </a:outerShdw>
                    </a:effectLst>
                  </a:rPr>
                  <a:t>Mode: 	Passive</a:t>
                </a:r>
              </a:p>
            </p:txBody>
          </p:sp>
          <p:sp>
            <p:nvSpPr>
              <p:cNvPr id="29" name="Rectangle 28">
                <a:extLst>
                  <a:ext uri="{FF2B5EF4-FFF2-40B4-BE49-F238E27FC236}">
                    <a16:creationId xmlns:a16="http://schemas.microsoft.com/office/drawing/2014/main" id="{B336EECE-1D67-6A99-CBCD-DFB4E6A512EF}"/>
                  </a:ext>
                </a:extLst>
              </p:cNvPr>
              <p:cNvSpPr/>
              <p:nvPr/>
            </p:nvSpPr>
            <p:spPr>
              <a:xfrm>
                <a:off x="6934200" y="3657600"/>
                <a:ext cx="1737360" cy="6096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MY" sz="2400" b="1">
                  <a:solidFill>
                    <a:schemeClr val="bg1"/>
                  </a:solidFill>
                  <a:effectLst>
                    <a:outerShdw blurRad="38100" dist="38100" dir="2700000" algn="tl">
                      <a:srgbClr val="000000">
                        <a:alpha val="43137"/>
                      </a:srgbClr>
                    </a:outerShdw>
                  </a:effectLst>
                </a:endParaRPr>
              </a:p>
            </p:txBody>
          </p:sp>
          <p:sp>
            <p:nvSpPr>
              <p:cNvPr id="30" name="TextBox 29">
                <a:extLst>
                  <a:ext uri="{FF2B5EF4-FFF2-40B4-BE49-F238E27FC236}">
                    <a16:creationId xmlns:a16="http://schemas.microsoft.com/office/drawing/2014/main" id="{7778771B-BEAF-92A9-23E0-8669677E84D2}"/>
                  </a:ext>
                </a:extLst>
              </p:cNvPr>
              <p:cNvSpPr txBox="1"/>
              <p:nvPr/>
            </p:nvSpPr>
            <p:spPr>
              <a:xfrm>
                <a:off x="6986324" y="3693932"/>
                <a:ext cx="1549433" cy="338554"/>
              </a:xfrm>
              <a:prstGeom prst="rect">
                <a:avLst/>
              </a:prstGeom>
              <a:noFill/>
            </p:spPr>
            <p:txBody>
              <a:bodyPr wrap="square" lIns="0" tIns="0" rIns="0" bIns="0" rtlCol="0">
                <a:spAutoFit/>
              </a:bodyPr>
              <a:lstStyle>
                <a:defPPr>
                  <a:defRPr lang="en-US"/>
                </a:defPPr>
                <a:lvl1pPr>
                  <a:defRPr sz="1000"/>
                </a:lvl1pPr>
              </a:lstStyle>
              <a:p>
                <a:pPr>
                  <a:tabLst>
                    <a:tab pos="457200" algn="l"/>
                  </a:tabLst>
                </a:pPr>
                <a:r>
                  <a:rPr lang="en-US" sz="1100" b="1" dirty="0">
                    <a:solidFill>
                      <a:schemeClr val="bg1"/>
                    </a:solidFill>
                    <a:effectLst>
                      <a:outerShdw blurRad="38100" dist="38100" dir="2700000" algn="tl">
                        <a:srgbClr val="000000">
                          <a:alpha val="43137"/>
                        </a:srgbClr>
                      </a:outerShdw>
                    </a:effectLst>
                  </a:rPr>
                  <a:t>IP: 	10.0.0.3</a:t>
                </a:r>
              </a:p>
              <a:p>
                <a:pPr>
                  <a:tabLst>
                    <a:tab pos="457200" algn="l"/>
                  </a:tabLst>
                </a:pPr>
                <a:r>
                  <a:rPr lang="en-US" sz="1100" b="1" dirty="0">
                    <a:solidFill>
                      <a:schemeClr val="bg1"/>
                    </a:solidFill>
                    <a:effectLst>
                      <a:outerShdw blurRad="38100" dist="38100" dir="2700000" algn="tl">
                        <a:srgbClr val="000000">
                          <a:alpha val="43137"/>
                        </a:srgbClr>
                      </a:outerShdw>
                    </a:effectLst>
                  </a:rPr>
                  <a:t>Port: 	5000</a:t>
                </a:r>
              </a:p>
            </p:txBody>
          </p:sp>
          <p:sp>
            <p:nvSpPr>
              <p:cNvPr id="31" name="TextBox 30">
                <a:extLst>
                  <a:ext uri="{FF2B5EF4-FFF2-40B4-BE49-F238E27FC236}">
                    <a16:creationId xmlns:a16="http://schemas.microsoft.com/office/drawing/2014/main" id="{C6669D25-15B7-ABDB-9508-2CE64EAE9758}"/>
                  </a:ext>
                </a:extLst>
              </p:cNvPr>
              <p:cNvSpPr txBox="1"/>
              <p:nvPr/>
            </p:nvSpPr>
            <p:spPr>
              <a:xfrm>
                <a:off x="6991788" y="4061850"/>
                <a:ext cx="1409966" cy="169277"/>
              </a:xfrm>
              <a:prstGeom prst="rect">
                <a:avLst/>
              </a:prstGeom>
              <a:noFill/>
            </p:spPr>
            <p:txBody>
              <a:bodyPr wrap="square" lIns="0" tIns="0" rIns="0" bIns="0" rtlCol="0">
                <a:spAutoFit/>
              </a:bodyPr>
              <a:lstStyle>
                <a:defPPr>
                  <a:defRPr lang="en-US"/>
                </a:defPPr>
                <a:lvl1pPr>
                  <a:defRPr sz="1000"/>
                </a:lvl1pPr>
              </a:lstStyle>
              <a:p>
                <a:pPr>
                  <a:tabLst>
                    <a:tab pos="457200" algn="l"/>
                  </a:tabLst>
                </a:pPr>
                <a:r>
                  <a:rPr lang="en-US" sz="1100" b="1" dirty="0">
                    <a:solidFill>
                      <a:schemeClr val="bg1"/>
                    </a:solidFill>
                    <a:effectLst>
                      <a:outerShdw blurRad="38100" dist="38100" dir="2700000" algn="tl">
                        <a:srgbClr val="000000">
                          <a:alpha val="43137"/>
                        </a:srgbClr>
                      </a:outerShdw>
                    </a:effectLst>
                  </a:rPr>
                  <a:t>Mode:	Passive</a:t>
                </a:r>
              </a:p>
            </p:txBody>
          </p:sp>
          <p:cxnSp>
            <p:nvCxnSpPr>
              <p:cNvPr id="32" name="Straight Connector 31">
                <a:extLst>
                  <a:ext uri="{FF2B5EF4-FFF2-40B4-BE49-F238E27FC236}">
                    <a16:creationId xmlns:a16="http://schemas.microsoft.com/office/drawing/2014/main" id="{561EA272-94A7-DBA4-263A-9BAFE744D1CE}"/>
                  </a:ext>
                </a:extLst>
              </p:cNvPr>
              <p:cNvCxnSpPr>
                <a:cxnSpLocks/>
              </p:cNvCxnSpPr>
              <p:nvPr/>
            </p:nvCxnSpPr>
            <p:spPr>
              <a:xfrm>
                <a:off x="1392407" y="6203790"/>
                <a:ext cx="759919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03919BA-DB3F-E550-8C51-96EF0A28D831}"/>
                  </a:ext>
                </a:extLst>
              </p:cNvPr>
              <p:cNvCxnSpPr>
                <a:cxnSpLocks/>
              </p:cNvCxnSpPr>
              <p:nvPr/>
            </p:nvCxnSpPr>
            <p:spPr>
              <a:xfrm flipV="1">
                <a:off x="4267200" y="2961766"/>
                <a:ext cx="0" cy="324974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BD829209-A6A2-DDCF-FA72-9CE95ED15F1E}"/>
                  </a:ext>
                </a:extLst>
              </p:cNvPr>
              <p:cNvCxnSpPr>
                <a:cxnSpLocks/>
              </p:cNvCxnSpPr>
              <p:nvPr/>
            </p:nvCxnSpPr>
            <p:spPr>
              <a:xfrm flipH="1">
                <a:off x="3410536" y="2962275"/>
                <a:ext cx="870952" cy="725"/>
              </a:xfrm>
              <a:prstGeom prst="line">
                <a:avLst/>
              </a:prstGeom>
              <a:ln w="28575"/>
            </p:spPr>
            <p:style>
              <a:lnRef idx="1">
                <a:schemeClr val="dk1"/>
              </a:lnRef>
              <a:fillRef idx="0">
                <a:schemeClr val="dk1"/>
              </a:fillRef>
              <a:effectRef idx="0">
                <a:schemeClr val="dk1"/>
              </a:effectRef>
              <a:fontRef idx="minor">
                <a:schemeClr val="tx1"/>
              </a:fontRef>
            </p:style>
          </p:cxnSp>
          <p:grpSp>
            <p:nvGrpSpPr>
              <p:cNvPr id="35" name="Group 34">
                <a:extLst>
                  <a:ext uri="{FF2B5EF4-FFF2-40B4-BE49-F238E27FC236}">
                    <a16:creationId xmlns:a16="http://schemas.microsoft.com/office/drawing/2014/main" id="{F3FD9A38-79CD-5A14-C9F9-D74F4434B472}"/>
                  </a:ext>
                </a:extLst>
              </p:cNvPr>
              <p:cNvGrpSpPr/>
              <p:nvPr/>
            </p:nvGrpSpPr>
            <p:grpSpPr>
              <a:xfrm>
                <a:off x="5972778" y="2945606"/>
                <a:ext cx="641737" cy="3258186"/>
                <a:chOff x="3119051" y="1912342"/>
                <a:chExt cx="543629" cy="2659659"/>
              </a:xfrm>
            </p:grpSpPr>
            <p:cxnSp>
              <p:nvCxnSpPr>
                <p:cNvPr id="45" name="Straight Connector 44">
                  <a:extLst>
                    <a:ext uri="{FF2B5EF4-FFF2-40B4-BE49-F238E27FC236}">
                      <a16:creationId xmlns:a16="http://schemas.microsoft.com/office/drawing/2014/main" id="{91BBF825-4E0B-1521-7B2C-EB015F3EA2D5}"/>
                    </a:ext>
                  </a:extLst>
                </p:cNvPr>
                <p:cNvCxnSpPr>
                  <a:cxnSpLocks/>
                </p:cNvCxnSpPr>
                <p:nvPr/>
              </p:nvCxnSpPr>
              <p:spPr>
                <a:xfrm flipH="1" flipV="1">
                  <a:off x="3651084" y="1912342"/>
                  <a:ext cx="6516" cy="2659659"/>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E130EF7B-10C4-7CAD-91A4-9B671D64AF52}"/>
                    </a:ext>
                  </a:extLst>
                </p:cNvPr>
                <p:cNvCxnSpPr>
                  <a:cxnSpLocks/>
                </p:cNvCxnSpPr>
                <p:nvPr/>
              </p:nvCxnSpPr>
              <p:spPr>
                <a:xfrm flipH="1">
                  <a:off x="3119051" y="1919233"/>
                  <a:ext cx="54362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6" name="Group 35">
                <a:extLst>
                  <a:ext uri="{FF2B5EF4-FFF2-40B4-BE49-F238E27FC236}">
                    <a16:creationId xmlns:a16="http://schemas.microsoft.com/office/drawing/2014/main" id="{485FFB6C-86ED-2A9A-9918-98CDEE885FE5}"/>
                  </a:ext>
                </a:extLst>
              </p:cNvPr>
              <p:cNvGrpSpPr/>
              <p:nvPr/>
            </p:nvGrpSpPr>
            <p:grpSpPr>
              <a:xfrm>
                <a:off x="8305798" y="2944330"/>
                <a:ext cx="523875" cy="3267179"/>
                <a:chOff x="3121603" y="1905000"/>
                <a:chExt cx="535999" cy="2667000"/>
              </a:xfrm>
            </p:grpSpPr>
            <p:cxnSp>
              <p:nvCxnSpPr>
                <p:cNvPr id="43" name="Straight Connector 42">
                  <a:extLst>
                    <a:ext uri="{FF2B5EF4-FFF2-40B4-BE49-F238E27FC236}">
                      <a16:creationId xmlns:a16="http://schemas.microsoft.com/office/drawing/2014/main" id="{87F27DDD-1CD7-5461-12AE-355CC352E4D6}"/>
                    </a:ext>
                  </a:extLst>
                </p:cNvPr>
                <p:cNvCxnSpPr/>
                <p:nvPr/>
              </p:nvCxnSpPr>
              <p:spPr>
                <a:xfrm flipV="1">
                  <a:off x="3657600" y="1905000"/>
                  <a:ext cx="0" cy="266700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1F45611F-9A13-8FF7-AFDD-69D4C3FC454B}"/>
                    </a:ext>
                  </a:extLst>
                </p:cNvPr>
                <p:cNvCxnSpPr>
                  <a:cxnSpLocks/>
                </p:cNvCxnSpPr>
                <p:nvPr/>
              </p:nvCxnSpPr>
              <p:spPr>
                <a:xfrm flipH="1">
                  <a:off x="3121603" y="1915345"/>
                  <a:ext cx="53599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37" name="Left Brace 36">
                <a:extLst>
                  <a:ext uri="{FF2B5EF4-FFF2-40B4-BE49-F238E27FC236}">
                    <a16:creationId xmlns:a16="http://schemas.microsoft.com/office/drawing/2014/main" id="{6A4153A6-F1B2-09B6-CD5F-31D3AF527D4F}"/>
                  </a:ext>
                </a:extLst>
              </p:cNvPr>
              <p:cNvSpPr/>
              <p:nvPr/>
            </p:nvSpPr>
            <p:spPr>
              <a:xfrm>
                <a:off x="2235529" y="3666623"/>
                <a:ext cx="141911" cy="560087"/>
              </a:xfrm>
              <a:prstGeom prst="leftBrace">
                <a:avLst>
                  <a:gd name="adj1" fmla="val 45097"/>
                  <a:gd name="adj2" fmla="val 48556"/>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sz="2400"/>
              </a:p>
            </p:txBody>
          </p:sp>
          <p:sp>
            <p:nvSpPr>
              <p:cNvPr id="38" name="TextBox 37">
                <a:extLst>
                  <a:ext uri="{FF2B5EF4-FFF2-40B4-BE49-F238E27FC236}">
                    <a16:creationId xmlns:a16="http://schemas.microsoft.com/office/drawing/2014/main" id="{3E4FA94F-7BA4-543C-BF92-015FF64C78D3}"/>
                  </a:ext>
                </a:extLst>
              </p:cNvPr>
              <p:cNvSpPr txBox="1"/>
              <p:nvPr/>
            </p:nvSpPr>
            <p:spPr>
              <a:xfrm>
                <a:off x="1434273" y="3807023"/>
                <a:ext cx="780663" cy="307777"/>
              </a:xfrm>
              <a:prstGeom prst="rect">
                <a:avLst/>
              </a:prstGeom>
              <a:noFill/>
            </p:spPr>
            <p:txBody>
              <a:bodyPr wrap="none" lIns="0" tIns="0" rIns="0" bIns="0" rtlCol="0">
                <a:spAutoFit/>
              </a:bodyPr>
              <a:lstStyle>
                <a:defPPr>
                  <a:defRPr lang="en-US"/>
                </a:defPPr>
                <a:lvl1pPr>
                  <a:defRPr sz="1000"/>
                </a:lvl1pPr>
              </a:lstStyle>
              <a:p>
                <a:pPr algn="ctr"/>
                <a:r>
                  <a:rPr lang="en-US" b="1" dirty="0"/>
                  <a:t>SECS/GEM </a:t>
                </a:r>
              </a:p>
              <a:p>
                <a:pPr algn="ctr"/>
                <a:r>
                  <a:rPr lang="en-US" b="1" dirty="0"/>
                  <a:t>Configurations</a:t>
                </a:r>
              </a:p>
            </p:txBody>
          </p:sp>
          <p:sp>
            <p:nvSpPr>
              <p:cNvPr id="39" name="Left Brace 38">
                <a:extLst>
                  <a:ext uri="{FF2B5EF4-FFF2-40B4-BE49-F238E27FC236}">
                    <a16:creationId xmlns:a16="http://schemas.microsoft.com/office/drawing/2014/main" id="{FA45185F-7D3D-20DA-2E4B-3D741FBA3664}"/>
                  </a:ext>
                </a:extLst>
              </p:cNvPr>
              <p:cNvSpPr/>
              <p:nvPr/>
            </p:nvSpPr>
            <p:spPr>
              <a:xfrm>
                <a:off x="2234858" y="4299003"/>
                <a:ext cx="142580" cy="1017545"/>
              </a:xfrm>
              <a:prstGeom prst="leftBrace">
                <a:avLst>
                  <a:gd name="adj1" fmla="val 45097"/>
                  <a:gd name="adj2" fmla="val 48556"/>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MY" sz="2400"/>
              </a:p>
            </p:txBody>
          </p:sp>
          <p:sp>
            <p:nvSpPr>
              <p:cNvPr id="40" name="TextBox 39">
                <a:extLst>
                  <a:ext uri="{FF2B5EF4-FFF2-40B4-BE49-F238E27FC236}">
                    <a16:creationId xmlns:a16="http://schemas.microsoft.com/office/drawing/2014/main" id="{FFA0ED82-BFE0-0D21-8ED1-191358732844}"/>
                  </a:ext>
                </a:extLst>
              </p:cNvPr>
              <p:cNvSpPr txBox="1"/>
              <p:nvPr/>
            </p:nvSpPr>
            <p:spPr>
              <a:xfrm>
                <a:off x="1392407" y="4650342"/>
                <a:ext cx="780663" cy="307777"/>
              </a:xfrm>
              <a:prstGeom prst="rect">
                <a:avLst/>
              </a:prstGeom>
              <a:noFill/>
            </p:spPr>
            <p:txBody>
              <a:bodyPr wrap="none" lIns="0" tIns="0" rIns="0" bIns="0" rtlCol="0">
                <a:spAutoFit/>
              </a:bodyPr>
              <a:lstStyle>
                <a:defPPr>
                  <a:defRPr lang="en-US"/>
                </a:defPPr>
                <a:lvl1pPr>
                  <a:defRPr sz="1000"/>
                </a:lvl1pPr>
              </a:lstStyle>
              <a:p>
                <a:pPr algn="ctr"/>
                <a:r>
                  <a:rPr lang="en-US" b="1" dirty="0"/>
                  <a:t>SGSM</a:t>
                </a:r>
              </a:p>
              <a:p>
                <a:pPr algn="ctr"/>
                <a:r>
                  <a:rPr lang="en-US" b="1" dirty="0"/>
                  <a:t>Configurations</a:t>
                </a:r>
              </a:p>
            </p:txBody>
          </p:sp>
          <p:sp>
            <p:nvSpPr>
              <p:cNvPr id="41" name="Oval 40">
                <a:extLst>
                  <a:ext uri="{FF2B5EF4-FFF2-40B4-BE49-F238E27FC236}">
                    <a16:creationId xmlns:a16="http://schemas.microsoft.com/office/drawing/2014/main" id="{4C15E461-ECD0-6FA7-D76C-CDB9AFBA41BF}"/>
                  </a:ext>
                </a:extLst>
              </p:cNvPr>
              <p:cNvSpPr/>
              <p:nvPr/>
            </p:nvSpPr>
            <p:spPr>
              <a:xfrm>
                <a:off x="5086834" y="2560025"/>
                <a:ext cx="323366" cy="335575"/>
              </a:xfrm>
              <a:prstGeom prst="ellipse">
                <a:avLst/>
              </a:prstGeom>
              <a:solidFill>
                <a:schemeClr val="bg2">
                  <a:lumMod val="10000"/>
                </a:schemeClr>
              </a:solidFill>
            </p:spPr>
            <p:style>
              <a:lnRef idx="0">
                <a:schemeClr val="accent5"/>
              </a:lnRef>
              <a:fillRef idx="3">
                <a:schemeClr val="accent5"/>
              </a:fillRef>
              <a:effectRef idx="3">
                <a:schemeClr val="accent5"/>
              </a:effectRef>
              <a:fontRef idx="minor">
                <a:schemeClr val="lt1"/>
              </a:fontRef>
            </p:style>
            <p:txBody>
              <a:bodyPr lIns="0" tIns="0" rIns="0" bIns="0" rtlCol="0" anchor="ctr"/>
              <a:lstStyle/>
              <a:p>
                <a:pPr algn="ctr"/>
                <a:r>
                  <a:rPr lang="en-US" sz="1000" b="1" dirty="0">
                    <a:effectLst>
                      <a:outerShdw blurRad="38100" dist="38100" dir="2700000" algn="tl">
                        <a:srgbClr val="000000">
                          <a:alpha val="43137"/>
                        </a:srgbClr>
                      </a:outerShdw>
                    </a:effectLst>
                  </a:rPr>
                  <a:t>M1</a:t>
                </a:r>
                <a:endParaRPr lang="en-MY" sz="1000" b="1" dirty="0">
                  <a:effectLst>
                    <a:outerShdw blurRad="38100" dist="38100" dir="2700000" algn="tl">
                      <a:srgbClr val="000000">
                        <a:alpha val="43137"/>
                      </a:srgbClr>
                    </a:outerShdw>
                  </a:effectLst>
                </a:endParaRPr>
              </a:p>
            </p:txBody>
          </p:sp>
          <p:sp>
            <p:nvSpPr>
              <p:cNvPr id="42" name="Oval 41">
                <a:extLst>
                  <a:ext uri="{FF2B5EF4-FFF2-40B4-BE49-F238E27FC236}">
                    <a16:creationId xmlns:a16="http://schemas.microsoft.com/office/drawing/2014/main" id="{D226A6F3-2F73-5919-B106-2CCA6B243FAE}"/>
                  </a:ext>
                </a:extLst>
              </p:cNvPr>
              <p:cNvSpPr/>
              <p:nvPr/>
            </p:nvSpPr>
            <p:spPr>
              <a:xfrm>
                <a:off x="7599357" y="2517998"/>
                <a:ext cx="323366" cy="335575"/>
              </a:xfrm>
              <a:prstGeom prst="ellipse">
                <a:avLst/>
              </a:prstGeom>
              <a:solidFill>
                <a:schemeClr val="bg2">
                  <a:lumMod val="10000"/>
                </a:schemeClr>
              </a:solidFill>
            </p:spPr>
            <p:style>
              <a:lnRef idx="0">
                <a:schemeClr val="accent5"/>
              </a:lnRef>
              <a:fillRef idx="3">
                <a:schemeClr val="accent5"/>
              </a:fillRef>
              <a:effectRef idx="3">
                <a:schemeClr val="accent5"/>
              </a:effectRef>
              <a:fontRef idx="minor">
                <a:schemeClr val="lt1"/>
              </a:fontRef>
            </p:style>
            <p:txBody>
              <a:bodyPr lIns="0" tIns="0" rIns="0" bIns="0" rtlCol="0" anchor="ctr"/>
              <a:lstStyle/>
              <a:p>
                <a:pPr algn="ctr"/>
                <a:r>
                  <a:rPr lang="en-US" sz="1000" b="1" dirty="0">
                    <a:effectLst>
                      <a:outerShdw blurRad="38100" dist="38100" dir="2700000" algn="tl">
                        <a:srgbClr val="000000">
                          <a:alpha val="43137"/>
                        </a:srgbClr>
                      </a:outerShdw>
                    </a:effectLst>
                  </a:rPr>
                  <a:t>M2</a:t>
                </a:r>
                <a:endParaRPr lang="en-MY" sz="1000" b="1" dirty="0">
                  <a:effectLst>
                    <a:outerShdw blurRad="38100" dist="38100" dir="2700000" algn="tl">
                      <a:srgbClr val="000000">
                        <a:alpha val="43137"/>
                      </a:srgbClr>
                    </a:outerShdw>
                  </a:effectLst>
                </a:endParaRPr>
              </a:p>
            </p:txBody>
          </p:sp>
        </p:grpSp>
        <p:sp>
          <p:nvSpPr>
            <p:cNvPr id="10" name="TextBox 9">
              <a:extLst>
                <a:ext uri="{FF2B5EF4-FFF2-40B4-BE49-F238E27FC236}">
                  <a16:creationId xmlns:a16="http://schemas.microsoft.com/office/drawing/2014/main" id="{3D6AE177-99CA-FC51-63F2-192A803CF4DF}"/>
                </a:ext>
              </a:extLst>
            </p:cNvPr>
            <p:cNvSpPr txBox="1"/>
            <p:nvPr/>
          </p:nvSpPr>
          <p:spPr>
            <a:xfrm>
              <a:off x="1857375" y="2638017"/>
              <a:ext cx="800100" cy="307777"/>
            </a:xfrm>
            <a:prstGeom prst="rect">
              <a:avLst/>
            </a:prstGeom>
            <a:noFill/>
          </p:spPr>
          <p:txBody>
            <a:bodyPr wrap="square" rtlCol="0">
              <a:spAutoFit/>
            </a:bodyPr>
            <a:lstStyle/>
            <a:p>
              <a:pPr algn="ctr"/>
              <a:r>
                <a:rPr lang="en-US" sz="1400" b="1" dirty="0">
                  <a:solidFill>
                    <a:schemeClr val="accent1">
                      <a:lumMod val="50000"/>
                    </a:schemeClr>
                  </a:solidFill>
                </a:rPr>
                <a:t>HOST</a:t>
              </a:r>
            </a:p>
          </p:txBody>
        </p:sp>
      </p:grpSp>
    </p:spTree>
    <p:extLst>
      <p:ext uri="{BB962C8B-B14F-4D97-AF65-F5344CB8AC3E}">
        <p14:creationId xmlns:p14="http://schemas.microsoft.com/office/powerpoint/2010/main" val="13775012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26" name="Picture 2" descr="C:\Users\fauzisukiman\Desktop\template pp USM\page 2 n seterusnya\Header.jpg"/>
          <p:cNvPicPr>
            <a:picLocks noChangeAspect="1" noChangeArrowheads="1"/>
          </p:cNvPicPr>
          <p:nvPr/>
        </p:nvPicPr>
        <p:blipFill rotWithShape="1">
          <a:blip r:embed="rId3" cstate="print"/>
          <a:srcRect l="14375"/>
          <a:stretch/>
        </p:blipFill>
        <p:spPr bwMode="auto">
          <a:xfrm>
            <a:off x="1268881" y="0"/>
            <a:ext cx="10923119" cy="822960"/>
          </a:xfrm>
          <a:prstGeom prst="rect">
            <a:avLst/>
          </a:prstGeom>
          <a:noFill/>
        </p:spPr>
      </p:pic>
      <p:sp>
        <p:nvSpPr>
          <p:cNvPr id="6" name="Rectangle 5"/>
          <p:cNvSpPr/>
          <p:nvPr/>
        </p:nvSpPr>
        <p:spPr>
          <a:xfrm>
            <a:off x="1447800" y="76200"/>
            <a:ext cx="10363200" cy="707886"/>
          </a:xfrm>
          <a:prstGeom prst="rect">
            <a:avLst/>
          </a:prstGeom>
        </p:spPr>
        <p:txBody>
          <a:bodyPr wrap="square">
            <a:spAutoFit/>
          </a:bodyPr>
          <a:lstStyle/>
          <a:p>
            <a:r>
              <a:rPr lang="en-US" sz="4000" b="1" i="1" dirty="0">
                <a:solidFill>
                  <a:schemeClr val="bg1"/>
                </a:solidFill>
              </a:rPr>
              <a:t>Introduction														</a:t>
            </a:r>
            <a:r>
              <a:rPr lang="en-US" sz="2000" b="1" i="1" dirty="0">
                <a:solidFill>
                  <a:schemeClr val="bg1"/>
                </a:solidFill>
              </a:rPr>
              <a:t>	(cont.)</a:t>
            </a:r>
            <a:endParaRPr lang="en-US" sz="4000" b="1" i="1" dirty="0">
              <a:solidFill>
                <a:schemeClr val="bg1"/>
              </a:solidFill>
            </a:endParaRPr>
          </a:p>
        </p:txBody>
      </p:sp>
      <p:sp>
        <p:nvSpPr>
          <p:cNvPr id="8" name="Content Placeholder 7"/>
          <p:cNvSpPr>
            <a:spLocks noGrp="1"/>
          </p:cNvSpPr>
          <p:nvPr>
            <p:ph idx="1"/>
          </p:nvPr>
        </p:nvSpPr>
        <p:spPr>
          <a:xfrm>
            <a:off x="542544" y="1371600"/>
            <a:ext cx="8144256" cy="4495800"/>
          </a:xfrm>
        </p:spPr>
        <p:txBody>
          <a:bodyPr>
            <a:noAutofit/>
          </a:bodyPr>
          <a:lstStyle/>
          <a:p>
            <a:pPr marL="457200" indent="-457200" algn="just">
              <a:lnSpc>
                <a:spcPct val="100000"/>
              </a:lnSpc>
              <a:buFont typeface="Wingdings" panose="05000000000000000000" pitchFamily="2" charset="2"/>
              <a:buChar char="§"/>
              <a:tabLst>
                <a:tab pos="1604963" algn="l"/>
              </a:tabLst>
            </a:pPr>
            <a:r>
              <a:rPr lang="en-US" sz="1800" b="1" dirty="0">
                <a:solidFill>
                  <a:srgbClr val="C00000"/>
                </a:solidFill>
              </a:rPr>
              <a:t>Equipment:</a:t>
            </a:r>
            <a:r>
              <a:rPr lang="en-US" sz="1800" dirty="0">
                <a:solidFill>
                  <a:schemeClr val="tx2">
                    <a:lumMod val="50000"/>
                  </a:schemeClr>
                </a:solidFill>
              </a:rPr>
              <a:t> 	An intelligent factory machine that is used to manufacture products </a:t>
            </a:r>
          </a:p>
          <a:p>
            <a:pPr marL="457200" indent="-457200" algn="just">
              <a:lnSpc>
                <a:spcPct val="100000"/>
              </a:lnSpc>
              <a:buFont typeface="Wingdings" panose="05000000000000000000" pitchFamily="2" charset="2"/>
              <a:buChar char="§"/>
              <a:tabLst>
                <a:tab pos="1604963" algn="l"/>
              </a:tabLst>
            </a:pPr>
            <a:r>
              <a:rPr lang="en-US" sz="1800" b="1" dirty="0">
                <a:solidFill>
                  <a:srgbClr val="C00000"/>
                </a:solidFill>
              </a:rPr>
              <a:t>Passive Mode: </a:t>
            </a:r>
            <a:r>
              <a:rPr lang="en-US" sz="1800" dirty="0">
                <a:solidFill>
                  <a:schemeClr val="tx2">
                    <a:lumMod val="50000"/>
                  </a:schemeClr>
                </a:solidFill>
              </a:rPr>
              <a:t>Entity that opens a TCP port and listens for incoming connections</a:t>
            </a:r>
          </a:p>
          <a:p>
            <a:pPr marL="457200" indent="-457200" algn="just">
              <a:lnSpc>
                <a:spcPct val="100000"/>
              </a:lnSpc>
              <a:buFont typeface="Wingdings" panose="05000000000000000000" pitchFamily="2" charset="2"/>
              <a:buChar char="§"/>
              <a:tabLst>
                <a:tab pos="1604963" algn="l"/>
              </a:tabLst>
            </a:pPr>
            <a:r>
              <a:rPr lang="en-US" sz="1800" b="1" dirty="0">
                <a:solidFill>
                  <a:srgbClr val="C00000"/>
                </a:solidFill>
              </a:rPr>
              <a:t>HOST: </a:t>
            </a:r>
            <a:r>
              <a:rPr lang="en-US" sz="1800" dirty="0">
                <a:solidFill>
                  <a:schemeClr val="tx2">
                    <a:lumMod val="50000"/>
                  </a:schemeClr>
                </a:solidFill>
              </a:rPr>
              <a:t>An intelligent system that communicates with the industry equipment</a:t>
            </a:r>
          </a:p>
          <a:p>
            <a:pPr marL="457200" indent="-457200" algn="just">
              <a:lnSpc>
                <a:spcPct val="100000"/>
              </a:lnSpc>
              <a:buFont typeface="Wingdings" panose="05000000000000000000" pitchFamily="2" charset="2"/>
              <a:buChar char="§"/>
              <a:tabLst>
                <a:tab pos="1604963" algn="l"/>
              </a:tabLst>
            </a:pPr>
            <a:r>
              <a:rPr lang="en-US" sz="1800" b="1" dirty="0">
                <a:solidFill>
                  <a:srgbClr val="C00000"/>
                </a:solidFill>
              </a:rPr>
              <a:t>Active Mode:	</a:t>
            </a:r>
            <a:r>
              <a:rPr lang="en-US" sz="1800" dirty="0">
                <a:solidFill>
                  <a:schemeClr val="tx2">
                    <a:lumMod val="50000"/>
                  </a:schemeClr>
                </a:solidFill>
              </a:rPr>
              <a:t>Entity that initiates the connection request</a:t>
            </a:r>
          </a:p>
          <a:p>
            <a:pPr marL="457200" indent="-457200" algn="just">
              <a:lnSpc>
                <a:spcPct val="100000"/>
              </a:lnSpc>
              <a:buFont typeface="Wingdings" panose="05000000000000000000" pitchFamily="2" charset="2"/>
              <a:buChar char="§"/>
              <a:tabLst>
                <a:tab pos="1604963" algn="l"/>
              </a:tabLst>
            </a:pPr>
            <a:r>
              <a:rPr lang="en-MY" sz="1800" b="1" dirty="0">
                <a:solidFill>
                  <a:srgbClr val="C00000"/>
                </a:solidFill>
              </a:rPr>
              <a:t>GEM: </a:t>
            </a:r>
            <a:r>
              <a:rPr lang="en-MY" sz="1800" dirty="0">
                <a:solidFill>
                  <a:schemeClr val="tx2">
                    <a:lumMod val="50000"/>
                  </a:schemeClr>
                </a:solidFill>
              </a:rPr>
              <a:t>It </a:t>
            </a:r>
            <a:r>
              <a:rPr lang="en-US" sz="1800" dirty="0">
                <a:solidFill>
                  <a:schemeClr val="tx2">
                    <a:lumMod val="50000"/>
                  </a:schemeClr>
                </a:solidFill>
              </a:rPr>
              <a:t>defines a software interface that runs on manufacturing equipment</a:t>
            </a:r>
          </a:p>
          <a:p>
            <a:pPr marL="457200" indent="-457200" algn="just">
              <a:lnSpc>
                <a:spcPct val="100000"/>
              </a:lnSpc>
              <a:buFont typeface="Wingdings" panose="05000000000000000000" pitchFamily="2" charset="2"/>
              <a:buChar char="§"/>
              <a:tabLst>
                <a:tab pos="1604963" algn="l"/>
              </a:tabLst>
            </a:pPr>
            <a:r>
              <a:rPr lang="en-US" sz="1800" b="1" dirty="0">
                <a:solidFill>
                  <a:srgbClr val="C00000"/>
                </a:solidFill>
              </a:rPr>
              <a:t>SECS-II: </a:t>
            </a:r>
            <a:r>
              <a:rPr lang="en-US" sz="1800" dirty="0">
                <a:solidFill>
                  <a:schemeClr val="tx2">
                    <a:lumMod val="50000"/>
                  </a:schemeClr>
                </a:solidFill>
              </a:rPr>
              <a:t>defines the format and content of messages that can be sent over HSMS</a:t>
            </a:r>
          </a:p>
          <a:p>
            <a:pPr marL="457200" indent="-457200" algn="just">
              <a:lnSpc>
                <a:spcPct val="100000"/>
              </a:lnSpc>
              <a:buFont typeface="Wingdings" panose="05000000000000000000" pitchFamily="2" charset="2"/>
              <a:buChar char="§"/>
              <a:tabLst>
                <a:tab pos="1604963" algn="l"/>
              </a:tabLst>
            </a:pPr>
            <a:r>
              <a:rPr lang="en-US" sz="1800" b="1" dirty="0">
                <a:solidFill>
                  <a:srgbClr val="C00000"/>
                </a:solidFill>
              </a:rPr>
              <a:t>HSMS:</a:t>
            </a:r>
            <a:r>
              <a:rPr lang="en-US" sz="1800" dirty="0">
                <a:solidFill>
                  <a:schemeClr val="tx2">
                    <a:lumMod val="50000"/>
                  </a:schemeClr>
                </a:solidFill>
              </a:rPr>
              <a:t> a transport</a:t>
            </a:r>
            <a:r>
              <a:rPr lang="en-MY" sz="1800" dirty="0"/>
              <a:t> protocol for SECS/GEM communications (replacing SECS-I)</a:t>
            </a:r>
          </a:p>
          <a:p>
            <a:pPr marL="457200" indent="-457200" algn="just">
              <a:lnSpc>
                <a:spcPct val="100000"/>
              </a:lnSpc>
              <a:buFont typeface="Wingdings" panose="05000000000000000000" pitchFamily="2" charset="2"/>
              <a:buChar char="§"/>
            </a:pPr>
            <a:endParaRPr lang="en-US" sz="2000" dirty="0">
              <a:solidFill>
                <a:schemeClr val="tx2">
                  <a:lumMod val="50000"/>
                </a:schemeClr>
              </a:solidFill>
            </a:endParaRPr>
          </a:p>
        </p:txBody>
      </p:sp>
      <p:sp>
        <p:nvSpPr>
          <p:cNvPr id="2" name="Slide Number Placeholder 1"/>
          <p:cNvSpPr>
            <a:spLocks noGrp="1"/>
          </p:cNvSpPr>
          <p:nvPr>
            <p:ph type="sldNum" sz="quarter" idx="12"/>
          </p:nvPr>
        </p:nvSpPr>
        <p:spPr>
          <a:xfrm>
            <a:off x="9906000" y="6472826"/>
            <a:ext cx="2133600" cy="365125"/>
          </a:xfrm>
        </p:spPr>
        <p:txBody>
          <a:bodyPr/>
          <a:lstStyle/>
          <a:p>
            <a:fld id="{D4B39A3D-6E5B-421C-AA99-AA75690A48C6}" type="slidenum">
              <a:rPr lang="en-US" smtClean="0"/>
              <a:pPr/>
              <a:t>28</a:t>
            </a:fld>
            <a:endParaRPr lang="en-US" dirty="0"/>
          </a:p>
        </p:txBody>
      </p:sp>
      <p:pic>
        <p:nvPicPr>
          <p:cNvPr id="9" name="Picture 3"/>
          <p:cNvPicPr>
            <a:picLocks noChangeAspect="1" noChangeArrowheads="1"/>
          </p:cNvPicPr>
          <p:nvPr/>
        </p:nvPicPr>
        <p:blipFill>
          <a:blip r:embed="rId4" cstate="print">
            <a:clrChange>
              <a:clrFrom>
                <a:srgbClr val="FDFDFD"/>
              </a:clrFrom>
              <a:clrTo>
                <a:srgbClr val="FDFDFD">
                  <a:alpha val="0"/>
                </a:srgbClr>
              </a:clrTo>
            </a:clrChange>
          </a:blip>
          <a:srcRect/>
          <a:stretch>
            <a:fillRect/>
          </a:stretch>
        </p:blipFill>
        <p:spPr bwMode="auto">
          <a:xfrm>
            <a:off x="0" y="-1224"/>
            <a:ext cx="1268881" cy="824184"/>
          </a:xfrm>
          <a:prstGeom prst="rect">
            <a:avLst/>
          </a:prstGeom>
          <a:noFill/>
          <a:ln w="9525">
            <a:noFill/>
            <a:miter lim="800000"/>
            <a:headEnd/>
            <a:tailEnd/>
          </a:ln>
          <a:effectLst/>
        </p:spPr>
      </p:pic>
      <p:sp>
        <p:nvSpPr>
          <p:cNvPr id="7" name="TextBox 6">
            <a:extLst>
              <a:ext uri="{FF2B5EF4-FFF2-40B4-BE49-F238E27FC236}">
                <a16:creationId xmlns:a16="http://schemas.microsoft.com/office/drawing/2014/main" id="{46288CB2-5913-4DDC-44A6-72B17C239685}"/>
              </a:ext>
            </a:extLst>
          </p:cNvPr>
          <p:cNvSpPr txBox="1"/>
          <p:nvPr/>
        </p:nvSpPr>
        <p:spPr>
          <a:xfrm>
            <a:off x="457200" y="1024096"/>
            <a:ext cx="6097508" cy="400110"/>
          </a:xfrm>
          <a:prstGeom prst="rect">
            <a:avLst/>
          </a:prstGeom>
          <a:noFill/>
        </p:spPr>
        <p:txBody>
          <a:bodyPr wrap="square">
            <a:spAutoFit/>
          </a:bodyPr>
          <a:lstStyle/>
          <a:p>
            <a:pPr marL="0" indent="0" algn="just">
              <a:lnSpc>
                <a:spcPct val="100000"/>
              </a:lnSpc>
              <a:buNone/>
            </a:pPr>
            <a:r>
              <a:rPr lang="en-US" sz="2000" b="1" dirty="0">
                <a:solidFill>
                  <a:schemeClr val="accent1">
                    <a:lumMod val="75000"/>
                  </a:schemeClr>
                </a:solidFill>
              </a:rPr>
              <a:t>SECS/GEM Fundamentals</a:t>
            </a:r>
          </a:p>
        </p:txBody>
      </p:sp>
      <p:pic>
        <p:nvPicPr>
          <p:cNvPr id="11" name="Picture 2" descr="DEK Automatic Solder Paste Printer, HORIZON">
            <a:extLst>
              <a:ext uri="{FF2B5EF4-FFF2-40B4-BE49-F238E27FC236}">
                <a16:creationId xmlns:a16="http://schemas.microsoft.com/office/drawing/2014/main" id="{43C90B4A-4065-4C8F-83AF-7F9C1ECA9C1B}"/>
              </a:ext>
            </a:extLst>
          </p:cNvPr>
          <p:cNvPicPr>
            <a:picLocks noChangeAspect="1" noChangeArrowheads="1"/>
          </p:cNvPicPr>
          <p:nvPr/>
        </p:nvPicPr>
        <p:blipFill rotWithShape="1">
          <a:blip r:embed="rId5" cstate="print">
            <a:extLst>
              <a:ext uri="{BEBA8EAE-BF5A-486C-A8C5-ECC9F3942E4B}">
                <a14:imgProps xmlns:a14="http://schemas.microsoft.com/office/drawing/2010/main">
                  <a14:imgLayer r:embed="rId6">
                    <a14:imgEffect>
                      <a14:backgroundRemoval t="12239" b="89552" l="14502" r="86707">
                        <a14:foregroundMark x1="34441" y1="40597" x2="23867" y2="37313"/>
                        <a14:foregroundMark x1="17673" y1="43087" x2="20242" y2="70448"/>
                        <a14:foregroundMark x1="79456" y1="56716" x2="84290" y2="54925"/>
                        <a14:foregroundMark x1="84290" y1="55522" x2="87311" y2="55522"/>
                        <a14:foregroundMark x1="77341" y1="48955" x2="81269" y2="45970"/>
                        <a14:foregroundMark x1="46828" y1="12239" x2="47130" y2="18806"/>
                        <a14:foregroundMark x1="22961" y1="34925" x2="22961" y2="34925"/>
                        <a14:foregroundMark x1="22356" y1="34328" x2="19897" y2="35862"/>
                        <a14:foregroundMark x1="22356" y1="34328" x2="20489" y2="36050"/>
                        <a14:foregroundMark x1="21752" y1="32836" x2="20527" y2="34576"/>
                        <a14:foregroundMark x1="18127" y1="43232" x2="18127" y2="43881"/>
                        <a14:foregroundMark x1="16092" y1="42585" x2="16918" y2="46567"/>
                        <a14:foregroundMark x1="15966" y1="42545" x2="16918" y2="51642"/>
                        <a14:foregroundMark x1="48563" y1="27463" x2="49849" y2="27164"/>
                        <a14:foregroundMark x1="47281" y1="27761" x2="48563" y2="27463"/>
                        <a14:foregroundMark x1="46877" y1="27855" x2="47281" y2="27761"/>
                        <a14:foregroundMark x1="20843" y1="33907" x2="26873" y2="32505"/>
                        <a14:foregroundMark x1="36254" y1="83582" x2="36556" y2="79701"/>
                        <a14:foregroundMark x1="37462" y1="89552" x2="36858" y2="87761"/>
                        <a14:backgroundMark x1="49245" y1="27164" x2="49245" y2="27164"/>
                        <a14:backgroundMark x1="50151" y1="27463" x2="50453" y2="26866"/>
                        <a14:backgroundMark x1="50453" y1="26866" x2="50453" y2="26866"/>
                        <a14:backgroundMark x1="48943" y1="27463" x2="48943" y2="27463"/>
                        <a14:backgroundMark x1="48640" y1="27463" x2="48640" y2="27463"/>
                        <a14:backgroundMark x1="48338" y1="27761" x2="48338" y2="27761"/>
                        <a14:backgroundMark x1="47734" y1="27761" x2="47734" y2="27761"/>
                        <a14:backgroundMark x1="43807" y1="28060" x2="43807" y2="28060"/>
                        <a14:backgroundMark x1="16012" y1="36716" x2="16012" y2="36716"/>
                        <a14:backgroundMark x1="16012" y1="34627" x2="13595" y2="41791"/>
                        <a14:backgroundMark x1="16012" y1="35522" x2="19335" y2="31642"/>
                        <a14:backgroundMark x1="17825" y1="34030" x2="22054" y2="31343"/>
                        <a14:backgroundMark x1="27190" y1="31940" x2="46526" y2="27463"/>
                        <a14:backgroundMark x1="46526" y1="27463" x2="47130" y2="27463"/>
                      </a14:backgroundRemoval>
                    </a14:imgEffect>
                  </a14:imgLayer>
                </a14:imgProps>
              </a:ext>
              <a:ext uri="{28A0092B-C50C-407E-A947-70E740481C1C}">
                <a14:useLocalDpi xmlns:a14="http://schemas.microsoft.com/office/drawing/2010/main" val="0"/>
              </a:ext>
            </a:extLst>
          </a:blip>
          <a:srcRect l="13053" t="9160" r="10786" b="9856"/>
          <a:stretch/>
        </p:blipFill>
        <p:spPr bwMode="auto">
          <a:xfrm>
            <a:off x="9874250" y="5204709"/>
            <a:ext cx="1385580" cy="1493760"/>
          </a:xfrm>
          <a:prstGeom prst="rect">
            <a:avLst/>
          </a:prstGeom>
          <a:noFill/>
          <a:extLst>
            <a:ext uri="{909E8E84-426E-40DD-AFC4-6F175D3DCCD1}">
              <a14:hiddenFill xmlns:a14="http://schemas.microsoft.com/office/drawing/2010/main">
                <a:solidFill>
                  <a:srgbClr val="FFFFFF"/>
                </a:solidFill>
              </a14:hiddenFill>
            </a:ext>
          </a:extLst>
        </p:spPr>
      </p:pic>
      <p:grpSp>
        <p:nvGrpSpPr>
          <p:cNvPr id="16" name="Group 15">
            <a:extLst>
              <a:ext uri="{FF2B5EF4-FFF2-40B4-BE49-F238E27FC236}">
                <a16:creationId xmlns:a16="http://schemas.microsoft.com/office/drawing/2014/main" id="{861E8D8E-317D-14B1-142D-B38D102C5BC4}"/>
              </a:ext>
            </a:extLst>
          </p:cNvPr>
          <p:cNvGrpSpPr/>
          <p:nvPr/>
        </p:nvGrpSpPr>
        <p:grpSpPr>
          <a:xfrm>
            <a:off x="9753600" y="1364258"/>
            <a:ext cx="1143000" cy="541865"/>
            <a:chOff x="9753600" y="1364258"/>
            <a:chExt cx="1290834" cy="687983"/>
          </a:xfrm>
        </p:grpSpPr>
        <p:grpSp>
          <p:nvGrpSpPr>
            <p:cNvPr id="14" name="Group 13">
              <a:extLst>
                <a:ext uri="{FF2B5EF4-FFF2-40B4-BE49-F238E27FC236}">
                  <a16:creationId xmlns:a16="http://schemas.microsoft.com/office/drawing/2014/main" id="{4A65A4B5-4D5A-2FD5-6EA9-2DD22BD89D25}"/>
                </a:ext>
              </a:extLst>
            </p:cNvPr>
            <p:cNvGrpSpPr/>
            <p:nvPr/>
          </p:nvGrpSpPr>
          <p:grpSpPr>
            <a:xfrm>
              <a:off x="9753600" y="1364258"/>
              <a:ext cx="1290834" cy="687983"/>
              <a:chOff x="9503643" y="1042491"/>
              <a:chExt cx="1560404" cy="986264"/>
            </a:xfrm>
          </p:grpSpPr>
          <p:sp>
            <p:nvSpPr>
              <p:cNvPr id="12" name="Freeform: Shape 11">
                <a:extLst>
                  <a:ext uri="{FF2B5EF4-FFF2-40B4-BE49-F238E27FC236}">
                    <a16:creationId xmlns:a16="http://schemas.microsoft.com/office/drawing/2014/main" id="{7A79EA21-9C35-E0C6-6223-4E1103BF1D8C}"/>
                  </a:ext>
                </a:extLst>
              </p:cNvPr>
              <p:cNvSpPr/>
              <p:nvPr/>
            </p:nvSpPr>
            <p:spPr>
              <a:xfrm>
                <a:off x="9503643" y="1042491"/>
                <a:ext cx="1011957" cy="980152"/>
              </a:xfrm>
              <a:custGeom>
                <a:avLst/>
                <a:gdLst>
                  <a:gd name="connsiteX0" fmla="*/ 771524 w 857249"/>
                  <a:gd name="connsiteY0" fmla="*/ 542925 h 800099"/>
                  <a:gd name="connsiteX1" fmla="*/ 85725 w 857249"/>
                  <a:gd name="connsiteY1" fmla="*/ 542925 h 800099"/>
                  <a:gd name="connsiteX2" fmla="*/ 85725 w 857249"/>
                  <a:gd name="connsiteY2" fmla="*/ 85725 h 800099"/>
                  <a:gd name="connsiteX3" fmla="*/ 771524 w 857249"/>
                  <a:gd name="connsiteY3" fmla="*/ 85725 h 800099"/>
                  <a:gd name="connsiteX4" fmla="*/ 771524 w 857249"/>
                  <a:gd name="connsiteY4" fmla="*/ 542925 h 800099"/>
                  <a:gd name="connsiteX5" fmla="*/ 800099 w 857249"/>
                  <a:gd name="connsiteY5" fmla="*/ 0 h 800099"/>
                  <a:gd name="connsiteX6" fmla="*/ 57150 w 857249"/>
                  <a:gd name="connsiteY6" fmla="*/ 0 h 800099"/>
                  <a:gd name="connsiteX7" fmla="*/ 0 w 857249"/>
                  <a:gd name="connsiteY7" fmla="*/ 57150 h 800099"/>
                  <a:gd name="connsiteX8" fmla="*/ 0 w 857249"/>
                  <a:gd name="connsiteY8" fmla="*/ 571500 h 800099"/>
                  <a:gd name="connsiteX9" fmla="*/ 57150 w 857249"/>
                  <a:gd name="connsiteY9" fmla="*/ 628650 h 800099"/>
                  <a:gd name="connsiteX10" fmla="*/ 342900 w 857249"/>
                  <a:gd name="connsiteY10" fmla="*/ 628650 h 800099"/>
                  <a:gd name="connsiteX11" fmla="*/ 342900 w 857249"/>
                  <a:gd name="connsiteY11" fmla="*/ 714375 h 800099"/>
                  <a:gd name="connsiteX12" fmla="*/ 214312 w 857249"/>
                  <a:gd name="connsiteY12" fmla="*/ 714375 h 800099"/>
                  <a:gd name="connsiteX13" fmla="*/ 214312 w 857249"/>
                  <a:gd name="connsiteY13" fmla="*/ 800099 h 800099"/>
                  <a:gd name="connsiteX14" fmla="*/ 642937 w 857249"/>
                  <a:gd name="connsiteY14" fmla="*/ 800099 h 800099"/>
                  <a:gd name="connsiteX15" fmla="*/ 642937 w 857249"/>
                  <a:gd name="connsiteY15" fmla="*/ 714375 h 800099"/>
                  <a:gd name="connsiteX16" fmla="*/ 514350 w 857249"/>
                  <a:gd name="connsiteY16" fmla="*/ 714375 h 800099"/>
                  <a:gd name="connsiteX17" fmla="*/ 514350 w 857249"/>
                  <a:gd name="connsiteY17" fmla="*/ 628650 h 800099"/>
                  <a:gd name="connsiteX18" fmla="*/ 800099 w 857249"/>
                  <a:gd name="connsiteY18" fmla="*/ 628650 h 800099"/>
                  <a:gd name="connsiteX19" fmla="*/ 857249 w 857249"/>
                  <a:gd name="connsiteY19" fmla="*/ 571500 h 800099"/>
                  <a:gd name="connsiteX20" fmla="*/ 857249 w 857249"/>
                  <a:gd name="connsiteY20" fmla="*/ 57150 h 800099"/>
                  <a:gd name="connsiteX21" fmla="*/ 800099 w 857249"/>
                  <a:gd name="connsiteY21" fmla="*/ 0 h 800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57249" h="800099">
                    <a:moveTo>
                      <a:pt x="771524" y="542925"/>
                    </a:moveTo>
                    <a:lnTo>
                      <a:pt x="85725" y="542925"/>
                    </a:lnTo>
                    <a:lnTo>
                      <a:pt x="85725" y="85725"/>
                    </a:lnTo>
                    <a:lnTo>
                      <a:pt x="771524" y="85725"/>
                    </a:lnTo>
                    <a:lnTo>
                      <a:pt x="771524" y="542925"/>
                    </a:lnTo>
                    <a:close/>
                    <a:moveTo>
                      <a:pt x="800099" y="0"/>
                    </a:moveTo>
                    <a:lnTo>
                      <a:pt x="57150" y="0"/>
                    </a:lnTo>
                    <a:cubicBezTo>
                      <a:pt x="25717" y="0"/>
                      <a:pt x="0" y="25717"/>
                      <a:pt x="0" y="57150"/>
                    </a:cubicBezTo>
                    <a:lnTo>
                      <a:pt x="0" y="571500"/>
                    </a:lnTo>
                    <a:cubicBezTo>
                      <a:pt x="0" y="602932"/>
                      <a:pt x="25717" y="628650"/>
                      <a:pt x="57150" y="628650"/>
                    </a:cubicBezTo>
                    <a:lnTo>
                      <a:pt x="342900" y="628650"/>
                    </a:lnTo>
                    <a:lnTo>
                      <a:pt x="342900" y="714375"/>
                    </a:lnTo>
                    <a:lnTo>
                      <a:pt x="214312" y="714375"/>
                    </a:lnTo>
                    <a:lnTo>
                      <a:pt x="214312" y="800099"/>
                    </a:lnTo>
                    <a:lnTo>
                      <a:pt x="642937" y="800099"/>
                    </a:lnTo>
                    <a:lnTo>
                      <a:pt x="642937" y="714375"/>
                    </a:lnTo>
                    <a:lnTo>
                      <a:pt x="514350" y="714375"/>
                    </a:lnTo>
                    <a:lnTo>
                      <a:pt x="514350" y="628650"/>
                    </a:lnTo>
                    <a:lnTo>
                      <a:pt x="800099" y="628650"/>
                    </a:lnTo>
                    <a:cubicBezTo>
                      <a:pt x="831532" y="628650"/>
                      <a:pt x="857249" y="602932"/>
                      <a:pt x="857249" y="571500"/>
                    </a:cubicBezTo>
                    <a:lnTo>
                      <a:pt x="857249" y="57150"/>
                    </a:lnTo>
                    <a:cubicBezTo>
                      <a:pt x="857249" y="25717"/>
                      <a:pt x="831532" y="0"/>
                      <a:pt x="800099" y="0"/>
                    </a:cubicBezTo>
                    <a:close/>
                  </a:path>
                </a:pathLst>
              </a:custGeom>
              <a:solidFill>
                <a:schemeClr val="accent5">
                  <a:lumMod val="75000"/>
                </a:schemeClr>
              </a:solidFill>
              <a:ln w="14188" cap="flat">
                <a:noFill/>
                <a:prstDash val="solid"/>
                <a:miter/>
              </a:ln>
            </p:spPr>
            <p:txBody>
              <a:bodyPr rtlCol="0" anchor="ctr"/>
              <a:lstStyle/>
              <a:p>
                <a:endParaRPr lang="en-MY"/>
              </a:p>
            </p:txBody>
          </p:sp>
          <p:sp>
            <p:nvSpPr>
              <p:cNvPr id="13" name="Freeform: Shape 12">
                <a:extLst>
                  <a:ext uri="{FF2B5EF4-FFF2-40B4-BE49-F238E27FC236}">
                    <a16:creationId xmlns:a16="http://schemas.microsoft.com/office/drawing/2014/main" id="{9521C819-7DB9-8235-1F3B-D3E698134DE1}"/>
                  </a:ext>
                </a:extLst>
              </p:cNvPr>
              <p:cNvSpPr/>
              <p:nvPr/>
            </p:nvSpPr>
            <p:spPr>
              <a:xfrm>
                <a:off x="10591800" y="1048603"/>
                <a:ext cx="472247" cy="980152"/>
              </a:xfrm>
              <a:custGeom>
                <a:avLst/>
                <a:gdLst>
                  <a:gd name="connsiteX0" fmla="*/ 342900 w 400049"/>
                  <a:gd name="connsiteY0" fmla="*/ 142875 h 800099"/>
                  <a:gd name="connsiteX1" fmla="*/ 57150 w 400049"/>
                  <a:gd name="connsiteY1" fmla="*/ 142875 h 800099"/>
                  <a:gd name="connsiteX2" fmla="*/ 57150 w 400049"/>
                  <a:gd name="connsiteY2" fmla="*/ 57150 h 800099"/>
                  <a:gd name="connsiteX3" fmla="*/ 342900 w 400049"/>
                  <a:gd name="connsiteY3" fmla="*/ 57150 h 800099"/>
                  <a:gd name="connsiteX4" fmla="*/ 342900 w 400049"/>
                  <a:gd name="connsiteY4" fmla="*/ 142875 h 800099"/>
                  <a:gd name="connsiteX5" fmla="*/ 342900 w 400049"/>
                  <a:gd name="connsiteY5" fmla="*/ 285750 h 800099"/>
                  <a:gd name="connsiteX6" fmla="*/ 57150 w 400049"/>
                  <a:gd name="connsiteY6" fmla="*/ 285750 h 800099"/>
                  <a:gd name="connsiteX7" fmla="*/ 57150 w 400049"/>
                  <a:gd name="connsiteY7" fmla="*/ 200025 h 800099"/>
                  <a:gd name="connsiteX8" fmla="*/ 342900 w 400049"/>
                  <a:gd name="connsiteY8" fmla="*/ 200025 h 800099"/>
                  <a:gd name="connsiteX9" fmla="*/ 342900 w 400049"/>
                  <a:gd name="connsiteY9" fmla="*/ 285750 h 800099"/>
                  <a:gd name="connsiteX10" fmla="*/ 200025 w 400049"/>
                  <a:gd name="connsiteY10" fmla="*/ 714375 h 800099"/>
                  <a:gd name="connsiteX11" fmla="*/ 157162 w 400049"/>
                  <a:gd name="connsiteY11" fmla="*/ 671512 h 800099"/>
                  <a:gd name="connsiteX12" fmla="*/ 200025 w 400049"/>
                  <a:gd name="connsiteY12" fmla="*/ 628650 h 800099"/>
                  <a:gd name="connsiteX13" fmla="*/ 242887 w 400049"/>
                  <a:gd name="connsiteY13" fmla="*/ 671512 h 800099"/>
                  <a:gd name="connsiteX14" fmla="*/ 200025 w 400049"/>
                  <a:gd name="connsiteY14" fmla="*/ 714375 h 800099"/>
                  <a:gd name="connsiteX15" fmla="*/ 342900 w 400049"/>
                  <a:gd name="connsiteY15" fmla="*/ 0 h 800099"/>
                  <a:gd name="connsiteX16" fmla="*/ 57150 w 400049"/>
                  <a:gd name="connsiteY16" fmla="*/ 0 h 800099"/>
                  <a:gd name="connsiteX17" fmla="*/ 0 w 400049"/>
                  <a:gd name="connsiteY17" fmla="*/ 57150 h 800099"/>
                  <a:gd name="connsiteX18" fmla="*/ 0 w 400049"/>
                  <a:gd name="connsiteY18" fmla="*/ 742949 h 800099"/>
                  <a:gd name="connsiteX19" fmla="*/ 57150 w 400049"/>
                  <a:gd name="connsiteY19" fmla="*/ 800099 h 800099"/>
                  <a:gd name="connsiteX20" fmla="*/ 342900 w 400049"/>
                  <a:gd name="connsiteY20" fmla="*/ 800099 h 800099"/>
                  <a:gd name="connsiteX21" fmla="*/ 400050 w 400049"/>
                  <a:gd name="connsiteY21" fmla="*/ 742949 h 800099"/>
                  <a:gd name="connsiteX22" fmla="*/ 400050 w 400049"/>
                  <a:gd name="connsiteY22" fmla="*/ 57150 h 800099"/>
                  <a:gd name="connsiteX23" fmla="*/ 342900 w 400049"/>
                  <a:gd name="connsiteY23" fmla="*/ 0 h 800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00049" h="800099">
                    <a:moveTo>
                      <a:pt x="342900" y="142875"/>
                    </a:moveTo>
                    <a:lnTo>
                      <a:pt x="57150" y="142875"/>
                    </a:lnTo>
                    <a:lnTo>
                      <a:pt x="57150" y="57150"/>
                    </a:lnTo>
                    <a:lnTo>
                      <a:pt x="342900" y="57150"/>
                    </a:lnTo>
                    <a:lnTo>
                      <a:pt x="342900" y="142875"/>
                    </a:lnTo>
                    <a:close/>
                    <a:moveTo>
                      <a:pt x="342900" y="285750"/>
                    </a:moveTo>
                    <a:lnTo>
                      <a:pt x="57150" y="285750"/>
                    </a:lnTo>
                    <a:lnTo>
                      <a:pt x="57150" y="200025"/>
                    </a:lnTo>
                    <a:lnTo>
                      <a:pt x="342900" y="200025"/>
                    </a:lnTo>
                    <a:lnTo>
                      <a:pt x="342900" y="285750"/>
                    </a:lnTo>
                    <a:close/>
                    <a:moveTo>
                      <a:pt x="200025" y="714375"/>
                    </a:moveTo>
                    <a:cubicBezTo>
                      <a:pt x="175736" y="714375"/>
                      <a:pt x="157162" y="695801"/>
                      <a:pt x="157162" y="671512"/>
                    </a:cubicBezTo>
                    <a:cubicBezTo>
                      <a:pt x="157162" y="647223"/>
                      <a:pt x="175736" y="628650"/>
                      <a:pt x="200025" y="628650"/>
                    </a:cubicBezTo>
                    <a:cubicBezTo>
                      <a:pt x="224314" y="628650"/>
                      <a:pt x="242887" y="647223"/>
                      <a:pt x="242887" y="671512"/>
                    </a:cubicBezTo>
                    <a:cubicBezTo>
                      <a:pt x="242887" y="695801"/>
                      <a:pt x="224314" y="714375"/>
                      <a:pt x="200025" y="714375"/>
                    </a:cubicBezTo>
                    <a:close/>
                    <a:moveTo>
                      <a:pt x="342900" y="0"/>
                    </a:moveTo>
                    <a:lnTo>
                      <a:pt x="57150" y="0"/>
                    </a:lnTo>
                    <a:cubicBezTo>
                      <a:pt x="25718" y="0"/>
                      <a:pt x="0" y="25717"/>
                      <a:pt x="0" y="57150"/>
                    </a:cubicBezTo>
                    <a:lnTo>
                      <a:pt x="0" y="742949"/>
                    </a:lnTo>
                    <a:cubicBezTo>
                      <a:pt x="0" y="774382"/>
                      <a:pt x="25718" y="800099"/>
                      <a:pt x="57150" y="800099"/>
                    </a:cubicBezTo>
                    <a:lnTo>
                      <a:pt x="342900" y="800099"/>
                    </a:lnTo>
                    <a:cubicBezTo>
                      <a:pt x="374332" y="800099"/>
                      <a:pt x="400050" y="774382"/>
                      <a:pt x="400050" y="742949"/>
                    </a:cubicBezTo>
                    <a:lnTo>
                      <a:pt x="400050" y="57150"/>
                    </a:lnTo>
                    <a:cubicBezTo>
                      <a:pt x="400050" y="25717"/>
                      <a:pt x="374332" y="0"/>
                      <a:pt x="342900" y="0"/>
                    </a:cubicBezTo>
                    <a:close/>
                  </a:path>
                </a:pathLst>
              </a:custGeom>
              <a:solidFill>
                <a:schemeClr val="accent1">
                  <a:lumMod val="75000"/>
                </a:schemeClr>
              </a:solidFill>
              <a:ln w="14188" cap="flat">
                <a:noFill/>
                <a:prstDash val="solid"/>
                <a:miter/>
              </a:ln>
            </p:spPr>
            <p:txBody>
              <a:bodyPr rtlCol="0" anchor="ctr"/>
              <a:lstStyle/>
              <a:p>
                <a:endParaRPr lang="en-MY"/>
              </a:p>
            </p:txBody>
          </p:sp>
        </p:grpSp>
        <p:sp>
          <p:nvSpPr>
            <p:cNvPr id="15" name="TextBox 14">
              <a:extLst>
                <a:ext uri="{FF2B5EF4-FFF2-40B4-BE49-F238E27FC236}">
                  <a16:creationId xmlns:a16="http://schemas.microsoft.com/office/drawing/2014/main" id="{93ED92C1-B0C4-4562-2553-6AD5957DC074}"/>
                </a:ext>
              </a:extLst>
            </p:cNvPr>
            <p:cNvSpPr txBox="1"/>
            <p:nvPr/>
          </p:nvSpPr>
          <p:spPr>
            <a:xfrm>
              <a:off x="9902810" y="1492161"/>
              <a:ext cx="514497" cy="332155"/>
            </a:xfrm>
            <a:prstGeom prst="rect">
              <a:avLst/>
            </a:prstGeom>
            <a:noFill/>
          </p:spPr>
          <p:txBody>
            <a:bodyPr wrap="none" rtlCol="0">
              <a:spAutoFit/>
            </a:bodyPr>
            <a:lstStyle/>
            <a:p>
              <a:r>
                <a:rPr lang="en-US" sz="1100" b="1" dirty="0"/>
                <a:t>Host</a:t>
              </a:r>
            </a:p>
          </p:txBody>
        </p:sp>
      </p:grpSp>
      <p:sp>
        <p:nvSpPr>
          <p:cNvPr id="18" name="TextBox 17">
            <a:extLst>
              <a:ext uri="{FF2B5EF4-FFF2-40B4-BE49-F238E27FC236}">
                <a16:creationId xmlns:a16="http://schemas.microsoft.com/office/drawing/2014/main" id="{C27E32B1-6393-ECA0-A871-11C048C02BD5}"/>
              </a:ext>
            </a:extLst>
          </p:cNvPr>
          <p:cNvSpPr txBox="1"/>
          <p:nvPr/>
        </p:nvSpPr>
        <p:spPr>
          <a:xfrm>
            <a:off x="9026525" y="5858483"/>
            <a:ext cx="955675" cy="369332"/>
          </a:xfrm>
          <a:prstGeom prst="rect">
            <a:avLst/>
          </a:prstGeom>
          <a:noFill/>
        </p:spPr>
        <p:txBody>
          <a:bodyPr wrap="square">
            <a:spAutoFit/>
          </a:bodyPr>
          <a:lstStyle/>
          <a:p>
            <a:r>
              <a:rPr lang="en-US" sz="1800" b="1" i="1" dirty="0">
                <a:solidFill>
                  <a:schemeClr val="accent1">
                    <a:lumMod val="75000"/>
                  </a:schemeClr>
                </a:solidFill>
              </a:rPr>
              <a:t>Passive</a:t>
            </a:r>
            <a:endParaRPr lang="en-US" i="1" dirty="0">
              <a:solidFill>
                <a:schemeClr val="accent1">
                  <a:lumMod val="75000"/>
                </a:schemeClr>
              </a:solidFill>
            </a:endParaRPr>
          </a:p>
        </p:txBody>
      </p:sp>
      <p:sp>
        <p:nvSpPr>
          <p:cNvPr id="19" name="TextBox 18">
            <a:extLst>
              <a:ext uri="{FF2B5EF4-FFF2-40B4-BE49-F238E27FC236}">
                <a16:creationId xmlns:a16="http://schemas.microsoft.com/office/drawing/2014/main" id="{28360F44-E54A-7E88-74AD-8C9C77E3037A}"/>
              </a:ext>
            </a:extLst>
          </p:cNvPr>
          <p:cNvSpPr txBox="1"/>
          <p:nvPr/>
        </p:nvSpPr>
        <p:spPr>
          <a:xfrm>
            <a:off x="10972800" y="1447800"/>
            <a:ext cx="955675" cy="307777"/>
          </a:xfrm>
          <a:prstGeom prst="rect">
            <a:avLst/>
          </a:prstGeom>
          <a:noFill/>
        </p:spPr>
        <p:txBody>
          <a:bodyPr wrap="square">
            <a:spAutoFit/>
          </a:bodyPr>
          <a:lstStyle/>
          <a:p>
            <a:r>
              <a:rPr lang="en-US" sz="1400" b="1" i="1" dirty="0">
                <a:solidFill>
                  <a:schemeClr val="accent1">
                    <a:lumMod val="75000"/>
                  </a:schemeClr>
                </a:solidFill>
              </a:rPr>
              <a:t>Active</a:t>
            </a:r>
            <a:endParaRPr lang="en-US" sz="1400" i="1" dirty="0">
              <a:solidFill>
                <a:schemeClr val="accent1">
                  <a:lumMod val="75000"/>
                </a:schemeClr>
              </a:solidFill>
            </a:endParaRPr>
          </a:p>
        </p:txBody>
      </p:sp>
      <p:sp>
        <p:nvSpPr>
          <p:cNvPr id="32" name="Arrow: Up-Down 31">
            <a:extLst>
              <a:ext uri="{FF2B5EF4-FFF2-40B4-BE49-F238E27FC236}">
                <a16:creationId xmlns:a16="http://schemas.microsoft.com/office/drawing/2014/main" id="{9AA73E20-5827-BCD0-C468-5DA9AA3B36FE}"/>
              </a:ext>
            </a:extLst>
          </p:cNvPr>
          <p:cNvSpPr/>
          <p:nvPr/>
        </p:nvSpPr>
        <p:spPr>
          <a:xfrm>
            <a:off x="10187442" y="3607333"/>
            <a:ext cx="306284" cy="389588"/>
          </a:xfrm>
          <a:prstGeom prst="upDownArrow">
            <a:avLst>
              <a:gd name="adj1" fmla="val 59369"/>
              <a:gd name="adj2" fmla="val 32406"/>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5" name="Picture 34">
            <a:extLst>
              <a:ext uri="{FF2B5EF4-FFF2-40B4-BE49-F238E27FC236}">
                <a16:creationId xmlns:a16="http://schemas.microsoft.com/office/drawing/2014/main" id="{21920860-F8CA-B4BC-86B1-5D3D7DF493AF}"/>
              </a:ext>
            </a:extLst>
          </p:cNvPr>
          <p:cNvPicPr>
            <a:picLocks noChangeAspect="1"/>
          </p:cNvPicPr>
          <p:nvPr/>
        </p:nvPicPr>
        <p:blipFill>
          <a:blip r:embed="rId7"/>
          <a:stretch>
            <a:fillRect/>
          </a:stretch>
        </p:blipFill>
        <p:spPr>
          <a:xfrm>
            <a:off x="9636734" y="1981200"/>
            <a:ext cx="1407700" cy="1579371"/>
          </a:xfrm>
          <a:prstGeom prst="rect">
            <a:avLst/>
          </a:prstGeom>
        </p:spPr>
      </p:pic>
      <p:pic>
        <p:nvPicPr>
          <p:cNvPr id="44" name="Picture 43">
            <a:extLst>
              <a:ext uri="{FF2B5EF4-FFF2-40B4-BE49-F238E27FC236}">
                <a16:creationId xmlns:a16="http://schemas.microsoft.com/office/drawing/2014/main" id="{3A9FE07B-C97C-47F1-1F3C-4676EFB20C21}"/>
              </a:ext>
            </a:extLst>
          </p:cNvPr>
          <p:cNvPicPr>
            <a:picLocks noChangeAspect="1"/>
          </p:cNvPicPr>
          <p:nvPr/>
        </p:nvPicPr>
        <p:blipFill>
          <a:blip r:embed="rId8"/>
          <a:stretch>
            <a:fillRect/>
          </a:stretch>
        </p:blipFill>
        <p:spPr>
          <a:xfrm>
            <a:off x="9640491" y="4043684"/>
            <a:ext cx="1403943" cy="1138564"/>
          </a:xfrm>
          <a:prstGeom prst="rect">
            <a:avLst/>
          </a:prstGeom>
        </p:spPr>
      </p:pic>
    </p:spTree>
    <p:extLst>
      <p:ext uri="{BB962C8B-B14F-4D97-AF65-F5344CB8AC3E}">
        <p14:creationId xmlns:p14="http://schemas.microsoft.com/office/powerpoint/2010/main" val="7536554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26" name="Picture 2" descr="C:\Users\fauzisukiman\Desktop\template pp USM\page 2 n seterusnya\Header.jpg"/>
          <p:cNvPicPr>
            <a:picLocks noChangeAspect="1" noChangeArrowheads="1"/>
          </p:cNvPicPr>
          <p:nvPr/>
        </p:nvPicPr>
        <p:blipFill rotWithShape="1">
          <a:blip r:embed="rId4" cstate="print"/>
          <a:srcRect l="14375"/>
          <a:stretch/>
        </p:blipFill>
        <p:spPr bwMode="auto">
          <a:xfrm>
            <a:off x="1268881" y="0"/>
            <a:ext cx="10923119" cy="822960"/>
          </a:xfrm>
          <a:prstGeom prst="rect">
            <a:avLst/>
          </a:prstGeom>
          <a:noFill/>
        </p:spPr>
      </p:pic>
      <p:sp>
        <p:nvSpPr>
          <p:cNvPr id="6" name="Rectangle 5"/>
          <p:cNvSpPr/>
          <p:nvPr/>
        </p:nvSpPr>
        <p:spPr>
          <a:xfrm>
            <a:off x="1447800" y="76200"/>
            <a:ext cx="10363200" cy="707886"/>
          </a:xfrm>
          <a:prstGeom prst="rect">
            <a:avLst/>
          </a:prstGeom>
        </p:spPr>
        <p:txBody>
          <a:bodyPr wrap="square">
            <a:spAutoFit/>
          </a:bodyPr>
          <a:lstStyle/>
          <a:p>
            <a:r>
              <a:rPr lang="en-US" sz="4000" b="1" i="1" dirty="0">
                <a:solidFill>
                  <a:schemeClr val="bg1"/>
                </a:solidFill>
              </a:rPr>
              <a:t>Results: Processing Time</a:t>
            </a:r>
          </a:p>
        </p:txBody>
      </p:sp>
      <p:sp>
        <p:nvSpPr>
          <p:cNvPr id="2" name="Slide Number Placeholder 1"/>
          <p:cNvSpPr>
            <a:spLocks noGrp="1"/>
          </p:cNvSpPr>
          <p:nvPr>
            <p:ph type="sldNum" sz="quarter" idx="12"/>
          </p:nvPr>
        </p:nvSpPr>
        <p:spPr>
          <a:xfrm>
            <a:off x="9906000" y="6472826"/>
            <a:ext cx="2133600" cy="365125"/>
          </a:xfrm>
        </p:spPr>
        <p:txBody>
          <a:bodyPr/>
          <a:lstStyle/>
          <a:p>
            <a:fld id="{D4B39A3D-6E5B-421C-AA99-AA75690A48C6}" type="slidenum">
              <a:rPr lang="en-US" smtClean="0"/>
              <a:pPr/>
              <a:t>29</a:t>
            </a:fld>
            <a:endParaRPr lang="en-US" dirty="0"/>
          </a:p>
        </p:txBody>
      </p:sp>
      <p:pic>
        <p:nvPicPr>
          <p:cNvPr id="9" name="Picture 3"/>
          <p:cNvPicPr>
            <a:picLocks noChangeAspect="1" noChangeArrowheads="1"/>
          </p:cNvPicPr>
          <p:nvPr/>
        </p:nvPicPr>
        <p:blipFill>
          <a:blip r:embed="rId5" cstate="print">
            <a:clrChange>
              <a:clrFrom>
                <a:srgbClr val="FDFDFD"/>
              </a:clrFrom>
              <a:clrTo>
                <a:srgbClr val="FDFDFD">
                  <a:alpha val="0"/>
                </a:srgbClr>
              </a:clrTo>
            </a:clrChange>
          </a:blip>
          <a:srcRect/>
          <a:stretch>
            <a:fillRect/>
          </a:stretch>
        </p:blipFill>
        <p:spPr bwMode="auto">
          <a:xfrm>
            <a:off x="0" y="-1224"/>
            <a:ext cx="1268881" cy="824184"/>
          </a:xfrm>
          <a:prstGeom prst="rect">
            <a:avLst/>
          </a:prstGeom>
          <a:noFill/>
          <a:ln w="9525">
            <a:noFill/>
            <a:miter lim="800000"/>
            <a:headEnd/>
            <a:tailEnd/>
          </a:ln>
          <a:effectLst/>
        </p:spPr>
      </p:pic>
      <p:sp>
        <p:nvSpPr>
          <p:cNvPr id="3" name="TextBox 2">
            <a:extLst>
              <a:ext uri="{FF2B5EF4-FFF2-40B4-BE49-F238E27FC236}">
                <a16:creationId xmlns:a16="http://schemas.microsoft.com/office/drawing/2014/main" id="{0FACB260-AB7C-0A07-7C0F-134517E53D59}"/>
              </a:ext>
            </a:extLst>
          </p:cNvPr>
          <p:cNvSpPr txBox="1"/>
          <p:nvPr/>
        </p:nvSpPr>
        <p:spPr>
          <a:xfrm>
            <a:off x="1608521" y="1068308"/>
            <a:ext cx="3183757" cy="369332"/>
          </a:xfrm>
          <a:prstGeom prst="rect">
            <a:avLst/>
          </a:prstGeom>
          <a:noFill/>
        </p:spPr>
        <p:txBody>
          <a:bodyPr wrap="none" rtlCol="0">
            <a:spAutoFit/>
          </a:bodyPr>
          <a:lstStyle/>
          <a:p>
            <a:r>
              <a:rPr lang="en-US" b="1" dirty="0">
                <a:solidFill>
                  <a:schemeClr val="accent2">
                    <a:lumMod val="75000"/>
                  </a:schemeClr>
                </a:solidFill>
              </a:rPr>
              <a:t>Processing Time (at the sender)</a:t>
            </a:r>
          </a:p>
        </p:txBody>
      </p:sp>
      <p:graphicFrame>
        <p:nvGraphicFramePr>
          <p:cNvPr id="10" name="Chart 9">
            <a:extLst>
              <a:ext uri="{FF2B5EF4-FFF2-40B4-BE49-F238E27FC236}">
                <a16:creationId xmlns:a16="http://schemas.microsoft.com/office/drawing/2014/main" id="{250A0ADD-3CEA-46A5-A528-46EFF2826F14}"/>
              </a:ext>
            </a:extLst>
          </p:cNvPr>
          <p:cNvGraphicFramePr/>
          <p:nvPr>
            <p:extLst>
              <p:ext uri="{D42A27DB-BD31-4B8C-83A1-F6EECF244321}">
                <p14:modId xmlns:p14="http://schemas.microsoft.com/office/powerpoint/2010/main" val="824042072"/>
              </p:ext>
            </p:extLst>
          </p:nvPr>
        </p:nvGraphicFramePr>
        <p:xfrm>
          <a:off x="533400" y="1652270"/>
          <a:ext cx="5413248" cy="391033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1" name="Chart 10">
            <a:extLst>
              <a:ext uri="{FF2B5EF4-FFF2-40B4-BE49-F238E27FC236}">
                <a16:creationId xmlns:a16="http://schemas.microsoft.com/office/drawing/2014/main" id="{9376B50D-164D-6900-B4CF-80D99A680920}"/>
              </a:ext>
            </a:extLst>
          </p:cNvPr>
          <p:cNvGraphicFramePr/>
          <p:nvPr>
            <p:extLst>
              <p:ext uri="{D42A27DB-BD31-4B8C-83A1-F6EECF244321}">
                <p14:modId xmlns:p14="http://schemas.microsoft.com/office/powerpoint/2010/main" val="3367676004"/>
              </p:ext>
            </p:extLst>
          </p:nvPr>
        </p:nvGraphicFramePr>
        <p:xfrm>
          <a:off x="6245352" y="1652270"/>
          <a:ext cx="5413248" cy="3910330"/>
        </p:xfrm>
        <a:graphic>
          <a:graphicData uri="http://schemas.openxmlformats.org/drawingml/2006/chart">
            <c:chart xmlns:c="http://schemas.openxmlformats.org/drawingml/2006/chart" xmlns:r="http://schemas.openxmlformats.org/officeDocument/2006/relationships" r:id="rId7"/>
          </a:graphicData>
        </a:graphic>
      </p:graphicFrame>
      <p:sp>
        <p:nvSpPr>
          <p:cNvPr id="13" name="TextBox 12">
            <a:extLst>
              <a:ext uri="{FF2B5EF4-FFF2-40B4-BE49-F238E27FC236}">
                <a16:creationId xmlns:a16="http://schemas.microsoft.com/office/drawing/2014/main" id="{801E8CAF-F5A0-28D4-D5E2-312921C497B0}"/>
              </a:ext>
            </a:extLst>
          </p:cNvPr>
          <p:cNvSpPr txBox="1"/>
          <p:nvPr/>
        </p:nvSpPr>
        <p:spPr>
          <a:xfrm>
            <a:off x="7361621" y="1078468"/>
            <a:ext cx="3299301" cy="369332"/>
          </a:xfrm>
          <a:prstGeom prst="rect">
            <a:avLst/>
          </a:prstGeom>
          <a:noFill/>
        </p:spPr>
        <p:txBody>
          <a:bodyPr wrap="none" rtlCol="0">
            <a:spAutoFit/>
          </a:bodyPr>
          <a:lstStyle/>
          <a:p>
            <a:r>
              <a:rPr lang="en-US" b="1" dirty="0">
                <a:solidFill>
                  <a:schemeClr val="accent2">
                    <a:lumMod val="75000"/>
                  </a:schemeClr>
                </a:solidFill>
              </a:rPr>
              <a:t>Processing Time (at the receiver)</a:t>
            </a:r>
          </a:p>
        </p:txBody>
      </p:sp>
      <p:pic>
        <p:nvPicPr>
          <p:cNvPr id="5" name="Picture 4">
            <a:extLst>
              <a:ext uri="{FF2B5EF4-FFF2-40B4-BE49-F238E27FC236}">
                <a16:creationId xmlns:a16="http://schemas.microsoft.com/office/drawing/2014/main" id="{21D3BF76-ECEA-F999-3728-F42973DB279F}"/>
              </a:ext>
            </a:extLst>
          </p:cNvPr>
          <p:cNvPicPr>
            <a:picLocks noChangeAspect="1"/>
          </p:cNvPicPr>
          <p:nvPr/>
        </p:nvPicPr>
        <p:blipFill>
          <a:blip r:embed="rId8"/>
          <a:stretch>
            <a:fillRect/>
          </a:stretch>
        </p:blipFill>
        <p:spPr>
          <a:xfrm>
            <a:off x="2738436" y="5672029"/>
            <a:ext cx="923925" cy="800100"/>
          </a:xfrm>
          <a:prstGeom prst="rect">
            <a:avLst/>
          </a:prstGeom>
        </p:spPr>
      </p:pic>
      <p:pic>
        <p:nvPicPr>
          <p:cNvPr id="8" name="Picture 7">
            <a:extLst>
              <a:ext uri="{FF2B5EF4-FFF2-40B4-BE49-F238E27FC236}">
                <a16:creationId xmlns:a16="http://schemas.microsoft.com/office/drawing/2014/main" id="{9BD18695-2099-3E59-A992-1B329490C1E1}"/>
              </a:ext>
            </a:extLst>
          </p:cNvPr>
          <p:cNvPicPr>
            <a:picLocks noChangeAspect="1"/>
          </p:cNvPicPr>
          <p:nvPr/>
        </p:nvPicPr>
        <p:blipFill>
          <a:blip r:embed="rId9"/>
          <a:stretch>
            <a:fillRect/>
          </a:stretch>
        </p:blipFill>
        <p:spPr>
          <a:xfrm>
            <a:off x="8580501" y="5653676"/>
            <a:ext cx="742950" cy="819150"/>
          </a:xfrm>
          <a:prstGeom prst="rect">
            <a:avLst/>
          </a:prstGeom>
        </p:spPr>
      </p:pic>
    </p:spTree>
    <p:custDataLst>
      <p:tags r:id="rId1"/>
    </p:custDataLst>
    <p:extLst>
      <p:ext uri="{BB962C8B-B14F-4D97-AF65-F5344CB8AC3E}">
        <p14:creationId xmlns:p14="http://schemas.microsoft.com/office/powerpoint/2010/main" val="2622510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1" grpId="0">
        <p:bldAsOne/>
      </p:bldGraphic>
      <p:bldP spid="13" grpId="0"/>
    </p:bld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26" name="Picture 2" descr="C:\Users\fauzisukiman\Desktop\template pp USM\page 2 n seterusnya\Header.jpg"/>
          <p:cNvPicPr>
            <a:picLocks noChangeAspect="1" noChangeArrowheads="1"/>
          </p:cNvPicPr>
          <p:nvPr/>
        </p:nvPicPr>
        <p:blipFill rotWithShape="1">
          <a:blip r:embed="rId4" cstate="print"/>
          <a:srcRect l="14375"/>
          <a:stretch/>
        </p:blipFill>
        <p:spPr bwMode="auto">
          <a:xfrm>
            <a:off x="1268881" y="0"/>
            <a:ext cx="10923119" cy="822960"/>
          </a:xfrm>
          <a:prstGeom prst="rect">
            <a:avLst/>
          </a:prstGeom>
          <a:noFill/>
        </p:spPr>
      </p:pic>
      <p:sp>
        <p:nvSpPr>
          <p:cNvPr id="6" name="Rectangle 5"/>
          <p:cNvSpPr/>
          <p:nvPr/>
        </p:nvSpPr>
        <p:spPr>
          <a:xfrm>
            <a:off x="1447800" y="76200"/>
            <a:ext cx="10744200" cy="707886"/>
          </a:xfrm>
          <a:prstGeom prst="rect">
            <a:avLst/>
          </a:prstGeom>
        </p:spPr>
        <p:txBody>
          <a:bodyPr wrap="square">
            <a:spAutoFit/>
          </a:bodyPr>
          <a:lstStyle/>
          <a:p>
            <a:r>
              <a:rPr lang="en-US" sz="4000" b="1" i="1" dirty="0">
                <a:solidFill>
                  <a:schemeClr val="bg1"/>
                </a:solidFill>
              </a:rPr>
              <a:t>Results: Processing Time 									</a:t>
            </a:r>
            <a:r>
              <a:rPr lang="en-US" b="1" i="1" dirty="0">
                <a:solidFill>
                  <a:schemeClr val="bg1"/>
                </a:solidFill>
              </a:rPr>
              <a:t>(cont.)</a:t>
            </a:r>
            <a:endParaRPr lang="en-US" sz="4000" b="1" i="1" dirty="0">
              <a:solidFill>
                <a:schemeClr val="bg1"/>
              </a:solidFill>
            </a:endParaRPr>
          </a:p>
        </p:txBody>
      </p:sp>
      <p:sp>
        <p:nvSpPr>
          <p:cNvPr id="2" name="Slide Number Placeholder 1"/>
          <p:cNvSpPr>
            <a:spLocks noGrp="1"/>
          </p:cNvSpPr>
          <p:nvPr>
            <p:ph type="sldNum" sz="quarter" idx="12"/>
          </p:nvPr>
        </p:nvSpPr>
        <p:spPr>
          <a:xfrm>
            <a:off x="9906000" y="6472826"/>
            <a:ext cx="2133600" cy="365125"/>
          </a:xfrm>
        </p:spPr>
        <p:txBody>
          <a:bodyPr/>
          <a:lstStyle/>
          <a:p>
            <a:fld id="{D4B39A3D-6E5B-421C-AA99-AA75690A48C6}" type="slidenum">
              <a:rPr lang="en-US" smtClean="0"/>
              <a:pPr/>
              <a:t>30</a:t>
            </a:fld>
            <a:endParaRPr lang="en-US" dirty="0"/>
          </a:p>
        </p:txBody>
      </p:sp>
      <p:pic>
        <p:nvPicPr>
          <p:cNvPr id="9" name="Picture 3"/>
          <p:cNvPicPr>
            <a:picLocks noChangeAspect="1" noChangeArrowheads="1"/>
          </p:cNvPicPr>
          <p:nvPr/>
        </p:nvPicPr>
        <p:blipFill>
          <a:blip r:embed="rId5" cstate="print">
            <a:clrChange>
              <a:clrFrom>
                <a:srgbClr val="FDFDFD"/>
              </a:clrFrom>
              <a:clrTo>
                <a:srgbClr val="FDFDFD">
                  <a:alpha val="0"/>
                </a:srgbClr>
              </a:clrTo>
            </a:clrChange>
          </a:blip>
          <a:srcRect/>
          <a:stretch>
            <a:fillRect/>
          </a:stretch>
        </p:blipFill>
        <p:spPr bwMode="auto">
          <a:xfrm>
            <a:off x="0" y="-1224"/>
            <a:ext cx="1268881" cy="824184"/>
          </a:xfrm>
          <a:prstGeom prst="rect">
            <a:avLst/>
          </a:prstGeom>
          <a:noFill/>
          <a:ln w="9525">
            <a:noFill/>
            <a:miter lim="800000"/>
            <a:headEnd/>
            <a:tailEnd/>
          </a:ln>
          <a:effectLst/>
        </p:spPr>
      </p:pic>
      <p:sp>
        <p:nvSpPr>
          <p:cNvPr id="3" name="TextBox 2">
            <a:extLst>
              <a:ext uri="{FF2B5EF4-FFF2-40B4-BE49-F238E27FC236}">
                <a16:creationId xmlns:a16="http://schemas.microsoft.com/office/drawing/2014/main" id="{0FACB260-AB7C-0A07-7C0F-134517E53D59}"/>
              </a:ext>
            </a:extLst>
          </p:cNvPr>
          <p:cNvSpPr txBox="1"/>
          <p:nvPr/>
        </p:nvSpPr>
        <p:spPr>
          <a:xfrm>
            <a:off x="1674884" y="1080555"/>
            <a:ext cx="9050363" cy="369332"/>
          </a:xfrm>
          <a:prstGeom prst="rect">
            <a:avLst/>
          </a:prstGeom>
          <a:noFill/>
        </p:spPr>
        <p:txBody>
          <a:bodyPr wrap="none" rtlCol="0">
            <a:spAutoFit/>
          </a:bodyPr>
          <a:lstStyle/>
          <a:p>
            <a:r>
              <a:rPr lang="en-US" b="1" dirty="0">
                <a:solidFill>
                  <a:schemeClr val="accent2">
                    <a:lumMod val="75000"/>
                  </a:schemeClr>
                </a:solidFill>
              </a:rPr>
              <a:t>Processing time (at the receiver): Standard vs. SGSM vs. Secured SECS/GEM vs. SECS/GEMsec</a:t>
            </a:r>
          </a:p>
        </p:txBody>
      </p:sp>
      <p:graphicFrame>
        <p:nvGraphicFramePr>
          <p:cNvPr id="10" name="Chart 9">
            <a:extLst>
              <a:ext uri="{FF2B5EF4-FFF2-40B4-BE49-F238E27FC236}">
                <a16:creationId xmlns:a16="http://schemas.microsoft.com/office/drawing/2014/main" id="{E56874E1-C5E0-48FC-9A6A-08D81A1B4CF4}"/>
              </a:ext>
            </a:extLst>
          </p:cNvPr>
          <p:cNvGraphicFramePr/>
          <p:nvPr>
            <p:extLst>
              <p:ext uri="{D42A27DB-BD31-4B8C-83A1-F6EECF244321}">
                <p14:modId xmlns:p14="http://schemas.microsoft.com/office/powerpoint/2010/main" val="3151410253"/>
              </p:ext>
            </p:extLst>
          </p:nvPr>
        </p:nvGraphicFramePr>
        <p:xfrm>
          <a:off x="533400" y="1676400"/>
          <a:ext cx="5413248" cy="388620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2" name="Chart 11">
            <a:extLst>
              <a:ext uri="{FF2B5EF4-FFF2-40B4-BE49-F238E27FC236}">
                <a16:creationId xmlns:a16="http://schemas.microsoft.com/office/drawing/2014/main" id="{53C82C9E-9D4A-3475-72A8-A149CA679982}"/>
              </a:ext>
            </a:extLst>
          </p:cNvPr>
          <p:cNvGraphicFramePr/>
          <p:nvPr>
            <p:extLst>
              <p:ext uri="{D42A27DB-BD31-4B8C-83A1-F6EECF244321}">
                <p14:modId xmlns:p14="http://schemas.microsoft.com/office/powerpoint/2010/main" val="3628862182"/>
              </p:ext>
            </p:extLst>
          </p:nvPr>
        </p:nvGraphicFramePr>
        <p:xfrm>
          <a:off x="6245352" y="1676400"/>
          <a:ext cx="5413248" cy="3886200"/>
        </p:xfrm>
        <a:graphic>
          <a:graphicData uri="http://schemas.openxmlformats.org/drawingml/2006/chart">
            <c:chart xmlns:c="http://schemas.openxmlformats.org/drawingml/2006/chart" xmlns:r="http://schemas.openxmlformats.org/officeDocument/2006/relationships" r:id="rId7"/>
          </a:graphicData>
        </a:graphic>
      </p:graphicFrame>
      <p:pic>
        <p:nvPicPr>
          <p:cNvPr id="5" name="Picture 4">
            <a:extLst>
              <a:ext uri="{FF2B5EF4-FFF2-40B4-BE49-F238E27FC236}">
                <a16:creationId xmlns:a16="http://schemas.microsoft.com/office/drawing/2014/main" id="{4A02E147-10A4-32D0-F844-B90CB72091C6}"/>
              </a:ext>
            </a:extLst>
          </p:cNvPr>
          <p:cNvPicPr>
            <a:picLocks noChangeAspect="1"/>
          </p:cNvPicPr>
          <p:nvPr/>
        </p:nvPicPr>
        <p:blipFill>
          <a:blip r:embed="rId8"/>
          <a:stretch>
            <a:fillRect/>
          </a:stretch>
        </p:blipFill>
        <p:spPr>
          <a:xfrm>
            <a:off x="2868549" y="5653676"/>
            <a:ext cx="742950" cy="819150"/>
          </a:xfrm>
          <a:prstGeom prst="rect">
            <a:avLst/>
          </a:prstGeom>
        </p:spPr>
      </p:pic>
      <p:pic>
        <p:nvPicPr>
          <p:cNvPr id="8" name="Picture 7">
            <a:extLst>
              <a:ext uri="{FF2B5EF4-FFF2-40B4-BE49-F238E27FC236}">
                <a16:creationId xmlns:a16="http://schemas.microsoft.com/office/drawing/2014/main" id="{82FED39D-11D1-163B-E980-37150F0EF8F1}"/>
              </a:ext>
            </a:extLst>
          </p:cNvPr>
          <p:cNvPicPr>
            <a:picLocks noChangeAspect="1"/>
          </p:cNvPicPr>
          <p:nvPr/>
        </p:nvPicPr>
        <p:blipFill>
          <a:blip r:embed="rId8"/>
          <a:stretch>
            <a:fillRect/>
          </a:stretch>
        </p:blipFill>
        <p:spPr>
          <a:xfrm>
            <a:off x="8580501" y="5653676"/>
            <a:ext cx="742950" cy="819150"/>
          </a:xfrm>
          <a:prstGeom prst="rect">
            <a:avLst/>
          </a:prstGeom>
        </p:spPr>
      </p:pic>
    </p:spTree>
    <p:custDataLst>
      <p:tags r:id="rId1"/>
    </p:custDataLst>
    <p:extLst>
      <p:ext uri="{BB962C8B-B14F-4D97-AF65-F5344CB8AC3E}">
        <p14:creationId xmlns:p14="http://schemas.microsoft.com/office/powerpoint/2010/main" val="2894510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Graphic spid="10" grpId="0">
        <p:bldAsOne/>
      </p:bldGraphic>
      <p:bldGraphic spid="12" grpId="0">
        <p:bldAsOne/>
      </p:bldGraphic>
    </p:bldLst>
  </p:timing>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026" name="Picture 2" descr="C:\Users\fauzisukiman\Desktop\template pp USM\page 2 n seterusnya\Header.jpg"/>
          <p:cNvPicPr>
            <a:picLocks noChangeAspect="1" noChangeArrowheads="1"/>
          </p:cNvPicPr>
          <p:nvPr/>
        </p:nvPicPr>
        <p:blipFill rotWithShape="1">
          <a:blip r:embed="rId4" cstate="print"/>
          <a:srcRect l="14375"/>
          <a:stretch/>
        </p:blipFill>
        <p:spPr bwMode="auto">
          <a:xfrm>
            <a:off x="1268881" y="0"/>
            <a:ext cx="10923119" cy="822960"/>
          </a:xfrm>
          <a:prstGeom prst="rect">
            <a:avLst/>
          </a:prstGeom>
          <a:noFill/>
        </p:spPr>
      </p:pic>
      <p:sp>
        <p:nvSpPr>
          <p:cNvPr id="6" name="Rectangle 5"/>
          <p:cNvSpPr/>
          <p:nvPr/>
        </p:nvSpPr>
        <p:spPr>
          <a:xfrm>
            <a:off x="1447800" y="76200"/>
            <a:ext cx="10363200" cy="707886"/>
          </a:xfrm>
          <a:prstGeom prst="rect">
            <a:avLst/>
          </a:prstGeom>
        </p:spPr>
        <p:txBody>
          <a:bodyPr wrap="square">
            <a:spAutoFit/>
          </a:bodyPr>
          <a:lstStyle/>
          <a:p>
            <a:r>
              <a:rPr lang="en-US" sz="4000" b="1" i="1" dirty="0">
                <a:solidFill>
                  <a:schemeClr val="bg1"/>
                </a:solidFill>
              </a:rPr>
              <a:t>SGSM – Workflow </a:t>
            </a:r>
          </a:p>
        </p:txBody>
      </p:sp>
      <p:sp>
        <p:nvSpPr>
          <p:cNvPr id="2" name="Slide Number Placeholder 1"/>
          <p:cNvSpPr>
            <a:spLocks noGrp="1"/>
          </p:cNvSpPr>
          <p:nvPr>
            <p:ph type="sldNum" sz="quarter" idx="12"/>
          </p:nvPr>
        </p:nvSpPr>
        <p:spPr>
          <a:xfrm>
            <a:off x="9906000" y="6472826"/>
            <a:ext cx="2133600" cy="365125"/>
          </a:xfrm>
        </p:spPr>
        <p:txBody>
          <a:bodyPr/>
          <a:lstStyle/>
          <a:p>
            <a:fld id="{D4B39A3D-6E5B-421C-AA99-AA75690A48C6}" type="slidenum">
              <a:rPr lang="en-US" smtClean="0"/>
              <a:pPr/>
              <a:t>31</a:t>
            </a:fld>
            <a:endParaRPr lang="en-US" dirty="0"/>
          </a:p>
        </p:txBody>
      </p:sp>
      <p:pic>
        <p:nvPicPr>
          <p:cNvPr id="9" name="Picture 3"/>
          <p:cNvPicPr>
            <a:picLocks noChangeAspect="1" noChangeArrowheads="1"/>
          </p:cNvPicPr>
          <p:nvPr/>
        </p:nvPicPr>
        <p:blipFill>
          <a:blip r:embed="rId5" cstate="print">
            <a:clrChange>
              <a:clrFrom>
                <a:srgbClr val="FDFDFD"/>
              </a:clrFrom>
              <a:clrTo>
                <a:srgbClr val="FDFDFD">
                  <a:alpha val="0"/>
                </a:srgbClr>
              </a:clrTo>
            </a:clrChange>
          </a:blip>
          <a:srcRect/>
          <a:stretch>
            <a:fillRect/>
          </a:stretch>
        </p:blipFill>
        <p:spPr bwMode="auto">
          <a:xfrm>
            <a:off x="0" y="-1224"/>
            <a:ext cx="1268881" cy="824184"/>
          </a:xfrm>
          <a:prstGeom prst="rect">
            <a:avLst/>
          </a:prstGeom>
          <a:noFill/>
          <a:ln w="9525">
            <a:noFill/>
            <a:miter lim="800000"/>
            <a:headEnd/>
            <a:tailEnd/>
          </a:ln>
          <a:effectLst/>
        </p:spPr>
      </p:pic>
      <p:pic>
        <p:nvPicPr>
          <p:cNvPr id="4" name="Picture 3">
            <a:extLst>
              <a:ext uri="{FF2B5EF4-FFF2-40B4-BE49-F238E27FC236}">
                <a16:creationId xmlns:a16="http://schemas.microsoft.com/office/drawing/2014/main" id="{B123FA75-B10A-715F-958F-DF0D20F1B5AA}"/>
              </a:ext>
            </a:extLst>
          </p:cNvPr>
          <p:cNvPicPr>
            <a:picLocks noChangeAspect="1"/>
          </p:cNvPicPr>
          <p:nvPr/>
        </p:nvPicPr>
        <p:blipFill>
          <a:blip r:embed="rId6"/>
          <a:stretch>
            <a:fillRect/>
          </a:stretch>
        </p:blipFill>
        <p:spPr>
          <a:xfrm>
            <a:off x="829889" y="1066800"/>
            <a:ext cx="931023" cy="824185"/>
          </a:xfrm>
          <a:prstGeom prst="rect">
            <a:avLst/>
          </a:prstGeom>
        </p:spPr>
      </p:pic>
      <p:sp>
        <p:nvSpPr>
          <p:cNvPr id="7" name="Rectangle 6">
            <a:extLst>
              <a:ext uri="{FF2B5EF4-FFF2-40B4-BE49-F238E27FC236}">
                <a16:creationId xmlns:a16="http://schemas.microsoft.com/office/drawing/2014/main" id="{7AEE76C7-FB79-BA14-E714-1358C43B635C}"/>
              </a:ext>
            </a:extLst>
          </p:cNvPr>
          <p:cNvSpPr/>
          <p:nvPr/>
        </p:nvSpPr>
        <p:spPr>
          <a:xfrm>
            <a:off x="381001" y="2084463"/>
            <a:ext cx="1828800" cy="369093"/>
          </a:xfrm>
          <a:prstGeom prst="rect">
            <a:avLst/>
          </a:prstGeom>
          <a:ln w="12700">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sz="1200" b="1" dirty="0">
                <a:solidFill>
                  <a:schemeClr val="tx1"/>
                </a:solidFill>
              </a:rPr>
              <a:t>Process HSMS Message</a:t>
            </a:r>
          </a:p>
        </p:txBody>
      </p:sp>
      <p:sp>
        <p:nvSpPr>
          <p:cNvPr id="8" name="Rectangle 7">
            <a:extLst>
              <a:ext uri="{FF2B5EF4-FFF2-40B4-BE49-F238E27FC236}">
                <a16:creationId xmlns:a16="http://schemas.microsoft.com/office/drawing/2014/main" id="{D884C3C3-87BC-EFFE-E21B-AC5E1A68B0C9}"/>
              </a:ext>
            </a:extLst>
          </p:cNvPr>
          <p:cNvSpPr/>
          <p:nvPr/>
        </p:nvSpPr>
        <p:spPr>
          <a:xfrm>
            <a:off x="381000" y="2664116"/>
            <a:ext cx="1828800" cy="369093"/>
          </a:xfrm>
          <a:prstGeom prst="rect">
            <a:avLst/>
          </a:prstGeom>
          <a:ln w="12700">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sz="1200" b="1" dirty="0">
                <a:solidFill>
                  <a:schemeClr val="tx1"/>
                </a:solidFill>
              </a:rPr>
              <a:t>Generate ACB</a:t>
            </a:r>
          </a:p>
          <a:p>
            <a:pPr algn="ctr"/>
            <a:r>
              <a:rPr lang="en-US" sz="1200" b="1" dirty="0">
                <a:solidFill>
                  <a:schemeClr val="tx1"/>
                </a:solidFill>
              </a:rPr>
              <a:t>[Initialize it with all zeros]</a:t>
            </a:r>
          </a:p>
        </p:txBody>
      </p:sp>
      <p:sp>
        <p:nvSpPr>
          <p:cNvPr id="10" name="Rectangle 9">
            <a:extLst>
              <a:ext uri="{FF2B5EF4-FFF2-40B4-BE49-F238E27FC236}">
                <a16:creationId xmlns:a16="http://schemas.microsoft.com/office/drawing/2014/main" id="{531AE1E0-7AD6-1C55-69CB-94785C2BA6D3}"/>
              </a:ext>
            </a:extLst>
          </p:cNvPr>
          <p:cNvSpPr/>
          <p:nvPr/>
        </p:nvSpPr>
        <p:spPr>
          <a:xfrm>
            <a:off x="381000" y="3243769"/>
            <a:ext cx="1828800" cy="369093"/>
          </a:xfrm>
          <a:prstGeom prst="rect">
            <a:avLst/>
          </a:prstGeom>
          <a:ln w="12700">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sz="1200" b="1" dirty="0">
                <a:solidFill>
                  <a:schemeClr val="tx1"/>
                </a:solidFill>
              </a:rPr>
              <a:t>Set Mode = 1 [Authentication]</a:t>
            </a:r>
          </a:p>
        </p:txBody>
      </p:sp>
      <p:sp>
        <p:nvSpPr>
          <p:cNvPr id="11" name="Rectangle 10">
            <a:extLst>
              <a:ext uri="{FF2B5EF4-FFF2-40B4-BE49-F238E27FC236}">
                <a16:creationId xmlns:a16="http://schemas.microsoft.com/office/drawing/2014/main" id="{77D89BA5-B10C-2203-2D3B-526DDF75C587}"/>
              </a:ext>
            </a:extLst>
          </p:cNvPr>
          <p:cNvSpPr/>
          <p:nvPr/>
        </p:nvSpPr>
        <p:spPr>
          <a:xfrm>
            <a:off x="381000" y="3823422"/>
            <a:ext cx="1828800" cy="369093"/>
          </a:xfrm>
          <a:prstGeom prst="rect">
            <a:avLst/>
          </a:prstGeom>
          <a:ln w="12700">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sz="1200" b="1" dirty="0">
                <a:solidFill>
                  <a:schemeClr val="tx1"/>
                </a:solidFill>
              </a:rPr>
              <a:t>SET HMAC Algorithm</a:t>
            </a:r>
          </a:p>
        </p:txBody>
      </p:sp>
      <p:sp>
        <p:nvSpPr>
          <p:cNvPr id="12" name="Rectangle 11">
            <a:extLst>
              <a:ext uri="{FF2B5EF4-FFF2-40B4-BE49-F238E27FC236}">
                <a16:creationId xmlns:a16="http://schemas.microsoft.com/office/drawing/2014/main" id="{882C77A6-36BC-56FC-17D2-36DE97CB5A57}"/>
              </a:ext>
            </a:extLst>
          </p:cNvPr>
          <p:cNvSpPr/>
          <p:nvPr/>
        </p:nvSpPr>
        <p:spPr>
          <a:xfrm>
            <a:off x="381000" y="4425005"/>
            <a:ext cx="1828800" cy="369093"/>
          </a:xfrm>
          <a:prstGeom prst="rect">
            <a:avLst/>
          </a:prstGeom>
          <a:ln w="12700">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sz="1200" b="1" dirty="0">
                <a:solidFill>
                  <a:schemeClr val="tx1"/>
                </a:solidFill>
              </a:rPr>
              <a:t>SET Timestamp = Value</a:t>
            </a:r>
          </a:p>
        </p:txBody>
      </p:sp>
      <p:grpSp>
        <p:nvGrpSpPr>
          <p:cNvPr id="18" name="Group 17">
            <a:extLst>
              <a:ext uri="{FF2B5EF4-FFF2-40B4-BE49-F238E27FC236}">
                <a16:creationId xmlns:a16="http://schemas.microsoft.com/office/drawing/2014/main" id="{22CA4EFB-6821-B81B-45FF-0BCCA7015676}"/>
              </a:ext>
            </a:extLst>
          </p:cNvPr>
          <p:cNvGrpSpPr/>
          <p:nvPr/>
        </p:nvGrpSpPr>
        <p:grpSpPr>
          <a:xfrm>
            <a:off x="2705101" y="3767365"/>
            <a:ext cx="1295400" cy="914400"/>
            <a:chOff x="3200400" y="2514600"/>
            <a:chExt cx="1295400" cy="914400"/>
          </a:xfrm>
          <a:solidFill>
            <a:schemeClr val="accent1">
              <a:lumMod val="75000"/>
            </a:schemeClr>
          </a:solidFill>
        </p:grpSpPr>
        <p:sp>
          <p:nvSpPr>
            <p:cNvPr id="16" name="Diamond 15">
              <a:extLst>
                <a:ext uri="{FF2B5EF4-FFF2-40B4-BE49-F238E27FC236}">
                  <a16:creationId xmlns:a16="http://schemas.microsoft.com/office/drawing/2014/main" id="{7E5191EB-EAB8-5384-5361-BFD5F47C327B}"/>
                </a:ext>
              </a:extLst>
            </p:cNvPr>
            <p:cNvSpPr/>
            <p:nvPr/>
          </p:nvSpPr>
          <p:spPr>
            <a:xfrm>
              <a:off x="3200400" y="2514600"/>
              <a:ext cx="1295400" cy="914400"/>
            </a:xfrm>
            <a:prstGeom prst="diamon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17" name="TextBox 16">
              <a:extLst>
                <a:ext uri="{FF2B5EF4-FFF2-40B4-BE49-F238E27FC236}">
                  <a16:creationId xmlns:a16="http://schemas.microsoft.com/office/drawing/2014/main" id="{294AA514-1582-F28C-B42D-1E2FEE6CBD52}"/>
                </a:ext>
              </a:extLst>
            </p:cNvPr>
            <p:cNvSpPr txBox="1"/>
            <p:nvPr/>
          </p:nvSpPr>
          <p:spPr>
            <a:xfrm>
              <a:off x="3357420" y="2756356"/>
              <a:ext cx="981359" cy="430887"/>
            </a:xfrm>
            <a:prstGeom prst="rect">
              <a:avLst/>
            </a:prstGeom>
            <a:noFill/>
          </p:spPr>
          <p:txBody>
            <a:bodyPr wrap="none" rtlCol="0">
              <a:spAutoFit/>
            </a:bodyPr>
            <a:lstStyle/>
            <a:p>
              <a:pPr algn="ctr"/>
              <a:r>
                <a:rPr lang="en-US" sz="1100" b="1" dirty="0">
                  <a:solidFill>
                    <a:schemeClr val="bg1"/>
                  </a:solidFill>
                </a:rPr>
                <a:t>Is sender</a:t>
              </a:r>
              <a:br>
                <a:rPr lang="en-US" sz="1100" b="1" dirty="0">
                  <a:solidFill>
                    <a:schemeClr val="bg1"/>
                  </a:solidFill>
                </a:rPr>
              </a:br>
              <a:r>
                <a:rPr lang="en-US" sz="1100" b="1" dirty="0">
                  <a:solidFill>
                    <a:schemeClr val="bg1"/>
                  </a:solidFill>
                </a:rPr>
                <a:t>active entity?</a:t>
              </a:r>
            </a:p>
          </p:txBody>
        </p:sp>
      </p:grpSp>
      <p:sp>
        <p:nvSpPr>
          <p:cNvPr id="19" name="Rectangle 18">
            <a:extLst>
              <a:ext uri="{FF2B5EF4-FFF2-40B4-BE49-F238E27FC236}">
                <a16:creationId xmlns:a16="http://schemas.microsoft.com/office/drawing/2014/main" id="{01CBF70B-CAD0-71CB-C1CC-7CB81F97442A}"/>
              </a:ext>
            </a:extLst>
          </p:cNvPr>
          <p:cNvSpPr/>
          <p:nvPr/>
        </p:nvSpPr>
        <p:spPr>
          <a:xfrm>
            <a:off x="2438400" y="4930232"/>
            <a:ext cx="1828800" cy="369093"/>
          </a:xfrm>
          <a:prstGeom prst="rect">
            <a:avLst/>
          </a:prstGeom>
          <a:ln w="12700">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sz="1200" b="1" dirty="0">
                <a:solidFill>
                  <a:schemeClr val="tx1"/>
                </a:solidFill>
              </a:rPr>
              <a:t>Fetch secret-key </a:t>
            </a:r>
          </a:p>
          <a:p>
            <a:pPr algn="ctr"/>
            <a:r>
              <a:rPr lang="en-US" sz="1200" b="1" dirty="0">
                <a:solidFill>
                  <a:schemeClr val="tx1"/>
                </a:solidFill>
              </a:rPr>
              <a:t>from the table</a:t>
            </a:r>
          </a:p>
        </p:txBody>
      </p:sp>
      <p:sp>
        <p:nvSpPr>
          <p:cNvPr id="20" name="Rectangle 19">
            <a:extLst>
              <a:ext uri="{FF2B5EF4-FFF2-40B4-BE49-F238E27FC236}">
                <a16:creationId xmlns:a16="http://schemas.microsoft.com/office/drawing/2014/main" id="{6FB2A26A-5CE6-3B20-DC9F-1047C28E4EBE}"/>
              </a:ext>
            </a:extLst>
          </p:cNvPr>
          <p:cNvSpPr/>
          <p:nvPr/>
        </p:nvSpPr>
        <p:spPr>
          <a:xfrm>
            <a:off x="2438400" y="5506324"/>
            <a:ext cx="1828800" cy="369093"/>
          </a:xfrm>
          <a:prstGeom prst="rect">
            <a:avLst/>
          </a:prstGeom>
          <a:ln w="12700">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sz="1200" b="1" dirty="0">
                <a:solidFill>
                  <a:schemeClr val="tx1"/>
                </a:solidFill>
              </a:rPr>
              <a:t>Compute Hash</a:t>
            </a:r>
          </a:p>
          <a:p>
            <a:pPr algn="ctr"/>
            <a:r>
              <a:rPr lang="en-US" sz="1200" b="1" dirty="0">
                <a:solidFill>
                  <a:schemeClr val="tx1"/>
                </a:solidFill>
              </a:rPr>
              <a:t>Hash = H (msg+ACB), Key)</a:t>
            </a:r>
          </a:p>
        </p:txBody>
      </p:sp>
      <p:sp>
        <p:nvSpPr>
          <p:cNvPr id="21" name="Rectangle 20">
            <a:extLst>
              <a:ext uri="{FF2B5EF4-FFF2-40B4-BE49-F238E27FC236}">
                <a16:creationId xmlns:a16="http://schemas.microsoft.com/office/drawing/2014/main" id="{B0010E20-58DD-31F1-E56D-E917DB66F23F}"/>
              </a:ext>
            </a:extLst>
          </p:cNvPr>
          <p:cNvSpPr/>
          <p:nvPr/>
        </p:nvSpPr>
        <p:spPr>
          <a:xfrm>
            <a:off x="2438400" y="6107907"/>
            <a:ext cx="1828800" cy="369093"/>
          </a:xfrm>
          <a:prstGeom prst="rect">
            <a:avLst/>
          </a:prstGeom>
          <a:ln w="12700">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sz="1200" b="1" dirty="0">
                <a:solidFill>
                  <a:schemeClr val="tx1"/>
                </a:solidFill>
              </a:rPr>
              <a:t>Transmit the message</a:t>
            </a:r>
          </a:p>
        </p:txBody>
      </p:sp>
      <p:sp>
        <p:nvSpPr>
          <p:cNvPr id="22" name="Rectangle 21">
            <a:extLst>
              <a:ext uri="{FF2B5EF4-FFF2-40B4-BE49-F238E27FC236}">
                <a16:creationId xmlns:a16="http://schemas.microsoft.com/office/drawing/2014/main" id="{D9ACC3E6-3259-B5EC-AF4A-3B9E4DD67AFF}"/>
              </a:ext>
            </a:extLst>
          </p:cNvPr>
          <p:cNvSpPr/>
          <p:nvPr/>
        </p:nvSpPr>
        <p:spPr>
          <a:xfrm>
            <a:off x="4800601" y="1905000"/>
            <a:ext cx="1828800" cy="369093"/>
          </a:xfrm>
          <a:prstGeom prst="rect">
            <a:avLst/>
          </a:prstGeom>
          <a:ln w="12700">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sz="1200" b="1" dirty="0">
                <a:solidFill>
                  <a:schemeClr val="tx1"/>
                </a:solidFill>
              </a:rPr>
              <a:t>Receive HSMS message</a:t>
            </a:r>
          </a:p>
        </p:txBody>
      </p:sp>
      <p:sp>
        <p:nvSpPr>
          <p:cNvPr id="23" name="Rectangle 22">
            <a:extLst>
              <a:ext uri="{FF2B5EF4-FFF2-40B4-BE49-F238E27FC236}">
                <a16:creationId xmlns:a16="http://schemas.microsoft.com/office/drawing/2014/main" id="{85A82321-84D2-4079-D7DF-863385DC5A4F}"/>
              </a:ext>
            </a:extLst>
          </p:cNvPr>
          <p:cNvSpPr/>
          <p:nvPr/>
        </p:nvSpPr>
        <p:spPr>
          <a:xfrm>
            <a:off x="4800601" y="4419600"/>
            <a:ext cx="1828800" cy="369093"/>
          </a:xfrm>
          <a:prstGeom prst="rect">
            <a:avLst/>
          </a:prstGeom>
          <a:ln w="12700">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sz="1200" b="1" dirty="0">
                <a:solidFill>
                  <a:schemeClr val="tx1"/>
                </a:solidFill>
              </a:rPr>
              <a:t>Hash</a:t>
            </a:r>
            <a:r>
              <a:rPr lang="en-US" sz="1200" b="1" baseline="-25000" dirty="0">
                <a:solidFill>
                  <a:schemeClr val="tx1"/>
                </a:solidFill>
              </a:rPr>
              <a:t>1</a:t>
            </a:r>
            <a:r>
              <a:rPr lang="en-US" sz="1200" b="1" dirty="0">
                <a:solidFill>
                  <a:schemeClr val="tx1"/>
                </a:solidFill>
              </a:rPr>
              <a:t> = Extract Hash</a:t>
            </a:r>
          </a:p>
        </p:txBody>
      </p:sp>
      <p:grpSp>
        <p:nvGrpSpPr>
          <p:cNvPr id="24" name="Group 23">
            <a:extLst>
              <a:ext uri="{FF2B5EF4-FFF2-40B4-BE49-F238E27FC236}">
                <a16:creationId xmlns:a16="http://schemas.microsoft.com/office/drawing/2014/main" id="{D35CAA7D-A921-98D1-501B-849E5BCDA71E}"/>
              </a:ext>
            </a:extLst>
          </p:cNvPr>
          <p:cNvGrpSpPr/>
          <p:nvPr/>
        </p:nvGrpSpPr>
        <p:grpSpPr>
          <a:xfrm>
            <a:off x="5068164" y="2497070"/>
            <a:ext cx="1295400" cy="914400"/>
            <a:chOff x="3200400" y="2514600"/>
            <a:chExt cx="1295400" cy="914400"/>
          </a:xfrm>
          <a:solidFill>
            <a:schemeClr val="accent1">
              <a:lumMod val="75000"/>
            </a:schemeClr>
          </a:solidFill>
        </p:grpSpPr>
        <p:sp>
          <p:nvSpPr>
            <p:cNvPr id="25" name="Diamond 24">
              <a:extLst>
                <a:ext uri="{FF2B5EF4-FFF2-40B4-BE49-F238E27FC236}">
                  <a16:creationId xmlns:a16="http://schemas.microsoft.com/office/drawing/2014/main" id="{B2560028-4789-7F9B-508C-25CD7F7C81C0}"/>
                </a:ext>
              </a:extLst>
            </p:cNvPr>
            <p:cNvSpPr/>
            <p:nvPr/>
          </p:nvSpPr>
          <p:spPr>
            <a:xfrm>
              <a:off x="3200400" y="2514600"/>
              <a:ext cx="1295400" cy="914400"/>
            </a:xfrm>
            <a:prstGeom prst="diamon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26" name="TextBox 25">
              <a:extLst>
                <a:ext uri="{FF2B5EF4-FFF2-40B4-BE49-F238E27FC236}">
                  <a16:creationId xmlns:a16="http://schemas.microsoft.com/office/drawing/2014/main" id="{BC12A6D2-DCBF-03C2-0F78-468B0A1EAFDB}"/>
                </a:ext>
              </a:extLst>
            </p:cNvPr>
            <p:cNvSpPr txBox="1"/>
            <p:nvPr/>
          </p:nvSpPr>
          <p:spPr>
            <a:xfrm>
              <a:off x="3363837" y="2847426"/>
              <a:ext cx="968535" cy="261610"/>
            </a:xfrm>
            <a:prstGeom prst="rect">
              <a:avLst/>
            </a:prstGeom>
            <a:noFill/>
          </p:spPr>
          <p:txBody>
            <a:bodyPr wrap="none" rtlCol="0">
              <a:spAutoFit/>
            </a:bodyPr>
            <a:lstStyle/>
            <a:p>
              <a:pPr algn="ctr"/>
              <a:r>
                <a:rPr lang="en-US" sz="1100" b="1" dirty="0">
                  <a:solidFill>
                    <a:schemeClr val="bg1"/>
                  </a:solidFill>
                </a:rPr>
                <a:t>ACB Present?</a:t>
              </a:r>
            </a:p>
          </p:txBody>
        </p:sp>
      </p:grpSp>
      <p:sp>
        <p:nvSpPr>
          <p:cNvPr id="27" name="Rectangle 26">
            <a:extLst>
              <a:ext uri="{FF2B5EF4-FFF2-40B4-BE49-F238E27FC236}">
                <a16:creationId xmlns:a16="http://schemas.microsoft.com/office/drawing/2014/main" id="{1BDFEDE7-9980-F9EA-F19F-2493B9F2D337}"/>
              </a:ext>
            </a:extLst>
          </p:cNvPr>
          <p:cNvSpPr/>
          <p:nvPr/>
        </p:nvSpPr>
        <p:spPr>
          <a:xfrm>
            <a:off x="4800601" y="6107907"/>
            <a:ext cx="1828800" cy="369093"/>
          </a:xfrm>
          <a:prstGeom prst="rect">
            <a:avLst/>
          </a:prstGeom>
          <a:ln w="12700">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sz="1200" b="1" dirty="0">
                <a:solidFill>
                  <a:schemeClr val="tx1"/>
                </a:solidFill>
              </a:rPr>
              <a:t>Refill ACB with Zeros</a:t>
            </a:r>
          </a:p>
        </p:txBody>
      </p:sp>
      <p:grpSp>
        <p:nvGrpSpPr>
          <p:cNvPr id="28" name="Group 27">
            <a:extLst>
              <a:ext uri="{FF2B5EF4-FFF2-40B4-BE49-F238E27FC236}">
                <a16:creationId xmlns:a16="http://schemas.microsoft.com/office/drawing/2014/main" id="{0FB7BDA8-2694-AE5C-86A9-B4E7A7094773}"/>
              </a:ext>
            </a:extLst>
          </p:cNvPr>
          <p:cNvGrpSpPr/>
          <p:nvPr/>
        </p:nvGrpSpPr>
        <p:grpSpPr>
          <a:xfrm>
            <a:off x="7207309" y="2084463"/>
            <a:ext cx="1295400" cy="914400"/>
            <a:chOff x="3200400" y="2514600"/>
            <a:chExt cx="1295400" cy="914400"/>
          </a:xfrm>
          <a:solidFill>
            <a:schemeClr val="accent1">
              <a:lumMod val="75000"/>
            </a:schemeClr>
          </a:solidFill>
        </p:grpSpPr>
        <p:sp>
          <p:nvSpPr>
            <p:cNvPr id="29" name="Diamond 28">
              <a:extLst>
                <a:ext uri="{FF2B5EF4-FFF2-40B4-BE49-F238E27FC236}">
                  <a16:creationId xmlns:a16="http://schemas.microsoft.com/office/drawing/2014/main" id="{CD09AB92-0074-6AF5-1F7B-7A353AC33FCA}"/>
                </a:ext>
              </a:extLst>
            </p:cNvPr>
            <p:cNvSpPr/>
            <p:nvPr/>
          </p:nvSpPr>
          <p:spPr>
            <a:xfrm>
              <a:off x="3200400" y="2514600"/>
              <a:ext cx="1295400" cy="914400"/>
            </a:xfrm>
            <a:prstGeom prst="diamon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30" name="TextBox 29">
              <a:extLst>
                <a:ext uri="{FF2B5EF4-FFF2-40B4-BE49-F238E27FC236}">
                  <a16:creationId xmlns:a16="http://schemas.microsoft.com/office/drawing/2014/main" id="{8684AF9B-6999-1B89-4349-2F02BFB217B9}"/>
                </a:ext>
              </a:extLst>
            </p:cNvPr>
            <p:cNvSpPr txBox="1"/>
            <p:nvPr/>
          </p:nvSpPr>
          <p:spPr>
            <a:xfrm>
              <a:off x="3357420" y="2756356"/>
              <a:ext cx="981359" cy="430887"/>
            </a:xfrm>
            <a:prstGeom prst="rect">
              <a:avLst/>
            </a:prstGeom>
            <a:noFill/>
          </p:spPr>
          <p:txBody>
            <a:bodyPr wrap="none" rtlCol="0">
              <a:spAutoFit/>
            </a:bodyPr>
            <a:lstStyle/>
            <a:p>
              <a:pPr algn="ctr"/>
              <a:r>
                <a:rPr lang="en-US" sz="1100" b="1">
                  <a:solidFill>
                    <a:schemeClr val="bg1"/>
                  </a:solidFill>
                </a:rPr>
                <a:t>Is receiver</a:t>
              </a:r>
              <a:br>
                <a:rPr lang="en-US" sz="1100" b="1">
                  <a:solidFill>
                    <a:schemeClr val="bg1"/>
                  </a:solidFill>
                </a:rPr>
              </a:br>
              <a:r>
                <a:rPr lang="en-US" sz="1100" b="1">
                  <a:solidFill>
                    <a:schemeClr val="bg1"/>
                  </a:solidFill>
                </a:rPr>
                <a:t>active entity?</a:t>
              </a:r>
              <a:endParaRPr lang="en-US" sz="1100" b="1" dirty="0">
                <a:solidFill>
                  <a:schemeClr val="bg1"/>
                </a:solidFill>
              </a:endParaRPr>
            </a:p>
          </p:txBody>
        </p:sp>
      </p:grpSp>
      <p:sp>
        <p:nvSpPr>
          <p:cNvPr id="31" name="Rectangle 30">
            <a:extLst>
              <a:ext uri="{FF2B5EF4-FFF2-40B4-BE49-F238E27FC236}">
                <a16:creationId xmlns:a16="http://schemas.microsoft.com/office/drawing/2014/main" id="{B8947EBF-F7FD-24CE-2184-503075FDE47F}"/>
              </a:ext>
            </a:extLst>
          </p:cNvPr>
          <p:cNvSpPr/>
          <p:nvPr/>
        </p:nvSpPr>
        <p:spPr>
          <a:xfrm>
            <a:off x="6940608" y="3247330"/>
            <a:ext cx="1828800" cy="369093"/>
          </a:xfrm>
          <a:prstGeom prst="rect">
            <a:avLst/>
          </a:prstGeom>
          <a:ln w="12700">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sz="1200" b="1" dirty="0">
                <a:solidFill>
                  <a:schemeClr val="tx1"/>
                </a:solidFill>
              </a:rPr>
              <a:t>Fetch secret-key </a:t>
            </a:r>
          </a:p>
          <a:p>
            <a:pPr algn="ctr"/>
            <a:r>
              <a:rPr lang="en-US" sz="1200" b="1" dirty="0">
                <a:solidFill>
                  <a:schemeClr val="tx1"/>
                </a:solidFill>
              </a:rPr>
              <a:t>from the table</a:t>
            </a:r>
          </a:p>
        </p:txBody>
      </p:sp>
      <p:sp>
        <p:nvSpPr>
          <p:cNvPr id="32" name="Rectangle 31">
            <a:extLst>
              <a:ext uri="{FF2B5EF4-FFF2-40B4-BE49-F238E27FC236}">
                <a16:creationId xmlns:a16="http://schemas.microsoft.com/office/drawing/2014/main" id="{4BEF38D5-AD72-3484-DFA6-42E6C726444E}"/>
              </a:ext>
            </a:extLst>
          </p:cNvPr>
          <p:cNvSpPr/>
          <p:nvPr/>
        </p:nvSpPr>
        <p:spPr>
          <a:xfrm>
            <a:off x="6940608" y="3823422"/>
            <a:ext cx="1828800" cy="369093"/>
          </a:xfrm>
          <a:prstGeom prst="rect">
            <a:avLst/>
          </a:prstGeom>
          <a:ln w="12700">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sz="1200" b="1" dirty="0">
                <a:solidFill>
                  <a:schemeClr val="tx1"/>
                </a:solidFill>
              </a:rPr>
              <a:t>Compute Hash</a:t>
            </a:r>
          </a:p>
          <a:p>
            <a:pPr algn="ctr"/>
            <a:r>
              <a:rPr lang="en-US" sz="1200" b="1" dirty="0">
                <a:solidFill>
                  <a:schemeClr val="tx1"/>
                </a:solidFill>
              </a:rPr>
              <a:t>Hash = H (msg+ACB), Key)</a:t>
            </a:r>
          </a:p>
        </p:txBody>
      </p:sp>
      <p:grpSp>
        <p:nvGrpSpPr>
          <p:cNvPr id="34" name="Group 33">
            <a:extLst>
              <a:ext uri="{FF2B5EF4-FFF2-40B4-BE49-F238E27FC236}">
                <a16:creationId xmlns:a16="http://schemas.microsoft.com/office/drawing/2014/main" id="{B541F100-32D5-F75F-2563-9023439DDA7E}"/>
              </a:ext>
            </a:extLst>
          </p:cNvPr>
          <p:cNvGrpSpPr/>
          <p:nvPr/>
        </p:nvGrpSpPr>
        <p:grpSpPr>
          <a:xfrm>
            <a:off x="7207308" y="4435687"/>
            <a:ext cx="1295400" cy="914400"/>
            <a:chOff x="3200400" y="2514600"/>
            <a:chExt cx="1295400" cy="914400"/>
          </a:xfrm>
          <a:solidFill>
            <a:schemeClr val="accent1">
              <a:lumMod val="75000"/>
            </a:schemeClr>
          </a:solidFill>
        </p:grpSpPr>
        <p:sp>
          <p:nvSpPr>
            <p:cNvPr id="35" name="Diamond 34">
              <a:extLst>
                <a:ext uri="{FF2B5EF4-FFF2-40B4-BE49-F238E27FC236}">
                  <a16:creationId xmlns:a16="http://schemas.microsoft.com/office/drawing/2014/main" id="{7D6DF074-A955-06B0-1F0E-33754871CB00}"/>
                </a:ext>
              </a:extLst>
            </p:cNvPr>
            <p:cNvSpPr/>
            <p:nvPr/>
          </p:nvSpPr>
          <p:spPr>
            <a:xfrm>
              <a:off x="3200400" y="2514600"/>
              <a:ext cx="1295400" cy="914400"/>
            </a:xfrm>
            <a:prstGeom prst="diamon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36" name="TextBox 35">
              <a:extLst>
                <a:ext uri="{FF2B5EF4-FFF2-40B4-BE49-F238E27FC236}">
                  <a16:creationId xmlns:a16="http://schemas.microsoft.com/office/drawing/2014/main" id="{D32360A2-E96F-5CCD-F1BF-02CB0F0BDE1D}"/>
                </a:ext>
              </a:extLst>
            </p:cNvPr>
            <p:cNvSpPr txBox="1"/>
            <p:nvPr/>
          </p:nvSpPr>
          <p:spPr>
            <a:xfrm>
              <a:off x="3282080" y="2831263"/>
              <a:ext cx="1132041" cy="261610"/>
            </a:xfrm>
            <a:prstGeom prst="rect">
              <a:avLst/>
            </a:prstGeom>
            <a:noFill/>
          </p:spPr>
          <p:txBody>
            <a:bodyPr wrap="none" rtlCol="0">
              <a:spAutoFit/>
            </a:bodyPr>
            <a:lstStyle/>
            <a:p>
              <a:pPr algn="ctr"/>
              <a:r>
                <a:rPr lang="en-US" sz="1100" b="1" dirty="0">
                  <a:solidFill>
                    <a:schemeClr val="bg1"/>
                  </a:solidFill>
                </a:rPr>
                <a:t>Hash</a:t>
              </a:r>
              <a:r>
                <a:rPr lang="en-US" sz="1100" b="1" baseline="-25000" dirty="0">
                  <a:solidFill>
                    <a:schemeClr val="bg1"/>
                  </a:solidFill>
                </a:rPr>
                <a:t>1</a:t>
              </a:r>
              <a:r>
                <a:rPr lang="en-US" sz="1100" b="1" dirty="0">
                  <a:solidFill>
                    <a:schemeClr val="bg1"/>
                  </a:solidFill>
                </a:rPr>
                <a:t> == Hash</a:t>
              </a:r>
              <a:r>
                <a:rPr lang="en-US" sz="1100" b="1" baseline="-25000" dirty="0">
                  <a:solidFill>
                    <a:schemeClr val="bg1"/>
                  </a:solidFill>
                </a:rPr>
                <a:t>2</a:t>
              </a:r>
              <a:r>
                <a:rPr lang="en-US" sz="1100" b="1" dirty="0">
                  <a:solidFill>
                    <a:schemeClr val="bg1"/>
                  </a:solidFill>
                </a:rPr>
                <a:t>?</a:t>
              </a:r>
            </a:p>
          </p:txBody>
        </p:sp>
      </p:grpSp>
      <p:sp>
        <p:nvSpPr>
          <p:cNvPr id="37" name="Rectangle 36">
            <a:extLst>
              <a:ext uri="{FF2B5EF4-FFF2-40B4-BE49-F238E27FC236}">
                <a16:creationId xmlns:a16="http://schemas.microsoft.com/office/drawing/2014/main" id="{6F28EB19-6168-D7EB-570F-CF46B3B351D6}"/>
              </a:ext>
            </a:extLst>
          </p:cNvPr>
          <p:cNvSpPr/>
          <p:nvPr/>
        </p:nvSpPr>
        <p:spPr>
          <a:xfrm>
            <a:off x="6940608" y="6107907"/>
            <a:ext cx="1828800" cy="369093"/>
          </a:xfrm>
          <a:prstGeom prst="rect">
            <a:avLst/>
          </a:prstGeom>
          <a:ln w="12700">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sz="1200" b="1" dirty="0">
                <a:solidFill>
                  <a:schemeClr val="tx1"/>
                </a:solidFill>
              </a:rPr>
              <a:t>Process RPV</a:t>
            </a:r>
          </a:p>
        </p:txBody>
      </p:sp>
      <p:grpSp>
        <p:nvGrpSpPr>
          <p:cNvPr id="38" name="Group 37">
            <a:extLst>
              <a:ext uri="{FF2B5EF4-FFF2-40B4-BE49-F238E27FC236}">
                <a16:creationId xmlns:a16="http://schemas.microsoft.com/office/drawing/2014/main" id="{3BB6FE98-E77B-CB8A-0C66-F2B4BD820B77}"/>
              </a:ext>
            </a:extLst>
          </p:cNvPr>
          <p:cNvGrpSpPr/>
          <p:nvPr/>
        </p:nvGrpSpPr>
        <p:grpSpPr>
          <a:xfrm>
            <a:off x="9310132" y="2069507"/>
            <a:ext cx="1295400" cy="914400"/>
            <a:chOff x="3200400" y="2514600"/>
            <a:chExt cx="1295400" cy="914400"/>
          </a:xfrm>
          <a:solidFill>
            <a:schemeClr val="accent1">
              <a:lumMod val="75000"/>
            </a:schemeClr>
          </a:solidFill>
        </p:grpSpPr>
        <p:sp>
          <p:nvSpPr>
            <p:cNvPr id="39" name="Diamond 38">
              <a:extLst>
                <a:ext uri="{FF2B5EF4-FFF2-40B4-BE49-F238E27FC236}">
                  <a16:creationId xmlns:a16="http://schemas.microsoft.com/office/drawing/2014/main" id="{CFAE4305-BA6E-E510-9266-A155D8BC959F}"/>
                </a:ext>
              </a:extLst>
            </p:cNvPr>
            <p:cNvSpPr/>
            <p:nvPr/>
          </p:nvSpPr>
          <p:spPr>
            <a:xfrm>
              <a:off x="3200400" y="2514600"/>
              <a:ext cx="1295400" cy="914400"/>
            </a:xfrm>
            <a:prstGeom prst="diamon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40" name="TextBox 39">
              <a:extLst>
                <a:ext uri="{FF2B5EF4-FFF2-40B4-BE49-F238E27FC236}">
                  <a16:creationId xmlns:a16="http://schemas.microsoft.com/office/drawing/2014/main" id="{F21C6A4D-7A3F-A757-6D66-577A13AA75CC}"/>
                </a:ext>
              </a:extLst>
            </p:cNvPr>
            <p:cNvSpPr txBox="1"/>
            <p:nvPr/>
          </p:nvSpPr>
          <p:spPr>
            <a:xfrm>
              <a:off x="3326965" y="2835243"/>
              <a:ext cx="1042273" cy="261610"/>
            </a:xfrm>
            <a:prstGeom prst="rect">
              <a:avLst/>
            </a:prstGeom>
            <a:noFill/>
          </p:spPr>
          <p:txBody>
            <a:bodyPr wrap="none" rtlCol="0">
              <a:spAutoFit/>
            </a:bodyPr>
            <a:lstStyle/>
            <a:p>
              <a:pPr algn="ctr"/>
              <a:r>
                <a:rPr lang="en-US" sz="1100" b="1" dirty="0">
                  <a:solidFill>
                    <a:schemeClr val="bg1"/>
                  </a:solidFill>
                </a:rPr>
                <a:t>First message?</a:t>
              </a:r>
            </a:p>
          </p:txBody>
        </p:sp>
      </p:grpSp>
      <p:grpSp>
        <p:nvGrpSpPr>
          <p:cNvPr id="41" name="Group 40">
            <a:extLst>
              <a:ext uri="{FF2B5EF4-FFF2-40B4-BE49-F238E27FC236}">
                <a16:creationId xmlns:a16="http://schemas.microsoft.com/office/drawing/2014/main" id="{7F90FD53-5D62-8AF6-87A8-E6DF21990718}"/>
              </a:ext>
            </a:extLst>
          </p:cNvPr>
          <p:cNvGrpSpPr/>
          <p:nvPr/>
        </p:nvGrpSpPr>
        <p:grpSpPr>
          <a:xfrm>
            <a:off x="10376932" y="3155662"/>
            <a:ext cx="1295400" cy="914400"/>
            <a:chOff x="3200400" y="2514600"/>
            <a:chExt cx="1295400" cy="914400"/>
          </a:xfrm>
          <a:solidFill>
            <a:schemeClr val="accent1">
              <a:lumMod val="75000"/>
            </a:schemeClr>
          </a:solidFill>
        </p:grpSpPr>
        <p:sp>
          <p:nvSpPr>
            <p:cNvPr id="42" name="Diamond 41">
              <a:extLst>
                <a:ext uri="{FF2B5EF4-FFF2-40B4-BE49-F238E27FC236}">
                  <a16:creationId xmlns:a16="http://schemas.microsoft.com/office/drawing/2014/main" id="{063EB1D2-0503-6BC0-CA9D-F996E7988064}"/>
                </a:ext>
              </a:extLst>
            </p:cNvPr>
            <p:cNvSpPr/>
            <p:nvPr/>
          </p:nvSpPr>
          <p:spPr>
            <a:xfrm>
              <a:off x="3200400" y="2514600"/>
              <a:ext cx="1295400" cy="914400"/>
            </a:xfrm>
            <a:prstGeom prst="diamond">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43" name="TextBox 42">
              <a:extLst>
                <a:ext uri="{FF2B5EF4-FFF2-40B4-BE49-F238E27FC236}">
                  <a16:creationId xmlns:a16="http://schemas.microsoft.com/office/drawing/2014/main" id="{2EE55705-3E19-F7FF-B8D1-F1E1206A66C4}"/>
                </a:ext>
              </a:extLst>
            </p:cNvPr>
            <p:cNvSpPr txBox="1"/>
            <p:nvPr/>
          </p:nvSpPr>
          <p:spPr>
            <a:xfrm>
              <a:off x="3469634" y="2831128"/>
              <a:ext cx="756937" cy="261610"/>
            </a:xfrm>
            <a:prstGeom prst="rect">
              <a:avLst/>
            </a:prstGeom>
            <a:grpFill/>
          </p:spPr>
          <p:txBody>
            <a:bodyPr wrap="none" rtlCol="0">
              <a:spAutoFit/>
            </a:bodyPr>
            <a:lstStyle/>
            <a:p>
              <a:pPr algn="ctr"/>
              <a:r>
                <a:rPr lang="en-US" sz="1100" b="1" dirty="0">
                  <a:solidFill>
                    <a:schemeClr val="bg1"/>
                  </a:solidFill>
                </a:rPr>
                <a:t>TS</a:t>
              </a:r>
              <a:r>
                <a:rPr lang="en-US" sz="1100" b="1" baseline="-25000" dirty="0">
                  <a:solidFill>
                    <a:schemeClr val="bg1"/>
                  </a:solidFill>
                </a:rPr>
                <a:t>1</a:t>
              </a:r>
              <a:r>
                <a:rPr lang="en-US" sz="1100" b="1" dirty="0">
                  <a:solidFill>
                    <a:schemeClr val="bg1"/>
                  </a:solidFill>
                </a:rPr>
                <a:t> &gt; TS</a:t>
              </a:r>
              <a:r>
                <a:rPr lang="en-US" sz="1100" b="1" baseline="-25000" dirty="0">
                  <a:solidFill>
                    <a:schemeClr val="bg1"/>
                  </a:solidFill>
                </a:rPr>
                <a:t>2</a:t>
              </a:r>
              <a:r>
                <a:rPr lang="en-US" sz="1100" b="1" dirty="0">
                  <a:solidFill>
                    <a:schemeClr val="bg1"/>
                  </a:solidFill>
                </a:rPr>
                <a:t>?</a:t>
              </a:r>
            </a:p>
          </p:txBody>
        </p:sp>
      </p:grpSp>
      <p:sp>
        <p:nvSpPr>
          <p:cNvPr id="44" name="Rectangle 43">
            <a:extLst>
              <a:ext uri="{FF2B5EF4-FFF2-40B4-BE49-F238E27FC236}">
                <a16:creationId xmlns:a16="http://schemas.microsoft.com/office/drawing/2014/main" id="{589F3F4F-FE75-66B4-A3EF-3E291EC553B2}"/>
              </a:ext>
            </a:extLst>
          </p:cNvPr>
          <p:cNvSpPr/>
          <p:nvPr/>
        </p:nvSpPr>
        <p:spPr>
          <a:xfrm>
            <a:off x="9043432" y="4425005"/>
            <a:ext cx="1828800" cy="369093"/>
          </a:xfrm>
          <a:prstGeom prst="rect">
            <a:avLst/>
          </a:prstGeom>
          <a:ln w="12700">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r>
              <a:rPr lang="en-US" sz="1200" b="1" dirty="0">
                <a:solidFill>
                  <a:schemeClr val="tx1"/>
                </a:solidFill>
              </a:rPr>
              <a:t>TS</a:t>
            </a:r>
            <a:r>
              <a:rPr lang="en-US" sz="1200" b="1" baseline="-25000" dirty="0">
                <a:solidFill>
                  <a:schemeClr val="tx1"/>
                </a:solidFill>
              </a:rPr>
              <a:t>2</a:t>
            </a:r>
            <a:r>
              <a:rPr lang="en-US" sz="1200" b="1" dirty="0">
                <a:solidFill>
                  <a:schemeClr val="tx1"/>
                </a:solidFill>
              </a:rPr>
              <a:t> = new TS</a:t>
            </a:r>
            <a:r>
              <a:rPr lang="en-US" sz="1200" b="1" baseline="-25000" dirty="0">
                <a:solidFill>
                  <a:schemeClr val="tx1"/>
                </a:solidFill>
              </a:rPr>
              <a:t>1</a:t>
            </a:r>
            <a:r>
              <a:rPr lang="en-US" sz="1200" b="1" dirty="0">
                <a:solidFill>
                  <a:schemeClr val="tx1"/>
                </a:solidFill>
              </a:rPr>
              <a:t> value</a:t>
            </a:r>
          </a:p>
        </p:txBody>
      </p:sp>
      <p:sp>
        <p:nvSpPr>
          <p:cNvPr id="45" name="Rectangle 44">
            <a:extLst>
              <a:ext uri="{FF2B5EF4-FFF2-40B4-BE49-F238E27FC236}">
                <a16:creationId xmlns:a16="http://schemas.microsoft.com/office/drawing/2014/main" id="{3E966712-7E70-9C0E-4A94-6F3DEB1EAF5C}"/>
              </a:ext>
            </a:extLst>
          </p:cNvPr>
          <p:cNvSpPr/>
          <p:nvPr/>
        </p:nvSpPr>
        <p:spPr>
          <a:xfrm>
            <a:off x="9043432" y="6107907"/>
            <a:ext cx="1828800" cy="369093"/>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Accept Message</a:t>
            </a:r>
          </a:p>
        </p:txBody>
      </p:sp>
      <p:sp>
        <p:nvSpPr>
          <p:cNvPr id="46" name="Rectangle 45">
            <a:extLst>
              <a:ext uri="{FF2B5EF4-FFF2-40B4-BE49-F238E27FC236}">
                <a16:creationId xmlns:a16="http://schemas.microsoft.com/office/drawing/2014/main" id="{CF16C6F0-D9E3-3566-CBBC-ACF54C1282A0}"/>
              </a:ext>
            </a:extLst>
          </p:cNvPr>
          <p:cNvSpPr/>
          <p:nvPr/>
        </p:nvSpPr>
        <p:spPr>
          <a:xfrm>
            <a:off x="5286819" y="3759993"/>
            <a:ext cx="856361" cy="369093"/>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bg1"/>
                </a:solidFill>
              </a:rPr>
              <a:t>Discard Message</a:t>
            </a:r>
          </a:p>
        </p:txBody>
      </p:sp>
      <p:cxnSp>
        <p:nvCxnSpPr>
          <p:cNvPr id="48" name="Straight Arrow Connector 47">
            <a:extLst>
              <a:ext uri="{FF2B5EF4-FFF2-40B4-BE49-F238E27FC236}">
                <a16:creationId xmlns:a16="http://schemas.microsoft.com/office/drawing/2014/main" id="{D30B2D0B-21EF-5698-DC26-2A1AAE23FC27}"/>
              </a:ext>
            </a:extLst>
          </p:cNvPr>
          <p:cNvCxnSpPr>
            <a:stCxn id="7" idx="2"/>
            <a:endCxn id="8" idx="0"/>
          </p:cNvCxnSpPr>
          <p:nvPr/>
        </p:nvCxnSpPr>
        <p:spPr>
          <a:xfrm flipH="1">
            <a:off x="1295400" y="2453556"/>
            <a:ext cx="1" cy="21056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0B6AA877-FB78-7C55-F178-095275C7D2FA}"/>
              </a:ext>
            </a:extLst>
          </p:cNvPr>
          <p:cNvCxnSpPr>
            <a:stCxn id="8" idx="2"/>
            <a:endCxn id="10" idx="0"/>
          </p:cNvCxnSpPr>
          <p:nvPr/>
        </p:nvCxnSpPr>
        <p:spPr>
          <a:xfrm>
            <a:off x="1295400" y="3033209"/>
            <a:ext cx="0" cy="21056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87C73E69-E639-96B0-5D35-6D4A5A0DFE94}"/>
              </a:ext>
            </a:extLst>
          </p:cNvPr>
          <p:cNvCxnSpPr>
            <a:stCxn id="10" idx="2"/>
            <a:endCxn id="11" idx="0"/>
          </p:cNvCxnSpPr>
          <p:nvPr/>
        </p:nvCxnSpPr>
        <p:spPr>
          <a:xfrm>
            <a:off x="1295400" y="3612862"/>
            <a:ext cx="0" cy="21056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DFEE1BE9-589E-0A96-F662-CC315B216A46}"/>
              </a:ext>
            </a:extLst>
          </p:cNvPr>
          <p:cNvCxnSpPr>
            <a:stCxn id="11" idx="2"/>
            <a:endCxn id="12" idx="0"/>
          </p:cNvCxnSpPr>
          <p:nvPr/>
        </p:nvCxnSpPr>
        <p:spPr>
          <a:xfrm>
            <a:off x="1295400" y="4192515"/>
            <a:ext cx="0" cy="23249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6" name="Connector: Elbow 55">
            <a:extLst>
              <a:ext uri="{FF2B5EF4-FFF2-40B4-BE49-F238E27FC236}">
                <a16:creationId xmlns:a16="http://schemas.microsoft.com/office/drawing/2014/main" id="{C5C8ECF4-B410-37AA-FB30-3F5CD7F069C3}"/>
              </a:ext>
            </a:extLst>
          </p:cNvPr>
          <p:cNvCxnSpPr>
            <a:cxnSpLocks/>
            <a:stCxn id="12" idx="3"/>
            <a:endCxn id="16" idx="0"/>
          </p:cNvCxnSpPr>
          <p:nvPr/>
        </p:nvCxnSpPr>
        <p:spPr>
          <a:xfrm flipV="1">
            <a:off x="2209800" y="3767365"/>
            <a:ext cx="1143001" cy="842187"/>
          </a:xfrm>
          <a:prstGeom prst="bentConnector4">
            <a:avLst>
              <a:gd name="adj1" fmla="val 11667"/>
              <a:gd name="adj2" fmla="val 127144"/>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9DC7B828-79D1-E4AD-C72C-D26BD7CE892E}"/>
              </a:ext>
            </a:extLst>
          </p:cNvPr>
          <p:cNvCxnSpPr>
            <a:stCxn id="16" idx="2"/>
            <a:endCxn id="19" idx="0"/>
          </p:cNvCxnSpPr>
          <p:nvPr/>
        </p:nvCxnSpPr>
        <p:spPr>
          <a:xfrm flipH="1">
            <a:off x="3352800" y="4681765"/>
            <a:ext cx="1" cy="248467"/>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C85798D2-58A2-0B55-0B01-1EC45CC9E075}"/>
              </a:ext>
            </a:extLst>
          </p:cNvPr>
          <p:cNvCxnSpPr>
            <a:stCxn id="19" idx="2"/>
            <a:endCxn id="20" idx="0"/>
          </p:cNvCxnSpPr>
          <p:nvPr/>
        </p:nvCxnSpPr>
        <p:spPr>
          <a:xfrm>
            <a:off x="3352800" y="5299325"/>
            <a:ext cx="0" cy="206999"/>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90C491FC-D557-85D4-C7A0-DAEE1D783248}"/>
              </a:ext>
            </a:extLst>
          </p:cNvPr>
          <p:cNvCxnSpPr>
            <a:cxnSpLocks/>
            <a:stCxn id="20" idx="2"/>
            <a:endCxn id="21" idx="0"/>
          </p:cNvCxnSpPr>
          <p:nvPr/>
        </p:nvCxnSpPr>
        <p:spPr>
          <a:xfrm>
            <a:off x="3352800" y="5875417"/>
            <a:ext cx="0" cy="232490"/>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025" name="Connector: Elbow 1024">
            <a:extLst>
              <a:ext uri="{FF2B5EF4-FFF2-40B4-BE49-F238E27FC236}">
                <a16:creationId xmlns:a16="http://schemas.microsoft.com/office/drawing/2014/main" id="{6E668ED7-F44F-C2BD-A894-B0F78B709149}"/>
              </a:ext>
            </a:extLst>
          </p:cNvPr>
          <p:cNvCxnSpPr>
            <a:cxnSpLocks/>
            <a:stCxn id="21" idx="3"/>
            <a:endCxn id="22" idx="1"/>
          </p:cNvCxnSpPr>
          <p:nvPr/>
        </p:nvCxnSpPr>
        <p:spPr>
          <a:xfrm flipV="1">
            <a:off x="4267200" y="2089547"/>
            <a:ext cx="533401" cy="4202907"/>
          </a:xfrm>
          <a:prstGeom prst="bentConnector3">
            <a:avLst>
              <a:gd name="adj1" fmla="val 50000"/>
            </a:avLst>
          </a:prstGeom>
          <a:ln>
            <a:solidFill>
              <a:schemeClr val="accent6">
                <a:lumMod val="60000"/>
                <a:lumOff val="40000"/>
              </a:schemeClr>
            </a:solidFill>
            <a:prstDash val="lgDashDotDot"/>
            <a:tailEnd type="triangle"/>
          </a:ln>
        </p:spPr>
        <p:style>
          <a:lnRef idx="1">
            <a:schemeClr val="accent1"/>
          </a:lnRef>
          <a:fillRef idx="0">
            <a:schemeClr val="accent1"/>
          </a:fillRef>
          <a:effectRef idx="0">
            <a:schemeClr val="accent1"/>
          </a:effectRef>
          <a:fontRef idx="minor">
            <a:schemeClr val="tx1"/>
          </a:fontRef>
        </p:style>
      </p:cxnSp>
      <p:cxnSp>
        <p:nvCxnSpPr>
          <p:cNvPr id="1031" name="Connector: Elbow 1030">
            <a:extLst>
              <a:ext uri="{FF2B5EF4-FFF2-40B4-BE49-F238E27FC236}">
                <a16:creationId xmlns:a16="http://schemas.microsoft.com/office/drawing/2014/main" id="{5712B063-1D81-6458-AFD2-98E39C1ADA06}"/>
              </a:ext>
            </a:extLst>
          </p:cNvPr>
          <p:cNvCxnSpPr>
            <a:stCxn id="22" idx="2"/>
            <a:endCxn id="25" idx="0"/>
          </p:cNvCxnSpPr>
          <p:nvPr/>
        </p:nvCxnSpPr>
        <p:spPr>
          <a:xfrm rot="16200000" flipH="1">
            <a:off x="5603944" y="2385149"/>
            <a:ext cx="222977" cy="863"/>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35" name="Straight Arrow Connector 1034">
            <a:extLst>
              <a:ext uri="{FF2B5EF4-FFF2-40B4-BE49-F238E27FC236}">
                <a16:creationId xmlns:a16="http://schemas.microsoft.com/office/drawing/2014/main" id="{8ED11CB2-3AEC-D72E-C74B-CC5ABDC04EBB}"/>
              </a:ext>
            </a:extLst>
          </p:cNvPr>
          <p:cNvCxnSpPr>
            <a:stCxn id="23" idx="2"/>
            <a:endCxn id="27" idx="0"/>
          </p:cNvCxnSpPr>
          <p:nvPr/>
        </p:nvCxnSpPr>
        <p:spPr>
          <a:xfrm>
            <a:off x="5715001" y="4788693"/>
            <a:ext cx="0" cy="1319214"/>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038" name="Connector: Elbow 1037">
            <a:extLst>
              <a:ext uri="{FF2B5EF4-FFF2-40B4-BE49-F238E27FC236}">
                <a16:creationId xmlns:a16="http://schemas.microsoft.com/office/drawing/2014/main" id="{52017D34-019C-3EF5-4B82-81B19A21FF74}"/>
              </a:ext>
            </a:extLst>
          </p:cNvPr>
          <p:cNvCxnSpPr>
            <a:cxnSpLocks/>
            <a:stCxn id="27" idx="3"/>
            <a:endCxn id="29" idx="0"/>
          </p:cNvCxnSpPr>
          <p:nvPr/>
        </p:nvCxnSpPr>
        <p:spPr>
          <a:xfrm flipV="1">
            <a:off x="6629401" y="2084463"/>
            <a:ext cx="1225608" cy="4207991"/>
          </a:xfrm>
          <a:prstGeom prst="bentConnector4">
            <a:avLst>
              <a:gd name="adj1" fmla="val 7256"/>
              <a:gd name="adj2" fmla="val 105433"/>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041" name="Straight Arrow Connector 1040">
            <a:extLst>
              <a:ext uri="{FF2B5EF4-FFF2-40B4-BE49-F238E27FC236}">
                <a16:creationId xmlns:a16="http://schemas.microsoft.com/office/drawing/2014/main" id="{9E6162D8-5028-E666-FF47-B06F4EFACE6C}"/>
              </a:ext>
            </a:extLst>
          </p:cNvPr>
          <p:cNvCxnSpPr>
            <a:cxnSpLocks/>
            <a:stCxn id="29" idx="2"/>
            <a:endCxn id="31" idx="0"/>
          </p:cNvCxnSpPr>
          <p:nvPr/>
        </p:nvCxnSpPr>
        <p:spPr>
          <a:xfrm flipH="1">
            <a:off x="7855008" y="2998863"/>
            <a:ext cx="1" cy="248467"/>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043" name="Straight Arrow Connector 1042">
            <a:extLst>
              <a:ext uri="{FF2B5EF4-FFF2-40B4-BE49-F238E27FC236}">
                <a16:creationId xmlns:a16="http://schemas.microsoft.com/office/drawing/2014/main" id="{19A2B4DF-3168-4642-3050-C9F5E44D3FA6}"/>
              </a:ext>
            </a:extLst>
          </p:cNvPr>
          <p:cNvCxnSpPr>
            <a:stCxn id="31" idx="2"/>
            <a:endCxn id="32" idx="0"/>
          </p:cNvCxnSpPr>
          <p:nvPr/>
        </p:nvCxnSpPr>
        <p:spPr>
          <a:xfrm>
            <a:off x="7855008" y="3616423"/>
            <a:ext cx="0" cy="206999"/>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045" name="Straight Arrow Connector 1044">
            <a:extLst>
              <a:ext uri="{FF2B5EF4-FFF2-40B4-BE49-F238E27FC236}">
                <a16:creationId xmlns:a16="http://schemas.microsoft.com/office/drawing/2014/main" id="{D8581012-6095-704B-FDCC-6B9DBC481A4B}"/>
              </a:ext>
            </a:extLst>
          </p:cNvPr>
          <p:cNvCxnSpPr>
            <a:stCxn id="32" idx="2"/>
            <a:endCxn id="35" idx="0"/>
          </p:cNvCxnSpPr>
          <p:nvPr/>
        </p:nvCxnSpPr>
        <p:spPr>
          <a:xfrm>
            <a:off x="7855008" y="4192515"/>
            <a:ext cx="0" cy="243172"/>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050" name="Connector: Elbow 1049">
            <a:extLst>
              <a:ext uri="{FF2B5EF4-FFF2-40B4-BE49-F238E27FC236}">
                <a16:creationId xmlns:a16="http://schemas.microsoft.com/office/drawing/2014/main" id="{96C9DA6B-5FE1-1CF2-827B-0BE1B4086A4E}"/>
              </a:ext>
            </a:extLst>
          </p:cNvPr>
          <p:cNvCxnSpPr>
            <a:stCxn id="37" idx="3"/>
            <a:endCxn id="39" idx="0"/>
          </p:cNvCxnSpPr>
          <p:nvPr/>
        </p:nvCxnSpPr>
        <p:spPr>
          <a:xfrm flipV="1">
            <a:off x="8769408" y="2069507"/>
            <a:ext cx="1188424" cy="4222947"/>
          </a:xfrm>
          <a:prstGeom prst="bentConnector4">
            <a:avLst>
              <a:gd name="adj1" fmla="val 16338"/>
              <a:gd name="adj2" fmla="val 105413"/>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059" name="Rectangle 1058">
            <a:extLst>
              <a:ext uri="{FF2B5EF4-FFF2-40B4-BE49-F238E27FC236}">
                <a16:creationId xmlns:a16="http://schemas.microsoft.com/office/drawing/2014/main" id="{62A530F4-FAA5-5870-DB04-A4AB5EC0C0D4}"/>
              </a:ext>
            </a:extLst>
          </p:cNvPr>
          <p:cNvSpPr/>
          <p:nvPr/>
        </p:nvSpPr>
        <p:spPr>
          <a:xfrm>
            <a:off x="7426829" y="5574507"/>
            <a:ext cx="856361" cy="369093"/>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a:solidFill>
                  <a:schemeClr val="bg1"/>
                </a:solidFill>
              </a:rPr>
              <a:t>Discard Message</a:t>
            </a:r>
            <a:endParaRPr lang="en-US" sz="1200" b="1" dirty="0">
              <a:solidFill>
                <a:schemeClr val="bg1"/>
              </a:solidFill>
            </a:endParaRPr>
          </a:p>
        </p:txBody>
      </p:sp>
      <p:cxnSp>
        <p:nvCxnSpPr>
          <p:cNvPr id="1070" name="Connector: Elbow 1069">
            <a:extLst>
              <a:ext uri="{FF2B5EF4-FFF2-40B4-BE49-F238E27FC236}">
                <a16:creationId xmlns:a16="http://schemas.microsoft.com/office/drawing/2014/main" id="{B95C2821-25E8-61B8-CA86-2812093CFF0F}"/>
              </a:ext>
            </a:extLst>
          </p:cNvPr>
          <p:cNvCxnSpPr>
            <a:stCxn id="39" idx="3"/>
            <a:endCxn id="42" idx="0"/>
          </p:cNvCxnSpPr>
          <p:nvPr/>
        </p:nvCxnSpPr>
        <p:spPr>
          <a:xfrm>
            <a:off x="10605532" y="2526707"/>
            <a:ext cx="419100" cy="628955"/>
          </a:xfrm>
          <a:prstGeom prst="bentConnector2">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072" name="Straight Arrow Connector 1071">
            <a:extLst>
              <a:ext uri="{FF2B5EF4-FFF2-40B4-BE49-F238E27FC236}">
                <a16:creationId xmlns:a16="http://schemas.microsoft.com/office/drawing/2014/main" id="{402C46BE-34FC-B054-A5BF-749D064371A8}"/>
              </a:ext>
            </a:extLst>
          </p:cNvPr>
          <p:cNvCxnSpPr>
            <a:stCxn id="39" idx="2"/>
            <a:endCxn id="44" idx="0"/>
          </p:cNvCxnSpPr>
          <p:nvPr/>
        </p:nvCxnSpPr>
        <p:spPr>
          <a:xfrm>
            <a:off x="9957832" y="2983907"/>
            <a:ext cx="0" cy="144109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074" name="Straight Arrow Connector 1073">
            <a:extLst>
              <a:ext uri="{FF2B5EF4-FFF2-40B4-BE49-F238E27FC236}">
                <a16:creationId xmlns:a16="http://schemas.microsoft.com/office/drawing/2014/main" id="{40C9C81C-2ADF-DC80-0155-44E54F30DBAF}"/>
              </a:ext>
            </a:extLst>
          </p:cNvPr>
          <p:cNvCxnSpPr>
            <a:stCxn id="44" idx="2"/>
            <a:endCxn id="45" idx="0"/>
          </p:cNvCxnSpPr>
          <p:nvPr/>
        </p:nvCxnSpPr>
        <p:spPr>
          <a:xfrm>
            <a:off x="9957832" y="4794098"/>
            <a:ext cx="0" cy="1313809"/>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075" name="Rectangle 1074">
            <a:extLst>
              <a:ext uri="{FF2B5EF4-FFF2-40B4-BE49-F238E27FC236}">
                <a16:creationId xmlns:a16="http://schemas.microsoft.com/office/drawing/2014/main" id="{DF583664-E68A-BEEC-8D63-A420B86F1AF6}"/>
              </a:ext>
            </a:extLst>
          </p:cNvPr>
          <p:cNvSpPr/>
          <p:nvPr/>
        </p:nvSpPr>
        <p:spPr>
          <a:xfrm>
            <a:off x="10829502" y="5257800"/>
            <a:ext cx="856361" cy="369093"/>
          </a:xfrm>
          <a:prstGeom prst="rect">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bg1"/>
                </a:solidFill>
              </a:rPr>
              <a:t>Discard Message</a:t>
            </a:r>
          </a:p>
        </p:txBody>
      </p:sp>
      <p:cxnSp>
        <p:nvCxnSpPr>
          <p:cNvPr id="1077" name="Connector: Elbow 1076">
            <a:extLst>
              <a:ext uri="{FF2B5EF4-FFF2-40B4-BE49-F238E27FC236}">
                <a16:creationId xmlns:a16="http://schemas.microsoft.com/office/drawing/2014/main" id="{84D59399-24B8-3EBA-03FC-72CAC220D125}"/>
              </a:ext>
            </a:extLst>
          </p:cNvPr>
          <p:cNvCxnSpPr>
            <a:stCxn id="42" idx="2"/>
            <a:endCxn id="44" idx="3"/>
          </p:cNvCxnSpPr>
          <p:nvPr/>
        </p:nvCxnSpPr>
        <p:spPr>
          <a:xfrm rot="5400000">
            <a:off x="10678687" y="4263607"/>
            <a:ext cx="539490" cy="152400"/>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90" name="Connector: Elbow 1089">
            <a:extLst>
              <a:ext uri="{FF2B5EF4-FFF2-40B4-BE49-F238E27FC236}">
                <a16:creationId xmlns:a16="http://schemas.microsoft.com/office/drawing/2014/main" id="{2225BEB6-85CD-E390-CFD5-6089F997B9AE}"/>
              </a:ext>
            </a:extLst>
          </p:cNvPr>
          <p:cNvCxnSpPr>
            <a:stCxn id="25" idx="1"/>
            <a:endCxn id="23" idx="1"/>
          </p:cNvCxnSpPr>
          <p:nvPr/>
        </p:nvCxnSpPr>
        <p:spPr>
          <a:xfrm rot="10800000" flipV="1">
            <a:off x="4800602" y="2954269"/>
            <a:ext cx="267563" cy="1649877"/>
          </a:xfrm>
          <a:prstGeom prst="bentConnector3">
            <a:avLst>
              <a:gd name="adj1" fmla="val 149839"/>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94" name="Straight Arrow Connector 1093">
            <a:extLst>
              <a:ext uri="{FF2B5EF4-FFF2-40B4-BE49-F238E27FC236}">
                <a16:creationId xmlns:a16="http://schemas.microsoft.com/office/drawing/2014/main" id="{FC055036-7153-F6FC-D18D-680770C686E6}"/>
              </a:ext>
            </a:extLst>
          </p:cNvPr>
          <p:cNvCxnSpPr>
            <a:stCxn id="25" idx="2"/>
            <a:endCxn id="46" idx="0"/>
          </p:cNvCxnSpPr>
          <p:nvPr/>
        </p:nvCxnSpPr>
        <p:spPr>
          <a:xfrm flipH="1">
            <a:off x="5715000" y="3411470"/>
            <a:ext cx="864" cy="34852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96" name="Connector: Elbow 1095">
            <a:extLst>
              <a:ext uri="{FF2B5EF4-FFF2-40B4-BE49-F238E27FC236}">
                <a16:creationId xmlns:a16="http://schemas.microsoft.com/office/drawing/2014/main" id="{DFFF0B3E-A408-6A7F-0647-64DD07213BAC}"/>
              </a:ext>
            </a:extLst>
          </p:cNvPr>
          <p:cNvCxnSpPr>
            <a:stCxn id="36" idx="1"/>
            <a:endCxn id="37" idx="1"/>
          </p:cNvCxnSpPr>
          <p:nvPr/>
        </p:nvCxnSpPr>
        <p:spPr>
          <a:xfrm rot="10800000" flipV="1">
            <a:off x="6940608" y="4883154"/>
            <a:ext cx="348380" cy="1409299"/>
          </a:xfrm>
          <a:prstGeom prst="bentConnector3">
            <a:avLst>
              <a:gd name="adj1" fmla="val 14101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101" name="Straight Arrow Connector 1100">
            <a:extLst>
              <a:ext uri="{FF2B5EF4-FFF2-40B4-BE49-F238E27FC236}">
                <a16:creationId xmlns:a16="http://schemas.microsoft.com/office/drawing/2014/main" id="{C645923E-7D21-1EBF-46C9-2F4EFCEF4170}"/>
              </a:ext>
            </a:extLst>
          </p:cNvPr>
          <p:cNvCxnSpPr>
            <a:stCxn id="35" idx="2"/>
            <a:endCxn id="1059" idx="0"/>
          </p:cNvCxnSpPr>
          <p:nvPr/>
        </p:nvCxnSpPr>
        <p:spPr>
          <a:xfrm>
            <a:off x="7855008" y="5350087"/>
            <a:ext cx="2" cy="2244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03" name="Connector: Elbow 1102">
            <a:extLst>
              <a:ext uri="{FF2B5EF4-FFF2-40B4-BE49-F238E27FC236}">
                <a16:creationId xmlns:a16="http://schemas.microsoft.com/office/drawing/2014/main" id="{04F3C2FE-C281-2807-40EF-63AC5E2F7B71}"/>
              </a:ext>
            </a:extLst>
          </p:cNvPr>
          <p:cNvCxnSpPr>
            <a:stCxn id="42" idx="3"/>
            <a:endCxn id="1075" idx="3"/>
          </p:cNvCxnSpPr>
          <p:nvPr/>
        </p:nvCxnSpPr>
        <p:spPr>
          <a:xfrm>
            <a:off x="11672332" y="3612862"/>
            <a:ext cx="13531" cy="1829485"/>
          </a:xfrm>
          <a:prstGeom prst="bentConnector3">
            <a:avLst>
              <a:gd name="adj1" fmla="val 1789454"/>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105" name="TextBox 1104">
            <a:extLst>
              <a:ext uri="{FF2B5EF4-FFF2-40B4-BE49-F238E27FC236}">
                <a16:creationId xmlns:a16="http://schemas.microsoft.com/office/drawing/2014/main" id="{995D1467-15A0-2E04-B9EB-D0C993C2FC7C}"/>
              </a:ext>
            </a:extLst>
          </p:cNvPr>
          <p:cNvSpPr txBox="1"/>
          <p:nvPr/>
        </p:nvSpPr>
        <p:spPr>
          <a:xfrm>
            <a:off x="4753022" y="2725551"/>
            <a:ext cx="367408" cy="246221"/>
          </a:xfrm>
          <a:prstGeom prst="rect">
            <a:avLst/>
          </a:prstGeom>
          <a:noFill/>
        </p:spPr>
        <p:txBody>
          <a:bodyPr wrap="none" rtlCol="0">
            <a:spAutoFit/>
          </a:bodyPr>
          <a:lstStyle/>
          <a:p>
            <a:r>
              <a:rPr lang="en-US" sz="1000" b="1" i="1" dirty="0">
                <a:solidFill>
                  <a:schemeClr val="accent2">
                    <a:lumMod val="75000"/>
                  </a:schemeClr>
                </a:solidFill>
              </a:rPr>
              <a:t>Yes</a:t>
            </a:r>
          </a:p>
        </p:txBody>
      </p:sp>
      <p:sp>
        <p:nvSpPr>
          <p:cNvPr id="1106" name="TextBox 1105">
            <a:extLst>
              <a:ext uri="{FF2B5EF4-FFF2-40B4-BE49-F238E27FC236}">
                <a16:creationId xmlns:a16="http://schemas.microsoft.com/office/drawing/2014/main" id="{F77608EB-AA73-FFB9-ACC3-E37EAA74BD1E}"/>
              </a:ext>
            </a:extLst>
          </p:cNvPr>
          <p:cNvSpPr txBox="1"/>
          <p:nvPr/>
        </p:nvSpPr>
        <p:spPr>
          <a:xfrm>
            <a:off x="3979803" y="4007969"/>
            <a:ext cx="336952" cy="246221"/>
          </a:xfrm>
          <a:prstGeom prst="rect">
            <a:avLst/>
          </a:prstGeom>
          <a:noFill/>
        </p:spPr>
        <p:txBody>
          <a:bodyPr wrap="none" rtlCol="0">
            <a:spAutoFit/>
          </a:bodyPr>
          <a:lstStyle/>
          <a:p>
            <a:r>
              <a:rPr lang="en-US" sz="1000" b="1" i="1" dirty="0">
                <a:solidFill>
                  <a:schemeClr val="accent2">
                    <a:lumMod val="75000"/>
                  </a:schemeClr>
                </a:solidFill>
              </a:rPr>
              <a:t>No</a:t>
            </a:r>
          </a:p>
        </p:txBody>
      </p:sp>
      <p:cxnSp>
        <p:nvCxnSpPr>
          <p:cNvPr id="1109" name="Connector: Elbow 1108">
            <a:extLst>
              <a:ext uri="{FF2B5EF4-FFF2-40B4-BE49-F238E27FC236}">
                <a16:creationId xmlns:a16="http://schemas.microsoft.com/office/drawing/2014/main" id="{AFCA6E52-0471-213E-4323-556EE48A73D3}"/>
              </a:ext>
            </a:extLst>
          </p:cNvPr>
          <p:cNvCxnSpPr>
            <a:stCxn id="16" idx="3"/>
            <a:endCxn id="20" idx="3"/>
          </p:cNvCxnSpPr>
          <p:nvPr/>
        </p:nvCxnSpPr>
        <p:spPr>
          <a:xfrm>
            <a:off x="4000501" y="4224565"/>
            <a:ext cx="266699" cy="1466306"/>
          </a:xfrm>
          <a:prstGeom prst="bentConnector3">
            <a:avLst>
              <a:gd name="adj1" fmla="val 157143"/>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111" name="TextBox 1110">
            <a:extLst>
              <a:ext uri="{FF2B5EF4-FFF2-40B4-BE49-F238E27FC236}">
                <a16:creationId xmlns:a16="http://schemas.microsoft.com/office/drawing/2014/main" id="{64F87B29-3CAC-5F25-BA48-F58BF57346C9}"/>
              </a:ext>
            </a:extLst>
          </p:cNvPr>
          <p:cNvSpPr txBox="1"/>
          <p:nvPr/>
        </p:nvSpPr>
        <p:spPr>
          <a:xfrm>
            <a:off x="5702384" y="3431876"/>
            <a:ext cx="336952" cy="246221"/>
          </a:xfrm>
          <a:prstGeom prst="rect">
            <a:avLst/>
          </a:prstGeom>
          <a:noFill/>
        </p:spPr>
        <p:txBody>
          <a:bodyPr wrap="none" rtlCol="0">
            <a:spAutoFit/>
          </a:bodyPr>
          <a:lstStyle/>
          <a:p>
            <a:r>
              <a:rPr lang="en-US" sz="1000" b="1" i="1" dirty="0">
                <a:solidFill>
                  <a:schemeClr val="accent2">
                    <a:lumMod val="75000"/>
                  </a:schemeClr>
                </a:solidFill>
              </a:rPr>
              <a:t>No</a:t>
            </a:r>
          </a:p>
        </p:txBody>
      </p:sp>
      <p:sp>
        <p:nvSpPr>
          <p:cNvPr id="1112" name="TextBox 1111">
            <a:extLst>
              <a:ext uri="{FF2B5EF4-FFF2-40B4-BE49-F238E27FC236}">
                <a16:creationId xmlns:a16="http://schemas.microsoft.com/office/drawing/2014/main" id="{B7152C86-B5A6-CAF3-5352-C46B83C7E515}"/>
              </a:ext>
            </a:extLst>
          </p:cNvPr>
          <p:cNvSpPr txBox="1"/>
          <p:nvPr/>
        </p:nvSpPr>
        <p:spPr>
          <a:xfrm>
            <a:off x="7863930" y="5302492"/>
            <a:ext cx="336952" cy="246221"/>
          </a:xfrm>
          <a:prstGeom prst="rect">
            <a:avLst/>
          </a:prstGeom>
          <a:noFill/>
        </p:spPr>
        <p:txBody>
          <a:bodyPr wrap="none" rtlCol="0">
            <a:spAutoFit/>
          </a:bodyPr>
          <a:lstStyle/>
          <a:p>
            <a:r>
              <a:rPr lang="en-US" sz="1000" b="1" i="1" dirty="0">
                <a:solidFill>
                  <a:schemeClr val="accent2">
                    <a:lumMod val="75000"/>
                  </a:schemeClr>
                </a:solidFill>
              </a:rPr>
              <a:t>No</a:t>
            </a:r>
          </a:p>
        </p:txBody>
      </p:sp>
      <p:sp>
        <p:nvSpPr>
          <p:cNvPr id="1113" name="TextBox 1112">
            <a:extLst>
              <a:ext uri="{FF2B5EF4-FFF2-40B4-BE49-F238E27FC236}">
                <a16:creationId xmlns:a16="http://schemas.microsoft.com/office/drawing/2014/main" id="{3327B099-9E3D-16DD-7E20-3057238D638C}"/>
              </a:ext>
            </a:extLst>
          </p:cNvPr>
          <p:cNvSpPr txBox="1"/>
          <p:nvPr/>
        </p:nvSpPr>
        <p:spPr>
          <a:xfrm>
            <a:off x="3518792" y="4637171"/>
            <a:ext cx="367408" cy="246221"/>
          </a:xfrm>
          <a:prstGeom prst="rect">
            <a:avLst/>
          </a:prstGeom>
          <a:noFill/>
        </p:spPr>
        <p:txBody>
          <a:bodyPr wrap="none" rtlCol="0">
            <a:spAutoFit/>
          </a:bodyPr>
          <a:lstStyle/>
          <a:p>
            <a:r>
              <a:rPr lang="en-US" sz="1000" b="1" i="1" dirty="0">
                <a:solidFill>
                  <a:schemeClr val="accent2">
                    <a:lumMod val="75000"/>
                  </a:schemeClr>
                </a:solidFill>
              </a:rPr>
              <a:t>Yes</a:t>
            </a:r>
          </a:p>
        </p:txBody>
      </p:sp>
      <p:sp>
        <p:nvSpPr>
          <p:cNvPr id="1114" name="TextBox 1113">
            <a:extLst>
              <a:ext uri="{FF2B5EF4-FFF2-40B4-BE49-F238E27FC236}">
                <a16:creationId xmlns:a16="http://schemas.microsoft.com/office/drawing/2014/main" id="{1302DD1D-0113-0791-7F02-BFD9987097DB}"/>
              </a:ext>
            </a:extLst>
          </p:cNvPr>
          <p:cNvSpPr txBox="1"/>
          <p:nvPr/>
        </p:nvSpPr>
        <p:spPr>
          <a:xfrm>
            <a:off x="6886990" y="4659176"/>
            <a:ext cx="367408" cy="246221"/>
          </a:xfrm>
          <a:prstGeom prst="rect">
            <a:avLst/>
          </a:prstGeom>
          <a:noFill/>
        </p:spPr>
        <p:txBody>
          <a:bodyPr wrap="none" rtlCol="0">
            <a:spAutoFit/>
          </a:bodyPr>
          <a:lstStyle/>
          <a:p>
            <a:r>
              <a:rPr lang="en-US" sz="1000" b="1" i="1" dirty="0">
                <a:solidFill>
                  <a:schemeClr val="accent2">
                    <a:lumMod val="75000"/>
                  </a:schemeClr>
                </a:solidFill>
              </a:rPr>
              <a:t>Yes</a:t>
            </a:r>
          </a:p>
        </p:txBody>
      </p:sp>
      <p:sp>
        <p:nvSpPr>
          <p:cNvPr id="1115" name="TextBox 1114">
            <a:extLst>
              <a:ext uri="{FF2B5EF4-FFF2-40B4-BE49-F238E27FC236}">
                <a16:creationId xmlns:a16="http://schemas.microsoft.com/office/drawing/2014/main" id="{E56B3CC3-3FA4-F44A-AA9F-C7D1C17C6407}"/>
              </a:ext>
            </a:extLst>
          </p:cNvPr>
          <p:cNvSpPr txBox="1"/>
          <p:nvPr/>
        </p:nvSpPr>
        <p:spPr>
          <a:xfrm>
            <a:off x="9919732" y="2999985"/>
            <a:ext cx="367408" cy="246221"/>
          </a:xfrm>
          <a:prstGeom prst="rect">
            <a:avLst/>
          </a:prstGeom>
          <a:noFill/>
        </p:spPr>
        <p:txBody>
          <a:bodyPr wrap="none" rtlCol="0">
            <a:spAutoFit/>
          </a:bodyPr>
          <a:lstStyle/>
          <a:p>
            <a:r>
              <a:rPr lang="en-US" sz="1000" b="1" i="1" dirty="0">
                <a:solidFill>
                  <a:schemeClr val="accent2">
                    <a:lumMod val="75000"/>
                  </a:schemeClr>
                </a:solidFill>
              </a:rPr>
              <a:t>Yes</a:t>
            </a:r>
          </a:p>
        </p:txBody>
      </p:sp>
      <p:sp>
        <p:nvSpPr>
          <p:cNvPr id="1116" name="TextBox 1115">
            <a:extLst>
              <a:ext uri="{FF2B5EF4-FFF2-40B4-BE49-F238E27FC236}">
                <a16:creationId xmlns:a16="http://schemas.microsoft.com/office/drawing/2014/main" id="{019BCD89-D42C-3373-E716-04C906304154}"/>
              </a:ext>
            </a:extLst>
          </p:cNvPr>
          <p:cNvSpPr txBox="1"/>
          <p:nvPr/>
        </p:nvSpPr>
        <p:spPr>
          <a:xfrm>
            <a:off x="10646463" y="2295441"/>
            <a:ext cx="336952" cy="246221"/>
          </a:xfrm>
          <a:prstGeom prst="rect">
            <a:avLst/>
          </a:prstGeom>
          <a:noFill/>
        </p:spPr>
        <p:txBody>
          <a:bodyPr wrap="none" rtlCol="0">
            <a:spAutoFit/>
          </a:bodyPr>
          <a:lstStyle/>
          <a:p>
            <a:r>
              <a:rPr lang="en-US" sz="1000" b="1" i="1" dirty="0">
                <a:solidFill>
                  <a:schemeClr val="accent2">
                    <a:lumMod val="75000"/>
                  </a:schemeClr>
                </a:solidFill>
              </a:rPr>
              <a:t>No</a:t>
            </a:r>
          </a:p>
        </p:txBody>
      </p:sp>
      <p:sp>
        <p:nvSpPr>
          <p:cNvPr id="1117" name="TextBox 1116">
            <a:extLst>
              <a:ext uri="{FF2B5EF4-FFF2-40B4-BE49-F238E27FC236}">
                <a16:creationId xmlns:a16="http://schemas.microsoft.com/office/drawing/2014/main" id="{88B3B5E7-0C5A-8F6F-32FF-69C139F1F9F1}"/>
              </a:ext>
            </a:extLst>
          </p:cNvPr>
          <p:cNvSpPr txBox="1"/>
          <p:nvPr/>
        </p:nvSpPr>
        <p:spPr>
          <a:xfrm>
            <a:off x="11626448" y="3372414"/>
            <a:ext cx="336952" cy="246221"/>
          </a:xfrm>
          <a:prstGeom prst="rect">
            <a:avLst/>
          </a:prstGeom>
          <a:noFill/>
        </p:spPr>
        <p:txBody>
          <a:bodyPr wrap="none" rtlCol="0">
            <a:spAutoFit/>
          </a:bodyPr>
          <a:lstStyle/>
          <a:p>
            <a:r>
              <a:rPr lang="en-US" sz="1000" b="1" i="1" dirty="0">
                <a:solidFill>
                  <a:schemeClr val="accent2">
                    <a:lumMod val="75000"/>
                  </a:schemeClr>
                </a:solidFill>
              </a:rPr>
              <a:t>No</a:t>
            </a:r>
          </a:p>
        </p:txBody>
      </p:sp>
      <p:sp>
        <p:nvSpPr>
          <p:cNvPr id="1118" name="TextBox 1117">
            <a:extLst>
              <a:ext uri="{FF2B5EF4-FFF2-40B4-BE49-F238E27FC236}">
                <a16:creationId xmlns:a16="http://schemas.microsoft.com/office/drawing/2014/main" id="{7D61F3B0-B5C9-F8F9-6D50-E6CA0CE59260}"/>
              </a:ext>
            </a:extLst>
          </p:cNvPr>
          <p:cNvSpPr txBox="1"/>
          <p:nvPr/>
        </p:nvSpPr>
        <p:spPr>
          <a:xfrm>
            <a:off x="10969879" y="4135294"/>
            <a:ext cx="367408" cy="246221"/>
          </a:xfrm>
          <a:prstGeom prst="rect">
            <a:avLst/>
          </a:prstGeom>
          <a:noFill/>
        </p:spPr>
        <p:txBody>
          <a:bodyPr wrap="none" rtlCol="0">
            <a:spAutoFit/>
          </a:bodyPr>
          <a:lstStyle/>
          <a:p>
            <a:r>
              <a:rPr lang="en-US" sz="1000" b="1" i="1" dirty="0">
                <a:solidFill>
                  <a:schemeClr val="accent2">
                    <a:lumMod val="75000"/>
                  </a:schemeClr>
                </a:solidFill>
              </a:rPr>
              <a:t>Yes</a:t>
            </a:r>
          </a:p>
        </p:txBody>
      </p:sp>
      <p:pic>
        <p:nvPicPr>
          <p:cNvPr id="1119" name="Picture 1118">
            <a:extLst>
              <a:ext uri="{FF2B5EF4-FFF2-40B4-BE49-F238E27FC236}">
                <a16:creationId xmlns:a16="http://schemas.microsoft.com/office/drawing/2014/main" id="{5328D6FF-CD1C-2248-5623-7394C7F2E2D7}"/>
              </a:ext>
            </a:extLst>
          </p:cNvPr>
          <p:cNvPicPr>
            <a:picLocks noChangeAspect="1"/>
          </p:cNvPicPr>
          <p:nvPr/>
        </p:nvPicPr>
        <p:blipFill>
          <a:blip r:embed="rId7"/>
          <a:stretch>
            <a:fillRect/>
          </a:stretch>
        </p:blipFill>
        <p:spPr>
          <a:xfrm>
            <a:off x="5330909" y="1003954"/>
            <a:ext cx="742950" cy="819150"/>
          </a:xfrm>
          <a:prstGeom prst="rect">
            <a:avLst/>
          </a:prstGeom>
        </p:spPr>
      </p:pic>
      <p:cxnSp>
        <p:nvCxnSpPr>
          <p:cNvPr id="1121" name="Straight Arrow Connector 1120">
            <a:extLst>
              <a:ext uri="{FF2B5EF4-FFF2-40B4-BE49-F238E27FC236}">
                <a16:creationId xmlns:a16="http://schemas.microsoft.com/office/drawing/2014/main" id="{7891E994-9B25-EFFD-E9C4-3B8811ACF5D1}"/>
              </a:ext>
            </a:extLst>
          </p:cNvPr>
          <p:cNvCxnSpPr>
            <a:stCxn id="4" idx="2"/>
            <a:endCxn id="7" idx="0"/>
          </p:cNvCxnSpPr>
          <p:nvPr/>
        </p:nvCxnSpPr>
        <p:spPr>
          <a:xfrm>
            <a:off x="1295401" y="1890985"/>
            <a:ext cx="0" cy="193478"/>
          </a:xfrm>
          <a:prstGeom prst="straightConnector1">
            <a:avLst/>
          </a:prstGeom>
          <a:ln w="12700">
            <a:tailEnd type="triangle"/>
          </a:ln>
        </p:spPr>
        <p:style>
          <a:lnRef idx="1">
            <a:schemeClr val="accent1"/>
          </a:lnRef>
          <a:fillRef idx="0">
            <a:schemeClr val="accent1"/>
          </a:fillRef>
          <a:effectRef idx="0">
            <a:schemeClr val="accent1"/>
          </a:effectRef>
          <a:fontRef idx="minor">
            <a:schemeClr val="tx1"/>
          </a:fontRef>
        </p:style>
      </p:cxnSp>
      <p:cxnSp>
        <p:nvCxnSpPr>
          <p:cNvPr id="1124" name="Connector: Elbow 1123">
            <a:extLst>
              <a:ext uri="{FF2B5EF4-FFF2-40B4-BE49-F238E27FC236}">
                <a16:creationId xmlns:a16="http://schemas.microsoft.com/office/drawing/2014/main" id="{D58FA5B2-A512-04A3-FB36-0D0D59463441}"/>
              </a:ext>
            </a:extLst>
          </p:cNvPr>
          <p:cNvCxnSpPr>
            <a:stCxn id="29" idx="3"/>
            <a:endCxn id="32" idx="3"/>
          </p:cNvCxnSpPr>
          <p:nvPr/>
        </p:nvCxnSpPr>
        <p:spPr>
          <a:xfrm>
            <a:off x="8502709" y="2541663"/>
            <a:ext cx="266699" cy="1466306"/>
          </a:xfrm>
          <a:prstGeom prst="bentConnector3">
            <a:avLst>
              <a:gd name="adj1" fmla="val 150001"/>
            </a:avLst>
          </a:prstGeom>
          <a:ln w="12700">
            <a:tailEnd type="triangle"/>
          </a:ln>
        </p:spPr>
        <p:style>
          <a:lnRef idx="1">
            <a:schemeClr val="accent1"/>
          </a:lnRef>
          <a:fillRef idx="0">
            <a:schemeClr val="accent1"/>
          </a:fillRef>
          <a:effectRef idx="0">
            <a:schemeClr val="accent1"/>
          </a:effectRef>
          <a:fontRef idx="minor">
            <a:schemeClr val="tx1"/>
          </a:fontRef>
        </p:style>
      </p:cxnSp>
      <p:sp>
        <p:nvSpPr>
          <p:cNvPr id="1128" name="TextBox 1127">
            <a:extLst>
              <a:ext uri="{FF2B5EF4-FFF2-40B4-BE49-F238E27FC236}">
                <a16:creationId xmlns:a16="http://schemas.microsoft.com/office/drawing/2014/main" id="{3F630682-B7E3-1A28-0695-0579E00984BE}"/>
              </a:ext>
            </a:extLst>
          </p:cNvPr>
          <p:cNvSpPr txBox="1"/>
          <p:nvPr/>
        </p:nvSpPr>
        <p:spPr>
          <a:xfrm>
            <a:off x="7845232" y="2942491"/>
            <a:ext cx="367408" cy="246221"/>
          </a:xfrm>
          <a:prstGeom prst="rect">
            <a:avLst/>
          </a:prstGeom>
          <a:noFill/>
        </p:spPr>
        <p:txBody>
          <a:bodyPr wrap="none" rtlCol="0">
            <a:spAutoFit/>
          </a:bodyPr>
          <a:lstStyle/>
          <a:p>
            <a:r>
              <a:rPr lang="en-US" sz="1000" b="1" i="1" dirty="0">
                <a:solidFill>
                  <a:schemeClr val="accent2">
                    <a:lumMod val="75000"/>
                  </a:schemeClr>
                </a:solidFill>
              </a:rPr>
              <a:t>Yes</a:t>
            </a:r>
          </a:p>
        </p:txBody>
      </p:sp>
      <p:sp>
        <p:nvSpPr>
          <p:cNvPr id="1129" name="TextBox 1128">
            <a:extLst>
              <a:ext uri="{FF2B5EF4-FFF2-40B4-BE49-F238E27FC236}">
                <a16:creationId xmlns:a16="http://schemas.microsoft.com/office/drawing/2014/main" id="{5ED20864-596E-8C05-6663-E373FD5E7EBA}"/>
              </a:ext>
            </a:extLst>
          </p:cNvPr>
          <p:cNvSpPr txBox="1"/>
          <p:nvPr/>
        </p:nvSpPr>
        <p:spPr>
          <a:xfrm>
            <a:off x="8460795" y="2317105"/>
            <a:ext cx="336952" cy="246221"/>
          </a:xfrm>
          <a:prstGeom prst="rect">
            <a:avLst/>
          </a:prstGeom>
          <a:noFill/>
        </p:spPr>
        <p:txBody>
          <a:bodyPr wrap="none" rtlCol="0">
            <a:spAutoFit/>
          </a:bodyPr>
          <a:lstStyle/>
          <a:p>
            <a:r>
              <a:rPr lang="en-US" sz="1000" b="1" i="1" dirty="0">
                <a:solidFill>
                  <a:schemeClr val="accent2">
                    <a:lumMod val="75000"/>
                  </a:schemeClr>
                </a:solidFill>
              </a:rPr>
              <a:t>No</a:t>
            </a:r>
          </a:p>
        </p:txBody>
      </p:sp>
    </p:spTree>
    <p:custDataLst>
      <p:tags r:id="rId1"/>
    </p:custDataLst>
    <p:extLst>
      <p:ext uri="{BB962C8B-B14F-4D97-AF65-F5344CB8AC3E}">
        <p14:creationId xmlns:p14="http://schemas.microsoft.com/office/powerpoint/2010/main" val="2369520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2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5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11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1"/>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20"/>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106"/>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109"/>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63"/>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1"/>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119"/>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25"/>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22"/>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0"/>
                                          </p:stCondLst>
                                        </p:cTn>
                                        <p:tgtEl>
                                          <p:spTgt spid="1031"/>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24"/>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46"/>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1094"/>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111"/>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1105"/>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1090"/>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23"/>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1035"/>
                                        </p:tgtEl>
                                        <p:attrNameLst>
                                          <p:attrName>style.visibility</p:attrName>
                                        </p:attrNameLst>
                                      </p:cBhvr>
                                      <p:to>
                                        <p:strVal val="visible"/>
                                      </p:to>
                                    </p:set>
                                  </p:childTnLst>
                                </p:cTn>
                              </p:par>
                              <p:par>
                                <p:cTn id="103" presetID="1" presetClass="entr" presetSubtype="0" fill="hold" grpId="0" nodeType="withEffect">
                                  <p:stCondLst>
                                    <p:cond delay="0"/>
                                  </p:stCondLst>
                                  <p:childTnLst>
                                    <p:set>
                                      <p:cBhvr>
                                        <p:cTn id="104" dur="1" fill="hold">
                                          <p:stCondLst>
                                            <p:cond delay="0"/>
                                          </p:stCondLst>
                                        </p:cTn>
                                        <p:tgtEl>
                                          <p:spTgt spid="27"/>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nodeType="clickEffect">
                                  <p:stCondLst>
                                    <p:cond delay="0"/>
                                  </p:stCondLst>
                                  <p:childTnLst>
                                    <p:set>
                                      <p:cBhvr>
                                        <p:cTn id="108" dur="1" fill="hold">
                                          <p:stCondLst>
                                            <p:cond delay="0"/>
                                          </p:stCondLst>
                                        </p:cTn>
                                        <p:tgtEl>
                                          <p:spTgt spid="1038"/>
                                        </p:tgtEl>
                                        <p:attrNameLst>
                                          <p:attrName>style.visibility</p:attrName>
                                        </p:attrNameLst>
                                      </p:cBhvr>
                                      <p:to>
                                        <p:strVal val="visible"/>
                                      </p:to>
                                    </p:set>
                                  </p:childTnLst>
                                </p:cTn>
                              </p:par>
                              <p:par>
                                <p:cTn id="109" presetID="1" presetClass="entr" presetSubtype="0" fill="hold" nodeType="withEffect">
                                  <p:stCondLst>
                                    <p:cond delay="0"/>
                                  </p:stCondLst>
                                  <p:childTnLst>
                                    <p:set>
                                      <p:cBhvr>
                                        <p:cTn id="110" dur="1" fill="hold">
                                          <p:stCondLst>
                                            <p:cond delay="0"/>
                                          </p:stCondLst>
                                        </p:cTn>
                                        <p:tgtEl>
                                          <p:spTgt spid="28"/>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31"/>
                                        </p:tgtEl>
                                        <p:attrNameLst>
                                          <p:attrName>style.visibility</p:attrName>
                                        </p:attrNameLst>
                                      </p:cBhvr>
                                      <p:to>
                                        <p:strVal val="visible"/>
                                      </p:to>
                                    </p:set>
                                  </p:childTnLst>
                                </p:cTn>
                              </p:par>
                              <p:par>
                                <p:cTn id="115" presetID="1" presetClass="entr" presetSubtype="0" fill="hold" nodeType="withEffect">
                                  <p:stCondLst>
                                    <p:cond delay="0"/>
                                  </p:stCondLst>
                                  <p:childTnLst>
                                    <p:set>
                                      <p:cBhvr>
                                        <p:cTn id="116" dur="1" fill="hold">
                                          <p:stCondLst>
                                            <p:cond delay="0"/>
                                          </p:stCondLst>
                                        </p:cTn>
                                        <p:tgtEl>
                                          <p:spTgt spid="1041"/>
                                        </p:tgtEl>
                                        <p:attrNameLst>
                                          <p:attrName>style.visibility</p:attrName>
                                        </p:attrNameLst>
                                      </p:cBhvr>
                                      <p:to>
                                        <p:strVal val="visible"/>
                                      </p:to>
                                    </p:set>
                                  </p:childTnLst>
                                </p:cTn>
                              </p:par>
                              <p:par>
                                <p:cTn id="117" presetID="1" presetClass="entr" presetSubtype="0" fill="hold" grpId="0" nodeType="withEffect">
                                  <p:stCondLst>
                                    <p:cond delay="0"/>
                                  </p:stCondLst>
                                  <p:childTnLst>
                                    <p:set>
                                      <p:cBhvr>
                                        <p:cTn id="118" dur="1" fill="hold">
                                          <p:stCondLst>
                                            <p:cond delay="0"/>
                                          </p:stCondLst>
                                        </p:cTn>
                                        <p:tgtEl>
                                          <p:spTgt spid="1128"/>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1043"/>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32"/>
                                        </p:tgtEl>
                                        <p:attrNameLst>
                                          <p:attrName>style.visibility</p:attrName>
                                        </p:attrNameLst>
                                      </p:cBhvr>
                                      <p:to>
                                        <p:strVal val="visibl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1129"/>
                                        </p:tgtEl>
                                        <p:attrNameLst>
                                          <p:attrName>style.visibility</p:attrName>
                                        </p:attrNameLst>
                                      </p:cBhvr>
                                      <p:to>
                                        <p:strVal val="visible"/>
                                      </p:to>
                                    </p:set>
                                  </p:childTnLst>
                                </p:cTn>
                              </p:par>
                              <p:par>
                                <p:cTn id="129" presetID="1" presetClass="entr" presetSubtype="0" fill="hold" nodeType="withEffect">
                                  <p:stCondLst>
                                    <p:cond delay="0"/>
                                  </p:stCondLst>
                                  <p:childTnLst>
                                    <p:set>
                                      <p:cBhvr>
                                        <p:cTn id="130" dur="1" fill="hold">
                                          <p:stCondLst>
                                            <p:cond delay="0"/>
                                          </p:stCondLst>
                                        </p:cTn>
                                        <p:tgtEl>
                                          <p:spTgt spid="1124"/>
                                        </p:tgtEl>
                                        <p:attrNameLst>
                                          <p:attrName>style.visibility</p:attrName>
                                        </p:attrNameLst>
                                      </p:cBhvr>
                                      <p:to>
                                        <p:strVal val="visible"/>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1045"/>
                                        </p:tgtEl>
                                        <p:attrNameLst>
                                          <p:attrName>style.visibility</p:attrName>
                                        </p:attrNameLst>
                                      </p:cBhvr>
                                      <p:to>
                                        <p:strVal val="visible"/>
                                      </p:to>
                                    </p:set>
                                  </p:childTnLst>
                                </p:cTn>
                              </p:par>
                              <p:par>
                                <p:cTn id="135" presetID="1" presetClass="entr" presetSubtype="0" fill="hold" nodeType="withEffect">
                                  <p:stCondLst>
                                    <p:cond delay="0"/>
                                  </p:stCondLst>
                                  <p:childTnLst>
                                    <p:set>
                                      <p:cBhvr>
                                        <p:cTn id="136" dur="1" fill="hold">
                                          <p:stCondLst>
                                            <p:cond delay="0"/>
                                          </p:stCondLst>
                                        </p:cTn>
                                        <p:tgtEl>
                                          <p:spTgt spid="34"/>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grpId="0" nodeType="clickEffect">
                                  <p:stCondLst>
                                    <p:cond delay="0"/>
                                  </p:stCondLst>
                                  <p:childTnLst>
                                    <p:set>
                                      <p:cBhvr>
                                        <p:cTn id="140" dur="1" fill="hold">
                                          <p:stCondLst>
                                            <p:cond delay="0"/>
                                          </p:stCondLst>
                                        </p:cTn>
                                        <p:tgtEl>
                                          <p:spTgt spid="1059"/>
                                        </p:tgtEl>
                                        <p:attrNameLst>
                                          <p:attrName>style.visibility</p:attrName>
                                        </p:attrNameLst>
                                      </p:cBhvr>
                                      <p:to>
                                        <p:strVal val="visible"/>
                                      </p:to>
                                    </p:set>
                                  </p:childTnLst>
                                </p:cTn>
                              </p:par>
                              <p:par>
                                <p:cTn id="141" presetID="1" presetClass="entr" presetSubtype="0" fill="hold" nodeType="withEffect">
                                  <p:stCondLst>
                                    <p:cond delay="0"/>
                                  </p:stCondLst>
                                  <p:childTnLst>
                                    <p:set>
                                      <p:cBhvr>
                                        <p:cTn id="142" dur="1" fill="hold">
                                          <p:stCondLst>
                                            <p:cond delay="0"/>
                                          </p:stCondLst>
                                        </p:cTn>
                                        <p:tgtEl>
                                          <p:spTgt spid="1101"/>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1112"/>
                                        </p:tgtEl>
                                        <p:attrNameLst>
                                          <p:attrName>style.visibility</p:attrName>
                                        </p:attrNameLst>
                                      </p:cBhvr>
                                      <p:to>
                                        <p:strVal val="visible"/>
                                      </p:to>
                                    </p:set>
                                  </p:childTnLst>
                                </p:cTn>
                              </p:par>
                            </p:childTnLst>
                          </p:cTn>
                        </p:par>
                      </p:childTnLst>
                    </p:cTn>
                  </p:par>
                  <p:par>
                    <p:cTn id="145" fill="hold">
                      <p:stCondLst>
                        <p:cond delay="indefinite"/>
                      </p:stCondLst>
                      <p:childTnLst>
                        <p:par>
                          <p:cTn id="146" fill="hold">
                            <p:stCondLst>
                              <p:cond delay="0"/>
                            </p:stCondLst>
                            <p:childTnLst>
                              <p:par>
                                <p:cTn id="147" presetID="1" presetClass="entr" presetSubtype="0" fill="hold" grpId="0" nodeType="clickEffect">
                                  <p:stCondLst>
                                    <p:cond delay="0"/>
                                  </p:stCondLst>
                                  <p:childTnLst>
                                    <p:set>
                                      <p:cBhvr>
                                        <p:cTn id="148" dur="1" fill="hold">
                                          <p:stCondLst>
                                            <p:cond delay="0"/>
                                          </p:stCondLst>
                                        </p:cTn>
                                        <p:tgtEl>
                                          <p:spTgt spid="1114"/>
                                        </p:tgtEl>
                                        <p:attrNameLst>
                                          <p:attrName>style.visibility</p:attrName>
                                        </p:attrNameLst>
                                      </p:cBhvr>
                                      <p:to>
                                        <p:strVal val="visible"/>
                                      </p:to>
                                    </p:set>
                                  </p:childTnLst>
                                </p:cTn>
                              </p:par>
                              <p:par>
                                <p:cTn id="149" presetID="1" presetClass="entr" presetSubtype="0" fill="hold" nodeType="withEffect">
                                  <p:stCondLst>
                                    <p:cond delay="0"/>
                                  </p:stCondLst>
                                  <p:childTnLst>
                                    <p:set>
                                      <p:cBhvr>
                                        <p:cTn id="150" dur="1" fill="hold">
                                          <p:stCondLst>
                                            <p:cond delay="0"/>
                                          </p:stCondLst>
                                        </p:cTn>
                                        <p:tgtEl>
                                          <p:spTgt spid="1096"/>
                                        </p:tgtEl>
                                        <p:attrNameLst>
                                          <p:attrName>style.visibility</p:attrName>
                                        </p:attrNameLst>
                                      </p:cBhvr>
                                      <p:to>
                                        <p:strVal val="visible"/>
                                      </p:to>
                                    </p:set>
                                  </p:childTnLst>
                                </p:cTn>
                              </p:par>
                              <p:par>
                                <p:cTn id="151" presetID="1" presetClass="entr" presetSubtype="0" fill="hold" grpId="0" nodeType="withEffect">
                                  <p:stCondLst>
                                    <p:cond delay="0"/>
                                  </p:stCondLst>
                                  <p:childTnLst>
                                    <p:set>
                                      <p:cBhvr>
                                        <p:cTn id="152" dur="1" fill="hold">
                                          <p:stCondLst>
                                            <p:cond delay="0"/>
                                          </p:stCondLst>
                                        </p:cTn>
                                        <p:tgtEl>
                                          <p:spTgt spid="37"/>
                                        </p:tgtEl>
                                        <p:attrNameLst>
                                          <p:attrName>style.visibility</p:attrName>
                                        </p:attrNameLst>
                                      </p:cBhvr>
                                      <p:to>
                                        <p:strVal val="visible"/>
                                      </p:to>
                                    </p:set>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nodeType="clickEffect">
                                  <p:stCondLst>
                                    <p:cond delay="0"/>
                                  </p:stCondLst>
                                  <p:childTnLst>
                                    <p:set>
                                      <p:cBhvr>
                                        <p:cTn id="156" dur="1" fill="hold">
                                          <p:stCondLst>
                                            <p:cond delay="0"/>
                                          </p:stCondLst>
                                        </p:cTn>
                                        <p:tgtEl>
                                          <p:spTgt spid="1050"/>
                                        </p:tgtEl>
                                        <p:attrNameLst>
                                          <p:attrName>style.visibility</p:attrName>
                                        </p:attrNameLst>
                                      </p:cBhvr>
                                      <p:to>
                                        <p:strVal val="visible"/>
                                      </p:to>
                                    </p:set>
                                  </p:childTnLst>
                                </p:cTn>
                              </p:par>
                              <p:par>
                                <p:cTn id="157" presetID="1" presetClass="entr" presetSubtype="0" fill="hold" nodeType="withEffect">
                                  <p:stCondLst>
                                    <p:cond delay="0"/>
                                  </p:stCondLst>
                                  <p:childTnLst>
                                    <p:set>
                                      <p:cBhvr>
                                        <p:cTn id="158" dur="1" fill="hold">
                                          <p:stCondLst>
                                            <p:cond delay="0"/>
                                          </p:stCondLst>
                                        </p:cTn>
                                        <p:tgtEl>
                                          <p:spTgt spid="38"/>
                                        </p:tgtEl>
                                        <p:attrNameLst>
                                          <p:attrName>style.visibility</p:attrName>
                                        </p:attrNameLst>
                                      </p:cBhvr>
                                      <p:to>
                                        <p:strVal val="visible"/>
                                      </p:to>
                                    </p:set>
                                  </p:childTnLst>
                                </p:cTn>
                              </p:par>
                            </p:childTnLst>
                          </p:cTn>
                        </p:par>
                      </p:childTnLst>
                    </p:cTn>
                  </p:par>
                  <p:par>
                    <p:cTn id="159" fill="hold">
                      <p:stCondLst>
                        <p:cond delay="indefinite"/>
                      </p:stCondLst>
                      <p:childTnLst>
                        <p:par>
                          <p:cTn id="160" fill="hold">
                            <p:stCondLst>
                              <p:cond delay="0"/>
                            </p:stCondLst>
                            <p:childTnLst>
                              <p:par>
                                <p:cTn id="161" presetID="1" presetClass="entr" presetSubtype="0" fill="hold" grpId="0" nodeType="clickEffect">
                                  <p:stCondLst>
                                    <p:cond delay="0"/>
                                  </p:stCondLst>
                                  <p:childTnLst>
                                    <p:set>
                                      <p:cBhvr>
                                        <p:cTn id="162" dur="1" fill="hold">
                                          <p:stCondLst>
                                            <p:cond delay="0"/>
                                          </p:stCondLst>
                                        </p:cTn>
                                        <p:tgtEl>
                                          <p:spTgt spid="1115"/>
                                        </p:tgtEl>
                                        <p:attrNameLst>
                                          <p:attrName>style.visibility</p:attrName>
                                        </p:attrNameLst>
                                      </p:cBhvr>
                                      <p:to>
                                        <p:strVal val="visible"/>
                                      </p:to>
                                    </p:set>
                                  </p:childTnLst>
                                </p:cTn>
                              </p:par>
                              <p:par>
                                <p:cTn id="163" presetID="1" presetClass="entr" presetSubtype="0" fill="hold" nodeType="withEffect">
                                  <p:stCondLst>
                                    <p:cond delay="0"/>
                                  </p:stCondLst>
                                  <p:childTnLst>
                                    <p:set>
                                      <p:cBhvr>
                                        <p:cTn id="164" dur="1" fill="hold">
                                          <p:stCondLst>
                                            <p:cond delay="0"/>
                                          </p:stCondLst>
                                        </p:cTn>
                                        <p:tgtEl>
                                          <p:spTgt spid="1072"/>
                                        </p:tgtEl>
                                        <p:attrNameLst>
                                          <p:attrName>style.visibility</p:attrName>
                                        </p:attrNameLst>
                                      </p:cBhvr>
                                      <p:to>
                                        <p:strVal val="visible"/>
                                      </p:to>
                                    </p:set>
                                  </p:childTnLst>
                                </p:cTn>
                              </p:par>
                              <p:par>
                                <p:cTn id="165" presetID="1" presetClass="entr" presetSubtype="0" fill="hold" grpId="0" nodeType="withEffect">
                                  <p:stCondLst>
                                    <p:cond delay="0"/>
                                  </p:stCondLst>
                                  <p:childTnLst>
                                    <p:set>
                                      <p:cBhvr>
                                        <p:cTn id="166" dur="1" fill="hold">
                                          <p:stCondLst>
                                            <p:cond delay="0"/>
                                          </p:stCondLst>
                                        </p:cTn>
                                        <p:tgtEl>
                                          <p:spTgt spid="44"/>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presetID="1" presetClass="entr" presetSubtype="0" fill="hold" grpId="0" nodeType="clickEffect">
                                  <p:stCondLst>
                                    <p:cond delay="0"/>
                                  </p:stCondLst>
                                  <p:childTnLst>
                                    <p:set>
                                      <p:cBhvr>
                                        <p:cTn id="170" dur="1" fill="hold">
                                          <p:stCondLst>
                                            <p:cond delay="0"/>
                                          </p:stCondLst>
                                        </p:cTn>
                                        <p:tgtEl>
                                          <p:spTgt spid="1116"/>
                                        </p:tgtEl>
                                        <p:attrNameLst>
                                          <p:attrName>style.visibility</p:attrName>
                                        </p:attrNameLst>
                                      </p:cBhvr>
                                      <p:to>
                                        <p:strVal val="visible"/>
                                      </p:to>
                                    </p:set>
                                  </p:childTnLst>
                                </p:cTn>
                              </p:par>
                              <p:par>
                                <p:cTn id="171" presetID="1" presetClass="entr" presetSubtype="0" fill="hold" nodeType="withEffect">
                                  <p:stCondLst>
                                    <p:cond delay="0"/>
                                  </p:stCondLst>
                                  <p:childTnLst>
                                    <p:set>
                                      <p:cBhvr>
                                        <p:cTn id="172" dur="1" fill="hold">
                                          <p:stCondLst>
                                            <p:cond delay="0"/>
                                          </p:stCondLst>
                                        </p:cTn>
                                        <p:tgtEl>
                                          <p:spTgt spid="1070"/>
                                        </p:tgtEl>
                                        <p:attrNameLst>
                                          <p:attrName>style.visibility</p:attrName>
                                        </p:attrNameLst>
                                      </p:cBhvr>
                                      <p:to>
                                        <p:strVal val="visible"/>
                                      </p:to>
                                    </p:set>
                                  </p:childTnLst>
                                </p:cTn>
                              </p:par>
                              <p:par>
                                <p:cTn id="173" presetID="1" presetClass="entr" presetSubtype="0" fill="hold" nodeType="withEffect">
                                  <p:stCondLst>
                                    <p:cond delay="0"/>
                                  </p:stCondLst>
                                  <p:childTnLst>
                                    <p:set>
                                      <p:cBhvr>
                                        <p:cTn id="174" dur="1" fill="hold">
                                          <p:stCondLst>
                                            <p:cond delay="0"/>
                                          </p:stCondLst>
                                        </p:cTn>
                                        <p:tgtEl>
                                          <p:spTgt spid="41"/>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presetID="1" presetClass="entr" presetSubtype="0" fill="hold" grpId="0" nodeType="clickEffect">
                                  <p:stCondLst>
                                    <p:cond delay="0"/>
                                  </p:stCondLst>
                                  <p:childTnLst>
                                    <p:set>
                                      <p:cBhvr>
                                        <p:cTn id="178" dur="1" fill="hold">
                                          <p:stCondLst>
                                            <p:cond delay="0"/>
                                          </p:stCondLst>
                                        </p:cTn>
                                        <p:tgtEl>
                                          <p:spTgt spid="1118"/>
                                        </p:tgtEl>
                                        <p:attrNameLst>
                                          <p:attrName>style.visibility</p:attrName>
                                        </p:attrNameLst>
                                      </p:cBhvr>
                                      <p:to>
                                        <p:strVal val="visible"/>
                                      </p:to>
                                    </p:set>
                                  </p:childTnLst>
                                </p:cTn>
                              </p:par>
                              <p:par>
                                <p:cTn id="179" presetID="1" presetClass="entr" presetSubtype="0" fill="hold" nodeType="withEffect">
                                  <p:stCondLst>
                                    <p:cond delay="0"/>
                                  </p:stCondLst>
                                  <p:childTnLst>
                                    <p:set>
                                      <p:cBhvr>
                                        <p:cTn id="180" dur="1" fill="hold">
                                          <p:stCondLst>
                                            <p:cond delay="0"/>
                                          </p:stCondLst>
                                        </p:cTn>
                                        <p:tgtEl>
                                          <p:spTgt spid="1077"/>
                                        </p:tgtEl>
                                        <p:attrNameLst>
                                          <p:attrName>style.visibility</p:attrName>
                                        </p:attrNameLst>
                                      </p:cBhvr>
                                      <p:to>
                                        <p:strVal val="visible"/>
                                      </p:to>
                                    </p:set>
                                  </p:childTnLst>
                                </p:cTn>
                              </p:par>
                            </p:childTnLst>
                          </p:cTn>
                        </p:par>
                      </p:childTnLst>
                    </p:cTn>
                  </p:par>
                  <p:par>
                    <p:cTn id="181" fill="hold">
                      <p:stCondLst>
                        <p:cond delay="indefinite"/>
                      </p:stCondLst>
                      <p:childTnLst>
                        <p:par>
                          <p:cTn id="182" fill="hold">
                            <p:stCondLst>
                              <p:cond delay="0"/>
                            </p:stCondLst>
                            <p:childTnLst>
                              <p:par>
                                <p:cTn id="183" presetID="1" presetClass="entr" presetSubtype="0" fill="hold" grpId="0" nodeType="clickEffect">
                                  <p:stCondLst>
                                    <p:cond delay="0"/>
                                  </p:stCondLst>
                                  <p:childTnLst>
                                    <p:set>
                                      <p:cBhvr>
                                        <p:cTn id="184" dur="1" fill="hold">
                                          <p:stCondLst>
                                            <p:cond delay="0"/>
                                          </p:stCondLst>
                                        </p:cTn>
                                        <p:tgtEl>
                                          <p:spTgt spid="1117"/>
                                        </p:tgtEl>
                                        <p:attrNameLst>
                                          <p:attrName>style.visibility</p:attrName>
                                        </p:attrNameLst>
                                      </p:cBhvr>
                                      <p:to>
                                        <p:strVal val="visible"/>
                                      </p:to>
                                    </p:set>
                                  </p:childTnLst>
                                </p:cTn>
                              </p:par>
                              <p:par>
                                <p:cTn id="185" presetID="1" presetClass="entr" presetSubtype="0" fill="hold" nodeType="withEffect">
                                  <p:stCondLst>
                                    <p:cond delay="0"/>
                                  </p:stCondLst>
                                  <p:childTnLst>
                                    <p:set>
                                      <p:cBhvr>
                                        <p:cTn id="186" dur="1" fill="hold">
                                          <p:stCondLst>
                                            <p:cond delay="0"/>
                                          </p:stCondLst>
                                        </p:cTn>
                                        <p:tgtEl>
                                          <p:spTgt spid="1103"/>
                                        </p:tgtEl>
                                        <p:attrNameLst>
                                          <p:attrName>style.visibility</p:attrName>
                                        </p:attrNameLst>
                                      </p:cBhvr>
                                      <p:to>
                                        <p:strVal val="visible"/>
                                      </p:to>
                                    </p:set>
                                  </p:childTnLst>
                                </p:cTn>
                              </p:par>
                              <p:par>
                                <p:cTn id="187" presetID="1" presetClass="entr" presetSubtype="0" fill="hold" grpId="0" nodeType="withEffect">
                                  <p:stCondLst>
                                    <p:cond delay="0"/>
                                  </p:stCondLst>
                                  <p:childTnLst>
                                    <p:set>
                                      <p:cBhvr>
                                        <p:cTn id="188" dur="1" fill="hold">
                                          <p:stCondLst>
                                            <p:cond delay="0"/>
                                          </p:stCondLst>
                                        </p:cTn>
                                        <p:tgtEl>
                                          <p:spTgt spid="1075"/>
                                        </p:tgtEl>
                                        <p:attrNameLst>
                                          <p:attrName>style.visibility</p:attrName>
                                        </p:attrNameLst>
                                      </p:cBhvr>
                                      <p:to>
                                        <p:strVal val="visible"/>
                                      </p:to>
                                    </p:set>
                                  </p:childTnLst>
                                </p:cTn>
                              </p:par>
                            </p:childTnLst>
                          </p:cTn>
                        </p:par>
                      </p:childTnLst>
                    </p:cTn>
                  </p:par>
                  <p:par>
                    <p:cTn id="189" fill="hold">
                      <p:stCondLst>
                        <p:cond delay="indefinite"/>
                      </p:stCondLst>
                      <p:childTnLst>
                        <p:par>
                          <p:cTn id="190" fill="hold">
                            <p:stCondLst>
                              <p:cond delay="0"/>
                            </p:stCondLst>
                            <p:childTnLst>
                              <p:par>
                                <p:cTn id="191" presetID="1" presetClass="entr" presetSubtype="0" fill="hold" nodeType="clickEffect">
                                  <p:stCondLst>
                                    <p:cond delay="0"/>
                                  </p:stCondLst>
                                  <p:childTnLst>
                                    <p:set>
                                      <p:cBhvr>
                                        <p:cTn id="192" dur="1" fill="hold">
                                          <p:stCondLst>
                                            <p:cond delay="0"/>
                                          </p:stCondLst>
                                        </p:cTn>
                                        <p:tgtEl>
                                          <p:spTgt spid="1074"/>
                                        </p:tgtEl>
                                        <p:attrNameLst>
                                          <p:attrName>style.visibility</p:attrName>
                                        </p:attrNameLst>
                                      </p:cBhvr>
                                      <p:to>
                                        <p:strVal val="visible"/>
                                      </p:to>
                                    </p:set>
                                  </p:childTnLst>
                                </p:cTn>
                              </p:par>
                              <p:par>
                                <p:cTn id="193" presetID="1" presetClass="entr" presetSubtype="0" fill="hold" grpId="0" nodeType="withEffect">
                                  <p:stCondLst>
                                    <p:cond delay="0"/>
                                  </p:stCondLst>
                                  <p:childTnLst>
                                    <p:set>
                                      <p:cBhvr>
                                        <p:cTn id="194"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P spid="12" grpId="0" animBg="1"/>
      <p:bldP spid="19" grpId="0" animBg="1"/>
      <p:bldP spid="20" grpId="0" animBg="1"/>
      <p:bldP spid="21" grpId="0" animBg="1"/>
      <p:bldP spid="22" grpId="0" animBg="1"/>
      <p:bldP spid="23" grpId="0" animBg="1"/>
      <p:bldP spid="27" grpId="0" animBg="1"/>
      <p:bldP spid="31" grpId="0" animBg="1"/>
      <p:bldP spid="32" grpId="0" animBg="1"/>
      <p:bldP spid="37" grpId="0" animBg="1"/>
      <p:bldP spid="44" grpId="0" animBg="1"/>
      <p:bldP spid="45" grpId="0" animBg="1"/>
      <p:bldP spid="46" grpId="0" animBg="1"/>
      <p:bldP spid="1059" grpId="0" animBg="1"/>
      <p:bldP spid="1075" grpId="0" animBg="1"/>
      <p:bldP spid="1105" grpId="0"/>
      <p:bldP spid="1106" grpId="0"/>
      <p:bldP spid="1111" grpId="0"/>
      <p:bldP spid="1112" grpId="0"/>
      <p:bldP spid="1113" grpId="0"/>
      <p:bldP spid="1114" grpId="0"/>
      <p:bldP spid="1115" grpId="0"/>
      <p:bldP spid="1116" grpId="0"/>
      <p:bldP spid="1117" grpId="0"/>
      <p:bldP spid="1118" grpId="0"/>
      <p:bldP spid="1128" grpId="0"/>
      <p:bldP spid="1129" grpId="0"/>
    </p:bldLst>
  </p:timing>
</p:sld>
</file>

<file path=ppt/tags/tag1.xml><?xml version="1.0" encoding="utf-8"?>
<p:tagLst xmlns:a="http://schemas.openxmlformats.org/drawingml/2006/main" xmlns:r="http://schemas.openxmlformats.org/officeDocument/2006/relationships" xmlns:p="http://schemas.openxmlformats.org/presentationml/2006/main">
  <p:tag name="TIMING" val="|1.8|8.4|11|11.6|7.2|8|8|5.3"/>
</p:tagLst>
</file>

<file path=ppt/tags/tag2.xml><?xml version="1.0" encoding="utf-8"?>
<p:tagLst xmlns:a="http://schemas.openxmlformats.org/drawingml/2006/main" xmlns:r="http://schemas.openxmlformats.org/officeDocument/2006/relationships" xmlns:p="http://schemas.openxmlformats.org/presentationml/2006/main">
  <p:tag name="TIMING" val="|1.9|11.7|5.9|11.3|2.6|10.3|14.5|10.6"/>
</p:tagLst>
</file>

<file path=ppt/tags/tag3.xml><?xml version="1.0" encoding="utf-8"?>
<p:tagLst xmlns:a="http://schemas.openxmlformats.org/drawingml/2006/main" xmlns:r="http://schemas.openxmlformats.org/officeDocument/2006/relationships" xmlns:p="http://schemas.openxmlformats.org/presentationml/2006/main">
  <p:tag name="TIMING" val="|1.6|12.3|22.4"/>
</p:tagLst>
</file>

<file path=ppt/tags/tag4.xml><?xml version="1.0" encoding="utf-8"?>
<p:tagLst xmlns:a="http://schemas.openxmlformats.org/drawingml/2006/main" xmlns:r="http://schemas.openxmlformats.org/officeDocument/2006/relationships" xmlns:p="http://schemas.openxmlformats.org/presentationml/2006/main">
  <p:tag name="TIMING" val="|0.8|6.7|24.3|9.3|10.8"/>
</p:tagLst>
</file>

<file path=ppt/tags/tag5.xml><?xml version="1.0" encoding="utf-8"?>
<p:tagLst xmlns:a="http://schemas.openxmlformats.org/drawingml/2006/main" xmlns:r="http://schemas.openxmlformats.org/officeDocument/2006/relationships" xmlns:p="http://schemas.openxmlformats.org/presentationml/2006/main">
  <p:tag name="TIMING" val="|1.2|13.9|20.4|3.7|11.8|13.4"/>
</p:tagLst>
</file>

<file path=ppt/tags/tag6.xml><?xml version="1.0" encoding="utf-8"?>
<p:tagLst xmlns:a="http://schemas.openxmlformats.org/drawingml/2006/main" xmlns:r="http://schemas.openxmlformats.org/officeDocument/2006/relationships" xmlns:p="http://schemas.openxmlformats.org/presentationml/2006/main">
  <p:tag name="TIMING" val="|1.7|17.4|10.1|11.1|9.8|17.3|27.9"/>
</p:tagLst>
</file>

<file path=ppt/tags/tag7.xml><?xml version="1.0" encoding="utf-8"?>
<p:tagLst xmlns:a="http://schemas.openxmlformats.org/drawingml/2006/main" xmlns:r="http://schemas.openxmlformats.org/officeDocument/2006/relationships" xmlns:p="http://schemas.openxmlformats.org/presentationml/2006/main">
  <p:tag name="TIMING" val="|6.2|1.7|1.5|0.6|0.5|1.7|0.7|0.6|0.5|0.5"/>
</p:tagLst>
</file>

<file path=ppt/tags/tag8.xml><?xml version="1.0" encoding="utf-8"?>
<p:tagLst xmlns:a="http://schemas.openxmlformats.org/drawingml/2006/main" xmlns:r="http://schemas.openxmlformats.org/officeDocument/2006/relationships" xmlns:p="http://schemas.openxmlformats.org/presentationml/2006/main">
  <p:tag name="TIMING" val="|1|7.6|39.2|14.9|6.9|12.9|0.9|0.9|14|7.1|1.7"/>
</p:tagLst>
</file>

<file path=ppt/tags/tag9.xml><?xml version="1.0" encoding="utf-8"?>
<p:tagLst xmlns:a="http://schemas.openxmlformats.org/drawingml/2006/main" xmlns:r="http://schemas.openxmlformats.org/officeDocument/2006/relationships" xmlns:p="http://schemas.openxmlformats.org/presentationml/2006/main">
  <p:tag name="TIMING" val="|0.8|2.4|2.2|0.1|0.1|0.1|0.1|0.1|0.1|0.1|0.1|0.1|0.1|0.1|0.1|0.1|0.1|0.1|0.1|0.1|0.1|0.1|0.1|0.1|0.1|0.1|0.4|0.1|0.3"/>
</p:tagLst>
</file>

<file path=ppt/tags/tag10.xml><?xml version="1.0" encoding="utf-8"?>
<p:tagLst xmlns:a="http://schemas.openxmlformats.org/drawingml/2006/main" xmlns:r="http://schemas.openxmlformats.org/officeDocument/2006/relationships" xmlns:p="http://schemas.openxmlformats.org/presentationml/2006/main">
  <p:tag name="TIMING" val="|27.5"/>
</p:tagLst>
</file>

<file path=ppt/tags/tag11.xml><?xml version="1.0" encoding="utf-8"?>
<p:tagLst xmlns:a="http://schemas.openxmlformats.org/drawingml/2006/main" xmlns:r="http://schemas.openxmlformats.org/officeDocument/2006/relationships" xmlns:p="http://schemas.openxmlformats.org/presentationml/2006/main">
  <p:tag name="TIMING" val="|0.8|7|3.1|29.6|12.5"/>
</p:tagLst>
</file>

<file path=ppt/tags/tag12.xml><?xml version="1.0" encoding="utf-8"?>
<p:tagLst xmlns:a="http://schemas.openxmlformats.org/drawingml/2006/main" xmlns:r="http://schemas.openxmlformats.org/officeDocument/2006/relationships" xmlns:p="http://schemas.openxmlformats.org/presentationml/2006/main">
  <p:tag name="TIMING" val="|8|28.8"/>
</p:tagLst>
</file>

<file path=ppt/tags/tag13.xml><?xml version="1.0" encoding="utf-8"?>
<p:tagLst xmlns:a="http://schemas.openxmlformats.org/drawingml/2006/main" xmlns:r="http://schemas.openxmlformats.org/officeDocument/2006/relationships" xmlns:p="http://schemas.openxmlformats.org/presentationml/2006/main">
  <p:tag name="TIMING" val="|2.1|17.2"/>
</p:tagLst>
</file>

<file path=ppt/tags/tag14.xml><?xml version="1.0" encoding="utf-8"?>
<p:tagLst xmlns:a="http://schemas.openxmlformats.org/drawingml/2006/main" xmlns:r="http://schemas.openxmlformats.org/officeDocument/2006/relationships" xmlns:p="http://schemas.openxmlformats.org/presentationml/2006/main">
  <p:tag name="TIMING" val="|2.2|59.3|14.9"/>
</p:tagLst>
</file>

<file path=ppt/tags/tag15.xml><?xml version="1.0" encoding="utf-8"?>
<p:tagLst xmlns:a="http://schemas.openxmlformats.org/drawingml/2006/main" xmlns:r="http://schemas.openxmlformats.org/officeDocument/2006/relationships" xmlns:p="http://schemas.openxmlformats.org/presentationml/2006/main">
  <p:tag name="TIMING" val="|37.6|12.3|1.1"/>
</p:tagLst>
</file>

<file path=ppt/tags/tag16.xml><?xml version="1.0" encoding="utf-8"?>
<p:tagLst xmlns:a="http://schemas.openxmlformats.org/drawingml/2006/main" xmlns:r="http://schemas.openxmlformats.org/officeDocument/2006/relationships" xmlns:p="http://schemas.openxmlformats.org/presentationml/2006/main">
  <p:tag name="TIMING" val="|15.2|7.5|3.8|2.1|2.7|4.2|6.4|0.8"/>
</p:tagLst>
</file>

<file path=ppt/tags/tag17.xml><?xml version="1.0" encoding="utf-8"?>
<p:tagLst xmlns:a="http://schemas.openxmlformats.org/drawingml/2006/main" xmlns:r="http://schemas.openxmlformats.org/officeDocument/2006/relationships" xmlns:p="http://schemas.openxmlformats.org/presentationml/2006/main">
  <p:tag name="TIMING" val="|1.7|6.7|5.2|8.9|5.9|5.3"/>
</p:tagLst>
</file>

<file path=ppt/tags/tag18.xml><?xml version="1.0" encoding="utf-8"?>
<p:tagLst xmlns:a="http://schemas.openxmlformats.org/drawingml/2006/main" xmlns:r="http://schemas.openxmlformats.org/officeDocument/2006/relationships" xmlns:p="http://schemas.openxmlformats.org/presentationml/2006/main">
  <p:tag name="TIMING" val="|5.3|14.9|6.8|8.2|13.7"/>
</p:tagLst>
</file>

<file path=ppt/tags/tag19.xml><?xml version="1.0" encoding="utf-8"?>
<p:tagLst xmlns:a="http://schemas.openxmlformats.org/drawingml/2006/main" xmlns:r="http://schemas.openxmlformats.org/officeDocument/2006/relationships" xmlns:p="http://schemas.openxmlformats.org/presentationml/2006/main">
  <p:tag name="TIMING" val="|1|7.1|12|1.1|4"/>
</p:tagLst>
</file>

<file path=ppt/tags/tag20.xml><?xml version="1.0" encoding="utf-8"?>
<p:tagLst xmlns:a="http://schemas.openxmlformats.org/drawingml/2006/main" xmlns:r="http://schemas.openxmlformats.org/officeDocument/2006/relationships" xmlns:p="http://schemas.openxmlformats.org/presentationml/2006/main">
  <p:tag name="TIMING" val="|40.9"/>
</p:tagLst>
</file>

<file path=ppt/tags/tag21.xml><?xml version="1.0" encoding="utf-8"?>
<p:tagLst xmlns:a="http://schemas.openxmlformats.org/drawingml/2006/main" xmlns:r="http://schemas.openxmlformats.org/officeDocument/2006/relationships" xmlns:p="http://schemas.openxmlformats.org/presentationml/2006/main">
  <p:tag name="TIMING" val="|0.6|13.8"/>
</p:tagLst>
</file>

<file path=ppt/tags/tag22.xml><?xml version="1.0" encoding="utf-8"?>
<p:tagLst xmlns:a="http://schemas.openxmlformats.org/drawingml/2006/main" xmlns:r="http://schemas.openxmlformats.org/officeDocument/2006/relationships" xmlns:p="http://schemas.openxmlformats.org/presentationml/2006/main">
  <p:tag name="TIMING" val="|0.8|2.4|2.2|0.1|0.1|0.1|0.1|0.1|0.1|0.1|0.1|0.1|0.1|0.1|0.1|0.1|0.1|0.1|0.1|0.1|0.1|0.1|0.1|0.1|0.1|0.1|0.4|0.1|0.3"/>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173615</TotalTime>
  <Words>5782</Words>
  <Application>Microsoft Office PowerPoint</Application>
  <PresentationFormat>Widescreen</PresentationFormat>
  <Paragraphs>984</Paragraphs>
  <Slides>31</Slides>
  <Notes>29</Notes>
  <HiddenSlides>8</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31</vt:i4>
      </vt:variant>
    </vt:vector>
  </HeadingPairs>
  <TitlesOfParts>
    <vt:vector size="42" baseType="lpstr">
      <vt:lpstr>Andalus</vt:lpstr>
      <vt:lpstr>Arial</vt:lpstr>
      <vt:lpstr>Arial</vt:lpstr>
      <vt:lpstr>Calibri</vt:lpstr>
      <vt:lpstr>Calibri Light</vt:lpstr>
      <vt:lpstr>Cambria Math</vt:lpstr>
      <vt:lpstr>Consolas</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Corporate Edition</dc:creator>
  <cp:lastModifiedBy>Laghari Shams Ul Arfeen</cp:lastModifiedBy>
  <cp:revision>964</cp:revision>
  <cp:lastPrinted>2022-09-25T18:43:21Z</cp:lastPrinted>
  <dcterms:created xsi:type="dcterms:W3CDTF">2011-03-14T07:23:11Z</dcterms:created>
  <dcterms:modified xsi:type="dcterms:W3CDTF">2022-10-01T14:32:55Z</dcterms:modified>
</cp:coreProperties>
</file>